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38" r:id="rId2"/>
    <p:sldId id="471" r:id="rId3"/>
    <p:sldId id="500" r:id="rId4"/>
    <p:sldId id="502" r:id="rId5"/>
    <p:sldId id="571" r:id="rId6"/>
    <p:sldId id="504" r:id="rId7"/>
    <p:sldId id="505" r:id="rId8"/>
    <p:sldId id="501" r:id="rId9"/>
    <p:sldId id="569" r:id="rId10"/>
    <p:sldId id="506" r:id="rId11"/>
    <p:sldId id="515" r:id="rId12"/>
    <p:sldId id="514" r:id="rId13"/>
    <p:sldId id="516" r:id="rId14"/>
    <p:sldId id="517" r:id="rId15"/>
    <p:sldId id="570" r:id="rId16"/>
  </p:sldIdLst>
  <p:sldSz cx="9144000" cy="6858000" type="screen4x3"/>
  <p:notesSz cx="6807200" cy="99393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 jun" initials="yj" lastIdx="1" clrIdx="0">
    <p:extLst>
      <p:ext uri="{19B8F6BF-5375-455C-9EA6-DF929625EA0E}">
        <p15:presenceInfo xmlns:p15="http://schemas.microsoft.com/office/powerpoint/2012/main" userId="d28967e5993724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66"/>
    <a:srgbClr val="CC3300"/>
    <a:srgbClr val="007150"/>
    <a:srgbClr val="5D6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85" d="100"/>
          <a:sy n="85" d="100"/>
        </p:scale>
        <p:origin x="1829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90" y="11127"/>
            <a:ext cx="2950530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t" anchorCtr="0" compatLnSpc="1">
            <a:prstTxWarp prst="textNoShape">
              <a:avLst/>
            </a:prstTxWarp>
          </a:bodyPr>
          <a:lstStyle>
            <a:lvl1pPr defTabSz="929901">
              <a:defRPr sz="1000" b="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671" y="11127"/>
            <a:ext cx="2950529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t" anchorCtr="0" compatLnSpc="1">
            <a:prstTxWarp prst="textNoShape">
              <a:avLst/>
            </a:prstTxWarp>
          </a:bodyPr>
          <a:lstStyle>
            <a:lvl1pPr algn="r" defTabSz="929901">
              <a:defRPr sz="1000" b="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90" y="9462557"/>
            <a:ext cx="2950530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b" anchorCtr="0" compatLnSpc="1">
            <a:prstTxWarp prst="textNoShape">
              <a:avLst/>
            </a:prstTxWarp>
          </a:bodyPr>
          <a:lstStyle>
            <a:lvl1pPr defTabSz="929901">
              <a:defRPr sz="1000" b="0" i="1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671" y="9462557"/>
            <a:ext cx="2950529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b" anchorCtr="0" compatLnSpc="1">
            <a:prstTxWarp prst="textNoShape">
              <a:avLst/>
            </a:prstTxWarp>
          </a:bodyPr>
          <a:lstStyle>
            <a:lvl1pPr algn="r" defTabSz="929064">
              <a:defRPr sz="1000" b="0" i="1">
                <a:latin typeface="Arial" panose="020B0604020202020204" pitchFamily="34" charset="0"/>
              </a:defRPr>
            </a:lvl1pPr>
          </a:lstStyle>
          <a:p>
            <a:fld id="{C1E7D1D9-6A5D-47A4-A875-38FA6892EB5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3014120" y="9465737"/>
            <a:ext cx="774194" cy="25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672" tIns="44634" rIns="87672" bIns="44634">
            <a:spAutoFit/>
          </a:bodyPr>
          <a:lstStyle>
            <a:lvl1pPr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latin typeface="Arial" panose="020B0604020202020204" pitchFamily="34" charset="0"/>
              </a:rPr>
              <a:t>Page </a:t>
            </a:r>
            <a:fld id="{B2CB143C-B32D-493D-BE64-611FA3279887}" type="slidenum">
              <a:rPr lang="en-US" altLang="en-US" sz="1200" b="0">
                <a:latin typeface="Arial" panose="020B0604020202020204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90" y="11127"/>
            <a:ext cx="2950530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t" anchorCtr="0" compatLnSpc="1">
            <a:prstTxWarp prst="textNoShape">
              <a:avLst/>
            </a:prstTxWarp>
          </a:bodyPr>
          <a:lstStyle>
            <a:lvl1pPr defTabSz="774404">
              <a:defRPr sz="10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671" y="11127"/>
            <a:ext cx="2950529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t" anchorCtr="0" compatLnSpc="1">
            <a:prstTxWarp prst="textNoShape">
              <a:avLst/>
            </a:prstTxWarp>
          </a:bodyPr>
          <a:lstStyle>
            <a:lvl1pPr algn="r" defTabSz="774404">
              <a:defRPr sz="10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90" y="9462557"/>
            <a:ext cx="2950530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b" anchorCtr="0" compatLnSpc="1">
            <a:prstTxWarp prst="textNoShape">
              <a:avLst/>
            </a:prstTxWarp>
          </a:bodyPr>
          <a:lstStyle>
            <a:lvl1pPr defTabSz="774404">
              <a:defRPr sz="10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671" y="9462557"/>
            <a:ext cx="2950529" cy="464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128" tIns="0" rIns="19128" bIns="0" numCol="1" anchor="b" anchorCtr="0" compatLnSpc="1">
            <a:prstTxWarp prst="textNoShape">
              <a:avLst/>
            </a:prstTxWarp>
          </a:bodyPr>
          <a:lstStyle>
            <a:lvl1pPr algn="r" defTabSz="773171">
              <a:defRPr sz="1000" b="0" i="1"/>
            </a:lvl1pPr>
          </a:lstStyle>
          <a:p>
            <a:fld id="{D159F6AF-1968-4067-BD4C-3EB54EA6758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554" y="4723333"/>
            <a:ext cx="4994914" cy="3915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55" tIns="46227" rIns="92455" bIns="462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3014120" y="9465737"/>
            <a:ext cx="774194" cy="25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672" tIns="44634" rIns="87672" bIns="44634">
            <a:spAutoFit/>
          </a:bodyPr>
          <a:lstStyle>
            <a:lvl1pPr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92175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92175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0">
                <a:latin typeface="Arial" panose="020B0604020202020204" pitchFamily="34" charset="0"/>
              </a:rPr>
              <a:t>Page </a:t>
            </a:r>
            <a:fld id="{A352D83B-DE0F-40BB-9799-A8804D83A561}" type="slidenum">
              <a:rPr lang="en-US" altLang="en-US" sz="1200" b="0">
                <a:latin typeface="Arial" panose="020B0604020202020204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  <p:sp>
        <p:nvSpPr>
          <p:cNvPr id="45064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89025" y="873125"/>
            <a:ext cx="4627563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271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60375" algn="l" defTabSz="9271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20750" algn="l" defTabSz="9271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81125" algn="l" defTabSz="9271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41500" algn="l" defTabSz="927100" rtl="0" eaLnBrk="0" fontAlgn="base" hangingPunct="0">
      <a:lnSpc>
        <a:spcPct val="88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F6AF-1968-4067-BD4C-3EB54EA67589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2187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F6AF-1968-4067-BD4C-3EB54EA67589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06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9F6AF-1968-4067-BD4C-3EB54EA67589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330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E162DC-FB28-44D9-A65D-E319F61B1C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72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FFFEC-F3F4-4345-9648-FF676E4C05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8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DA5367-2433-497A-979D-C5506101AB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95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447800"/>
            <a:ext cx="39624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9624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2907B-7540-41E8-9D13-8D2FA0CC99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99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15F9A8-6C0E-47CE-B1FA-8082FAB818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46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DC2B4-99A5-48DA-9294-76274862A8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48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07CBF-C89E-464E-9756-D18D821BAB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43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C8C17C-1EBE-4F8F-940B-44ABC985A5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85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BA619-7FEF-4AE8-A4BF-E9BBE9A0F0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39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7E4CE3-577E-4206-9DC4-BA39EEAECD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820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228600"/>
            <a:ext cx="2019300" cy="6248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905500" cy="6248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F0CF0-BD55-426D-8F28-04890A1F8D2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4002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447800"/>
            <a:ext cx="3962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39624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38600"/>
            <a:ext cx="39624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293AB8-31B5-48B6-AAD3-D67EC1C5C9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045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defTabSz="762000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defTabSz="762000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defTabSz="762000">
              <a:defRPr sz="1400" b="0"/>
            </a:lvl1pPr>
          </a:lstStyle>
          <a:p>
            <a:fld id="{2DA8272A-D255-492E-8E8E-459F4481422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9" name="Group 38"/>
          <p:cNvGrpSpPr>
            <a:grpSpLocks/>
          </p:cNvGrpSpPr>
          <p:nvPr/>
        </p:nvGrpSpPr>
        <p:grpSpPr bwMode="auto">
          <a:xfrm>
            <a:off x="0" y="0"/>
            <a:ext cx="9131300" cy="6845300"/>
            <a:chOff x="0" y="0"/>
            <a:chExt cx="5752" cy="4312"/>
          </a:xfrm>
        </p:grpSpPr>
        <p:sp>
          <p:nvSpPr>
            <p:cNvPr id="103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5749" cy="4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AU" altLang="en-US"/>
            </a:p>
          </p:txBody>
        </p:sp>
        <p:grpSp>
          <p:nvGrpSpPr>
            <p:cNvPr id="1035" name="Group 37"/>
            <p:cNvGrpSpPr>
              <a:grpSpLocks/>
            </p:cNvGrpSpPr>
            <p:nvPr/>
          </p:nvGrpSpPr>
          <p:grpSpPr bwMode="auto">
            <a:xfrm>
              <a:off x="2" y="2"/>
              <a:ext cx="5750" cy="4310"/>
              <a:chOff x="2" y="2"/>
              <a:chExt cx="5750" cy="4310"/>
            </a:xfrm>
          </p:grpSpPr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30" cy="13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37" name="Line 7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418" cy="4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38" name="Line 8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718" cy="7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39" name="Line 9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042" cy="104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0" name="Line 10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366" cy="136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1" name="Line 11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1714" cy="171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2" name="Line 12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050" cy="20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3" name="Line 13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386" cy="238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4" name="Line 14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2722" cy="27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5" name="Line 15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082" cy="30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6" name="Line 16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430" cy="343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7" name="Line 17"/>
              <p:cNvSpPr>
                <a:spLocks noChangeShapeType="1"/>
              </p:cNvSpPr>
              <p:nvPr/>
            </p:nvSpPr>
            <p:spPr bwMode="auto">
              <a:xfrm flipH="1">
                <a:off x="2" y="2"/>
                <a:ext cx="3766" cy="376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8" name="Line 18"/>
              <p:cNvSpPr>
                <a:spLocks noChangeShapeType="1"/>
              </p:cNvSpPr>
              <p:nvPr/>
            </p:nvSpPr>
            <p:spPr bwMode="auto">
              <a:xfrm flipH="1">
                <a:off x="2" y="14"/>
                <a:ext cx="4090" cy="409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49" name="Line 19"/>
              <p:cNvSpPr>
                <a:spLocks noChangeShapeType="1"/>
              </p:cNvSpPr>
              <p:nvPr/>
            </p:nvSpPr>
            <p:spPr bwMode="auto">
              <a:xfrm flipH="1">
                <a:off x="118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0" name="Line 20"/>
              <p:cNvSpPr>
                <a:spLocks noChangeShapeType="1"/>
              </p:cNvSpPr>
              <p:nvPr/>
            </p:nvSpPr>
            <p:spPr bwMode="auto">
              <a:xfrm flipH="1">
                <a:off x="430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1" name="Line 21"/>
              <p:cNvSpPr>
                <a:spLocks noChangeShapeType="1"/>
              </p:cNvSpPr>
              <p:nvPr/>
            </p:nvSpPr>
            <p:spPr bwMode="auto">
              <a:xfrm flipH="1">
                <a:off x="730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2" name="Line 22"/>
              <p:cNvSpPr>
                <a:spLocks noChangeShapeType="1"/>
              </p:cNvSpPr>
              <p:nvPr/>
            </p:nvSpPr>
            <p:spPr bwMode="auto">
              <a:xfrm flipH="1">
                <a:off x="1054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3" name="Line 23"/>
              <p:cNvSpPr>
                <a:spLocks noChangeShapeType="1"/>
              </p:cNvSpPr>
              <p:nvPr/>
            </p:nvSpPr>
            <p:spPr bwMode="auto">
              <a:xfrm flipH="1">
                <a:off x="1387" y="2"/>
                <a:ext cx="4310" cy="43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4" name="Line 24"/>
              <p:cNvSpPr>
                <a:spLocks noChangeShapeType="1"/>
              </p:cNvSpPr>
              <p:nvPr/>
            </p:nvSpPr>
            <p:spPr bwMode="auto">
              <a:xfrm flipH="1">
                <a:off x="1718" y="278"/>
                <a:ext cx="4034" cy="403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5" name="Line 25"/>
              <p:cNvSpPr>
                <a:spLocks noChangeShapeType="1"/>
              </p:cNvSpPr>
              <p:nvPr/>
            </p:nvSpPr>
            <p:spPr bwMode="auto">
              <a:xfrm flipH="1">
                <a:off x="2042" y="602"/>
                <a:ext cx="3710" cy="37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6" name="Line 26"/>
              <p:cNvSpPr>
                <a:spLocks noChangeShapeType="1"/>
              </p:cNvSpPr>
              <p:nvPr/>
            </p:nvSpPr>
            <p:spPr bwMode="auto">
              <a:xfrm flipH="1">
                <a:off x="2366" y="926"/>
                <a:ext cx="3386" cy="338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7" name="Line 27"/>
              <p:cNvSpPr>
                <a:spLocks noChangeShapeType="1"/>
              </p:cNvSpPr>
              <p:nvPr/>
            </p:nvSpPr>
            <p:spPr bwMode="auto">
              <a:xfrm flipH="1">
                <a:off x="2702" y="1262"/>
                <a:ext cx="3050" cy="305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8" name="Line 28"/>
              <p:cNvSpPr>
                <a:spLocks noChangeShapeType="1"/>
              </p:cNvSpPr>
              <p:nvPr/>
            </p:nvSpPr>
            <p:spPr bwMode="auto">
              <a:xfrm flipH="1">
                <a:off x="3053" y="1613"/>
                <a:ext cx="2694" cy="2693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59" name="Line 29"/>
              <p:cNvSpPr>
                <a:spLocks noChangeShapeType="1"/>
              </p:cNvSpPr>
              <p:nvPr/>
            </p:nvSpPr>
            <p:spPr bwMode="auto">
              <a:xfrm flipH="1">
                <a:off x="3398" y="1958"/>
                <a:ext cx="2354" cy="2354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0" name="Line 30"/>
              <p:cNvSpPr>
                <a:spLocks noChangeShapeType="1"/>
              </p:cNvSpPr>
              <p:nvPr/>
            </p:nvSpPr>
            <p:spPr bwMode="auto">
              <a:xfrm flipH="1">
                <a:off x="3734" y="2294"/>
                <a:ext cx="2018" cy="201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1" name="Line 31"/>
              <p:cNvSpPr>
                <a:spLocks noChangeShapeType="1"/>
              </p:cNvSpPr>
              <p:nvPr/>
            </p:nvSpPr>
            <p:spPr bwMode="auto">
              <a:xfrm flipH="1">
                <a:off x="4070" y="2630"/>
                <a:ext cx="1682" cy="168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2" name="Line 32"/>
              <p:cNvSpPr>
                <a:spLocks noChangeShapeType="1"/>
              </p:cNvSpPr>
              <p:nvPr/>
            </p:nvSpPr>
            <p:spPr bwMode="auto">
              <a:xfrm flipH="1">
                <a:off x="4394" y="2954"/>
                <a:ext cx="1358" cy="135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2" name="Line 33"/>
              <p:cNvSpPr>
                <a:spLocks noChangeShapeType="1"/>
              </p:cNvSpPr>
              <p:nvPr/>
            </p:nvSpPr>
            <p:spPr bwMode="auto">
              <a:xfrm flipH="1">
                <a:off x="4730" y="3290"/>
                <a:ext cx="1022" cy="10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4" name="Line 34"/>
              <p:cNvSpPr>
                <a:spLocks noChangeShapeType="1"/>
              </p:cNvSpPr>
              <p:nvPr/>
            </p:nvSpPr>
            <p:spPr bwMode="auto">
              <a:xfrm flipH="1">
                <a:off x="5030" y="3590"/>
                <a:ext cx="722" cy="7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5" name="Line 35"/>
              <p:cNvSpPr>
                <a:spLocks noChangeShapeType="1"/>
              </p:cNvSpPr>
              <p:nvPr/>
            </p:nvSpPr>
            <p:spPr bwMode="auto">
              <a:xfrm flipH="1">
                <a:off x="5342" y="3902"/>
                <a:ext cx="410" cy="41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1066" name="Line 36"/>
              <p:cNvSpPr>
                <a:spLocks noChangeShapeType="1"/>
              </p:cNvSpPr>
              <p:nvPr/>
            </p:nvSpPr>
            <p:spPr bwMode="auto">
              <a:xfrm flipH="1">
                <a:off x="5630" y="4190"/>
                <a:ext cx="122" cy="122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</p:grpSp>
      </p:grpSp>
      <p:sp>
        <p:nvSpPr>
          <p:cNvPr id="1063" name="Rectangle 39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8077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31" name="Rectangle 4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80772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 useBgFill="1">
        <p:nvSpPr>
          <p:cNvPr id="1032" name="Rectangle 41"/>
          <p:cNvSpPr>
            <a:spLocks noChangeArrowheads="1"/>
          </p:cNvSpPr>
          <p:nvPr/>
        </p:nvSpPr>
        <p:spPr bwMode="auto">
          <a:xfrm>
            <a:off x="76200" y="6415088"/>
            <a:ext cx="457200" cy="64135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fld id="{E61DD538-EC32-4357-9A38-D9EC5150A89F}" type="slidenum">
              <a:rPr lang="en-US" altLang="en-US" sz="1800">
                <a:latin typeface="Arial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033" name="Oval 42"/>
          <p:cNvSpPr>
            <a:spLocks noChangeArrowheads="1"/>
          </p:cNvSpPr>
          <p:nvPr/>
        </p:nvSpPr>
        <p:spPr bwMode="auto">
          <a:xfrm>
            <a:off x="8197850" y="196850"/>
            <a:ext cx="673100" cy="368300"/>
          </a:xfrm>
          <a:prstGeom prst="ellipse">
            <a:avLst/>
          </a:prstGeom>
          <a:solidFill>
            <a:srgbClr val="00FFFF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080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800" i="1">
                <a:solidFill>
                  <a:srgbClr val="000000"/>
                </a:solidFill>
                <a:latin typeface="Book Antiqua" panose="02040602050305030304" pitchFamily="18" charset="0"/>
              </a:rPr>
              <a:t>CoPS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2pPr>
      <a:lvl3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3pPr>
      <a:lvl4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4pPr>
      <a:lvl5pPr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5pPr>
      <a:lvl6pPr marL="4572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6pPr>
      <a:lvl7pPr marL="9144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7pPr>
      <a:lvl8pPr marL="13716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8pPr>
      <a:lvl9pPr marL="1828800" algn="ctr" defTabSz="908050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entury Schoolbook" pitchFamily="18" charset="0"/>
        </a:defRPr>
      </a:lvl9pPr>
    </p:titleStyle>
    <p:bodyStyle>
      <a:lvl1pPr marL="282575" indent="-282575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679450" indent="-225425" algn="l" defTabSz="908050" rtl="0" eaLnBrk="0" fontAlgn="base" hangingPunct="0">
        <a:spcBef>
          <a:spcPct val="4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33475" indent="-225425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defRPr b="1">
          <a:solidFill>
            <a:schemeClr val="tx1"/>
          </a:solidFill>
          <a:latin typeface="+mn-lt"/>
        </a:defRPr>
      </a:lvl3pPr>
      <a:lvl4pPr marL="1530350" indent="-169863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1400" b="1">
          <a:solidFill>
            <a:schemeClr val="tx1"/>
          </a:solidFill>
          <a:latin typeface="+mn-lt"/>
        </a:defRPr>
      </a:lvl4pPr>
      <a:lvl5pPr marL="19843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n"/>
        <a:defRPr sz="1400" b="1">
          <a:solidFill>
            <a:schemeClr val="tx1"/>
          </a:solidFill>
          <a:latin typeface="+mn-lt"/>
        </a:defRPr>
      </a:lvl5pPr>
      <a:lvl6pPr marL="24415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6pPr>
      <a:lvl7pPr marL="28987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7pPr>
      <a:lvl8pPr marL="33559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8pPr>
      <a:lvl9pPr marL="3813175" indent="-171450" algn="l" defTabSz="908050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492896"/>
            <a:ext cx="8077200" cy="990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投入产出表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一般均衡模型</a:t>
            </a:r>
            <a:b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</a:b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两个方法的紧密关系、各自特点和问题</a:t>
            </a:r>
            <a:endParaRPr lang="en-US" sz="2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Topics</a:t>
            </a:r>
          </a:p>
        </p:txBody>
      </p:sp>
      <p:sp>
        <p:nvSpPr>
          <p:cNvPr id="3075" name="Text Box 4" descr="Large checker board"/>
          <p:cNvSpPr txBox="1">
            <a:spLocks noChangeArrowheads="1"/>
          </p:cNvSpPr>
          <p:nvPr/>
        </p:nvSpPr>
        <p:spPr bwMode="auto">
          <a:xfrm>
            <a:off x="1258888" y="148431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Check">
                  <a:fgClr>
                    <a:schemeClr val="tx2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fi-FI" altLang="en-US" sz="2400"/>
          </a:p>
        </p:txBody>
      </p:sp>
      <p:sp>
        <p:nvSpPr>
          <p:cNvPr id="3076" name="Text Box 5" descr="Large checker board"/>
          <p:cNvSpPr txBox="1">
            <a:spLocks noChangeArrowheads="1"/>
          </p:cNvSpPr>
          <p:nvPr/>
        </p:nvSpPr>
        <p:spPr bwMode="auto">
          <a:xfrm>
            <a:off x="501615" y="1052736"/>
            <a:ext cx="806342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Check">
                  <a:fgClr>
                    <a:schemeClr val="tx2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Input-output economics, the foundation of CGE  &amp; GSC</a:t>
            </a:r>
          </a:p>
          <a:p>
            <a:pPr marL="0" indent="0"/>
            <a:r>
              <a:rPr lang="en-US" altLang="en-US" sz="2400" dirty="0">
                <a:solidFill>
                  <a:srgbClr val="0000FF"/>
                </a:solidFill>
              </a:rPr>
              <a:t>      (a)  the input-output table</a:t>
            </a:r>
          </a:p>
          <a:p>
            <a:pPr marL="0" indent="0"/>
            <a:r>
              <a:rPr lang="en-US" altLang="en-US" sz="2400" dirty="0">
                <a:solidFill>
                  <a:srgbClr val="0000FF"/>
                </a:solidFill>
              </a:rPr>
              <a:t>      (b)  national accounts</a:t>
            </a:r>
          </a:p>
          <a:p>
            <a:pPr marL="0" indent="0"/>
            <a:r>
              <a:rPr lang="en-US" altLang="en-US" sz="2400" dirty="0">
                <a:solidFill>
                  <a:srgbClr val="0000FF"/>
                </a:solidFill>
              </a:rPr>
              <a:t>      (c)  the one-country input-output model</a:t>
            </a:r>
          </a:p>
          <a:p>
            <a:pPr marL="0" indent="0"/>
            <a:r>
              <a:rPr lang="en-US" altLang="en-US" sz="2400" dirty="0">
                <a:solidFill>
                  <a:srgbClr val="0000FF"/>
                </a:solidFill>
              </a:rPr>
              <a:t>      (d)  the Leontief paradox</a:t>
            </a:r>
          </a:p>
          <a:p>
            <a:pPr>
              <a:buAutoNum type="arabicPeriod"/>
            </a:pPr>
            <a:endParaRPr lang="en-US" altLang="en-US" sz="2400" dirty="0"/>
          </a:p>
          <a:p>
            <a:pPr marL="0" indent="0"/>
            <a:r>
              <a:rPr lang="en-US" altLang="en-US" sz="2400" dirty="0"/>
              <a:t>2.   CGE modelling</a:t>
            </a:r>
          </a:p>
          <a:p>
            <a:pPr marL="0" indent="0"/>
            <a:r>
              <a:rPr lang="en-US" altLang="en-US" sz="2400" dirty="0"/>
              <a:t>      (a)  Johansen’s model of Norway</a:t>
            </a:r>
          </a:p>
          <a:p>
            <a:pPr marL="0" indent="0"/>
            <a:r>
              <a:rPr lang="en-US" altLang="en-US" sz="2400" dirty="0"/>
              <a:t>      (b)  Johansen’s solution matrix versus Leontief’s inverse</a:t>
            </a:r>
          </a:p>
          <a:p>
            <a:pPr marL="0" indent="0"/>
            <a:r>
              <a:rPr lang="en-US" altLang="en-US" sz="2400" dirty="0"/>
              <a:t>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1.  Input-output economics </a:t>
            </a:r>
            <a:endParaRPr lang="en-AU" dirty="0"/>
          </a:p>
        </p:txBody>
      </p:sp>
      <p:pic>
        <p:nvPicPr>
          <p:cNvPr id="59394" name="Picture 2" descr="Image result for Wassily leontief ph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4392486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52120" y="1772816"/>
            <a:ext cx="31683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err="1"/>
              <a:t>Wassily</a:t>
            </a:r>
            <a:r>
              <a:rPr lang="en-AU" sz="2000" dirty="0"/>
              <a:t> Leontief</a:t>
            </a:r>
          </a:p>
          <a:p>
            <a:r>
              <a:rPr lang="en-AU" sz="2000" dirty="0"/>
              <a:t>1905-1999</a:t>
            </a:r>
          </a:p>
          <a:p>
            <a:endParaRPr lang="en-AU" sz="2000" dirty="0"/>
          </a:p>
          <a:p>
            <a:r>
              <a:rPr lang="en-AU" sz="2000" dirty="0"/>
              <a:t>Nobel prize for economics </a:t>
            </a:r>
          </a:p>
          <a:p>
            <a:r>
              <a:rPr lang="en-AU" sz="2000" dirty="0"/>
              <a:t>in 1973 </a:t>
            </a:r>
          </a:p>
        </p:txBody>
      </p:sp>
    </p:spTree>
    <p:extLst>
      <p:ext uri="{BB962C8B-B14F-4D97-AF65-F5344CB8AC3E}">
        <p14:creationId xmlns:p14="http://schemas.microsoft.com/office/powerpoint/2010/main" val="351433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</a:rPr>
              <a:t>Input-output database for USAGE, a detailed CGE model of the US</a:t>
            </a:r>
            <a:endParaRPr lang="en-AU" sz="2800" dirty="0">
              <a:solidFill>
                <a:srgbClr val="0000FF"/>
              </a:solidFill>
            </a:endParaRPr>
          </a:p>
        </p:txBody>
      </p:sp>
      <p:graphicFrame>
        <p:nvGraphicFramePr>
          <p:cNvPr id="11267" name="Object 3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795256"/>
              </p:ext>
            </p:extLst>
          </p:nvPr>
        </p:nvGraphicFramePr>
        <p:xfrm>
          <a:off x="1115616" y="908720"/>
          <a:ext cx="7823200" cy="603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33060" imgH="4195572" progId="Word.Document.8">
                  <p:embed/>
                </p:oleObj>
              </mc:Choice>
              <mc:Fallback>
                <p:oleObj name="Document" r:id="rId2" imgW="5433060" imgH="4195572" progId="Word.Document.8">
                  <p:embed/>
                  <p:pic>
                    <p:nvPicPr>
                      <p:cNvPr id="11267" name="Object 3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908720"/>
                        <a:ext cx="7823200" cy="603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46E2B7E-B34F-49F7-AC65-332ADB465D3E}"/>
              </a:ext>
            </a:extLst>
          </p:cNvPr>
          <p:cNvSpPr txBox="1"/>
          <p:nvPr/>
        </p:nvSpPr>
        <p:spPr>
          <a:xfrm>
            <a:off x="6516216" y="1196752"/>
            <a:ext cx="2422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相对于没有考虑</a:t>
            </a:r>
            <a:r>
              <a:rPr lang="en-US" altLang="zh-CN" sz="1600" dirty="0">
                <a:solidFill>
                  <a:srgbClr val="FF0000"/>
                </a:solidFill>
              </a:rPr>
              <a:t>Margin</a:t>
            </a:r>
            <a:r>
              <a:rPr lang="zh-CN" altLang="en-US" sz="1600" dirty="0">
                <a:solidFill>
                  <a:srgbClr val="FF0000"/>
                </a:solidFill>
              </a:rPr>
              <a:t>的</a:t>
            </a:r>
            <a:r>
              <a:rPr lang="en-US" altLang="zh-CN" sz="1600" dirty="0">
                <a:solidFill>
                  <a:srgbClr val="FF0000"/>
                </a:solidFill>
              </a:rPr>
              <a:t>IO</a:t>
            </a:r>
            <a:r>
              <a:rPr lang="zh-CN" altLang="en-US" sz="1600" dirty="0">
                <a:solidFill>
                  <a:srgbClr val="FF0000"/>
                </a:solidFill>
              </a:rPr>
              <a:t>表，这里可能会增加大家理解的难度，但是加入后让大家更为清楚了</a:t>
            </a:r>
            <a:r>
              <a:rPr lang="en-US" altLang="zh-CN" sz="1600" dirty="0">
                <a:solidFill>
                  <a:srgbClr val="FF0000"/>
                </a:solidFill>
              </a:rPr>
              <a:t>IO</a:t>
            </a:r>
            <a:r>
              <a:rPr lang="zh-CN" altLang="en-US" sz="1600" dirty="0">
                <a:solidFill>
                  <a:srgbClr val="FF0000"/>
                </a:solidFill>
              </a:rPr>
              <a:t>表的关系。这里只需要将</a:t>
            </a:r>
            <a:r>
              <a:rPr lang="en-US" altLang="zh-CN" sz="1600" dirty="0">
                <a:solidFill>
                  <a:srgbClr val="FF0000"/>
                </a:solidFill>
              </a:rPr>
              <a:t>Mar</a:t>
            </a:r>
            <a:r>
              <a:rPr lang="zh-CN" altLang="en-US" sz="1600" dirty="0">
                <a:solidFill>
                  <a:srgbClr val="FF0000"/>
                </a:solidFill>
              </a:rPr>
              <a:t>也看作一个产业部门就可以了。</a:t>
            </a:r>
            <a:endParaRPr lang="zh-CN" altLang="en-US" sz="1600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F8D4A29-7A84-4DC4-87C4-2803B8A6F28D}"/>
              </a:ext>
            </a:extLst>
          </p:cNvPr>
          <p:cNvCxnSpPr/>
          <p:nvPr/>
        </p:nvCxnSpPr>
        <p:spPr bwMode="auto">
          <a:xfrm>
            <a:off x="3131840" y="1899320"/>
            <a:ext cx="0" cy="3257872"/>
          </a:xfrm>
          <a:prstGeom prst="straightConnector1">
            <a:avLst/>
          </a:prstGeom>
          <a:pattFill prst="lgCheck">
            <a:fgClr>
              <a:schemeClr val="tx2"/>
            </a:fgClr>
            <a:bgClr>
              <a:schemeClr val="bg1"/>
            </a:bgClr>
          </a:pattFill>
          <a:ln w="127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7E92301-42B5-4DC6-BB10-C084543375FB}"/>
              </a:ext>
            </a:extLst>
          </p:cNvPr>
          <p:cNvSpPr txBox="1"/>
          <p:nvPr/>
        </p:nvSpPr>
        <p:spPr>
          <a:xfrm>
            <a:off x="3059832" y="2835758"/>
            <a:ext cx="216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企业生产成本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640287E-69DD-416B-A4F0-42DF050B1FFD}"/>
              </a:ext>
            </a:extLst>
          </p:cNvPr>
          <p:cNvCxnSpPr/>
          <p:nvPr/>
        </p:nvCxnSpPr>
        <p:spPr bwMode="auto">
          <a:xfrm>
            <a:off x="2411760" y="2708920"/>
            <a:ext cx="3960440" cy="0"/>
          </a:xfrm>
          <a:prstGeom prst="straightConnector1">
            <a:avLst/>
          </a:prstGeom>
          <a:pattFill prst="lgCheck">
            <a:fgClr>
              <a:schemeClr val="tx2"/>
            </a:fgClr>
            <a:bgClr>
              <a:schemeClr val="bg1"/>
            </a:bgClr>
          </a:pattFill>
          <a:ln w="127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95BCC9E7-C943-4CF4-8B9B-E4CFBA699F4D}"/>
              </a:ext>
            </a:extLst>
          </p:cNvPr>
          <p:cNvSpPr/>
          <p:nvPr/>
        </p:nvSpPr>
        <p:spPr bwMode="auto">
          <a:xfrm>
            <a:off x="3923928" y="2420888"/>
            <a:ext cx="2232246" cy="2880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0000FF"/>
                </a:solidFill>
                <a:latin typeface="Times New Roman" pitchFamily="18" charset="0"/>
              </a:rPr>
              <a:t>企业出厂房价计算的使用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0B5AE9D-1B0A-48AF-BEB1-467CA73B8343}"/>
              </a:ext>
            </a:extLst>
          </p:cNvPr>
          <p:cNvCxnSpPr/>
          <p:nvPr/>
        </p:nvCxnSpPr>
        <p:spPr bwMode="auto">
          <a:xfrm>
            <a:off x="2411760" y="3284984"/>
            <a:ext cx="3960440" cy="0"/>
          </a:xfrm>
          <a:prstGeom prst="straightConnector1">
            <a:avLst/>
          </a:prstGeom>
          <a:pattFill prst="lgCheck">
            <a:fgClr>
              <a:schemeClr val="tx2"/>
            </a:fgClr>
            <a:bgClr>
              <a:schemeClr val="bg1"/>
            </a:bgClr>
          </a:pattFill>
          <a:ln w="127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439C832-6334-4CA6-A713-B4814591B38B}"/>
              </a:ext>
            </a:extLst>
          </p:cNvPr>
          <p:cNvSpPr/>
          <p:nvPr/>
        </p:nvSpPr>
        <p:spPr bwMode="auto">
          <a:xfrm>
            <a:off x="3923928" y="2996952"/>
            <a:ext cx="1584176" cy="288032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>
                <a:solidFill>
                  <a:srgbClr val="0000FF"/>
                </a:solidFill>
                <a:latin typeface="Times New Roman" pitchFamily="18" charset="0"/>
              </a:rPr>
              <a:t>使用的运输量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5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 animBg="1"/>
      <p:bldP spid="10" grpId="1" animBg="1"/>
      <p:bldP spid="14" grpId="0" animBg="1"/>
      <p:bldP spid="1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</a:rPr>
              <a:t>Input-output database for USAGE, a detailed CGE model of the US</a:t>
            </a:r>
            <a:endParaRPr lang="en-AU" sz="2800" dirty="0">
              <a:solidFill>
                <a:srgbClr val="0000FF"/>
              </a:solidFill>
            </a:endParaRPr>
          </a:p>
        </p:txBody>
      </p:sp>
      <p:graphicFrame>
        <p:nvGraphicFramePr>
          <p:cNvPr id="11267" name="Object 3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292536"/>
              </p:ext>
            </p:extLst>
          </p:nvPr>
        </p:nvGraphicFramePr>
        <p:xfrm>
          <a:off x="1115616" y="908720"/>
          <a:ext cx="7823200" cy="603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33060" imgH="4195572" progId="Word.Document.8">
                  <p:embed/>
                </p:oleObj>
              </mc:Choice>
              <mc:Fallback>
                <p:oleObj name="Document" r:id="rId2" imgW="5433060" imgH="4195572" progId="Word.Document.8">
                  <p:embed/>
                  <p:pic>
                    <p:nvPicPr>
                      <p:cNvPr id="11267" name="Object 3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908720"/>
                        <a:ext cx="7823200" cy="603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46E2B7E-B34F-49F7-AC65-332ADB465D3E}"/>
              </a:ext>
            </a:extLst>
          </p:cNvPr>
          <p:cNvSpPr txBox="1"/>
          <p:nvPr/>
        </p:nvSpPr>
        <p:spPr>
          <a:xfrm>
            <a:off x="6545494" y="2060848"/>
            <a:ext cx="24226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我们可以看到，方格内的加总就是用户购买产品时，支付的价格。</a:t>
            </a:r>
            <a:endParaRPr lang="en-US" altLang="zh-CN" sz="1600" dirty="0">
              <a:solidFill>
                <a:srgbClr val="FF0000"/>
              </a:solidFill>
            </a:endParaRPr>
          </a:p>
          <a:p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zh-CN" altLang="en-US" sz="1600" dirty="0">
                <a:solidFill>
                  <a:srgbClr val="0000FF"/>
                </a:solidFill>
              </a:rPr>
              <a:t>但是我们在纵向和横向平衡时，都是以企业的出场价格（即生产企业的市场销售价格）来计算的。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9F8D4A29-7A84-4DC4-87C4-2803B8A6F28D}"/>
              </a:ext>
            </a:extLst>
          </p:cNvPr>
          <p:cNvCxnSpPr/>
          <p:nvPr/>
        </p:nvCxnSpPr>
        <p:spPr bwMode="auto">
          <a:xfrm>
            <a:off x="3131840" y="1899320"/>
            <a:ext cx="0" cy="3257872"/>
          </a:xfrm>
          <a:prstGeom prst="straightConnector1">
            <a:avLst/>
          </a:prstGeom>
          <a:pattFill prst="lgCheck">
            <a:fgClr>
              <a:schemeClr val="tx2"/>
            </a:fgClr>
            <a:bgClr>
              <a:schemeClr val="bg1"/>
            </a:bgClr>
          </a:pattFill>
          <a:ln w="12700" cap="flat" cmpd="sng" algn="ctr">
            <a:solidFill>
              <a:srgbClr val="FF0000"/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7E92301-42B5-4DC6-BB10-C084543375FB}"/>
              </a:ext>
            </a:extLst>
          </p:cNvPr>
          <p:cNvSpPr txBox="1"/>
          <p:nvPr/>
        </p:nvSpPr>
        <p:spPr>
          <a:xfrm>
            <a:off x="3059832" y="2835758"/>
            <a:ext cx="216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企业生产成本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39C832-6334-4CA6-A713-B4814591B38B}"/>
              </a:ext>
            </a:extLst>
          </p:cNvPr>
          <p:cNvSpPr/>
          <p:nvPr/>
        </p:nvSpPr>
        <p:spPr bwMode="auto">
          <a:xfrm>
            <a:off x="3858073" y="2420888"/>
            <a:ext cx="634414" cy="1656184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AA8583-C98F-4B28-BA36-0A976473A7BB}"/>
              </a:ext>
            </a:extLst>
          </p:cNvPr>
          <p:cNvSpPr/>
          <p:nvPr/>
        </p:nvSpPr>
        <p:spPr bwMode="auto">
          <a:xfrm>
            <a:off x="4513651" y="2420888"/>
            <a:ext cx="634414" cy="1656184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1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4" grpId="0" animBg="1"/>
      <p:bldP spid="14" grpId="1" animBg="1"/>
      <p:bldP spid="11" grpId="0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</a:rPr>
              <a:t>National accounts: value  of inputs </a:t>
            </a:r>
            <a:br>
              <a:rPr lang="en-US" sz="2800" dirty="0">
                <a:solidFill>
                  <a:srgbClr val="0000FF"/>
                </a:solidFill>
              </a:rPr>
            </a:br>
            <a:r>
              <a:rPr lang="en-US" sz="2800" dirty="0">
                <a:solidFill>
                  <a:srgbClr val="0000FF"/>
                </a:solidFill>
              </a:rPr>
              <a:t>equals value of output</a:t>
            </a:r>
            <a:endParaRPr lang="en-AU" sz="2800" dirty="0">
              <a:solidFill>
                <a:srgbClr val="0000FF"/>
              </a:solidFill>
            </a:endParaRPr>
          </a:p>
        </p:txBody>
      </p:sp>
      <p:graphicFrame>
        <p:nvGraphicFramePr>
          <p:cNvPr id="12291" name="Object 6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158822"/>
              </p:ext>
            </p:extLst>
          </p:nvPr>
        </p:nvGraphicFramePr>
        <p:xfrm>
          <a:off x="421784" y="1207205"/>
          <a:ext cx="8493125" cy="393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608539" imgH="3992278" progId="Word.Document.8">
                  <p:embed/>
                </p:oleObj>
              </mc:Choice>
              <mc:Fallback>
                <p:oleObj name="Document" r:id="rId2" imgW="8608539" imgH="3992278" progId="Word.Document.8">
                  <p:embed/>
                  <p:pic>
                    <p:nvPicPr>
                      <p:cNvPr id="12291" name="Object 6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84" y="1207205"/>
                        <a:ext cx="8493125" cy="393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3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911080"/>
              </p:ext>
            </p:extLst>
          </p:nvPr>
        </p:nvGraphicFramePr>
        <p:xfrm>
          <a:off x="546100" y="4154487"/>
          <a:ext cx="8597900" cy="398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8608539" imgH="3998402" progId="Word.Document.8">
                  <p:embed/>
                </p:oleObj>
              </mc:Choice>
              <mc:Fallback>
                <p:oleObj name="Document" r:id="rId5" imgW="8608539" imgH="3998402" progId="Word.Document.8">
                  <p:embed/>
                  <p:pic>
                    <p:nvPicPr>
                      <p:cNvPr id="12292" name="Object 3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4154487"/>
                        <a:ext cx="8597900" cy="398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Line 7"/>
          <p:cNvSpPr>
            <a:spLocks noChangeShapeType="1"/>
          </p:cNvSpPr>
          <p:nvPr/>
        </p:nvSpPr>
        <p:spPr bwMode="auto">
          <a:xfrm flipV="1">
            <a:off x="840495" y="4177436"/>
            <a:ext cx="550242" cy="42025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2267744" y="4164738"/>
            <a:ext cx="550242" cy="42025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1485491" y="5390862"/>
            <a:ext cx="550242" cy="42025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 flipV="1">
            <a:off x="1285962" y="5017584"/>
            <a:ext cx="550242" cy="420252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1784" y="3619492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dirty="0">
                <a:solidFill>
                  <a:srgbClr val="C00000"/>
                </a:solidFill>
              </a:rPr>
              <a:t>Simplifying: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F3E175-AF30-4476-A3E9-8C80303216C5}"/>
              </a:ext>
            </a:extLst>
          </p:cNvPr>
          <p:cNvSpPr/>
          <p:nvPr/>
        </p:nvSpPr>
        <p:spPr bwMode="auto">
          <a:xfrm>
            <a:off x="4965454" y="1454894"/>
            <a:ext cx="3096344" cy="481012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所有的生产成本</a:t>
            </a:r>
          </a:p>
        </p:txBody>
      </p:sp>
      <p:sp>
        <p:nvSpPr>
          <p:cNvPr id="4" name="右大括号 3">
            <a:extLst>
              <a:ext uri="{FF2B5EF4-FFF2-40B4-BE49-F238E27FC236}">
                <a16:creationId xmlns:a16="http://schemas.microsoft.com/office/drawing/2014/main" id="{49184236-452E-46B1-9A52-94466AF45C2A}"/>
              </a:ext>
            </a:extLst>
          </p:cNvPr>
          <p:cNvSpPr/>
          <p:nvPr/>
        </p:nvSpPr>
        <p:spPr bwMode="auto">
          <a:xfrm>
            <a:off x="4716016" y="1268760"/>
            <a:ext cx="216024" cy="864096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F19E7346-8E88-4862-A5DF-D3B962C43925}"/>
              </a:ext>
            </a:extLst>
          </p:cNvPr>
          <p:cNvSpPr/>
          <p:nvPr/>
        </p:nvSpPr>
        <p:spPr bwMode="auto">
          <a:xfrm>
            <a:off x="7596336" y="2132855"/>
            <a:ext cx="432048" cy="1419051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6E221B-02AE-4F5E-9518-9F59EA461F6F}"/>
              </a:ext>
            </a:extLst>
          </p:cNvPr>
          <p:cNvSpPr/>
          <p:nvPr/>
        </p:nvSpPr>
        <p:spPr bwMode="auto">
          <a:xfrm>
            <a:off x="8077241" y="2132855"/>
            <a:ext cx="644976" cy="1584177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所有销售</a:t>
            </a:r>
          </a:p>
        </p:txBody>
      </p:sp>
    </p:spTree>
    <p:extLst>
      <p:ext uri="{BB962C8B-B14F-4D97-AF65-F5344CB8AC3E}">
        <p14:creationId xmlns:p14="http://schemas.microsoft.com/office/powerpoint/2010/main" val="237145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04" y="315942"/>
            <a:ext cx="8077200" cy="990600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solidFill>
                  <a:srgbClr val="0000FF"/>
                </a:solidFill>
              </a:rPr>
              <a:t>Income and expenditure measures of GDP</a:t>
            </a:r>
            <a:endParaRPr lang="en-AU" sz="2800" dirty="0">
              <a:solidFill>
                <a:srgbClr val="0000FF"/>
              </a:solidFill>
            </a:endParaRPr>
          </a:p>
        </p:txBody>
      </p:sp>
      <p:graphicFrame>
        <p:nvGraphicFramePr>
          <p:cNvPr id="13315" name="Object 6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80"/>
              </p:ext>
            </p:extLst>
          </p:nvPr>
        </p:nvGraphicFramePr>
        <p:xfrm>
          <a:off x="179388" y="1268413"/>
          <a:ext cx="8605837" cy="399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633377" imgH="4000646" progId="Word.Document.8">
                  <p:embed/>
                </p:oleObj>
              </mc:Choice>
              <mc:Fallback>
                <p:oleObj name="Document" r:id="rId2" imgW="8633377" imgH="4000646" progId="Word.Document.8">
                  <p:embed/>
                  <p:pic>
                    <p:nvPicPr>
                      <p:cNvPr id="13315" name="Object 6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68413"/>
                        <a:ext cx="8605837" cy="399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8" descr="Large checker board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936182"/>
              </p:ext>
            </p:extLst>
          </p:nvPr>
        </p:nvGraphicFramePr>
        <p:xfrm>
          <a:off x="192582" y="2996952"/>
          <a:ext cx="8934450" cy="301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5" imgW="8380556" imgH="2832922" progId="Word.Document.8">
                  <p:embed/>
                </p:oleObj>
              </mc:Choice>
              <mc:Fallback>
                <p:oleObj name="Document" r:id="rId5" imgW="8380556" imgH="2832922" progId="Word.Document.8">
                  <p:embed/>
                  <p:pic>
                    <p:nvPicPr>
                      <p:cNvPr id="13316" name="Object 8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82" y="2996952"/>
                        <a:ext cx="8934450" cy="301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4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A8A3B469-51B2-4C37-8A0C-F2A4D9EAB6BB}"/>
              </a:ext>
            </a:extLst>
          </p:cNvPr>
          <p:cNvSpPr/>
          <p:nvPr/>
        </p:nvSpPr>
        <p:spPr bwMode="auto">
          <a:xfrm>
            <a:off x="6116544" y="4605564"/>
            <a:ext cx="2700933" cy="751855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itchFamily="18" charset="0"/>
              </a:rPr>
              <a:t>这是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</a:rPr>
              <a:t>CIF</a:t>
            </a: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</a:rPr>
              <a:t>价格，也就是说没有交税前的完税价格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595370-2958-4679-A8DD-67C4AF40D794}"/>
              </a:ext>
            </a:extLst>
          </p:cNvPr>
          <p:cNvSpPr/>
          <p:nvPr/>
        </p:nvSpPr>
        <p:spPr bwMode="auto">
          <a:xfrm>
            <a:off x="6717537" y="1500581"/>
            <a:ext cx="1728192" cy="880184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一国所有收入</a:t>
            </a: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791ED741-35CB-4BE8-B21D-1FB6E08928EF}"/>
              </a:ext>
            </a:extLst>
          </p:cNvPr>
          <p:cNvSpPr/>
          <p:nvPr/>
        </p:nvSpPr>
        <p:spPr bwMode="auto">
          <a:xfrm>
            <a:off x="6266778" y="1354569"/>
            <a:ext cx="216024" cy="1063749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F197529B-52C2-43FB-92CD-D17FC63C91E1}"/>
              </a:ext>
            </a:extLst>
          </p:cNvPr>
          <p:cNvSpPr/>
          <p:nvPr/>
        </p:nvSpPr>
        <p:spPr bwMode="auto">
          <a:xfrm>
            <a:off x="5865496" y="4437112"/>
            <a:ext cx="216024" cy="1063749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右大括号 8">
            <a:extLst>
              <a:ext uri="{FF2B5EF4-FFF2-40B4-BE49-F238E27FC236}">
                <a16:creationId xmlns:a16="http://schemas.microsoft.com/office/drawing/2014/main" id="{9626FD11-91C8-4D87-9379-D47166D8B468}"/>
              </a:ext>
            </a:extLst>
          </p:cNvPr>
          <p:cNvSpPr/>
          <p:nvPr/>
        </p:nvSpPr>
        <p:spPr bwMode="auto">
          <a:xfrm>
            <a:off x="6158766" y="3140968"/>
            <a:ext cx="216024" cy="1063749"/>
          </a:xfrm>
          <a:prstGeom prst="rightBrace">
            <a:avLst/>
          </a:prstGeom>
          <a:solidFill>
            <a:schemeClr val="bg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062E66-000A-402F-A4E0-5F3376A8053B}"/>
              </a:ext>
            </a:extLst>
          </p:cNvPr>
          <p:cNvSpPr/>
          <p:nvPr/>
        </p:nvSpPr>
        <p:spPr bwMode="auto">
          <a:xfrm>
            <a:off x="6410305" y="2976457"/>
            <a:ext cx="1728192" cy="411696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投资者支付成本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95C7C1-D635-49C6-9034-4A683B2C690D}"/>
              </a:ext>
            </a:extLst>
          </p:cNvPr>
          <p:cNvSpPr/>
          <p:nvPr/>
        </p:nvSpPr>
        <p:spPr bwMode="auto">
          <a:xfrm>
            <a:off x="6408057" y="3271242"/>
            <a:ext cx="1728192" cy="411696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消费者支付成本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49CAD2-4948-4F7D-80C1-6411B249DCCE}"/>
              </a:ext>
            </a:extLst>
          </p:cNvPr>
          <p:cNvSpPr/>
          <p:nvPr/>
        </p:nvSpPr>
        <p:spPr bwMode="auto">
          <a:xfrm>
            <a:off x="6412834" y="3561698"/>
            <a:ext cx="1728192" cy="411696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出口</a:t>
            </a:r>
            <a:r>
              <a:rPr kumimoji="0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FOB</a:t>
            </a: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价格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8B34CF-CD94-413A-9483-2C8A3C9FE105}"/>
              </a:ext>
            </a:extLst>
          </p:cNvPr>
          <p:cNvSpPr/>
          <p:nvPr/>
        </p:nvSpPr>
        <p:spPr bwMode="auto">
          <a:xfrm>
            <a:off x="6403574" y="3849730"/>
            <a:ext cx="1728192" cy="354987"/>
          </a:xfrm>
          <a:prstGeom prst="rect">
            <a:avLst/>
          </a:prstGeom>
          <a:solidFill>
            <a:srgbClr val="FFFF00"/>
          </a:solidFill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</a:rPr>
              <a:t>政府支付成本</a:t>
            </a:r>
          </a:p>
        </p:txBody>
      </p:sp>
    </p:spTree>
    <p:extLst>
      <p:ext uri="{BB962C8B-B14F-4D97-AF65-F5344CB8AC3E}">
        <p14:creationId xmlns:p14="http://schemas.microsoft.com/office/powerpoint/2010/main" val="292107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One-country input-output model</a:t>
            </a:r>
            <a:endParaRPr lang="en-AU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0" y="819120"/>
            <a:ext cx="2487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AU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1466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AU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0" y="1885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AU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0" y="2381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495782"/>
              </p:ext>
            </p:extLst>
          </p:nvPr>
        </p:nvGraphicFramePr>
        <p:xfrm>
          <a:off x="585788" y="1214438"/>
          <a:ext cx="9912350" cy="464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59417" imgH="4150359" progId="Word.Document.12">
                  <p:embed/>
                </p:oleObj>
              </mc:Choice>
              <mc:Fallback>
                <p:oleObj name="Document" r:id="rId2" imgW="8859417" imgH="41503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5788" y="1214438"/>
                        <a:ext cx="9912350" cy="464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EC0E49C-29FA-4115-9512-2E3F50E5B8A8}"/>
              </a:ext>
            </a:extLst>
          </p:cNvPr>
          <p:cNvSpPr/>
          <p:nvPr/>
        </p:nvSpPr>
        <p:spPr bwMode="auto">
          <a:xfrm>
            <a:off x="323528" y="4653136"/>
            <a:ext cx="8496944" cy="1152101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FF0000"/>
            </a:solidFill>
            <a:headEnd type="none" w="sm" len="sm"/>
            <a:tailEnd type="none" w="sm" len="sm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1A9B05-7794-44A2-8E46-58CA83BE3EAD}"/>
              </a:ext>
            </a:extLst>
          </p:cNvPr>
          <p:cNvSpPr txBox="1"/>
          <p:nvPr/>
        </p:nvSpPr>
        <p:spPr>
          <a:xfrm>
            <a:off x="395536" y="5975289"/>
            <a:ext cx="7632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大家要充分理解上述特征的经济学含义，以及</a:t>
            </a:r>
            <a:r>
              <a:rPr lang="en-US" altLang="zh-CN" sz="2000" dirty="0">
                <a:solidFill>
                  <a:srgbClr val="FF0000"/>
                </a:solidFill>
              </a:rPr>
              <a:t>IO</a:t>
            </a:r>
            <a:r>
              <a:rPr lang="zh-CN" altLang="en-US" sz="2000" dirty="0">
                <a:solidFill>
                  <a:srgbClr val="FF0000"/>
                </a:solidFill>
              </a:rPr>
              <a:t>分析存在的问题</a:t>
            </a:r>
          </a:p>
        </p:txBody>
      </p:sp>
    </p:spTree>
    <p:extLst>
      <p:ext uri="{BB962C8B-B14F-4D97-AF65-F5344CB8AC3E}">
        <p14:creationId xmlns:p14="http://schemas.microsoft.com/office/powerpoint/2010/main" val="1482006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0722FD-2521-4179-8372-AAE1F2196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608112"/>
          </a:xfrm>
        </p:spPr>
        <p:txBody>
          <a:bodyPr/>
          <a:lstStyle/>
          <a:p>
            <a:r>
              <a:rPr lang="zh-CN" altLang="en-US" dirty="0"/>
              <a:t>完全消耗矩阵的含义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B594F0F-A9A9-4AB3-B7BD-29058C59A1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76" t="14067" r="64175" b="32034"/>
          <a:stretch/>
        </p:blipFill>
        <p:spPr>
          <a:xfrm>
            <a:off x="899592" y="980728"/>
            <a:ext cx="7566992" cy="574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86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00FF"/>
                </a:solidFill>
              </a:rPr>
              <a:t>Leontief paradox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017835"/>
              </p:ext>
            </p:extLst>
          </p:nvPr>
        </p:nvGraphicFramePr>
        <p:xfrm>
          <a:off x="144463" y="1322388"/>
          <a:ext cx="8856662" cy="421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57005" imgH="4215445" progId="Word.Document.12">
                  <p:embed/>
                </p:oleObj>
              </mc:Choice>
              <mc:Fallback>
                <p:oleObj name="Document" r:id="rId2" imgW="8857005" imgH="42154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463" y="1322388"/>
                        <a:ext cx="8856662" cy="421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96136" y="3861048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for the US in 1947</a:t>
            </a:r>
          </a:p>
        </p:txBody>
      </p:sp>
    </p:spTree>
    <p:extLst>
      <p:ext uri="{BB962C8B-B14F-4D97-AF65-F5344CB8AC3E}">
        <p14:creationId xmlns:p14="http://schemas.microsoft.com/office/powerpoint/2010/main" val="2945209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dirty="0">
                <a:solidFill>
                  <a:srgbClr val="0000FF"/>
                </a:solidFill>
              </a:rPr>
              <a:t>2.  CGE modelling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1507" name="Text Box 3" descr="Large checker board"/>
          <p:cNvSpPr txBox="1">
            <a:spLocks noChangeArrowheads="1"/>
          </p:cNvSpPr>
          <p:nvPr/>
        </p:nvSpPr>
        <p:spPr bwMode="auto">
          <a:xfrm>
            <a:off x="375320" y="2564904"/>
            <a:ext cx="8229600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 sz="2400" dirty="0"/>
          </a:p>
          <a:p>
            <a:r>
              <a:rPr lang="en-AU" altLang="en-US" sz="2400" i="1" dirty="0">
                <a:solidFill>
                  <a:srgbClr val="C00000"/>
                </a:solidFill>
              </a:rPr>
              <a:t>Popular</a:t>
            </a:r>
            <a:r>
              <a:rPr lang="en-AU" altLang="en-US" sz="2400" dirty="0"/>
              <a:t>  - </a:t>
            </a:r>
            <a:r>
              <a:rPr lang="en-AU" altLang="en-US" sz="2000" dirty="0">
                <a:sym typeface="Symbol" panose="05050102010706020507" pitchFamily="18" charset="2"/>
              </a:rPr>
              <a:t>15,000 practitioners from 150 countries in the GTAP network </a:t>
            </a:r>
          </a:p>
          <a:p>
            <a:r>
              <a:rPr lang="en-AU" altLang="en-US" sz="2400" i="1" dirty="0">
                <a:solidFill>
                  <a:srgbClr val="C00000"/>
                </a:solidFill>
                <a:sym typeface="Symbol" panose="05050102010706020507" pitchFamily="18" charset="2"/>
              </a:rPr>
              <a:t>Versatile</a:t>
            </a:r>
            <a:r>
              <a:rPr lang="en-AU" altLang="en-US" sz="2000" dirty="0">
                <a:sym typeface="Symbol" panose="05050102010706020507" pitchFamily="18" charset="2"/>
              </a:rPr>
              <a:t> </a:t>
            </a:r>
            <a:r>
              <a:rPr lang="en-AU" altLang="en-US" dirty="0"/>
              <a:t>-</a:t>
            </a:r>
            <a:r>
              <a:rPr lang="en-AU" altLang="en-US" sz="2000" dirty="0">
                <a:sym typeface="Symbol" panose="05050102010706020507" pitchFamily="18" charset="2"/>
              </a:rPr>
              <a:t> </a:t>
            </a:r>
            <a:r>
              <a:rPr lang="en-AU" altLang="en-US" sz="2000" i="1" dirty="0">
                <a:sym typeface="Symbol" panose="05050102010706020507" pitchFamily="18" charset="2"/>
              </a:rPr>
              <a:t>	</a:t>
            </a:r>
            <a:r>
              <a:rPr lang="en-AU" altLang="en-US" sz="2000" i="1" u="sng" dirty="0">
                <a:solidFill>
                  <a:srgbClr val="FF0000"/>
                </a:solidFill>
                <a:highlight>
                  <a:srgbClr val="00FF66"/>
                </a:highlight>
                <a:sym typeface="Symbol" panose="05050102010706020507" pitchFamily="18" charset="2"/>
              </a:rPr>
              <a:t>the effects on</a:t>
            </a:r>
            <a:endParaRPr lang="en-AU" altLang="en-US" sz="2000" u="sng" dirty="0">
              <a:solidFill>
                <a:srgbClr val="FF0000"/>
              </a:solidFill>
              <a:highlight>
                <a:srgbClr val="00FF66"/>
              </a:highlight>
              <a:sym typeface="Symbol" panose="05050102010706020507" pitchFamily="18" charset="2"/>
            </a:endParaRPr>
          </a:p>
          <a:p>
            <a:r>
              <a:rPr lang="en-AU" altLang="en-US" sz="2000" dirty="0">
                <a:sym typeface="Symbol" panose="05050102010706020507" pitchFamily="18" charset="2"/>
              </a:rPr>
              <a:t>	</a:t>
            </a:r>
            <a:r>
              <a:rPr lang="en-AU" altLang="en-US" sz="2000" dirty="0">
                <a:solidFill>
                  <a:srgbClr val="0000FF"/>
                </a:solidFill>
                <a:sym typeface="Symbol" panose="05050102010706020507" pitchFamily="18" charset="2"/>
              </a:rPr>
              <a:t>macro, welfare, industry, regional, labour-market, 	distributional and environmental variables</a:t>
            </a:r>
            <a:endParaRPr lang="en-AU" altLang="en-US" sz="2000" i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r>
              <a:rPr lang="en-AU" altLang="en-US" sz="2000" i="1" dirty="0">
                <a:sym typeface="Symbol" panose="05050102010706020507" pitchFamily="18" charset="2"/>
              </a:rPr>
              <a:t>		of</a:t>
            </a:r>
            <a:endParaRPr lang="en-AU" altLang="en-US" sz="2000" dirty="0">
              <a:sym typeface="Symbol" panose="05050102010706020507" pitchFamily="18" charset="2"/>
            </a:endParaRPr>
          </a:p>
          <a:p>
            <a:r>
              <a:rPr lang="en-AU" altLang="en-US" sz="2000" dirty="0">
                <a:sym typeface="Symbol" panose="05050102010706020507" pitchFamily="18" charset="2"/>
              </a:rPr>
              <a:t>	taxes, public consumption and social security payments; tariffs 	and other interferences in international trade; environmental 	policies; technology; international commodity prices; interest 	rates; wage setting arrangements and union behaviour; 	mineral </a:t>
            </a:r>
            <a:r>
              <a:rPr lang="en-AU" altLang="en-US" sz="2000" dirty="0" err="1">
                <a:sym typeface="Symbol" panose="05050102010706020507" pitchFamily="18" charset="2"/>
              </a:rPr>
              <a:t>discovories</a:t>
            </a:r>
            <a:r>
              <a:rPr lang="en-AU" altLang="en-US" sz="2000" dirty="0">
                <a:sym typeface="Symbol" panose="05050102010706020507" pitchFamily="18" charset="2"/>
              </a:rPr>
              <a:t> (the Dutch disease); immigration; micro-	economic reform; and major projects</a:t>
            </a:r>
          </a:p>
          <a:p>
            <a:endParaRPr lang="en-AU" altLang="en-US" sz="2000" dirty="0">
              <a:sym typeface="Symbol" panose="05050102010706020507" pitchFamily="18" charset="2"/>
            </a:endParaRPr>
          </a:p>
          <a:p>
            <a:r>
              <a:rPr lang="en-AU" altLang="en-US" sz="2000" dirty="0">
                <a:sym typeface="Symbol" panose="05050102010706020507" pitchFamily="18" charset="2"/>
              </a:rPr>
              <a:t>		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348308" y="1076444"/>
            <a:ext cx="792162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n"/>
              <a:defRPr sz="24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4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lnSpc>
                <a:spcPct val="110000"/>
              </a:lnSpc>
              <a:spcBef>
                <a:spcPct val="50000"/>
              </a:spcBef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n"/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AU" altLang="en-US" sz="2000" dirty="0">
                <a:latin typeface="Times New Roman" pitchFamily="18" charset="0"/>
              </a:rPr>
              <a:t>What makes a CGE model: defining features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AU" altLang="en-US" sz="2000" dirty="0">
                <a:solidFill>
                  <a:srgbClr val="C00000"/>
                </a:solidFill>
                <a:latin typeface="Times New Roman" pitchFamily="18" charset="0"/>
              </a:rPr>
              <a:t>C</a:t>
            </a:r>
            <a:r>
              <a:rPr lang="en-AU" altLang="en-US" sz="2000" dirty="0">
                <a:latin typeface="Times New Roman" pitchFamily="18" charset="0"/>
              </a:rPr>
              <a:t>omputable: real world data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AU" altLang="en-US" sz="2000" dirty="0">
                <a:solidFill>
                  <a:srgbClr val="C00000"/>
                </a:solidFill>
                <a:latin typeface="Times New Roman" pitchFamily="18" charset="0"/>
              </a:rPr>
              <a:t>G</a:t>
            </a:r>
            <a:r>
              <a:rPr lang="en-AU" altLang="en-US" sz="2000" dirty="0">
                <a:latin typeface="Times New Roman" pitchFamily="18" charset="0"/>
              </a:rPr>
              <a:t>eneral: explicit agents with optimizing behaviour</a:t>
            </a:r>
          </a:p>
          <a:p>
            <a:pPr marL="342900" indent="-342900" eaLnBrk="1" hangingPunct="1">
              <a:lnSpc>
                <a:spcPct val="10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en-AU" altLang="en-US" sz="2000" dirty="0">
                <a:solidFill>
                  <a:srgbClr val="C00000"/>
                </a:solidFill>
                <a:latin typeface="Times New Roman" pitchFamily="18" charset="0"/>
              </a:rPr>
              <a:t>E</a:t>
            </a:r>
            <a:r>
              <a:rPr lang="en-AU" altLang="en-US" sz="2000" dirty="0">
                <a:latin typeface="Times New Roman" pitchFamily="18" charset="0"/>
              </a:rPr>
              <a:t>quilibrium:  price determination through the interaction of demand and supply for commodities and factors (introduces resource constraints)</a:t>
            </a:r>
          </a:p>
        </p:txBody>
      </p:sp>
    </p:spTree>
    <p:extLst>
      <p:ext uri="{BB962C8B-B14F-4D97-AF65-F5344CB8AC3E}">
        <p14:creationId xmlns:p14="http://schemas.microsoft.com/office/powerpoint/2010/main" val="109977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077200" cy="990600"/>
          </a:xfrm>
        </p:spPr>
        <p:txBody>
          <a:bodyPr/>
          <a:lstStyle/>
          <a:p>
            <a:pPr>
              <a:defRPr/>
            </a:pPr>
            <a:r>
              <a:rPr lang="en-AU" dirty="0">
                <a:solidFill>
                  <a:srgbClr val="0000FF"/>
                </a:solidFill>
              </a:rPr>
              <a:t>The first CGE model: Johansen for Norway  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148" name="Text Box 5" descr="Large checker board"/>
          <p:cNvSpPr txBox="1">
            <a:spLocks noChangeArrowheads="1"/>
          </p:cNvSpPr>
          <p:nvPr/>
        </p:nvSpPr>
        <p:spPr bwMode="auto">
          <a:xfrm>
            <a:off x="1166813" y="527050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fi-FI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1484784"/>
            <a:ext cx="4965881" cy="39707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7544" y="1916832"/>
            <a:ext cx="23294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Leif Johansen</a:t>
            </a:r>
          </a:p>
          <a:p>
            <a:r>
              <a:rPr lang="en-AU" dirty="0"/>
              <a:t>1930-1982</a:t>
            </a:r>
          </a:p>
        </p:txBody>
      </p:sp>
    </p:spTree>
    <p:extLst>
      <p:ext uri="{BB962C8B-B14F-4D97-AF65-F5344CB8AC3E}">
        <p14:creationId xmlns:p14="http://schemas.microsoft.com/office/powerpoint/2010/main" val="3652616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00FF"/>
                </a:solidFill>
              </a:rPr>
              <a:t>Johansen put equations in linear percentage change form</a:t>
            </a: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451994"/>
              </p:ext>
            </p:extLst>
          </p:nvPr>
        </p:nvGraphicFramePr>
        <p:xfrm>
          <a:off x="257175" y="1219200"/>
          <a:ext cx="8858250" cy="549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847917" imgH="5476233" progId="Word.Document.12">
                  <p:embed/>
                </p:oleObj>
              </mc:Choice>
              <mc:Fallback>
                <p:oleObj name="Document" r:id="rId2" imgW="8847917" imgH="54762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175" y="1219200"/>
                        <a:ext cx="8858250" cy="549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78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00FF"/>
                </a:solidFill>
              </a:rPr>
              <a:t>Johansen’s T matrix</a:t>
            </a:r>
            <a:br>
              <a:rPr lang="en-AU" dirty="0">
                <a:solidFill>
                  <a:srgbClr val="0000FF"/>
                </a:solidFill>
              </a:rPr>
            </a:br>
            <a:r>
              <a:rPr lang="en-AU" dirty="0">
                <a:solidFill>
                  <a:srgbClr val="0000FF"/>
                </a:solidFill>
              </a:rPr>
              <a:t>46 by 86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700808"/>
            <a:ext cx="6156176" cy="461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9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hecker board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19" name="Rectangle 3" descr="Large checker board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20" name="Rectangle 4" descr="Large checker board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21" name="Text Box 5" descr="Large checker board"/>
          <p:cNvSpPr txBox="1">
            <a:spLocks noChangeArrowheads="1"/>
          </p:cNvSpPr>
          <p:nvPr/>
        </p:nvSpPr>
        <p:spPr bwMode="auto">
          <a:xfrm>
            <a:off x="417513" y="1119188"/>
            <a:ext cx="946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2400" dirty="0"/>
              <a:t>Leontief:    X=</a:t>
            </a:r>
            <a:r>
              <a:rPr lang="en-AU" altLang="en-US" sz="2400" dirty="0">
                <a:solidFill>
                  <a:srgbClr val="CC3300"/>
                </a:solidFill>
              </a:rPr>
              <a:t>(I-A)</a:t>
            </a:r>
            <a:r>
              <a:rPr lang="en-AU" altLang="en-US" sz="2400" baseline="30000" dirty="0">
                <a:solidFill>
                  <a:srgbClr val="CC3300"/>
                </a:solidFill>
              </a:rPr>
              <a:t>-1</a:t>
            </a:r>
            <a:r>
              <a:rPr lang="en-AU" altLang="en-US" sz="2400" dirty="0"/>
              <a:t>*y             Johansen:    v</a:t>
            </a:r>
            <a:r>
              <a:rPr lang="en-AU" altLang="en-US" sz="2400" baseline="-25000" dirty="0"/>
              <a:t>1</a:t>
            </a:r>
            <a:r>
              <a:rPr lang="en-AU" altLang="en-US" sz="2400" dirty="0"/>
              <a:t> = </a:t>
            </a:r>
            <a:r>
              <a:rPr lang="en-AU" altLang="en-US" sz="2400" dirty="0">
                <a:solidFill>
                  <a:srgbClr val="CC3300"/>
                </a:solidFill>
              </a:rPr>
              <a:t>T</a:t>
            </a:r>
            <a:r>
              <a:rPr lang="en-AU" altLang="en-US" sz="2400" dirty="0"/>
              <a:t>*v</a:t>
            </a:r>
            <a:r>
              <a:rPr lang="en-AU" altLang="en-US" sz="2400" baseline="-25000" dirty="0"/>
              <a:t>2</a:t>
            </a:r>
            <a:endParaRPr lang="en-US" altLang="en-US" sz="2400" dirty="0"/>
          </a:p>
        </p:txBody>
      </p:sp>
      <p:sp>
        <p:nvSpPr>
          <p:cNvPr id="9222" name="Rectangle 6" descr="Large checker board"/>
          <p:cNvSpPr>
            <a:spLocks noChangeArrowheads="1"/>
          </p:cNvSpPr>
          <p:nvPr/>
        </p:nvSpPr>
        <p:spPr bwMode="auto">
          <a:xfrm>
            <a:off x="0" y="2681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1370833" y="1687879"/>
          <a:ext cx="4384675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51200" imgH="1498600" progId="Equation.DSMT4">
                  <p:embed/>
                </p:oleObj>
              </mc:Choice>
              <mc:Fallback>
                <p:oleObj name="Equation" r:id="rId3" imgW="3251200" imgH="1498600" progId="Equation.DSMT4">
                  <p:embed/>
                  <p:pic>
                    <p:nvPicPr>
                      <p:cNvPr id="9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0833" y="1687879"/>
                        <a:ext cx="4384675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Grp="1" noChangeAspect="1"/>
          </p:cNvGraphicFramePr>
          <p:nvPr>
            <p:ph idx="1"/>
          </p:nvPr>
        </p:nvGraphicFramePr>
        <p:xfrm>
          <a:off x="1618981" y="3897806"/>
          <a:ext cx="4130675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24080" imgH="1498320" progId="Equation.DSMT4">
                  <p:embed/>
                </p:oleObj>
              </mc:Choice>
              <mc:Fallback>
                <p:oleObj name="Equation" r:id="rId5" imgW="3124080" imgH="1498320" progId="Equation.DSMT4">
                  <p:embed/>
                  <p:pic>
                    <p:nvPicPr>
                      <p:cNvPr id="92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981" y="3897806"/>
                        <a:ext cx="4130675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Oval 9"/>
          <p:cNvSpPr>
            <a:spLocks noChangeArrowheads="1"/>
          </p:cNvSpPr>
          <p:nvPr/>
        </p:nvSpPr>
        <p:spPr bwMode="auto">
          <a:xfrm rot="1951375">
            <a:off x="2881211" y="2547598"/>
            <a:ext cx="2808287" cy="2889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26" name="Text Box 10" descr="Large checker board"/>
          <p:cNvSpPr txBox="1">
            <a:spLocks noChangeArrowheads="1"/>
          </p:cNvSpPr>
          <p:nvPr/>
        </p:nvSpPr>
        <p:spPr bwMode="auto">
          <a:xfrm rot="1957213">
            <a:off x="3805974" y="2438754"/>
            <a:ext cx="781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2000" dirty="0"/>
              <a:t>all </a:t>
            </a:r>
            <a:r>
              <a:rPr lang="en-AU" altLang="en-US" sz="2000" dirty="0">
                <a:sym typeface="Symbol" panose="05050102010706020507" pitchFamily="18" charset="2"/>
              </a:rPr>
              <a:t>1</a:t>
            </a: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 rot="1951375">
            <a:off x="3009474" y="4768843"/>
            <a:ext cx="2808287" cy="288925"/>
          </a:xfrm>
          <a:prstGeom prst="ellipse">
            <a:avLst/>
          </a:prstGeom>
          <a:solidFill>
            <a:srgbClr val="FFFF00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29" name="AutoShape 13"/>
          <p:cNvSpPr>
            <a:spLocks noChangeArrowheads="1"/>
          </p:cNvSpPr>
          <p:nvPr/>
        </p:nvSpPr>
        <p:spPr bwMode="auto">
          <a:xfrm>
            <a:off x="3188437" y="4413404"/>
            <a:ext cx="2016125" cy="1296987"/>
          </a:xfrm>
          <a:prstGeom prst="rtTriangle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AU" altLang="en-US" sz="2000"/>
              <a:t>mainly </a:t>
            </a:r>
            <a:r>
              <a:rPr lang="en-AU" altLang="en-US" sz="2000">
                <a:sym typeface="Symbol" panose="05050102010706020507" pitchFamily="18" charset="2"/>
              </a:rPr>
              <a:t>&lt; 0</a:t>
            </a:r>
          </a:p>
        </p:txBody>
      </p:sp>
      <p:sp>
        <p:nvSpPr>
          <p:cNvPr id="9230" name="AutoShape 14"/>
          <p:cNvSpPr>
            <a:spLocks noChangeArrowheads="1"/>
          </p:cNvSpPr>
          <p:nvPr/>
        </p:nvSpPr>
        <p:spPr bwMode="auto">
          <a:xfrm>
            <a:off x="3152008" y="2271005"/>
            <a:ext cx="2016125" cy="1296988"/>
          </a:xfrm>
          <a:prstGeom prst="rtTriangle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AU" altLang="en-US" sz="2000" dirty="0"/>
              <a:t>all </a:t>
            </a:r>
            <a:r>
              <a:rPr lang="en-AU" altLang="en-US" sz="2000" dirty="0">
                <a:sym typeface="Symbol" panose="05050102010706020507" pitchFamily="18" charset="2"/>
              </a:rPr>
              <a:t> 0</a:t>
            </a:r>
          </a:p>
          <a:p>
            <a:pPr algn="ctr"/>
            <a:r>
              <a:rPr lang="en-AU" altLang="en-US" sz="2000" dirty="0">
                <a:sym typeface="Symbol" panose="05050102010706020507" pitchFamily="18" charset="2"/>
              </a:rPr>
              <a:t>mainly  &gt; 0</a:t>
            </a:r>
          </a:p>
        </p:txBody>
      </p:sp>
      <p:sp>
        <p:nvSpPr>
          <p:cNvPr id="9231" name="AutoShape 15"/>
          <p:cNvSpPr>
            <a:spLocks noChangeArrowheads="1"/>
          </p:cNvSpPr>
          <p:nvPr/>
        </p:nvSpPr>
        <p:spPr bwMode="auto">
          <a:xfrm rot="10800000">
            <a:off x="3429000" y="1806602"/>
            <a:ext cx="2016125" cy="1296988"/>
          </a:xfrm>
          <a:prstGeom prst="rtTriangle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32" name="AutoShape 16"/>
          <p:cNvSpPr>
            <a:spLocks noChangeArrowheads="1"/>
          </p:cNvSpPr>
          <p:nvPr/>
        </p:nvSpPr>
        <p:spPr bwMode="auto">
          <a:xfrm rot="10800000">
            <a:off x="3451057" y="3980582"/>
            <a:ext cx="2016125" cy="1296987"/>
          </a:xfrm>
          <a:prstGeom prst="rtTriangle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AU" altLang="en-US"/>
          </a:p>
        </p:txBody>
      </p:sp>
      <p:sp>
        <p:nvSpPr>
          <p:cNvPr id="9233" name="Rectangle 17" descr="Large checker board"/>
          <p:cNvSpPr>
            <a:spLocks noChangeArrowheads="1"/>
          </p:cNvSpPr>
          <p:nvPr/>
        </p:nvSpPr>
        <p:spPr bwMode="auto">
          <a:xfrm>
            <a:off x="2538698" y="1736725"/>
            <a:ext cx="45720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AU" altLang="en-US" sz="2000" dirty="0"/>
              <a:t>all </a:t>
            </a:r>
            <a:r>
              <a:rPr lang="en-AU" altLang="en-US" sz="2000" dirty="0">
                <a:sym typeface="Symbol" panose="05050102010706020507" pitchFamily="18" charset="2"/>
              </a:rPr>
              <a:t> 0</a:t>
            </a:r>
          </a:p>
          <a:p>
            <a:pPr algn="ctr"/>
            <a:r>
              <a:rPr lang="en-AU" altLang="en-US" sz="2000" dirty="0">
                <a:sym typeface="Symbol" panose="05050102010706020507" pitchFamily="18" charset="2"/>
              </a:rPr>
              <a:t>mainly  &gt; 0</a:t>
            </a:r>
          </a:p>
        </p:txBody>
      </p:sp>
      <p:sp>
        <p:nvSpPr>
          <p:cNvPr id="9234" name="Rectangle 18" descr="Large checker board"/>
          <p:cNvSpPr>
            <a:spLocks noChangeArrowheads="1"/>
          </p:cNvSpPr>
          <p:nvPr/>
        </p:nvSpPr>
        <p:spPr bwMode="auto">
          <a:xfrm>
            <a:off x="4098755" y="4072306"/>
            <a:ext cx="1328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2000" dirty="0"/>
              <a:t>mainly </a:t>
            </a:r>
            <a:r>
              <a:rPr lang="en-AU" altLang="en-US" sz="2000" dirty="0">
                <a:sym typeface="Symbol" panose="05050102010706020507" pitchFamily="18" charset="2"/>
              </a:rPr>
              <a:t>&lt; 0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sp>
        <p:nvSpPr>
          <p:cNvPr id="9236" name="Rectangle 20" descr="Large checker board"/>
          <p:cNvSpPr>
            <a:spLocks noChangeArrowheads="1"/>
          </p:cNvSpPr>
          <p:nvPr/>
        </p:nvSpPr>
        <p:spPr bwMode="auto">
          <a:xfrm>
            <a:off x="6100973" y="2312208"/>
            <a:ext cx="2643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dirty="0"/>
              <a:t> </a:t>
            </a:r>
            <a:r>
              <a:rPr lang="en-AU" altLang="en-US" dirty="0">
                <a:solidFill>
                  <a:srgbClr val="CC3300"/>
                </a:solidFill>
              </a:rPr>
              <a:t>complementary</a:t>
            </a:r>
            <a:endParaRPr lang="en-US" altLang="en-US" dirty="0">
              <a:solidFill>
                <a:srgbClr val="CC3300"/>
              </a:solidFill>
            </a:endParaRPr>
          </a:p>
        </p:txBody>
      </p:sp>
      <p:sp>
        <p:nvSpPr>
          <p:cNvPr id="9237" name="Rectangle 21" descr="Large checker board"/>
          <p:cNvSpPr>
            <a:spLocks noChangeArrowheads="1"/>
          </p:cNvSpPr>
          <p:nvPr/>
        </p:nvSpPr>
        <p:spPr bwMode="auto">
          <a:xfrm>
            <a:off x="6171187" y="4389160"/>
            <a:ext cx="1982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dirty="0">
                <a:solidFill>
                  <a:srgbClr val="CC3300"/>
                </a:solidFill>
              </a:rPr>
              <a:t>competition</a:t>
            </a:r>
            <a:endParaRPr lang="en-US" altLang="en-US" dirty="0">
              <a:solidFill>
                <a:srgbClr val="CC3300"/>
              </a:solidFill>
            </a:endParaRPr>
          </a:p>
        </p:txBody>
      </p:sp>
      <p:sp>
        <p:nvSpPr>
          <p:cNvPr id="343062" name="Rectangle 22" descr="Large checker board"/>
          <p:cNvSpPr>
            <a:spLocks noChangeArrowheads="1"/>
          </p:cNvSpPr>
          <p:nvPr/>
        </p:nvSpPr>
        <p:spPr bwMode="auto">
          <a:xfrm>
            <a:off x="-154782" y="84811"/>
            <a:ext cx="858996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Check">
                  <a:fgClr>
                    <a:schemeClr val="tx2"/>
                  </a:fgClr>
                  <a:bgClr>
                    <a:schemeClr val="bg1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AU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Johansen’s CGE model versus Leontief’s I-O model:</a:t>
            </a:r>
          </a:p>
          <a:p>
            <a:pPr algn="ctr">
              <a:defRPr/>
            </a:pPr>
            <a:r>
              <a:rPr lang="en-AU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Effects of demand stimulation</a:t>
            </a:r>
            <a:endParaRPr lang="en-US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" name="Text Box 12" descr="Large checker board"/>
          <p:cNvSpPr txBox="1">
            <a:spLocks noChangeArrowheads="1"/>
          </p:cNvSpPr>
          <p:nvPr/>
        </p:nvSpPr>
        <p:spPr bwMode="auto">
          <a:xfrm rot="1957213">
            <a:off x="3246469" y="4709835"/>
            <a:ext cx="2355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AU" altLang="en-US" sz="2000" dirty="0">
                <a:sym typeface="Symbol" panose="05050102010706020507" pitchFamily="18" charset="2"/>
              </a:rPr>
              <a:t>all 0</a:t>
            </a:r>
            <a:r>
              <a:rPr lang="en-AU" altLang="en-US" sz="2000" dirty="0"/>
              <a:t> but mainly </a:t>
            </a:r>
            <a:r>
              <a:rPr lang="en-AU" altLang="en-US" sz="2000" dirty="0">
                <a:sym typeface="Symbol" panose="05050102010706020507" pitchFamily="18" charset="2"/>
              </a:rPr>
              <a:t>&lt;1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25542" y="5880806"/>
            <a:ext cx="90482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en-US" kern="0" dirty="0"/>
              <a:t> </a:t>
            </a:r>
            <a:r>
              <a:rPr lang="en-AU" altLang="en-US" sz="2000" kern="0" dirty="0"/>
              <a:t>T(</a:t>
            </a:r>
            <a:r>
              <a:rPr lang="en-AU" altLang="en-US" sz="2000" kern="0" dirty="0" err="1"/>
              <a:t>x,z</a:t>
            </a:r>
            <a:r>
              <a:rPr lang="en-AU" altLang="en-US" sz="2000" kern="0" dirty="0"/>
              <a:t>) is the 22 by 22 sub-matrix of T showing </a:t>
            </a:r>
            <a:br>
              <a:rPr lang="en-AU" altLang="en-US" sz="2000" kern="0" dirty="0"/>
            </a:br>
            <a:r>
              <a:rPr lang="en-AU" altLang="en-US" sz="2000" kern="0" dirty="0"/>
              <a:t>elasticities of outputs with respect to exogenous demands</a:t>
            </a:r>
            <a:endParaRPr lang="en-US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1321174666"/>
      </p:ext>
    </p:extLst>
  </p:cSld>
  <p:clrMapOvr>
    <a:masterClrMapping/>
  </p:clrMapOvr>
</p:sld>
</file>

<file path=ppt/theme/theme1.xml><?xml version="1.0" encoding="utf-8"?>
<a:theme xmlns:a="http://schemas.openxmlformats.org/drawingml/2006/main" name="Gst">
  <a:themeElements>
    <a:clrScheme name="Gst 4">
      <a:dk1>
        <a:srgbClr val="000000"/>
      </a:dk1>
      <a:lt1>
        <a:srgbClr val="FFFFFF"/>
      </a:lt1>
      <a:dk2>
        <a:srgbClr val="000000"/>
      </a:dk2>
      <a:lt2>
        <a:srgbClr val="393939"/>
      </a:lt2>
      <a:accent1>
        <a:srgbClr val="CBCBCB"/>
      </a:accent1>
      <a:accent2>
        <a:srgbClr val="868686"/>
      </a:accent2>
      <a:accent3>
        <a:srgbClr val="FFFFFF"/>
      </a:accent3>
      <a:accent4>
        <a:srgbClr val="000000"/>
      </a:accent4>
      <a:accent5>
        <a:srgbClr val="E2E2E2"/>
      </a:accent5>
      <a:accent6>
        <a:srgbClr val="797979"/>
      </a:accent6>
      <a:hlink>
        <a:srgbClr val="4D4D4D"/>
      </a:hlink>
      <a:folHlink>
        <a:srgbClr val="EAEAEA"/>
      </a:folHlink>
    </a:clrScheme>
    <a:fontScheme name="Gst">
      <a:majorFont>
        <a:latin typeface="Century School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lgCheck">
          <a:fgClr>
            <a:schemeClr val="tx2"/>
          </a:fgClr>
          <a:bgClr>
            <a:schemeClr val="bg1"/>
          </a:bgClr>
        </a:patt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pattFill prst="lgCheck">
          <a:fgClr>
            <a:schemeClr val="tx2"/>
          </a:fgClr>
          <a:bgClr>
            <a:schemeClr val="bg1"/>
          </a:bgClr>
        </a:patt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s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s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s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5226</TotalTime>
  <Pages>3</Pages>
  <Words>565</Words>
  <Application>Microsoft Office PowerPoint</Application>
  <PresentationFormat>全屏显示(4:3)</PresentationFormat>
  <Paragraphs>86</Paragraphs>
  <Slides>15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黑体</vt:lpstr>
      <vt:lpstr>Arial</vt:lpstr>
      <vt:lpstr>Book Antiqua</vt:lpstr>
      <vt:lpstr>Century Schoolbook</vt:lpstr>
      <vt:lpstr>Times New Roman</vt:lpstr>
      <vt:lpstr>Wingdings</vt:lpstr>
      <vt:lpstr>Gst</vt:lpstr>
      <vt:lpstr>Document</vt:lpstr>
      <vt:lpstr>Microsoft Word 文档</vt:lpstr>
      <vt:lpstr>Equation</vt:lpstr>
      <vt:lpstr>投入产出表一般均衡模型 两个方法的紧密关系、各自特点和问题</vt:lpstr>
      <vt:lpstr>Topics</vt:lpstr>
      <vt:lpstr>1.  Input-output economics </vt:lpstr>
      <vt:lpstr>Input-output database for USAGE, a detailed CGE model of the US</vt:lpstr>
      <vt:lpstr>Input-output database for USAGE, a detailed CGE model of the US</vt:lpstr>
      <vt:lpstr>National accounts: value  of inputs  equals value of output</vt:lpstr>
      <vt:lpstr>Income and expenditure measures of GDP</vt:lpstr>
      <vt:lpstr>One-country input-output model</vt:lpstr>
      <vt:lpstr>完全消耗矩阵的含义</vt:lpstr>
      <vt:lpstr>Leontief paradox</vt:lpstr>
      <vt:lpstr>2.  CGE modelling</vt:lpstr>
      <vt:lpstr>The first CGE model: Johansen for Norway  </vt:lpstr>
      <vt:lpstr>Johansen put equations in linear percentage change form</vt:lpstr>
      <vt:lpstr>Johansen’s T matrix 46 by 86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colin thompson</dc:creator>
  <cp:lastModifiedBy>yang jun</cp:lastModifiedBy>
  <cp:revision>311</cp:revision>
  <cp:lastPrinted>2017-07-28T06:15:29Z</cp:lastPrinted>
  <dcterms:created xsi:type="dcterms:W3CDTF">1997-06-09T21:24:06Z</dcterms:created>
  <dcterms:modified xsi:type="dcterms:W3CDTF">2021-04-05T14:49:55Z</dcterms:modified>
</cp:coreProperties>
</file>