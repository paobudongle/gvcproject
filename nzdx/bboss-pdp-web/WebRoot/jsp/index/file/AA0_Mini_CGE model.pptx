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9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78" r:id="rId28"/>
    <p:sldId id="282" r:id="rId29"/>
    <p:sldId id="283" r:id="rId30"/>
    <p:sldId id="284" r:id="rId31"/>
    <p:sldId id="285" r:id="rId32"/>
    <p:sldId id="286" r:id="rId33"/>
    <p:sldId id="287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0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96" autoAdjust="0"/>
  </p:normalViewPr>
  <p:slideViewPr>
    <p:cSldViewPr snapToGrid="0">
      <p:cViewPr varScale="1">
        <p:scale>
          <a:sx n="56" d="100"/>
          <a:sy n="56" d="100"/>
        </p:scale>
        <p:origin x="10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26B78-58B1-4394-8EF2-49E40C5D5AFC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9CD41-7E16-4C0B-ACDE-F4CEA046A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39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09CD41-7E16-4C0B-ACDE-F4CEA046A0D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517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66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52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11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82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62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75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18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74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1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293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824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E162DC-FB28-44D9-A65D-E319F61B1C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246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EFFFEC-F3F4-4345-9648-FF676E4C05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4198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DA5367-2433-497A-979D-C5506101AB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857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447800"/>
            <a:ext cx="5283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283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22907B-7540-41E8-9D13-8D2FA0CC99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771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15F9A8-6C0E-47CE-B1FA-8082FAB818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297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BDC2B4-99A5-48DA-9294-76274862A8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0712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07CBF-C89E-464E-9756-D18D821BAB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8985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8C17C-1EBE-4F8F-940B-44ABC985A5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9148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8BA619-7FEF-4AE8-A4BF-E9BBE9A0F0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20907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7E4CE3-577E-4206-9DC4-BA39EEAECD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5882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8400" y="228600"/>
            <a:ext cx="2692400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228600"/>
            <a:ext cx="7874000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2F0CF0-BD55-426D-8F28-04890A1F8D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22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447800"/>
            <a:ext cx="5283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447800"/>
            <a:ext cx="5283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38600"/>
            <a:ext cx="5283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293AB8-31B5-48B6-AAD3-D67EC1C5C9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82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94F45-38F3-491A-B3CD-F4270E560533}" type="datetimeFigureOut">
              <a:rPr lang="zh-CN" altLang="en-US" smtClean="0"/>
              <a:t>2018/5/18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A6144-37D9-4DF5-97F8-ABC43F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05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defTabSz="762000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defTabSz="762000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defTabSz="762000">
              <a:defRPr sz="1400" b="0"/>
            </a:lvl1pPr>
          </a:lstStyle>
          <a:p>
            <a:fld id="{2DA8272A-D255-492E-8E8E-459F44814227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9" name="Group 38"/>
          <p:cNvGrpSpPr>
            <a:grpSpLocks/>
          </p:cNvGrpSpPr>
          <p:nvPr/>
        </p:nvGrpSpPr>
        <p:grpSpPr bwMode="auto">
          <a:xfrm>
            <a:off x="0" y="0"/>
            <a:ext cx="12175067" cy="6845300"/>
            <a:chOff x="0" y="0"/>
            <a:chExt cx="5752" cy="4312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5749" cy="4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 sz="2800"/>
            </a:p>
          </p:txBody>
        </p:sp>
        <p:grpSp>
          <p:nvGrpSpPr>
            <p:cNvPr id="1035" name="Group 37"/>
            <p:cNvGrpSpPr>
              <a:grpSpLocks/>
            </p:cNvGrpSpPr>
            <p:nvPr/>
          </p:nvGrpSpPr>
          <p:grpSpPr bwMode="auto">
            <a:xfrm>
              <a:off x="2" y="2"/>
              <a:ext cx="5750" cy="4310"/>
              <a:chOff x="2" y="2"/>
              <a:chExt cx="5750" cy="4310"/>
            </a:xfrm>
          </p:grpSpPr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30" cy="13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37" name="Line 7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418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38" name="Line 8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718" cy="7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39" name="Line 9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042" cy="10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0" name="Line 10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366" cy="136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1" name="Line 11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714" cy="171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2" name="Line 12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2050" cy="20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3" name="Line 13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2386" cy="238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4" name="Line 14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2722" cy="27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5" name="Line 15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3082" cy="30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6" name="Line 16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3430" cy="343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7" name="Line 17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3766" cy="376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8" name="Line 18"/>
              <p:cNvSpPr>
                <a:spLocks noChangeShapeType="1"/>
              </p:cNvSpPr>
              <p:nvPr/>
            </p:nvSpPr>
            <p:spPr bwMode="auto">
              <a:xfrm flipH="1">
                <a:off x="2" y="14"/>
                <a:ext cx="4090" cy="409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49" name="Line 19"/>
              <p:cNvSpPr>
                <a:spLocks noChangeShapeType="1"/>
              </p:cNvSpPr>
              <p:nvPr/>
            </p:nvSpPr>
            <p:spPr bwMode="auto">
              <a:xfrm flipH="1">
                <a:off x="118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0" name="Line 20"/>
              <p:cNvSpPr>
                <a:spLocks noChangeShapeType="1"/>
              </p:cNvSpPr>
              <p:nvPr/>
            </p:nvSpPr>
            <p:spPr bwMode="auto">
              <a:xfrm flipH="1">
                <a:off x="430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1" name="Line 21"/>
              <p:cNvSpPr>
                <a:spLocks noChangeShapeType="1"/>
              </p:cNvSpPr>
              <p:nvPr/>
            </p:nvSpPr>
            <p:spPr bwMode="auto">
              <a:xfrm flipH="1">
                <a:off x="730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2" name="Line 22"/>
              <p:cNvSpPr>
                <a:spLocks noChangeShapeType="1"/>
              </p:cNvSpPr>
              <p:nvPr/>
            </p:nvSpPr>
            <p:spPr bwMode="auto">
              <a:xfrm flipH="1">
                <a:off x="1054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3" name="Line 23"/>
              <p:cNvSpPr>
                <a:spLocks noChangeShapeType="1"/>
              </p:cNvSpPr>
              <p:nvPr/>
            </p:nvSpPr>
            <p:spPr bwMode="auto">
              <a:xfrm flipH="1">
                <a:off x="1387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4" name="Line 24"/>
              <p:cNvSpPr>
                <a:spLocks noChangeShapeType="1"/>
              </p:cNvSpPr>
              <p:nvPr/>
            </p:nvSpPr>
            <p:spPr bwMode="auto">
              <a:xfrm flipH="1">
                <a:off x="1718" y="278"/>
                <a:ext cx="4034" cy="40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5" name="Line 25"/>
              <p:cNvSpPr>
                <a:spLocks noChangeShapeType="1"/>
              </p:cNvSpPr>
              <p:nvPr/>
            </p:nvSpPr>
            <p:spPr bwMode="auto">
              <a:xfrm flipH="1">
                <a:off x="2042" y="602"/>
                <a:ext cx="3710" cy="37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6" name="Line 26"/>
              <p:cNvSpPr>
                <a:spLocks noChangeShapeType="1"/>
              </p:cNvSpPr>
              <p:nvPr/>
            </p:nvSpPr>
            <p:spPr bwMode="auto">
              <a:xfrm flipH="1">
                <a:off x="2366" y="926"/>
                <a:ext cx="3386" cy="338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7" name="Line 27"/>
              <p:cNvSpPr>
                <a:spLocks noChangeShapeType="1"/>
              </p:cNvSpPr>
              <p:nvPr/>
            </p:nvSpPr>
            <p:spPr bwMode="auto">
              <a:xfrm flipH="1">
                <a:off x="2702" y="1262"/>
                <a:ext cx="3050" cy="30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8" name="Line 28"/>
              <p:cNvSpPr>
                <a:spLocks noChangeShapeType="1"/>
              </p:cNvSpPr>
              <p:nvPr/>
            </p:nvSpPr>
            <p:spPr bwMode="auto">
              <a:xfrm flipH="1">
                <a:off x="3053" y="1613"/>
                <a:ext cx="2694" cy="2693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59" name="Line 29"/>
              <p:cNvSpPr>
                <a:spLocks noChangeShapeType="1"/>
              </p:cNvSpPr>
              <p:nvPr/>
            </p:nvSpPr>
            <p:spPr bwMode="auto">
              <a:xfrm flipH="1">
                <a:off x="3398" y="1958"/>
                <a:ext cx="2354" cy="235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60" name="Line 30"/>
              <p:cNvSpPr>
                <a:spLocks noChangeShapeType="1"/>
              </p:cNvSpPr>
              <p:nvPr/>
            </p:nvSpPr>
            <p:spPr bwMode="auto">
              <a:xfrm flipH="1">
                <a:off x="3734" y="2294"/>
                <a:ext cx="2018" cy="20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61" name="Line 31"/>
              <p:cNvSpPr>
                <a:spLocks noChangeShapeType="1"/>
              </p:cNvSpPr>
              <p:nvPr/>
            </p:nvSpPr>
            <p:spPr bwMode="auto">
              <a:xfrm flipH="1">
                <a:off x="4070" y="2630"/>
                <a:ext cx="1682" cy="16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62" name="Line 32"/>
              <p:cNvSpPr>
                <a:spLocks noChangeShapeType="1"/>
              </p:cNvSpPr>
              <p:nvPr/>
            </p:nvSpPr>
            <p:spPr bwMode="auto">
              <a:xfrm flipH="1">
                <a:off x="4394" y="2954"/>
                <a:ext cx="1358" cy="135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2" name="Line 33"/>
              <p:cNvSpPr>
                <a:spLocks noChangeShapeType="1"/>
              </p:cNvSpPr>
              <p:nvPr/>
            </p:nvSpPr>
            <p:spPr bwMode="auto">
              <a:xfrm flipH="1">
                <a:off x="4730" y="3290"/>
                <a:ext cx="1022" cy="10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64" name="Line 34"/>
              <p:cNvSpPr>
                <a:spLocks noChangeShapeType="1"/>
              </p:cNvSpPr>
              <p:nvPr/>
            </p:nvSpPr>
            <p:spPr bwMode="auto">
              <a:xfrm flipH="1">
                <a:off x="5030" y="3590"/>
                <a:ext cx="722" cy="7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65" name="Line 35"/>
              <p:cNvSpPr>
                <a:spLocks noChangeShapeType="1"/>
              </p:cNvSpPr>
              <p:nvPr/>
            </p:nvSpPr>
            <p:spPr bwMode="auto">
              <a:xfrm flipH="1">
                <a:off x="5342" y="3902"/>
                <a:ext cx="410" cy="4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  <p:sp>
            <p:nvSpPr>
              <p:cNvPr id="1066" name="Line 36"/>
              <p:cNvSpPr>
                <a:spLocks noChangeShapeType="1"/>
              </p:cNvSpPr>
              <p:nvPr/>
            </p:nvSpPr>
            <p:spPr bwMode="auto">
              <a:xfrm flipH="1">
                <a:off x="5630" y="4190"/>
                <a:ext cx="122" cy="1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 sz="1800"/>
              </a:p>
            </p:txBody>
          </p:sp>
        </p:grpSp>
      </p:grpSp>
      <p:sp>
        <p:nvSpPr>
          <p:cNvPr id="1063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228600"/>
            <a:ext cx="10769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31" name="Rectangle 4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447800"/>
            <a:ext cx="1076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 useBgFill="1">
        <p:nvSpPr>
          <p:cNvPr id="1032" name="Rectangle 41"/>
          <p:cNvSpPr>
            <a:spLocks noChangeArrowheads="1"/>
          </p:cNvSpPr>
          <p:nvPr/>
        </p:nvSpPr>
        <p:spPr bwMode="auto">
          <a:xfrm>
            <a:off x="101600" y="6415088"/>
            <a:ext cx="609600" cy="369974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fld id="{E61DD538-EC32-4357-9A38-D9EC5150A89F}" type="slidenum">
              <a:rPr lang="en-US" altLang="en-US" sz="1800">
                <a:latin typeface="Arial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3" name="Oval 42"/>
          <p:cNvSpPr>
            <a:spLocks noChangeArrowheads="1"/>
          </p:cNvSpPr>
          <p:nvPr/>
        </p:nvSpPr>
        <p:spPr bwMode="auto">
          <a:xfrm>
            <a:off x="10930467" y="196850"/>
            <a:ext cx="897467" cy="3683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800" i="1">
                <a:solidFill>
                  <a:srgbClr val="000000"/>
                </a:solidFill>
                <a:latin typeface="Book Antiqua" panose="02040602050305030304" pitchFamily="18" charset="0"/>
              </a:rPr>
              <a:t>CoPS</a:t>
            </a:r>
          </a:p>
        </p:txBody>
      </p:sp>
    </p:spTree>
    <p:extLst>
      <p:ext uri="{BB962C8B-B14F-4D97-AF65-F5344CB8AC3E}">
        <p14:creationId xmlns:p14="http://schemas.microsoft.com/office/powerpoint/2010/main" val="351165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2pPr>
      <a:lvl3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3pPr>
      <a:lvl4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4pPr>
      <a:lvl5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5pPr>
      <a:lvl6pPr marL="4572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6pPr>
      <a:lvl7pPr marL="9144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7pPr>
      <a:lvl8pPr marL="13716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8pPr>
      <a:lvl9pPr marL="18288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9pPr>
    </p:titleStyle>
    <p:bodyStyle>
      <a:lvl1pPr marL="282575" indent="-282575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79450" indent="-225425" algn="l" defTabSz="908050" rtl="0" eaLnBrk="0" fontAlgn="base" hangingPunct="0">
        <a:spcBef>
          <a:spcPct val="4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133475" indent="-225425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3pPr>
      <a:lvl4pPr marL="1530350" indent="-169863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n"/>
        <a:defRPr sz="1400" b="1">
          <a:solidFill>
            <a:schemeClr val="tx1"/>
          </a:solidFill>
          <a:latin typeface="+mn-lt"/>
        </a:defRPr>
      </a:lvl4pPr>
      <a:lvl5pPr marL="19843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n"/>
        <a:defRPr sz="1400" b="1">
          <a:solidFill>
            <a:schemeClr val="tx1"/>
          </a:solidFill>
          <a:latin typeface="+mn-lt"/>
        </a:defRPr>
      </a:lvl5pPr>
      <a:lvl6pPr marL="24415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6pPr>
      <a:lvl7pPr marL="28987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7pPr>
      <a:lvl8pPr marL="33559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8pPr>
      <a:lvl9pPr marL="38131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so.com/doc/7551920-7826013.html" TargetMode="External"/><Relationship Id="rId3" Type="http://schemas.openxmlformats.org/officeDocument/2006/relationships/hyperlink" Target="https://baike.so.com/doc/5399075-5636557.html" TargetMode="External"/><Relationship Id="rId7" Type="http://schemas.openxmlformats.org/officeDocument/2006/relationships/hyperlink" Target="https://baike.so.com/doc/6143251-6356425.htm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so.com/doc/7562209-7836302.html" TargetMode="External"/><Relationship Id="rId5" Type="http://schemas.openxmlformats.org/officeDocument/2006/relationships/hyperlink" Target="https://baike.so.com/doc/3582763-3767429.html" TargetMode="External"/><Relationship Id="rId4" Type="http://schemas.openxmlformats.org/officeDocument/2006/relationships/hyperlink" Target="https://baike.so.com/doc/3961958-4157491.html" TargetMode="External"/><Relationship Id="rId9" Type="http://schemas.openxmlformats.org/officeDocument/2006/relationships/hyperlink" Target="https://baike.so.com/doc/2521405-2664062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7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Mini-CGE model</a:t>
            </a:r>
            <a:br>
              <a:rPr lang="en-US" altLang="zh-CN" sz="4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-A stylized Johansen model</a:t>
            </a:r>
            <a:endParaRPr lang="zh-CN" altLang="en-US" sz="48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53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IO table of a simple economy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2437"/>
          <a:stretch/>
        </p:blipFill>
        <p:spPr>
          <a:xfrm>
            <a:off x="437322" y="1690688"/>
            <a:ext cx="10664687" cy="48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8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5732" y="2430230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Theoretical Structure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2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06100"/>
            <a:ext cx="12460357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 theories levied on (assumed) </a:t>
            </a:r>
            <a:br>
              <a:rPr lang="en-US" altLang="zh-CN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simple economy</a:t>
            </a:r>
            <a:endParaRPr lang="zh-CN" altLang="en-US" sz="36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0" y="1813585"/>
            <a:ext cx="11374955" cy="3851719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4562061" y="2633870"/>
            <a:ext cx="3120887" cy="427382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441174" y="3160643"/>
            <a:ext cx="9591261" cy="720893"/>
          </a:xfrm>
          <a:prstGeom prst="roundRect">
            <a:avLst/>
          </a:prstGeom>
          <a:noFill/>
          <a:ln w="73025">
            <a:solidFill>
              <a:srgbClr val="240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441174" y="3816625"/>
            <a:ext cx="9591261" cy="591685"/>
          </a:xfrm>
          <a:prstGeom prst="roundRect">
            <a:avLst/>
          </a:prstGeom>
          <a:noFill/>
          <a:ln w="73025">
            <a:solidFill>
              <a:srgbClr val="240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441174" y="4394389"/>
            <a:ext cx="9591261" cy="525481"/>
          </a:xfrm>
          <a:prstGeom prst="roundRect">
            <a:avLst/>
          </a:prstGeom>
          <a:noFill/>
          <a:ln w="73025">
            <a:solidFill>
              <a:srgbClr val="240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441174" y="4972153"/>
            <a:ext cx="9591261" cy="693151"/>
          </a:xfrm>
          <a:prstGeom prst="roundRect">
            <a:avLst/>
          </a:prstGeom>
          <a:noFill/>
          <a:ln w="73025">
            <a:solidFill>
              <a:srgbClr val="240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80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1-Consumption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5" y="1690688"/>
            <a:ext cx="11486990" cy="4216827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309731" y="2623930"/>
            <a:ext cx="4373218" cy="805069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402497" y="3866322"/>
            <a:ext cx="4373218" cy="659295"/>
          </a:xfrm>
          <a:prstGeom prst="roundRect">
            <a:avLst/>
          </a:prstGeom>
          <a:noFill/>
          <a:ln w="730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73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2-production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1355938"/>
            <a:ext cx="10749280" cy="516503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402497" y="1690688"/>
            <a:ext cx="4373218" cy="1458912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402497" y="3154702"/>
            <a:ext cx="4373218" cy="807698"/>
          </a:xfrm>
          <a:prstGeom prst="roundRect">
            <a:avLst/>
          </a:prstGeom>
          <a:noFill/>
          <a:ln w="730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402497" y="5059680"/>
            <a:ext cx="4373218" cy="1461287"/>
          </a:xfrm>
          <a:prstGeom prst="roundRect">
            <a:avLst/>
          </a:prstGeom>
          <a:noFill/>
          <a:ln w="730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74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3-price of products produced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5" y="1953344"/>
            <a:ext cx="11830523" cy="1186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48404"/>
            <a:ext cx="9921240" cy="160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3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4-Marketing clearing conditions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81" y="1507251"/>
            <a:ext cx="11373837" cy="4359292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032626" y="2399605"/>
            <a:ext cx="4395589" cy="168951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32625" y="4089115"/>
            <a:ext cx="4395589" cy="168951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5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6920" y="186880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Optimal solutions and key relationships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86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 solutions to the above maximum and minimum programing*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830" y="2008920"/>
            <a:ext cx="9545804" cy="98828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188720" y="1798320"/>
            <a:ext cx="9671914" cy="135128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3360200"/>
            <a:ext cx="9458554" cy="3223479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188720" y="3264632"/>
            <a:ext cx="9753600" cy="3471448"/>
          </a:xfrm>
          <a:prstGeom prst="roundRect">
            <a:avLst/>
          </a:prstGeom>
          <a:noFill/>
          <a:ln w="73025">
            <a:solidFill>
              <a:srgbClr val="240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1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Derived solutions according to the optimal results and constraints  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49" y="1690688"/>
            <a:ext cx="10984502" cy="3714432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80720" y="1690688"/>
            <a:ext cx="10779760" cy="135128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38200" y="3627120"/>
            <a:ext cx="10317480" cy="2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78840" y="3931920"/>
            <a:ext cx="10317480" cy="2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919480" y="4257040"/>
            <a:ext cx="10317480" cy="2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09320" y="4582160"/>
            <a:ext cx="5196840" cy="1016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46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35000" y="226159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Walras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Law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4640" y="1378585"/>
            <a:ext cx="9428480" cy="261806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瓦尔拉斯法则是指在一般均衡理论中的一个原理。其内容为：一个经济体内，在任何一个特定的市场中，如果所有的其他市场都是均衡的，那么那个特定的市场也必然是均衡的。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080" y="76200"/>
            <a:ext cx="2153920" cy="32969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94640" y="4280575"/>
            <a:ext cx="11531600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瓦尔拉斯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Walras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(Marie-Esprit-)Leon(1834.12.16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，法国埃夫勒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~1910.1.5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，瑞士</a:t>
            </a:r>
            <a:r>
              <a:rPr lang="zh-CN" altLang="en-US" sz="2000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  <a:hlinkClick r:id="rId3"/>
              </a:rPr>
              <a:t>蒙特勒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附近的克拉朗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法裔瑞士经济学家。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1865~1868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年和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L.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萨伊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(J.-B.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萨伊之孙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创建了一家为</a:t>
            </a:r>
            <a:r>
              <a:rPr lang="zh-CN" altLang="en-US" sz="2000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  <a:hlinkClick r:id="rId4"/>
              </a:rPr>
              <a:t>生产合作社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服务的银行。在瑞士</a:t>
            </a:r>
            <a:r>
              <a:rPr lang="zh-CN" altLang="en-US" sz="2000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  <a:hlinkClick r:id="rId5"/>
              </a:rPr>
              <a:t>洛桑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学院开创了后来以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zh-CN" altLang="en-US" sz="2000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  <a:hlinkClick r:id="rId6"/>
              </a:rPr>
              <a:t>洛桑学派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著称的经济学学派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(1870~1892)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r>
              <a:rPr lang="en-US" altLang="zh-CN" sz="2000" b="1" i="0" u="sng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sz="2000" b="1" i="0" u="sng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纯粹政治经济学纲要</a:t>
            </a:r>
            <a:r>
              <a:rPr lang="en-US" altLang="zh-CN" sz="2000" b="1" i="0" u="sng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》(1874~1877)</a:t>
            </a:r>
            <a:r>
              <a:rPr lang="zh-CN" altLang="en-US" sz="2000" b="1" i="0" u="sng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是最早用</a:t>
            </a:r>
            <a:r>
              <a:rPr lang="zh-CN" altLang="en-US" sz="2000" b="1" i="0" u="sng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7"/>
              </a:rPr>
              <a:t>数学方法</a:t>
            </a:r>
            <a:r>
              <a:rPr lang="zh-CN" altLang="en-US" sz="2000" b="1" i="0" u="sng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对一般</a:t>
            </a:r>
            <a:r>
              <a:rPr lang="zh-CN" altLang="en-US" sz="2000" b="1" i="0" u="sng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8"/>
              </a:rPr>
              <a:t>经济均衡</a:t>
            </a:r>
            <a:r>
              <a:rPr lang="zh-CN" altLang="en-US" sz="2000" b="1" i="0" u="sng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进行全面分析的著作之一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。瓦尔拉在完全自由竞争社会制度这一假设下，创立了一种数学模型，其中</a:t>
            </a:r>
            <a:r>
              <a:rPr lang="zh-CN" altLang="en-US" sz="2000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  <a:hlinkClick r:id="rId9"/>
              </a:rPr>
              <a:t>生产要素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、产品和价格会自动调节达到均衡。这样，他把生产、交换、货币和资本各方面的原理联系起来。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1973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5290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Derive the </a:t>
            </a:r>
            <a:r>
              <a:rPr lang="en-US" altLang="zh-CN" sz="4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Walras</a:t>
            </a:r>
            <a:r>
              <a:rPr lang="en-US" altLang="zh-CN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Law in </a:t>
            </a:r>
            <a:r>
              <a:rPr lang="en-US" altLang="zh-CN" sz="4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Johanson</a:t>
            </a:r>
            <a:r>
              <a:rPr lang="en-US" altLang="zh-CN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60" y="1460479"/>
            <a:ext cx="9269760" cy="10012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97178"/>
            <a:ext cx="9418320" cy="15739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" y="3881482"/>
            <a:ext cx="9550400" cy="14536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240" y="5335176"/>
            <a:ext cx="8436640" cy="1370203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1215360" y="1398639"/>
            <a:ext cx="9269760" cy="1063119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235680" y="2485759"/>
            <a:ext cx="9269760" cy="1385343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286480" y="3908159"/>
            <a:ext cx="9269760" cy="1385343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337280" y="5330559"/>
            <a:ext cx="9269760" cy="1385343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25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Homogeneity of the model system (I)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6905"/>
            <a:ext cx="11328400" cy="353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01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87960" y="70143"/>
            <a:ext cx="10515600" cy="721995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24059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Homogeneity of the model system (II)</a:t>
            </a:r>
            <a:endParaRPr lang="zh-CN" altLang="en-US" b="1" dirty="0">
              <a:solidFill>
                <a:srgbClr val="24059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5" y="935556"/>
            <a:ext cx="8536776" cy="73068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5616"/>
          <a:stretch/>
        </p:blipFill>
        <p:spPr>
          <a:xfrm>
            <a:off x="445960" y="1778000"/>
            <a:ext cx="8435176" cy="18084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99" y="3698240"/>
            <a:ext cx="8154697" cy="12406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" y="4815840"/>
            <a:ext cx="7025640" cy="204216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527240" y="810811"/>
            <a:ext cx="9269760" cy="855429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70640" y="1717876"/>
            <a:ext cx="9269760" cy="2295324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21440" y="4815840"/>
            <a:ext cx="9269760" cy="201168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586199" y="3960411"/>
            <a:ext cx="9269760" cy="855429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26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13765"/>
            <a:ext cx="10515600" cy="1325563"/>
          </a:xfrm>
        </p:spPr>
        <p:txBody>
          <a:bodyPr/>
          <a:lstStyle/>
          <a:p>
            <a:r>
              <a:rPr lang="en-US" altLang="zh-CN" b="1" u="sng" dirty="0">
                <a:solidFill>
                  <a:srgbClr val="24059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implication of the homogeneity to the model system? </a:t>
            </a:r>
            <a:endParaRPr lang="zh-CN" altLang="en-US" b="1" u="sng" dirty="0">
              <a:solidFill>
                <a:srgbClr val="24059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39999"/>
            <a:ext cx="10515600" cy="2468563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Answer? </a:t>
            </a:r>
          </a:p>
          <a:p>
            <a:pPr marL="0" indent="0">
              <a:buNone/>
            </a:pPr>
            <a:r>
              <a:rPr lang="en-US" altLang="zh-CN" sz="4400" b="1" dirty="0">
                <a:solidFill>
                  <a:srgbClr val="FF0000"/>
                </a:solidFill>
              </a:rPr>
              <a:t>Hint: think about the price</a:t>
            </a:r>
          </a:p>
          <a:p>
            <a:pPr marL="0" indent="0">
              <a:buNone/>
            </a:pPr>
            <a:endParaRPr lang="zh-CN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68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Homogeneity of the model system (III)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24" y="2100950"/>
            <a:ext cx="11936316" cy="2840919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452120" y="3247338"/>
            <a:ext cx="11049000" cy="445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52120" y="3657600"/>
            <a:ext cx="4881880" cy="445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520440" y="4109843"/>
            <a:ext cx="4881880" cy="445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452120" y="4520105"/>
            <a:ext cx="11049000" cy="338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452120" y="4919740"/>
            <a:ext cx="7086600" cy="526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11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Linearization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39" y="1859280"/>
            <a:ext cx="11414521" cy="258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5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8520" y="219998"/>
            <a:ext cx="10515600" cy="43751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No linearized  model system 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25" y="819426"/>
            <a:ext cx="7416796" cy="85697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6400" y="918528"/>
            <a:ext cx="58928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t="1569"/>
          <a:stretch/>
        </p:blipFill>
        <p:spPr>
          <a:xfrm>
            <a:off x="1224624" y="1767840"/>
            <a:ext cx="6974495" cy="24117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5760" y="2424718"/>
            <a:ext cx="58928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594" y="4281159"/>
            <a:ext cx="5033365" cy="138506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26720" y="4487198"/>
            <a:ext cx="58928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116520" y="694012"/>
            <a:ext cx="8413560" cy="98238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116520" y="1734716"/>
            <a:ext cx="8413560" cy="244484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224624" y="4214020"/>
            <a:ext cx="8413560" cy="145220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76" y="5701164"/>
            <a:ext cx="7366000" cy="1121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/>
          <a:srcRect r="36102"/>
          <a:stretch/>
        </p:blipFill>
        <p:spPr>
          <a:xfrm>
            <a:off x="4711871" y="5733361"/>
            <a:ext cx="4157809" cy="1056806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1224624" y="5666222"/>
            <a:ext cx="8413560" cy="119177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24636" y="5877384"/>
            <a:ext cx="58928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4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209232" y="1150099"/>
            <a:ext cx="626788" cy="433374"/>
          </a:xfrm>
          <a:prstGeom prst="roundRect">
            <a:avLst/>
          </a:prstGeom>
          <a:solidFill>
            <a:srgbClr val="FFFF00">
              <a:alpha val="24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895838" y="2127588"/>
            <a:ext cx="482982" cy="448344"/>
          </a:xfrm>
          <a:prstGeom prst="roundRect">
            <a:avLst/>
          </a:prstGeom>
          <a:solidFill>
            <a:srgbClr val="FFFF00">
              <a:alpha val="24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95436" y="2109715"/>
            <a:ext cx="482982" cy="448344"/>
          </a:xfrm>
          <a:prstGeom prst="roundRect">
            <a:avLst/>
          </a:prstGeom>
          <a:solidFill>
            <a:srgbClr val="FFFF00">
              <a:alpha val="24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848892" y="5877383"/>
            <a:ext cx="58928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5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549685" y="5877383"/>
            <a:ext cx="1460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P1=A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63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897" y="142102"/>
            <a:ext cx="10515600" cy="23704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Linearized Model system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97" y="591015"/>
            <a:ext cx="9666249" cy="629754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250331" y="694012"/>
            <a:ext cx="9075695" cy="58837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202012" y="1385387"/>
            <a:ext cx="9075695" cy="91176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287506" y="2400148"/>
            <a:ext cx="8990202" cy="122399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287506" y="3791283"/>
            <a:ext cx="9075695" cy="119331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317245" y="4980746"/>
            <a:ext cx="9075695" cy="119331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317244" y="6203663"/>
            <a:ext cx="9075695" cy="65433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17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benefits and shortage of the linearization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0926337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  <a:p>
            <a:r>
              <a:rPr lang="en-US" altLang="zh-CN" sz="3600" b="1" dirty="0">
                <a:solidFill>
                  <a:srgbClr val="24059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Almost no parameter needed to estimated. In practice, the linearization could reduce arduous works on parameter calibration. </a:t>
            </a:r>
          </a:p>
          <a:p>
            <a:r>
              <a:rPr lang="en-US" altLang="zh-CN" sz="3600" b="1" dirty="0">
                <a:solidFill>
                  <a:srgbClr val="24059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 meanings get much obvious and easy to understand. </a:t>
            </a:r>
          </a:p>
          <a:p>
            <a:endParaRPr lang="en-US" altLang="zh-CN" sz="3600" b="1" dirty="0">
              <a:solidFill>
                <a:srgbClr val="24059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Shortage</a:t>
            </a:r>
          </a:p>
          <a:p>
            <a:r>
              <a:rPr lang="en-US" altLang="zh-CN" sz="3600" b="1" dirty="0">
                <a:solidFill>
                  <a:srgbClr val="24059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Linearization error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085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10" y="214932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Solving method of linearized model systems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241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 solution of CGE model——IO table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2437"/>
          <a:stretch/>
        </p:blipFill>
        <p:spPr>
          <a:xfrm>
            <a:off x="437322" y="1690688"/>
            <a:ext cx="10664687" cy="48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28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897" y="142102"/>
            <a:ext cx="10515600" cy="23704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Linearized Model system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97" y="591015"/>
            <a:ext cx="9666249" cy="629754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250331" y="694012"/>
            <a:ext cx="9075695" cy="58837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202012" y="1385387"/>
            <a:ext cx="9075695" cy="91176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287506" y="2400148"/>
            <a:ext cx="8990202" cy="122399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287506" y="3791283"/>
            <a:ext cx="9075695" cy="119331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317245" y="4980746"/>
            <a:ext cx="9075695" cy="119331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317244" y="6203663"/>
            <a:ext cx="9075695" cy="65433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86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17448"/>
            <a:ext cx="10769600" cy="990600"/>
          </a:xfrm>
        </p:spPr>
        <p:txBody>
          <a:bodyPr/>
          <a:lstStyle/>
          <a:p>
            <a:r>
              <a:rPr lang="en-AU" dirty="0">
                <a:solidFill>
                  <a:srgbClr val="0000FF"/>
                </a:solidFill>
              </a:rPr>
              <a:t>Johansen put equations in linear percentage change form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/>
          </p:nvPr>
        </p:nvGraphicFramePr>
        <p:xfrm>
          <a:off x="1781175" y="1219201"/>
          <a:ext cx="8858250" cy="549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Document" r:id="rId3" imgW="8861203" imgH="5488802" progId="Word.Document.12">
                  <p:embed/>
                </p:oleObj>
              </mc:Choice>
              <mc:Fallback>
                <p:oleObj name="Document" r:id="rId3" imgW="8861203" imgH="5488802" progId="Word.Document.12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1175" y="1219201"/>
                        <a:ext cx="8858250" cy="549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圆角矩形 3"/>
          <p:cNvSpPr/>
          <p:nvPr/>
        </p:nvSpPr>
        <p:spPr>
          <a:xfrm>
            <a:off x="1596021" y="2511661"/>
            <a:ext cx="6388254" cy="58837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38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322" y="101679"/>
            <a:ext cx="8597590" cy="67194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99895" y="1484300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9896" y="1724721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2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85030" y="1988631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3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2466" y="2252541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4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8751" y="2561055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5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5036" y="2869569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6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81321" y="3133479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7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77606" y="3386238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8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85042" y="3627847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9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92478" y="4248596"/>
            <a:ext cx="542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11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99914" y="4545960"/>
            <a:ext cx="535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12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07350" y="4787569"/>
            <a:ext cx="527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13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14786" y="5140688"/>
            <a:ext cx="527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14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8769" y="5359995"/>
            <a:ext cx="639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15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18507" y="5568151"/>
            <a:ext cx="516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16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37100" y="5842609"/>
            <a:ext cx="520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17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11077" y="6162879"/>
            <a:ext cx="524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18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7362" y="6460243"/>
            <a:ext cx="56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19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85030" y="3966401"/>
            <a:ext cx="657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245115" y="1132736"/>
            <a:ext cx="356839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649562" y="1153155"/>
            <a:ext cx="520350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17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12427D-F577-40BB-85FE-D89555EFF3E7}"/>
              </a:ext>
            </a:extLst>
          </p:cNvPr>
          <p:cNvSpPr txBox="1"/>
          <p:nvPr/>
        </p:nvSpPr>
        <p:spPr>
          <a:xfrm>
            <a:off x="2727200" y="1132736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2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0AB6FF-2C1D-4A7B-A27B-D9CFF6105B25}"/>
              </a:ext>
            </a:extLst>
          </p:cNvPr>
          <p:cNvSpPr txBox="1"/>
          <p:nvPr/>
        </p:nvSpPr>
        <p:spPr>
          <a:xfrm>
            <a:off x="3170326" y="1156292"/>
            <a:ext cx="520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3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396E46-7098-4812-A396-7E31B68AA268}"/>
              </a:ext>
            </a:extLst>
          </p:cNvPr>
          <p:cNvSpPr txBox="1"/>
          <p:nvPr/>
        </p:nvSpPr>
        <p:spPr>
          <a:xfrm>
            <a:off x="6398787" y="1145097"/>
            <a:ext cx="542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1EC75A-FA0C-4688-ADB2-2C0EBBE58246}"/>
              </a:ext>
            </a:extLst>
          </p:cNvPr>
          <p:cNvSpPr txBox="1"/>
          <p:nvPr/>
        </p:nvSpPr>
        <p:spPr>
          <a:xfrm>
            <a:off x="6814076" y="1153155"/>
            <a:ext cx="7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11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45A1E99-2ABE-4265-B6F4-61B0FED9043C}"/>
              </a:ext>
            </a:extLst>
          </p:cNvPr>
          <p:cNvSpPr txBox="1"/>
          <p:nvPr/>
        </p:nvSpPr>
        <p:spPr>
          <a:xfrm>
            <a:off x="7801526" y="1153155"/>
            <a:ext cx="7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14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22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Matrix expression of the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Johanson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" y="1928041"/>
            <a:ext cx="10858257" cy="3446848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3146040" y="3559875"/>
            <a:ext cx="6109472" cy="58837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66871" y="4148253"/>
            <a:ext cx="10462046" cy="122663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10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3" y="2129882"/>
            <a:ext cx="11791375" cy="225254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closure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815113" y="2961966"/>
            <a:ext cx="5908750" cy="5060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89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17448"/>
            <a:ext cx="10769600" cy="9906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00FF"/>
                </a:solidFill>
              </a:rPr>
              <a:t>Johansen put equations in linear percentage change form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/>
          </p:nvPr>
        </p:nvGraphicFramePr>
        <p:xfrm>
          <a:off x="1781175" y="1219201"/>
          <a:ext cx="8858250" cy="549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Document" r:id="rId3" imgW="8861203" imgH="5488802" progId="Word.Document.12">
                  <p:embed/>
                </p:oleObj>
              </mc:Choice>
              <mc:Fallback>
                <p:oleObj name="Document" r:id="rId3" imgW="8861203" imgH="5488802" progId="Word.Document.12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1175" y="1219201"/>
                        <a:ext cx="8858250" cy="549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圆角矩形 3"/>
          <p:cNvSpPr/>
          <p:nvPr/>
        </p:nvSpPr>
        <p:spPr>
          <a:xfrm>
            <a:off x="2175884" y="3470664"/>
            <a:ext cx="6388254" cy="755647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3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0210" y="376277"/>
            <a:ext cx="10515600" cy="961870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closures (Examples)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5" y="1929107"/>
            <a:ext cx="11554729" cy="3838759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23386" y="1929107"/>
            <a:ext cx="11374244" cy="1929215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23384" y="3828816"/>
            <a:ext cx="11374244" cy="1929215"/>
          </a:xfrm>
          <a:prstGeom prst="roundRect">
            <a:avLst/>
          </a:prstGeom>
          <a:noFill/>
          <a:ln w="50800">
            <a:solidFill>
              <a:srgbClr val="240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813717" y="2653990"/>
            <a:ext cx="7627434" cy="334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08878" y="3062864"/>
            <a:ext cx="7627434" cy="334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66117" y="4233749"/>
            <a:ext cx="7627434" cy="334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61278" y="4642623"/>
            <a:ext cx="7627434" cy="334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773" y="85705"/>
            <a:ext cx="6306642" cy="677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18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8991" y="2316589"/>
            <a:ext cx="10515600" cy="1325563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5: Summary and key knowledge points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637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knowledge points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sz="3200" b="1" dirty="0">
                <a:solidFill>
                  <a:srgbClr val="240595"/>
                </a:solidFill>
              </a:rPr>
              <a:t>Deriving the optimal solutions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b="1" dirty="0" err="1">
                <a:solidFill>
                  <a:srgbClr val="240595"/>
                </a:solidFill>
              </a:rPr>
              <a:t>Johanson</a:t>
            </a:r>
            <a:r>
              <a:rPr lang="en-US" altLang="zh-CN" sz="3200" b="1" dirty="0">
                <a:solidFill>
                  <a:srgbClr val="240595"/>
                </a:solidFill>
              </a:rPr>
              <a:t> model in non linearized form and linearized form.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b="1" dirty="0">
                <a:solidFill>
                  <a:srgbClr val="240595"/>
                </a:solidFill>
              </a:rPr>
              <a:t>Benefits of linearization and its meanings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b="1" dirty="0">
                <a:solidFill>
                  <a:srgbClr val="240595"/>
                </a:solidFill>
              </a:rPr>
              <a:t>Homogeneity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b="1" dirty="0">
                <a:solidFill>
                  <a:srgbClr val="240595"/>
                </a:solidFill>
              </a:rPr>
              <a:t>Model’s initial solutions and calibration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b="1" dirty="0">
                <a:solidFill>
                  <a:srgbClr val="240595"/>
                </a:solidFill>
              </a:rPr>
              <a:t>Solving method of linearized model</a:t>
            </a:r>
          </a:p>
          <a:p>
            <a:pPr marL="514350" indent="-514350">
              <a:buFont typeface="+mj-lt"/>
              <a:buAutoNum type="arabicPeriod"/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2559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st">
  <a:themeElements>
    <a:clrScheme name="Gst 4">
      <a:dk1>
        <a:srgbClr val="000000"/>
      </a:dk1>
      <a:lt1>
        <a:srgbClr val="FFFFFF"/>
      </a:lt1>
      <a:dk2>
        <a:srgbClr val="000000"/>
      </a:dk2>
      <a:lt2>
        <a:srgbClr val="393939"/>
      </a:lt2>
      <a:accent1>
        <a:srgbClr val="CBCBCB"/>
      </a:accent1>
      <a:accent2>
        <a:srgbClr val="868686"/>
      </a:accent2>
      <a:accent3>
        <a:srgbClr val="FFFFFF"/>
      </a:accent3>
      <a:accent4>
        <a:srgbClr val="000000"/>
      </a:accent4>
      <a:accent5>
        <a:srgbClr val="E2E2E2"/>
      </a:accent5>
      <a:accent6>
        <a:srgbClr val="797979"/>
      </a:accent6>
      <a:hlink>
        <a:srgbClr val="4D4D4D"/>
      </a:hlink>
      <a:folHlink>
        <a:srgbClr val="EAEAEA"/>
      </a:folHlink>
    </a:clrScheme>
    <a:fontScheme name="Gst">
      <a:majorFont>
        <a:latin typeface="Century School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pattFill prst="lgCheck">
          <a:fgClr>
            <a:schemeClr val="tx2"/>
          </a:fgClr>
          <a:bgClr>
            <a:schemeClr val="bg1"/>
          </a:bgClr>
        </a:patt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pattFill prst="lgCheck">
          <a:fgClr>
            <a:schemeClr val="tx2"/>
          </a:fgClr>
          <a:bgClr>
            <a:schemeClr val="bg1"/>
          </a:bgClr>
        </a:patt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s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s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471</Words>
  <Application>Microsoft Office PowerPoint</Application>
  <PresentationFormat>宽屏</PresentationFormat>
  <Paragraphs>80</Paragraphs>
  <Slides>33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等线</vt:lpstr>
      <vt:lpstr>等线 Light</vt:lpstr>
      <vt:lpstr>黑体</vt:lpstr>
      <vt:lpstr>Arial</vt:lpstr>
      <vt:lpstr>Arial</vt:lpstr>
      <vt:lpstr>Book Antiqua</vt:lpstr>
      <vt:lpstr>Calibri</vt:lpstr>
      <vt:lpstr>Century Schoolbook</vt:lpstr>
      <vt:lpstr>Times New Roman</vt:lpstr>
      <vt:lpstr>Wingdings</vt:lpstr>
      <vt:lpstr>Office 主题​​</vt:lpstr>
      <vt:lpstr>Gst</vt:lpstr>
      <vt:lpstr>Document</vt:lpstr>
      <vt:lpstr>Mini-CGE model -A stylized Johansen model</vt:lpstr>
      <vt:lpstr>IO table of a simple economy</vt:lpstr>
      <vt:lpstr>1. Theoretical Structure</vt:lpstr>
      <vt:lpstr>Economic theories levied on (assumed)  in the simple economy</vt:lpstr>
      <vt:lpstr>1-Consumption</vt:lpstr>
      <vt:lpstr>2-production</vt:lpstr>
      <vt:lpstr>3-price of products produced</vt:lpstr>
      <vt:lpstr>4-Marketing clearing conditions</vt:lpstr>
      <vt:lpstr>2. Optimal solutions and key relationships</vt:lpstr>
      <vt:lpstr>Optimal solutions to the above maximum and minimum programing*</vt:lpstr>
      <vt:lpstr>Derived solutions according to the optimal results and constraints  </vt:lpstr>
      <vt:lpstr>Walras Law</vt:lpstr>
      <vt:lpstr>Derive the Walras Law in Johanson Model</vt:lpstr>
      <vt:lpstr>Homogeneity of the model system (I)</vt:lpstr>
      <vt:lpstr>Homogeneity of the model system (II)</vt:lpstr>
      <vt:lpstr>What is the implication of the homogeneity to the model system? </vt:lpstr>
      <vt:lpstr>Homogeneity of the model system (III)</vt:lpstr>
      <vt:lpstr>3. Linearization</vt:lpstr>
      <vt:lpstr>4. No linearized  model system </vt:lpstr>
      <vt:lpstr>Linearized Model system</vt:lpstr>
      <vt:lpstr>The benefits and shortage of the linearization</vt:lpstr>
      <vt:lpstr>4. Solving method of linearized model systems</vt:lpstr>
      <vt:lpstr>Initial solution of CGE model——IO table</vt:lpstr>
      <vt:lpstr>Linearized Model system</vt:lpstr>
      <vt:lpstr>Johansen put equations in linear percentage change form</vt:lpstr>
      <vt:lpstr>PowerPoint 演示文稿</vt:lpstr>
      <vt:lpstr>Matrix expression of the Johanson model</vt:lpstr>
      <vt:lpstr>Model closure</vt:lpstr>
      <vt:lpstr>Johansen put equations in linear percentage change form</vt:lpstr>
      <vt:lpstr>Model closures (Examples)</vt:lpstr>
      <vt:lpstr>PowerPoint 演示文稿</vt:lpstr>
      <vt:lpstr>5: Summary and key knowledge points</vt:lpstr>
      <vt:lpstr>Key knowledge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Mini-CGE model -A stylized Johansen model</dc:title>
  <dc:creator>jun yang</dc:creator>
  <cp:lastModifiedBy>yang jun</cp:lastModifiedBy>
  <cp:revision>64</cp:revision>
  <dcterms:created xsi:type="dcterms:W3CDTF">2017-09-21T13:36:25Z</dcterms:created>
  <dcterms:modified xsi:type="dcterms:W3CDTF">2018-05-17T23:51:14Z</dcterms:modified>
</cp:coreProperties>
</file>