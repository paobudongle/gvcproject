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58" r:id="rId12"/>
    <p:sldId id="270" r:id="rId13"/>
    <p:sldId id="271" r:id="rId14"/>
    <p:sldId id="272" r:id="rId15"/>
    <p:sldId id="276" r:id="rId16"/>
    <p:sldId id="275" r:id="rId17"/>
    <p:sldId id="274" r:id="rId18"/>
    <p:sldId id="273" r:id="rId19"/>
    <p:sldId id="27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271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26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948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22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7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37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85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2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27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082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57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D95E2-580D-4E86-9ADA-EC8E41B5DF52}" type="datetimeFigureOut">
              <a:rPr lang="zh-CN" altLang="en-US" smtClean="0"/>
              <a:t>2017/9/28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23497-C4FA-42D1-91D2-58038AA38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359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Programing and Running </a:t>
            </a:r>
            <a:br>
              <a:rPr lang="en-US" altLang="zh-CN" sz="4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4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Johanson</a:t>
            </a:r>
            <a:r>
              <a:rPr lang="en-US" altLang="zh-CN" sz="44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 in GEMPACK</a:t>
            </a:r>
            <a:endParaRPr lang="zh-CN" altLang="en-US" sz="4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79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9800" y="163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4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Background and optimal solutions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282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Agents in the </a:t>
            </a:r>
            <a:r>
              <a:rPr lang="en-US" altLang="zh-CN" sz="4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Johanson</a:t>
            </a:r>
            <a:r>
              <a:rPr lang="en-US" altLang="zh-CN" sz="4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4000" b="1" dirty="0" err="1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Ecomony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One Consumer</a:t>
            </a:r>
            <a:r>
              <a:rPr lang="en-US" altLang="zh-CN" dirty="0" smtClean="0"/>
              <a:t>: Maximize the utility with given budget and price of consumed goods.</a:t>
            </a: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Two Producers</a:t>
            </a:r>
            <a:r>
              <a:rPr lang="en-US" altLang="zh-CN" dirty="0" smtClean="0"/>
              <a:t>: Minimize the cost with give output and input price</a:t>
            </a: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Market clearing condition</a:t>
            </a:r>
            <a:r>
              <a:rPr lang="en-US" altLang="zh-CN" dirty="0" smtClean="0"/>
              <a:t>: All products and primary factors are fully utilized</a:t>
            </a:r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276532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1-Consumption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05" y="1690688"/>
            <a:ext cx="11486990" cy="4216827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309731" y="2623930"/>
            <a:ext cx="4373218" cy="805069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402497" y="3866322"/>
            <a:ext cx="4373218" cy="659295"/>
          </a:xfrm>
          <a:prstGeom prst="roundRect">
            <a:avLst/>
          </a:prstGeom>
          <a:noFill/>
          <a:ln w="730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8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2-production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" y="1355938"/>
            <a:ext cx="10749280" cy="516503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402497" y="1690688"/>
            <a:ext cx="4373218" cy="1458912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402497" y="3154702"/>
            <a:ext cx="4373218" cy="807698"/>
          </a:xfrm>
          <a:prstGeom prst="roundRect">
            <a:avLst/>
          </a:prstGeom>
          <a:noFill/>
          <a:ln w="730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402497" y="5059680"/>
            <a:ext cx="4373218" cy="1461287"/>
          </a:xfrm>
          <a:prstGeom prst="roundRect">
            <a:avLst/>
          </a:prstGeom>
          <a:noFill/>
          <a:ln w="7302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62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3-price of products produced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5" y="1953344"/>
            <a:ext cx="11830523" cy="1186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48404"/>
            <a:ext cx="9921240" cy="160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69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4-Marketing clearing conditions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81" y="1507251"/>
            <a:ext cx="11373837" cy="4359292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3032626" y="2399605"/>
            <a:ext cx="4395589" cy="168951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32625" y="4089115"/>
            <a:ext cx="4395589" cy="168951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14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6920" y="186880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Optimal solutions –Linearized results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92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Optimal solutions to the above maximum and minimum programing*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830" y="2008920"/>
            <a:ext cx="9545804" cy="98828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188720" y="1798320"/>
            <a:ext cx="9671914" cy="1351280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3360200"/>
            <a:ext cx="9458554" cy="3223479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1188720" y="3264632"/>
            <a:ext cx="9753600" cy="3471448"/>
          </a:xfrm>
          <a:prstGeom prst="roundRect">
            <a:avLst/>
          </a:prstGeom>
          <a:noFill/>
          <a:ln w="73025">
            <a:solidFill>
              <a:srgbClr val="2405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12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Derived solutions according to the optimal results and constraints  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49" y="1690688"/>
            <a:ext cx="10984502" cy="3714432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680720" y="1690688"/>
            <a:ext cx="10779760" cy="1611312"/>
          </a:xfrm>
          <a:prstGeom prst="round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38200" y="3627120"/>
            <a:ext cx="10317480" cy="2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78840" y="3931920"/>
            <a:ext cx="10317480" cy="2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919480" y="4257040"/>
            <a:ext cx="10317480" cy="2032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09320" y="4582160"/>
            <a:ext cx="5196840" cy="1016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97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65760" y="285502"/>
            <a:ext cx="1150112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Consumer_demands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#Household expenditure functions #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i="1" dirty="0">
                <a:solidFill>
                  <a:srgbClr val="0000F0"/>
                </a:solidFill>
                <a:latin typeface="Consolas" panose="020B0609020204030204" pitchFamily="49" charset="0"/>
              </a:rPr>
              <a:t>! (E3.1.9) in DPPW !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XH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ALPHAH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Y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PC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 ;</a:t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Intermediate_com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#Intermediate demand for commodity 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by industry j #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i="1" dirty="0">
                <a:solidFill>
                  <a:srgbClr val="0000F0"/>
                </a:solidFill>
                <a:latin typeface="Consolas" panose="020B0609020204030204" pitchFamily="49" charset="0"/>
              </a:rPr>
              <a:t>! (E3.1.10) in DPPW !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XC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ALPHACOM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XCOM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W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)/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PC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;</a:t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E_W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# Define W(j) to simplify other equations #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W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PROD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PC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)^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ALPHACOM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t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)) *</a:t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PROD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u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FAC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PF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u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)^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ALPHAFAC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u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)) 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Factor_inputs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# Factor input demand functions </a:t>
            </a:r>
            <a:r>
              <a:rPr lang="en-US" altLang="zh-CN" sz="16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</a:t>
            </a:r>
            <a:r>
              <a:rPr lang="en-US" altLang="zh-CN" sz="1600" i="1" dirty="0" smtClean="0">
                <a:solidFill>
                  <a:srgbClr val="0000F0"/>
                </a:solidFill>
                <a:latin typeface="Consolas" panose="020B0609020204030204" pitchFamily="49" charset="0"/>
              </a:rPr>
              <a:t>!(</a:t>
            </a:r>
            <a:r>
              <a:rPr lang="en-US" altLang="zh-CN" sz="1600" i="1" dirty="0">
                <a:solidFill>
                  <a:srgbClr val="0000F0"/>
                </a:solidFill>
                <a:latin typeface="Consolas" panose="020B0609020204030204" pitchFamily="49" charset="0"/>
              </a:rPr>
              <a:t>E3.1.10) in DPPW !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FAC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XF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ALPHAFAC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XCOM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W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)/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PF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 smtClean="0">
                <a:solidFill>
                  <a:srgbClr val="008000"/>
                </a:solidFill>
                <a:latin typeface="Consolas" panose="020B0609020204030204" pitchFamily="49" charset="0"/>
              </a:rPr>
              <a:t>Price_formation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i="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# Unit cost index for industry j #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       </a:t>
            </a:r>
            <a:r>
              <a:rPr lang="en-US" altLang="zh-CN" sz="1600" i="1" dirty="0" smtClean="0">
                <a:solidFill>
                  <a:srgbClr val="0000F0"/>
                </a:solidFill>
                <a:latin typeface="Consolas" panose="020B0609020204030204" pitchFamily="49" charset="0"/>
              </a:rPr>
              <a:t>! (E3.1.12) in DPPW !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altLang="zh-CN" sz="1600" b="1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 smtClean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600" dirty="0" err="1" smtClean="0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  </a:t>
            </a:r>
            <a:r>
              <a:rPr lang="en-US" altLang="zh-CN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PC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Q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W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;</a:t>
            </a:r>
            <a:b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508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6920" y="186880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Optimal solutions –Level results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44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897" y="142102"/>
            <a:ext cx="10515600" cy="23704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Linearized Model system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b="49853"/>
          <a:stretch/>
        </p:blipFill>
        <p:spPr>
          <a:xfrm>
            <a:off x="815897" y="1861015"/>
            <a:ext cx="9666249" cy="315802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250331" y="1964012"/>
            <a:ext cx="9075695" cy="58837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202012" y="2655387"/>
            <a:ext cx="9075695" cy="911764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287506" y="3670148"/>
            <a:ext cx="8990202" cy="122399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790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7840" y="500529"/>
            <a:ext cx="999744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Consumer_demands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! (E3.2.1) in DPPW !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# Household expenditure functions #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p_XH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Intermediate_com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! From (E3.2.2) with </a:t>
            </a:r>
            <a:r>
              <a:rPr lang="en-US" altLang="zh-CN" i="1" dirty="0" err="1">
                <a:solidFill>
                  <a:srgbClr val="0000F0"/>
                </a:solidFill>
                <a:latin typeface="Consolas" panose="020B0609020204030204" pitchFamily="49" charset="0"/>
              </a:rPr>
              <a:t>i</a:t>
            </a: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=1,2 in DPPW. The term </a:t>
            </a:r>
            <a:r>
              <a:rPr lang="en-US" altLang="zh-CN" i="1" dirty="0" err="1">
                <a:solidFill>
                  <a:srgbClr val="0000F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(j) is included </a:t>
            </a:r>
            <a:b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</a:b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   because of (E3.2.3) in DPPW. !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# Intermediate demands for commodity </a:t>
            </a:r>
            <a:r>
              <a:rPr lang="en-US" altLang="zh-CN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 by industry j #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p_XC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p_XCOM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- 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-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 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Factor_inputs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! From (E3.2.2) with </a:t>
            </a:r>
            <a:r>
              <a:rPr lang="en-US" altLang="zh-CN" i="1" dirty="0" err="1">
                <a:solidFill>
                  <a:srgbClr val="0000F0"/>
                </a:solidFill>
                <a:latin typeface="Consolas" panose="020B0609020204030204" pitchFamily="49" charset="0"/>
              </a:rPr>
              <a:t>i</a:t>
            </a: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=3,4 in DPPW. The term </a:t>
            </a:r>
            <a:r>
              <a:rPr lang="en-US" altLang="zh-CN" i="1" dirty="0" err="1">
                <a:solidFill>
                  <a:srgbClr val="0000F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(j) is included </a:t>
            </a:r>
            <a:b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</a:b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   because of (E3.2.3) in DPPW. !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# Factor input demand functions #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FAC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p_XF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p_XCOM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- 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-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 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EQUATION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Price_formation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i="1" dirty="0">
                <a:solidFill>
                  <a:srgbClr val="0000F0"/>
                </a:solidFill>
                <a:latin typeface="Consolas" panose="020B0609020204030204" pitchFamily="49" charset="0"/>
              </a:rPr>
              <a:t>! (E3.2.3) in DPPW !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# Unit cost index for industry j #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all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 =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SECT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ALPHACOM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 +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      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SUM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FAC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ALPHAFAC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j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)*</a:t>
            </a:r>
            <a:r>
              <a:rPr lang="en-US" altLang="zh-CN" dirty="0" err="1">
                <a:solidFill>
                  <a:srgbClr val="008000"/>
                </a:solidFill>
                <a:latin typeface="Consolas" panose="020B0609020204030204" pitchFamily="49" charset="0"/>
              </a:rPr>
              <a:t>p_PF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)) ;</a:t>
            </a:r>
            <a:b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6010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6920" y="186880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Solution methodology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3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 descr="Large checker board"/>
          <p:cNvSpPr>
            <a:spLocks noChangeArrowheads="1"/>
          </p:cNvSpPr>
          <p:nvPr/>
        </p:nvSpPr>
        <p:spPr bwMode="auto">
          <a:xfrm>
            <a:off x="303186" y="1130648"/>
            <a:ext cx="3943694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eaLnBrk="1" hangingPunct="1"/>
            <a:r>
              <a:rPr lang="en-AU" altLang="zh-CN" sz="2400" dirty="0" smtClean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 multi-step solutions: eliminating linearization errors while retaining Johansen’s simplicity &amp; interpretability</a:t>
            </a:r>
            <a:endParaRPr lang="en-US" altLang="zh-CN" sz="2400" dirty="0">
              <a:solidFill>
                <a:srgbClr val="CC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3" name="Rectangle 4" descr="Large checker board"/>
          <p:cNvSpPr>
            <a:spLocks noChangeArrowheads="1"/>
          </p:cNvSpPr>
          <p:nvPr/>
        </p:nvSpPr>
        <p:spPr bwMode="auto">
          <a:xfrm>
            <a:off x="1524001" y="190226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zh-CN"/>
          </a:p>
        </p:txBody>
      </p:sp>
      <p:sp>
        <p:nvSpPr>
          <p:cNvPr id="20484" name="Rectangle 6" descr="Large checker board"/>
          <p:cNvSpPr>
            <a:spLocks noChangeArrowheads="1"/>
          </p:cNvSpPr>
          <p:nvPr/>
        </p:nvSpPr>
        <p:spPr bwMode="auto">
          <a:xfrm>
            <a:off x="1524001" y="173081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zh-CN"/>
          </a:p>
        </p:txBody>
      </p:sp>
      <p:sp>
        <p:nvSpPr>
          <p:cNvPr id="20485" name="Rectangle 8" descr="Large checker board"/>
          <p:cNvSpPr>
            <a:spLocks noChangeArrowheads="1"/>
          </p:cNvSpPr>
          <p:nvPr/>
        </p:nvSpPr>
        <p:spPr bwMode="auto">
          <a:xfrm>
            <a:off x="1524001" y="152602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AU" altLang="zh-CN"/>
          </a:p>
        </p:txBody>
      </p:sp>
      <p:graphicFrame>
        <p:nvGraphicFramePr>
          <p:cNvPr id="20486" name="Object 12" descr="Large checker board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123973"/>
              </p:ext>
            </p:extLst>
          </p:nvPr>
        </p:nvGraphicFramePr>
        <p:xfrm>
          <a:off x="4343401" y="258281"/>
          <a:ext cx="7299960" cy="6599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3" imgW="5143625" imgH="5228074" progId="Word.Document.8">
                  <p:embed/>
                </p:oleObj>
              </mc:Choice>
              <mc:Fallback>
                <p:oleObj name="Document" r:id="rId3" imgW="5143625" imgH="5228074" progId="Word.Document.8">
                  <p:embed/>
                  <p:pic>
                    <p:nvPicPr>
                      <p:cNvPr id="20486" name="Object 12" descr="Large checker board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1" y="258281"/>
                        <a:ext cx="7299960" cy="6599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6096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756920" y="1868805"/>
            <a:ext cx="10515600" cy="1325563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altLang="zh-CN" sz="4000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Examples –Level model and linearized model</a:t>
            </a:r>
            <a:endParaRPr lang="zh-CN" altLang="en-US" sz="40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162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 for exercises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Level model: </a:t>
            </a:r>
            <a:r>
              <a:rPr lang="en-US" altLang="zh-CN" b="1" dirty="0" err="1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SJLV.tab</a:t>
            </a:r>
            <a:r>
              <a:rPr lang="en-US" altLang="zh-CN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c:\gp\examples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Linearized model: </a:t>
            </a:r>
            <a:r>
              <a:rPr lang="en-US" altLang="zh-CN" b="1" dirty="0" err="1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SJLN.tab</a:t>
            </a:r>
            <a:r>
              <a:rPr lang="en-US" altLang="zh-CN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 same folder</a:t>
            </a:r>
            <a:endParaRPr lang="zh-CN" altLang="en-US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862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questions: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understand that all the initial prices for all commodities and primary factors set as unit (1)?</a:t>
            </a:r>
          </a:p>
          <a:p>
            <a:r>
              <a:rPr lang="en-US" altLang="zh-CN" b="1" dirty="0" smtClean="0">
                <a:solidFill>
                  <a:srgbClr val="0000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How to explain the results using the economic theories you have learned up to now?</a:t>
            </a:r>
            <a:endParaRPr lang="zh-CN" altLang="en-US" b="1" dirty="0">
              <a:solidFill>
                <a:srgbClr val="00009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7823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190</Words>
  <Application>Microsoft Office PowerPoint</Application>
  <PresentationFormat>宽屏</PresentationFormat>
  <Paragraphs>28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Arial</vt:lpstr>
      <vt:lpstr>Calibri</vt:lpstr>
      <vt:lpstr>Consolas</vt:lpstr>
      <vt:lpstr>Times New Roman</vt:lpstr>
      <vt:lpstr>Office 主题​​</vt:lpstr>
      <vt:lpstr>Document</vt:lpstr>
      <vt:lpstr>Programing and Running  Johanson Model in GEMPACK</vt:lpstr>
      <vt:lpstr>1. Background and optimal solutions</vt:lpstr>
      <vt:lpstr>Agents in the Johanson Ecomony</vt:lpstr>
      <vt:lpstr>1-Consumption</vt:lpstr>
      <vt:lpstr>2-production</vt:lpstr>
      <vt:lpstr>3-price of products produced</vt:lpstr>
      <vt:lpstr>4-Marketing clearing conditions</vt:lpstr>
      <vt:lpstr>2. Optimal solutions –Linearized results</vt:lpstr>
      <vt:lpstr>Optimal solutions to the above maximum and minimum programing*</vt:lpstr>
      <vt:lpstr>Derived solutions according to the optimal results and constraints  </vt:lpstr>
      <vt:lpstr>PowerPoint 演示文稿</vt:lpstr>
      <vt:lpstr>3. Optimal solutions –Level results</vt:lpstr>
      <vt:lpstr>Linearized Model system</vt:lpstr>
      <vt:lpstr>PowerPoint 演示文稿</vt:lpstr>
      <vt:lpstr>4. Solution methodology</vt:lpstr>
      <vt:lpstr>PowerPoint 演示文稿</vt:lpstr>
      <vt:lpstr>5. Examples –Level model and linearized model</vt:lpstr>
      <vt:lpstr>Model for exercises</vt:lpstr>
      <vt:lpstr>Key questions: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Programing and running  Johanson model in GEMPACK</dc:title>
  <dc:creator>jun yang</dc:creator>
  <cp:lastModifiedBy>jun yang</cp:lastModifiedBy>
  <cp:revision>12</cp:revision>
  <dcterms:created xsi:type="dcterms:W3CDTF">2017-09-28T13:43:46Z</dcterms:created>
  <dcterms:modified xsi:type="dcterms:W3CDTF">2017-09-28T15:57:53Z</dcterms:modified>
</cp:coreProperties>
</file>