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32" r:id="rId2"/>
    <p:sldMasterId id="2147483744" r:id="rId3"/>
    <p:sldMasterId id="2147483759" r:id="rId4"/>
    <p:sldMasterId id="2147483773" r:id="rId5"/>
  </p:sldMasterIdLst>
  <p:notesMasterIdLst>
    <p:notesMasterId r:id="rId106"/>
  </p:notesMasterIdLst>
  <p:sldIdLst>
    <p:sldId id="256" r:id="rId6"/>
    <p:sldId id="415" r:id="rId7"/>
    <p:sldId id="260" r:id="rId8"/>
    <p:sldId id="261" r:id="rId9"/>
    <p:sldId id="365" r:id="rId10"/>
    <p:sldId id="367" r:id="rId11"/>
    <p:sldId id="366" r:id="rId12"/>
    <p:sldId id="262" r:id="rId13"/>
    <p:sldId id="306" r:id="rId14"/>
    <p:sldId id="362" r:id="rId15"/>
    <p:sldId id="303" r:id="rId16"/>
    <p:sldId id="421" r:id="rId17"/>
    <p:sldId id="424" r:id="rId18"/>
    <p:sldId id="331" r:id="rId19"/>
    <p:sldId id="363" r:id="rId20"/>
    <p:sldId id="364" r:id="rId21"/>
    <p:sldId id="406" r:id="rId22"/>
    <p:sldId id="416" r:id="rId23"/>
    <p:sldId id="304" r:id="rId24"/>
    <p:sldId id="308" r:id="rId25"/>
    <p:sldId id="310" r:id="rId26"/>
    <p:sldId id="305" r:id="rId27"/>
    <p:sldId id="408" r:id="rId28"/>
    <p:sldId id="311" r:id="rId29"/>
    <p:sldId id="312" r:id="rId30"/>
    <p:sldId id="325" r:id="rId31"/>
    <p:sldId id="315" r:id="rId32"/>
    <p:sldId id="314" r:id="rId33"/>
    <p:sldId id="317" r:id="rId34"/>
    <p:sldId id="316" r:id="rId35"/>
    <p:sldId id="326" r:id="rId36"/>
    <p:sldId id="319" r:id="rId37"/>
    <p:sldId id="320" r:id="rId38"/>
    <p:sldId id="322" r:id="rId39"/>
    <p:sldId id="323" r:id="rId40"/>
    <p:sldId id="328" r:id="rId41"/>
    <p:sldId id="409" r:id="rId42"/>
    <p:sldId id="417" r:id="rId43"/>
    <p:sldId id="336" r:id="rId44"/>
    <p:sldId id="337" r:id="rId45"/>
    <p:sldId id="338" r:id="rId46"/>
    <p:sldId id="339" r:id="rId47"/>
    <p:sldId id="340" r:id="rId48"/>
    <p:sldId id="341" r:id="rId49"/>
    <p:sldId id="342" r:id="rId50"/>
    <p:sldId id="343" r:id="rId51"/>
    <p:sldId id="345" r:id="rId52"/>
    <p:sldId id="346" r:id="rId53"/>
    <p:sldId id="347" r:id="rId54"/>
    <p:sldId id="348" r:id="rId55"/>
    <p:sldId id="349" r:id="rId56"/>
    <p:sldId id="350" r:id="rId57"/>
    <p:sldId id="351" r:id="rId58"/>
    <p:sldId id="410" r:id="rId59"/>
    <p:sldId id="414" r:id="rId60"/>
    <p:sldId id="357" r:id="rId61"/>
    <p:sldId id="358" r:id="rId62"/>
    <p:sldId id="359" r:id="rId63"/>
    <p:sldId id="360" r:id="rId64"/>
    <p:sldId id="411" r:id="rId65"/>
    <p:sldId id="369" r:id="rId66"/>
    <p:sldId id="370" r:id="rId67"/>
    <p:sldId id="371" r:id="rId68"/>
    <p:sldId id="372" r:id="rId69"/>
    <p:sldId id="373" r:id="rId70"/>
    <p:sldId id="374" r:id="rId71"/>
    <p:sldId id="375" r:id="rId72"/>
    <p:sldId id="376" r:id="rId73"/>
    <p:sldId id="377" r:id="rId74"/>
    <p:sldId id="378" r:id="rId75"/>
    <p:sldId id="379" r:id="rId76"/>
    <p:sldId id="380" r:id="rId77"/>
    <p:sldId id="381" r:id="rId78"/>
    <p:sldId id="383" r:id="rId79"/>
    <p:sldId id="384" r:id="rId80"/>
    <p:sldId id="385" r:id="rId81"/>
    <p:sldId id="386" r:id="rId82"/>
    <p:sldId id="387" r:id="rId83"/>
    <p:sldId id="388" r:id="rId84"/>
    <p:sldId id="413" r:id="rId85"/>
    <p:sldId id="389" r:id="rId86"/>
    <p:sldId id="390" r:id="rId87"/>
    <p:sldId id="391" r:id="rId88"/>
    <p:sldId id="392" r:id="rId89"/>
    <p:sldId id="393" r:id="rId90"/>
    <p:sldId id="394" r:id="rId91"/>
    <p:sldId id="395" r:id="rId92"/>
    <p:sldId id="396" r:id="rId93"/>
    <p:sldId id="397" r:id="rId94"/>
    <p:sldId id="398" r:id="rId95"/>
    <p:sldId id="399" r:id="rId96"/>
    <p:sldId id="400" r:id="rId97"/>
    <p:sldId id="401" r:id="rId98"/>
    <p:sldId id="402" r:id="rId99"/>
    <p:sldId id="403" r:id="rId100"/>
    <p:sldId id="404" r:id="rId101"/>
    <p:sldId id="405" r:id="rId102"/>
    <p:sldId id="419" r:id="rId103"/>
    <p:sldId id="418" r:id="rId104"/>
    <p:sldId id="420" r:id="rId10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n yang" initials="jy" lastIdx="1" clrIdx="0">
    <p:extLst>
      <p:ext uri="{19B8F6BF-5375-455C-9EA6-DF929625EA0E}">
        <p15:presenceInfo xmlns:p15="http://schemas.microsoft.com/office/powerpoint/2012/main" userId="d28967e5993724e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587" autoAdjust="0"/>
    <p:restoredTop sz="94712" autoAdjust="0"/>
  </p:normalViewPr>
  <p:slideViewPr>
    <p:cSldViewPr>
      <p:cViewPr varScale="1">
        <p:scale>
          <a:sx n="91" d="100"/>
          <a:sy n="91" d="100"/>
        </p:scale>
        <p:origin x="103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6" Type="http://schemas.openxmlformats.org/officeDocument/2006/relationships/slide" Target="slides/slide11.xml"/><Relationship Id="rId107" Type="http://schemas.openxmlformats.org/officeDocument/2006/relationships/commentAuthors" Target="commentAuthors.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5" Type="http://schemas.openxmlformats.org/officeDocument/2006/relationships/slideMaster" Target="slideMasters/slideMaster5.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presProps" Target="presProps.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notesMaster" Target="notesMasters/notesMaster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viewProps" Target="viewProps.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theme" Target="theme/theme1.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slideMaster" Target="slideMasters/slideMaster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Think\Desktop\2017&#24180;&#23637;&#26395;\&#21103;&#26412;&#20027;&#35201;&#22269;&#23478;&#20027;&#35201;&#20316;&#29289;&#20135;&#37327;&#21464;&#21270;-USDA&amp;FAO.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Think\Desktop\2017&#24180;&#23637;&#26395;\&#21103;&#26412;&#20027;&#35201;&#22269;&#23478;&#20027;&#35201;&#20316;&#29289;&#20135;&#37327;&#21464;&#21270;-USDA&amp;FAO.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Think\Desktop\2017&#24180;&#23637;&#26395;\&#21103;&#26412;&#20027;&#35201;&#22269;&#23478;&#20027;&#35201;&#20316;&#29289;&#20135;&#37327;&#21464;&#21270;-USDA&amp;FAO.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Think\Desktop\2017&#24180;&#23637;&#26395;\&#21103;&#26412;&#20027;&#35201;&#22269;&#23478;&#20027;&#35201;&#20316;&#29289;&#20135;&#37327;&#21464;&#21270;-USDA&amp;FAO.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Think\Desktop\2017&#24180;&#23637;&#26395;\&#21103;&#26412;&#20027;&#35201;&#22269;&#23478;&#20027;&#35201;&#20316;&#29289;&#20135;&#37327;&#21464;&#21270;-USDA&amp;FAO.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Think\Desktop\2017&#24180;&#23637;&#26395;\&#21103;&#26412;&#20027;&#35201;&#22269;&#23478;&#20027;&#35201;&#20316;&#29289;&#20135;&#37327;&#21464;&#21270;-USDA&amp;FAO.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Think\Desktop\2017&#24180;&#23637;&#26395;\&#21103;&#26412;&#20027;&#35201;&#22269;&#23478;&#20027;&#35201;&#20316;&#29289;&#20135;&#37327;&#21464;&#21270;-USDA&amp;FAO.xlsx"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1" i="0" u="none" strike="noStrike" kern="1200" spc="0" baseline="0">
                <a:solidFill>
                  <a:srgbClr val="2A07AB"/>
                </a:solidFill>
                <a:latin typeface="+mn-lt"/>
                <a:ea typeface="+mn-ea"/>
                <a:cs typeface="+mn-cs"/>
              </a:defRPr>
            </a:pPr>
            <a:r>
              <a:rPr lang="zh-CN" sz="2000" b="1" i="0">
                <a:solidFill>
                  <a:srgbClr val="2A07AB"/>
                </a:solidFill>
              </a:rPr>
              <a:t>出口</a:t>
            </a:r>
          </a:p>
        </c:rich>
      </c:tx>
      <c:overlay val="0"/>
      <c:spPr>
        <a:noFill/>
        <a:ln>
          <a:noFill/>
        </a:ln>
        <a:effectLst/>
      </c:spPr>
      <c:txPr>
        <a:bodyPr rot="0" spcFirstLastPara="1" vertOverflow="ellipsis" vert="horz" wrap="square" anchor="ctr" anchorCtr="1"/>
        <a:lstStyle/>
        <a:p>
          <a:pPr>
            <a:defRPr sz="2000" b="1" i="0" u="none" strike="noStrike" kern="1200" spc="0" baseline="0">
              <a:solidFill>
                <a:srgbClr val="2A07AB"/>
              </a:solidFill>
              <a:latin typeface="+mn-lt"/>
              <a:ea typeface="+mn-ea"/>
              <a:cs typeface="+mn-cs"/>
            </a:defRPr>
          </a:pPr>
          <a:endParaRPr lang="zh-CN"/>
        </a:p>
      </c:txPr>
    </c:title>
    <c:autoTitleDeleted val="0"/>
    <c:plotArea>
      <c:layout/>
      <c:barChart>
        <c:barDir val="col"/>
        <c:grouping val="clustered"/>
        <c:varyColors val="0"/>
        <c:ser>
          <c:idx val="0"/>
          <c:order val="0"/>
          <c:tx>
            <c:strRef>
              <c:f>Sheet1!$A$13</c:f>
              <c:strCache>
                <c:ptCount val="1"/>
                <c:pt idx="0">
                  <c:v>2015</c:v>
                </c:pt>
              </c:strCache>
            </c:strRef>
          </c:tx>
          <c:spPr>
            <a:solidFill>
              <a:schemeClr val="accent1"/>
            </a:solidFill>
            <a:ln>
              <a:noFill/>
            </a:ln>
            <a:effectLst/>
          </c:spPr>
          <c:invertIfNegative val="0"/>
          <c:cat>
            <c:strRef>
              <c:f>Sheet1!$L$12:$T$12</c:f>
              <c:strCache>
                <c:ptCount val="9"/>
                <c:pt idx="0">
                  <c:v>大米</c:v>
                </c:pt>
                <c:pt idx="1">
                  <c:v>小麦</c:v>
                </c:pt>
                <c:pt idx="2">
                  <c:v>玉米</c:v>
                </c:pt>
                <c:pt idx="3">
                  <c:v>大豆 </c:v>
                </c:pt>
                <c:pt idx="4">
                  <c:v>棉花</c:v>
                </c:pt>
                <c:pt idx="5">
                  <c:v>植物油</c:v>
                </c:pt>
                <c:pt idx="6">
                  <c:v>糖</c:v>
                </c:pt>
                <c:pt idx="7">
                  <c:v>蔬菜</c:v>
                </c:pt>
                <c:pt idx="8">
                  <c:v>水果</c:v>
                </c:pt>
              </c:strCache>
            </c:strRef>
          </c:cat>
          <c:val>
            <c:numRef>
              <c:f>Sheet1!$L$13:$T$13</c:f>
              <c:numCache>
                <c:formatCode>General</c:formatCode>
                <c:ptCount val="9"/>
                <c:pt idx="0">
                  <c:v>27</c:v>
                </c:pt>
                <c:pt idx="1">
                  <c:v>16.100000000000001</c:v>
                </c:pt>
                <c:pt idx="2">
                  <c:v>1.9</c:v>
                </c:pt>
                <c:pt idx="3">
                  <c:v>71.5</c:v>
                </c:pt>
                <c:pt idx="4">
                  <c:v>1.3</c:v>
                </c:pt>
                <c:pt idx="5">
                  <c:v>3.3</c:v>
                </c:pt>
                <c:pt idx="6">
                  <c:v>4.5999999999999996</c:v>
                </c:pt>
                <c:pt idx="7">
                  <c:v>813</c:v>
                </c:pt>
                <c:pt idx="8">
                  <c:v>300.60000000000002</c:v>
                </c:pt>
              </c:numCache>
            </c:numRef>
          </c:val>
          <c:extLst>
            <c:ext xmlns:c16="http://schemas.microsoft.com/office/drawing/2014/chart" uri="{C3380CC4-5D6E-409C-BE32-E72D297353CC}">
              <c16:uniqueId val="{00000000-2732-4048-AFF7-4B2808AB16CC}"/>
            </c:ext>
          </c:extLst>
        </c:ser>
        <c:ser>
          <c:idx val="1"/>
          <c:order val="1"/>
          <c:tx>
            <c:strRef>
              <c:f>Sheet1!$A$14</c:f>
              <c:strCache>
                <c:ptCount val="1"/>
                <c:pt idx="0">
                  <c:v>2020</c:v>
                </c:pt>
              </c:strCache>
            </c:strRef>
          </c:tx>
          <c:spPr>
            <a:solidFill>
              <a:schemeClr val="accent2"/>
            </a:solidFill>
            <a:ln>
              <a:noFill/>
            </a:ln>
            <a:effectLst/>
          </c:spPr>
          <c:invertIfNegative val="0"/>
          <c:cat>
            <c:strRef>
              <c:f>Sheet1!$L$12:$T$12</c:f>
              <c:strCache>
                <c:ptCount val="9"/>
                <c:pt idx="0">
                  <c:v>大米</c:v>
                </c:pt>
                <c:pt idx="1">
                  <c:v>小麦</c:v>
                </c:pt>
                <c:pt idx="2">
                  <c:v>玉米</c:v>
                </c:pt>
                <c:pt idx="3">
                  <c:v>大豆 </c:v>
                </c:pt>
                <c:pt idx="4">
                  <c:v>棉花</c:v>
                </c:pt>
                <c:pt idx="5">
                  <c:v>植物油</c:v>
                </c:pt>
                <c:pt idx="6">
                  <c:v>糖</c:v>
                </c:pt>
                <c:pt idx="7">
                  <c:v>蔬菜</c:v>
                </c:pt>
                <c:pt idx="8">
                  <c:v>水果</c:v>
                </c:pt>
              </c:strCache>
            </c:strRef>
          </c:cat>
          <c:val>
            <c:numRef>
              <c:f>Sheet1!$L$14:$T$14</c:f>
              <c:numCache>
                <c:formatCode>General</c:formatCode>
                <c:ptCount val="9"/>
                <c:pt idx="0">
                  <c:v>40.4</c:v>
                </c:pt>
                <c:pt idx="1">
                  <c:v>0</c:v>
                </c:pt>
                <c:pt idx="2">
                  <c:v>1.3</c:v>
                </c:pt>
                <c:pt idx="3">
                  <c:v>64.599999999999994</c:v>
                </c:pt>
                <c:pt idx="4">
                  <c:v>1.6</c:v>
                </c:pt>
                <c:pt idx="5">
                  <c:v>2.6</c:v>
                </c:pt>
                <c:pt idx="6">
                  <c:v>4.5</c:v>
                </c:pt>
                <c:pt idx="7">
                  <c:v>844</c:v>
                </c:pt>
                <c:pt idx="8">
                  <c:v>390.78000000000003</c:v>
                </c:pt>
              </c:numCache>
            </c:numRef>
          </c:val>
          <c:extLst>
            <c:ext xmlns:c16="http://schemas.microsoft.com/office/drawing/2014/chart" uri="{C3380CC4-5D6E-409C-BE32-E72D297353CC}">
              <c16:uniqueId val="{00000001-2732-4048-AFF7-4B2808AB16CC}"/>
            </c:ext>
          </c:extLst>
        </c:ser>
        <c:ser>
          <c:idx val="2"/>
          <c:order val="2"/>
          <c:tx>
            <c:strRef>
              <c:f>Sheet1!$A$15</c:f>
              <c:strCache>
                <c:ptCount val="1"/>
                <c:pt idx="0">
                  <c:v>2030</c:v>
                </c:pt>
              </c:strCache>
            </c:strRef>
          </c:tx>
          <c:spPr>
            <a:solidFill>
              <a:schemeClr val="accent3"/>
            </a:solidFill>
            <a:ln>
              <a:noFill/>
            </a:ln>
            <a:effectLst/>
          </c:spPr>
          <c:invertIfNegative val="0"/>
          <c:cat>
            <c:strRef>
              <c:f>Sheet1!$L$12:$T$12</c:f>
              <c:strCache>
                <c:ptCount val="9"/>
                <c:pt idx="0">
                  <c:v>大米</c:v>
                </c:pt>
                <c:pt idx="1">
                  <c:v>小麦</c:v>
                </c:pt>
                <c:pt idx="2">
                  <c:v>玉米</c:v>
                </c:pt>
                <c:pt idx="3">
                  <c:v>大豆 </c:v>
                </c:pt>
                <c:pt idx="4">
                  <c:v>棉花</c:v>
                </c:pt>
                <c:pt idx="5">
                  <c:v>植物油</c:v>
                </c:pt>
                <c:pt idx="6">
                  <c:v>糖</c:v>
                </c:pt>
                <c:pt idx="7">
                  <c:v>蔬菜</c:v>
                </c:pt>
                <c:pt idx="8">
                  <c:v>水果</c:v>
                </c:pt>
              </c:strCache>
            </c:strRef>
          </c:cat>
          <c:val>
            <c:numRef>
              <c:f>Sheet1!$L$15:$T$15</c:f>
              <c:numCache>
                <c:formatCode>General</c:formatCode>
                <c:ptCount val="9"/>
                <c:pt idx="0">
                  <c:v>46.6</c:v>
                </c:pt>
                <c:pt idx="1">
                  <c:v>0</c:v>
                </c:pt>
                <c:pt idx="2">
                  <c:v>0.9</c:v>
                </c:pt>
                <c:pt idx="3">
                  <c:v>57.3</c:v>
                </c:pt>
                <c:pt idx="4">
                  <c:v>1.1000000000000001</c:v>
                </c:pt>
                <c:pt idx="5">
                  <c:v>2.2999999999999998</c:v>
                </c:pt>
                <c:pt idx="6">
                  <c:v>3.2</c:v>
                </c:pt>
                <c:pt idx="7">
                  <c:v>1115.7</c:v>
                </c:pt>
                <c:pt idx="8">
                  <c:v>435.1</c:v>
                </c:pt>
              </c:numCache>
            </c:numRef>
          </c:val>
          <c:extLst>
            <c:ext xmlns:c16="http://schemas.microsoft.com/office/drawing/2014/chart" uri="{C3380CC4-5D6E-409C-BE32-E72D297353CC}">
              <c16:uniqueId val="{00000002-2732-4048-AFF7-4B2808AB16CC}"/>
            </c:ext>
          </c:extLst>
        </c:ser>
        <c:dLbls>
          <c:showLegendKey val="0"/>
          <c:showVal val="0"/>
          <c:showCatName val="0"/>
          <c:showSerName val="0"/>
          <c:showPercent val="0"/>
          <c:showBubbleSize val="0"/>
        </c:dLbls>
        <c:gapWidth val="219"/>
        <c:overlap val="-27"/>
        <c:axId val="949983432"/>
        <c:axId val="949983824"/>
      </c:barChart>
      <c:catAx>
        <c:axId val="9499834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rgbClr val="2A07AB"/>
                </a:solidFill>
                <a:latin typeface="+mn-lt"/>
                <a:ea typeface="+mn-ea"/>
                <a:cs typeface="+mn-cs"/>
              </a:defRPr>
            </a:pPr>
            <a:endParaRPr lang="zh-CN"/>
          </a:p>
        </c:txPr>
        <c:crossAx val="949983824"/>
        <c:crosses val="autoZero"/>
        <c:auto val="1"/>
        <c:lblAlgn val="ctr"/>
        <c:lblOffset val="100"/>
        <c:noMultiLvlLbl val="0"/>
      </c:catAx>
      <c:valAx>
        <c:axId val="9499838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zh-CN"/>
          </a:p>
        </c:txPr>
        <c:crossAx val="949983432"/>
        <c:crosses val="autoZero"/>
        <c:crossBetween val="between"/>
      </c:valAx>
      <c:spPr>
        <a:noFill/>
        <a:ln>
          <a:noFill/>
        </a:ln>
        <a:effectLst/>
      </c:spPr>
    </c:plotArea>
    <c:legend>
      <c:legendPos val="b"/>
      <c:layout>
        <c:manualLayout>
          <c:xMode val="edge"/>
          <c:yMode val="edge"/>
          <c:x val="0.14714750975875943"/>
          <c:y val="0.15672547863859138"/>
          <c:w val="0.52327229190289248"/>
          <c:h val="0.1699253267052498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dk1"/>
              </a:solidFill>
              <a:latin typeface="+mn-lt"/>
              <a:ea typeface="+mn-ea"/>
              <a:cs typeface="+mn-cs"/>
            </a:defRPr>
          </a:pPr>
          <a:endParaRPr lang="zh-CN"/>
        </a:p>
      </c:txPr>
    </c:legend>
    <c:plotVisOnly val="1"/>
    <c:dispBlanksAs val="gap"/>
    <c:showDLblsOverMax val="0"/>
  </c:chart>
  <c:spPr>
    <a:solidFill>
      <a:schemeClr val="lt1"/>
    </a:solidFill>
    <a:ln w="12700" cap="flat" cmpd="sng" algn="ctr">
      <a:solidFill>
        <a:schemeClr val="accent3"/>
      </a:solidFill>
      <a:prstDash val="solid"/>
      <a:miter lim="800000"/>
    </a:ln>
    <a:effectLst/>
  </c:spPr>
  <c:txPr>
    <a:bodyPr/>
    <a:lstStyle/>
    <a:p>
      <a:pPr>
        <a:defRPr>
          <a:solidFill>
            <a:schemeClr val="dk1"/>
          </a:solidFill>
          <a:latin typeface="+mn-lt"/>
          <a:ea typeface="+mn-ea"/>
          <a:cs typeface="+mn-cs"/>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1" i="0" u="none" strike="noStrike" kern="1200" spc="0" baseline="0">
                <a:solidFill>
                  <a:srgbClr val="2A07AB"/>
                </a:solidFill>
                <a:latin typeface="+mn-lt"/>
                <a:ea typeface="+mn-ea"/>
                <a:cs typeface="+mn-cs"/>
              </a:defRPr>
            </a:pPr>
            <a:r>
              <a:rPr lang="zh-CN" sz="2000" b="1">
                <a:solidFill>
                  <a:srgbClr val="2A07AB"/>
                </a:solidFill>
              </a:rPr>
              <a:t>进口</a:t>
            </a:r>
          </a:p>
        </c:rich>
      </c:tx>
      <c:overlay val="0"/>
      <c:spPr>
        <a:noFill/>
        <a:ln>
          <a:noFill/>
        </a:ln>
        <a:effectLst/>
      </c:spPr>
      <c:txPr>
        <a:bodyPr rot="0" spcFirstLastPara="1" vertOverflow="ellipsis" vert="horz" wrap="square" anchor="ctr" anchorCtr="1"/>
        <a:lstStyle/>
        <a:p>
          <a:pPr>
            <a:defRPr sz="2000" b="1" i="0" u="none" strike="noStrike" kern="1200" spc="0" baseline="0">
              <a:solidFill>
                <a:srgbClr val="2A07AB"/>
              </a:solidFill>
              <a:latin typeface="+mn-lt"/>
              <a:ea typeface="+mn-ea"/>
              <a:cs typeface="+mn-cs"/>
            </a:defRPr>
          </a:pPr>
          <a:endParaRPr lang="zh-CN"/>
        </a:p>
      </c:txPr>
    </c:title>
    <c:autoTitleDeleted val="0"/>
    <c:plotArea>
      <c:layout/>
      <c:barChart>
        <c:barDir val="col"/>
        <c:grouping val="clustered"/>
        <c:varyColors val="0"/>
        <c:ser>
          <c:idx val="0"/>
          <c:order val="0"/>
          <c:tx>
            <c:strRef>
              <c:f>Sheet1!$A$18</c:f>
              <c:strCache>
                <c:ptCount val="1"/>
                <c:pt idx="0">
                  <c:v>2015</c:v>
                </c:pt>
              </c:strCache>
            </c:strRef>
          </c:tx>
          <c:spPr>
            <a:solidFill>
              <a:schemeClr val="accent1"/>
            </a:solidFill>
            <a:ln>
              <a:noFill/>
            </a:ln>
            <a:effectLst/>
          </c:spPr>
          <c:invertIfNegative val="0"/>
          <c:cat>
            <c:strRef>
              <c:f>Sheet1!$L$17:$T$17</c:f>
              <c:strCache>
                <c:ptCount val="9"/>
                <c:pt idx="0">
                  <c:v>大米</c:v>
                </c:pt>
                <c:pt idx="1">
                  <c:v>小麦</c:v>
                </c:pt>
                <c:pt idx="2">
                  <c:v>玉米</c:v>
                </c:pt>
                <c:pt idx="3">
                  <c:v>大豆 </c:v>
                </c:pt>
                <c:pt idx="4">
                  <c:v>棉花</c:v>
                </c:pt>
                <c:pt idx="5">
                  <c:v>植物油</c:v>
                </c:pt>
                <c:pt idx="6">
                  <c:v>糖</c:v>
                </c:pt>
                <c:pt idx="7">
                  <c:v>蔬菜</c:v>
                </c:pt>
                <c:pt idx="8">
                  <c:v>水果</c:v>
                </c:pt>
              </c:strCache>
            </c:strRef>
          </c:cat>
          <c:val>
            <c:numRef>
              <c:f>Sheet1!$L$18:$T$18</c:f>
              <c:numCache>
                <c:formatCode>General</c:formatCode>
                <c:ptCount val="9"/>
                <c:pt idx="0">
                  <c:v>334</c:v>
                </c:pt>
                <c:pt idx="1">
                  <c:v>306</c:v>
                </c:pt>
                <c:pt idx="2">
                  <c:v>473</c:v>
                </c:pt>
                <c:pt idx="3">
                  <c:v>8755</c:v>
                </c:pt>
                <c:pt idx="4">
                  <c:v>144.19999999999999</c:v>
                </c:pt>
                <c:pt idx="5">
                  <c:v>166.4</c:v>
                </c:pt>
                <c:pt idx="6">
                  <c:v>481.2</c:v>
                </c:pt>
                <c:pt idx="7">
                  <c:v>63</c:v>
                </c:pt>
                <c:pt idx="8">
                  <c:v>321.7</c:v>
                </c:pt>
              </c:numCache>
            </c:numRef>
          </c:val>
          <c:extLst>
            <c:ext xmlns:c16="http://schemas.microsoft.com/office/drawing/2014/chart" uri="{C3380CC4-5D6E-409C-BE32-E72D297353CC}">
              <c16:uniqueId val="{00000000-F699-4D95-91D5-E2E47B0D9022}"/>
            </c:ext>
          </c:extLst>
        </c:ser>
        <c:ser>
          <c:idx val="1"/>
          <c:order val="1"/>
          <c:tx>
            <c:strRef>
              <c:f>Sheet1!$A$19</c:f>
              <c:strCache>
                <c:ptCount val="1"/>
                <c:pt idx="0">
                  <c:v>2020</c:v>
                </c:pt>
              </c:strCache>
            </c:strRef>
          </c:tx>
          <c:spPr>
            <a:solidFill>
              <a:schemeClr val="accent2"/>
            </a:solidFill>
            <a:ln>
              <a:noFill/>
            </a:ln>
            <a:effectLst/>
          </c:spPr>
          <c:invertIfNegative val="0"/>
          <c:cat>
            <c:strRef>
              <c:f>Sheet1!$L$17:$T$17</c:f>
              <c:strCache>
                <c:ptCount val="9"/>
                <c:pt idx="0">
                  <c:v>大米</c:v>
                </c:pt>
                <c:pt idx="1">
                  <c:v>小麦</c:v>
                </c:pt>
                <c:pt idx="2">
                  <c:v>玉米</c:v>
                </c:pt>
                <c:pt idx="3">
                  <c:v>大豆 </c:v>
                </c:pt>
                <c:pt idx="4">
                  <c:v>棉花</c:v>
                </c:pt>
                <c:pt idx="5">
                  <c:v>植物油</c:v>
                </c:pt>
                <c:pt idx="6">
                  <c:v>糖</c:v>
                </c:pt>
                <c:pt idx="7">
                  <c:v>蔬菜</c:v>
                </c:pt>
                <c:pt idx="8">
                  <c:v>水果</c:v>
                </c:pt>
              </c:strCache>
            </c:strRef>
          </c:cat>
          <c:val>
            <c:numRef>
              <c:f>Sheet1!$L$19:$T$19</c:f>
              <c:numCache>
                <c:formatCode>General</c:formatCode>
                <c:ptCount val="9"/>
                <c:pt idx="0">
                  <c:v>223.3</c:v>
                </c:pt>
                <c:pt idx="1">
                  <c:v>247.1</c:v>
                </c:pt>
                <c:pt idx="2">
                  <c:v>726.4</c:v>
                </c:pt>
                <c:pt idx="3">
                  <c:v>9697.7999999999993</c:v>
                </c:pt>
                <c:pt idx="4">
                  <c:v>121.2</c:v>
                </c:pt>
                <c:pt idx="5">
                  <c:v>210.2</c:v>
                </c:pt>
                <c:pt idx="6">
                  <c:v>529.31999999999994</c:v>
                </c:pt>
                <c:pt idx="7">
                  <c:v>64.5</c:v>
                </c:pt>
                <c:pt idx="8">
                  <c:v>434.7</c:v>
                </c:pt>
              </c:numCache>
            </c:numRef>
          </c:val>
          <c:extLst>
            <c:ext xmlns:c16="http://schemas.microsoft.com/office/drawing/2014/chart" uri="{C3380CC4-5D6E-409C-BE32-E72D297353CC}">
              <c16:uniqueId val="{00000001-F699-4D95-91D5-E2E47B0D9022}"/>
            </c:ext>
          </c:extLst>
        </c:ser>
        <c:ser>
          <c:idx val="2"/>
          <c:order val="2"/>
          <c:tx>
            <c:strRef>
              <c:f>Sheet1!$A$20</c:f>
              <c:strCache>
                <c:ptCount val="1"/>
                <c:pt idx="0">
                  <c:v>2030</c:v>
                </c:pt>
              </c:strCache>
            </c:strRef>
          </c:tx>
          <c:spPr>
            <a:solidFill>
              <a:schemeClr val="accent3"/>
            </a:solidFill>
            <a:ln>
              <a:noFill/>
            </a:ln>
            <a:effectLst/>
          </c:spPr>
          <c:invertIfNegative val="0"/>
          <c:cat>
            <c:strRef>
              <c:f>Sheet1!$L$17:$T$17</c:f>
              <c:strCache>
                <c:ptCount val="9"/>
                <c:pt idx="0">
                  <c:v>大米</c:v>
                </c:pt>
                <c:pt idx="1">
                  <c:v>小麦</c:v>
                </c:pt>
                <c:pt idx="2">
                  <c:v>玉米</c:v>
                </c:pt>
                <c:pt idx="3">
                  <c:v>大豆 </c:v>
                </c:pt>
                <c:pt idx="4">
                  <c:v>棉花</c:v>
                </c:pt>
                <c:pt idx="5">
                  <c:v>植物油</c:v>
                </c:pt>
                <c:pt idx="6">
                  <c:v>糖</c:v>
                </c:pt>
                <c:pt idx="7">
                  <c:v>蔬菜</c:v>
                </c:pt>
                <c:pt idx="8">
                  <c:v>水果</c:v>
                </c:pt>
              </c:strCache>
            </c:strRef>
          </c:cat>
          <c:val>
            <c:numRef>
              <c:f>Sheet1!$L$20:$T$20</c:f>
              <c:numCache>
                <c:formatCode>General</c:formatCode>
                <c:ptCount val="9"/>
                <c:pt idx="0">
                  <c:v>193.7</c:v>
                </c:pt>
                <c:pt idx="1">
                  <c:v>231.2</c:v>
                </c:pt>
                <c:pt idx="2">
                  <c:v>3089.7</c:v>
                </c:pt>
                <c:pt idx="3">
                  <c:v>10909.3</c:v>
                </c:pt>
                <c:pt idx="4">
                  <c:v>180</c:v>
                </c:pt>
                <c:pt idx="5">
                  <c:v>359.44200000000001</c:v>
                </c:pt>
                <c:pt idx="6">
                  <c:v>793.98</c:v>
                </c:pt>
                <c:pt idx="7">
                  <c:v>60.2</c:v>
                </c:pt>
                <c:pt idx="8">
                  <c:v>379.6</c:v>
                </c:pt>
              </c:numCache>
            </c:numRef>
          </c:val>
          <c:extLst>
            <c:ext xmlns:c16="http://schemas.microsoft.com/office/drawing/2014/chart" uri="{C3380CC4-5D6E-409C-BE32-E72D297353CC}">
              <c16:uniqueId val="{00000002-F699-4D95-91D5-E2E47B0D9022}"/>
            </c:ext>
          </c:extLst>
        </c:ser>
        <c:dLbls>
          <c:showLegendKey val="0"/>
          <c:showVal val="0"/>
          <c:showCatName val="0"/>
          <c:showSerName val="0"/>
          <c:showPercent val="0"/>
          <c:showBubbleSize val="0"/>
        </c:dLbls>
        <c:gapWidth val="219"/>
        <c:overlap val="-27"/>
        <c:axId val="949979904"/>
        <c:axId val="949974024"/>
      </c:barChart>
      <c:catAx>
        <c:axId val="949979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rgbClr val="2A07AB"/>
                </a:solidFill>
                <a:latin typeface="+mn-lt"/>
                <a:ea typeface="+mn-ea"/>
                <a:cs typeface="+mn-cs"/>
              </a:defRPr>
            </a:pPr>
            <a:endParaRPr lang="zh-CN"/>
          </a:p>
        </c:txPr>
        <c:crossAx val="949974024"/>
        <c:crosses val="autoZero"/>
        <c:auto val="1"/>
        <c:lblAlgn val="ctr"/>
        <c:lblOffset val="100"/>
        <c:noMultiLvlLbl val="0"/>
      </c:catAx>
      <c:valAx>
        <c:axId val="9499740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zh-CN"/>
          </a:p>
        </c:txPr>
        <c:crossAx val="949979904"/>
        <c:crosses val="autoZero"/>
        <c:crossBetween val="between"/>
      </c:valAx>
      <c:spPr>
        <a:noFill/>
        <a:ln>
          <a:noFill/>
        </a:ln>
        <a:effectLst/>
      </c:spPr>
    </c:plotArea>
    <c:legend>
      <c:legendPos val="b"/>
      <c:layout>
        <c:manualLayout>
          <c:xMode val="edge"/>
          <c:yMode val="edge"/>
          <c:x val="9.8202633235417544E-2"/>
          <c:y val="0.1047939889123848"/>
          <c:w val="0.47716769827947958"/>
          <c:h val="5.4618755156012624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dk1"/>
              </a:solidFill>
              <a:latin typeface="+mn-lt"/>
              <a:ea typeface="+mn-ea"/>
              <a:cs typeface="+mn-cs"/>
            </a:defRPr>
          </a:pPr>
          <a:endParaRPr lang="zh-CN"/>
        </a:p>
      </c:txPr>
    </c:legend>
    <c:plotVisOnly val="1"/>
    <c:dispBlanksAs val="gap"/>
    <c:showDLblsOverMax val="0"/>
  </c:chart>
  <c:spPr>
    <a:solidFill>
      <a:schemeClr val="lt1"/>
    </a:solidFill>
    <a:ln w="12700" cap="flat" cmpd="sng" algn="ctr">
      <a:solidFill>
        <a:schemeClr val="accent3"/>
      </a:solidFill>
      <a:prstDash val="solid"/>
      <a:miter lim="800000"/>
    </a:ln>
    <a:effectLst/>
  </c:spPr>
  <c:txPr>
    <a:bodyPr/>
    <a:lstStyle/>
    <a:p>
      <a:pPr>
        <a:defRPr>
          <a:solidFill>
            <a:schemeClr val="dk1"/>
          </a:solidFill>
          <a:latin typeface="+mn-lt"/>
          <a:ea typeface="+mn-ea"/>
          <a:cs typeface="+mn-cs"/>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1" i="0" u="none" strike="noStrike" kern="1200" spc="0" baseline="0">
                <a:solidFill>
                  <a:srgbClr val="2A07AB"/>
                </a:solidFill>
                <a:latin typeface="+mn-lt"/>
                <a:ea typeface="+mn-ea"/>
                <a:cs typeface="+mn-cs"/>
              </a:defRPr>
            </a:pPr>
            <a:r>
              <a:rPr lang="zh-CN" sz="2000" b="1">
                <a:solidFill>
                  <a:srgbClr val="2A07AB"/>
                </a:solidFill>
              </a:rPr>
              <a:t>净出口</a:t>
            </a:r>
          </a:p>
        </c:rich>
      </c:tx>
      <c:overlay val="0"/>
      <c:spPr>
        <a:noFill/>
        <a:ln>
          <a:noFill/>
        </a:ln>
        <a:effectLst/>
      </c:spPr>
      <c:txPr>
        <a:bodyPr rot="0" spcFirstLastPara="1" vertOverflow="ellipsis" vert="horz" wrap="square" anchor="ctr" anchorCtr="1"/>
        <a:lstStyle/>
        <a:p>
          <a:pPr>
            <a:defRPr sz="2000" b="1" i="0" u="none" strike="noStrike" kern="1200" spc="0" baseline="0">
              <a:solidFill>
                <a:srgbClr val="2A07AB"/>
              </a:solidFill>
              <a:latin typeface="+mn-lt"/>
              <a:ea typeface="+mn-ea"/>
              <a:cs typeface="+mn-cs"/>
            </a:defRPr>
          </a:pPr>
          <a:endParaRPr lang="zh-CN"/>
        </a:p>
      </c:txPr>
    </c:title>
    <c:autoTitleDeleted val="0"/>
    <c:plotArea>
      <c:layout>
        <c:manualLayout>
          <c:layoutTarget val="inner"/>
          <c:xMode val="edge"/>
          <c:yMode val="edge"/>
          <c:x val="0.11223381452318461"/>
          <c:y val="0.11873623760757519"/>
          <c:w val="0.85721062992125985"/>
          <c:h val="0.85535736269179841"/>
        </c:manualLayout>
      </c:layout>
      <c:barChart>
        <c:barDir val="col"/>
        <c:grouping val="clustered"/>
        <c:varyColors val="0"/>
        <c:ser>
          <c:idx val="0"/>
          <c:order val="0"/>
          <c:tx>
            <c:strRef>
              <c:f>Sheet1!$A$24</c:f>
              <c:strCache>
                <c:ptCount val="1"/>
                <c:pt idx="0">
                  <c:v>2015</c:v>
                </c:pt>
              </c:strCache>
            </c:strRef>
          </c:tx>
          <c:spPr>
            <a:solidFill>
              <a:schemeClr val="accent1"/>
            </a:solidFill>
            <a:ln>
              <a:noFill/>
            </a:ln>
            <a:effectLst/>
          </c:spPr>
          <c:invertIfNegative val="0"/>
          <c:cat>
            <c:strRef>
              <c:f>Sheet1!$L$23:$T$23</c:f>
              <c:strCache>
                <c:ptCount val="9"/>
                <c:pt idx="0">
                  <c:v>大米</c:v>
                </c:pt>
                <c:pt idx="1">
                  <c:v>小麦</c:v>
                </c:pt>
                <c:pt idx="2">
                  <c:v>玉米</c:v>
                </c:pt>
                <c:pt idx="3">
                  <c:v>大豆 </c:v>
                </c:pt>
                <c:pt idx="4">
                  <c:v>棉花</c:v>
                </c:pt>
                <c:pt idx="5">
                  <c:v>植物油</c:v>
                </c:pt>
                <c:pt idx="6">
                  <c:v>糖</c:v>
                </c:pt>
                <c:pt idx="7">
                  <c:v>蔬菜</c:v>
                </c:pt>
                <c:pt idx="8">
                  <c:v>水果</c:v>
                </c:pt>
              </c:strCache>
            </c:strRef>
          </c:cat>
          <c:val>
            <c:numRef>
              <c:f>Sheet1!$L$24:$T$24</c:f>
              <c:numCache>
                <c:formatCode>General</c:formatCode>
                <c:ptCount val="9"/>
                <c:pt idx="0">
                  <c:v>-307</c:v>
                </c:pt>
                <c:pt idx="1">
                  <c:v>-289.89999999999998</c:v>
                </c:pt>
                <c:pt idx="2">
                  <c:v>-471.1</c:v>
                </c:pt>
                <c:pt idx="3">
                  <c:v>-8683.5</c:v>
                </c:pt>
                <c:pt idx="4">
                  <c:v>-142.9</c:v>
                </c:pt>
                <c:pt idx="5">
                  <c:v>-163.1</c:v>
                </c:pt>
                <c:pt idx="6">
                  <c:v>-476.6</c:v>
                </c:pt>
                <c:pt idx="7">
                  <c:v>750</c:v>
                </c:pt>
                <c:pt idx="8">
                  <c:v>-21.1</c:v>
                </c:pt>
              </c:numCache>
            </c:numRef>
          </c:val>
          <c:extLst>
            <c:ext xmlns:c16="http://schemas.microsoft.com/office/drawing/2014/chart" uri="{C3380CC4-5D6E-409C-BE32-E72D297353CC}">
              <c16:uniqueId val="{00000000-3583-47C0-BCA4-61457579B4FF}"/>
            </c:ext>
          </c:extLst>
        </c:ser>
        <c:ser>
          <c:idx val="1"/>
          <c:order val="1"/>
          <c:tx>
            <c:strRef>
              <c:f>Sheet1!$A$25</c:f>
              <c:strCache>
                <c:ptCount val="1"/>
                <c:pt idx="0">
                  <c:v>2020</c:v>
                </c:pt>
              </c:strCache>
            </c:strRef>
          </c:tx>
          <c:spPr>
            <a:solidFill>
              <a:schemeClr val="accent2"/>
            </a:solidFill>
            <a:ln>
              <a:noFill/>
            </a:ln>
            <a:effectLst/>
          </c:spPr>
          <c:invertIfNegative val="0"/>
          <c:cat>
            <c:strRef>
              <c:f>Sheet1!$L$23:$T$23</c:f>
              <c:strCache>
                <c:ptCount val="9"/>
                <c:pt idx="0">
                  <c:v>大米</c:v>
                </c:pt>
                <c:pt idx="1">
                  <c:v>小麦</c:v>
                </c:pt>
                <c:pt idx="2">
                  <c:v>玉米</c:v>
                </c:pt>
                <c:pt idx="3">
                  <c:v>大豆 </c:v>
                </c:pt>
                <c:pt idx="4">
                  <c:v>棉花</c:v>
                </c:pt>
                <c:pt idx="5">
                  <c:v>植物油</c:v>
                </c:pt>
                <c:pt idx="6">
                  <c:v>糖</c:v>
                </c:pt>
                <c:pt idx="7">
                  <c:v>蔬菜</c:v>
                </c:pt>
                <c:pt idx="8">
                  <c:v>水果</c:v>
                </c:pt>
              </c:strCache>
            </c:strRef>
          </c:cat>
          <c:val>
            <c:numRef>
              <c:f>Sheet1!$L$25:$T$25</c:f>
              <c:numCache>
                <c:formatCode>General</c:formatCode>
                <c:ptCount val="9"/>
                <c:pt idx="0">
                  <c:v>-182.9</c:v>
                </c:pt>
                <c:pt idx="1">
                  <c:v>-247.1</c:v>
                </c:pt>
                <c:pt idx="2">
                  <c:v>-725.1</c:v>
                </c:pt>
                <c:pt idx="3">
                  <c:v>-9633.2000000000007</c:v>
                </c:pt>
                <c:pt idx="4">
                  <c:v>-119.6</c:v>
                </c:pt>
                <c:pt idx="5">
                  <c:v>-207.6</c:v>
                </c:pt>
                <c:pt idx="6">
                  <c:v>-524.81999999999994</c:v>
                </c:pt>
                <c:pt idx="7">
                  <c:v>779.5</c:v>
                </c:pt>
                <c:pt idx="8">
                  <c:v>-43.91999999999998</c:v>
                </c:pt>
              </c:numCache>
            </c:numRef>
          </c:val>
          <c:extLst>
            <c:ext xmlns:c16="http://schemas.microsoft.com/office/drawing/2014/chart" uri="{C3380CC4-5D6E-409C-BE32-E72D297353CC}">
              <c16:uniqueId val="{00000001-3583-47C0-BCA4-61457579B4FF}"/>
            </c:ext>
          </c:extLst>
        </c:ser>
        <c:ser>
          <c:idx val="2"/>
          <c:order val="2"/>
          <c:tx>
            <c:strRef>
              <c:f>Sheet1!$A$26</c:f>
              <c:strCache>
                <c:ptCount val="1"/>
                <c:pt idx="0">
                  <c:v>2030</c:v>
                </c:pt>
              </c:strCache>
            </c:strRef>
          </c:tx>
          <c:spPr>
            <a:solidFill>
              <a:schemeClr val="accent3"/>
            </a:solidFill>
            <a:ln>
              <a:noFill/>
            </a:ln>
            <a:effectLst/>
          </c:spPr>
          <c:invertIfNegative val="0"/>
          <c:cat>
            <c:strRef>
              <c:f>Sheet1!$L$23:$T$23</c:f>
              <c:strCache>
                <c:ptCount val="9"/>
                <c:pt idx="0">
                  <c:v>大米</c:v>
                </c:pt>
                <c:pt idx="1">
                  <c:v>小麦</c:v>
                </c:pt>
                <c:pt idx="2">
                  <c:v>玉米</c:v>
                </c:pt>
                <c:pt idx="3">
                  <c:v>大豆 </c:v>
                </c:pt>
                <c:pt idx="4">
                  <c:v>棉花</c:v>
                </c:pt>
                <c:pt idx="5">
                  <c:v>植物油</c:v>
                </c:pt>
                <c:pt idx="6">
                  <c:v>糖</c:v>
                </c:pt>
                <c:pt idx="7">
                  <c:v>蔬菜</c:v>
                </c:pt>
                <c:pt idx="8">
                  <c:v>水果</c:v>
                </c:pt>
              </c:strCache>
            </c:strRef>
          </c:cat>
          <c:val>
            <c:numRef>
              <c:f>Sheet1!$L$26:$T$26</c:f>
              <c:numCache>
                <c:formatCode>General</c:formatCode>
                <c:ptCount val="9"/>
                <c:pt idx="0">
                  <c:v>-147.1</c:v>
                </c:pt>
                <c:pt idx="1">
                  <c:v>-231.2</c:v>
                </c:pt>
                <c:pt idx="2">
                  <c:v>-3088.8</c:v>
                </c:pt>
                <c:pt idx="3">
                  <c:v>-10852</c:v>
                </c:pt>
                <c:pt idx="4">
                  <c:v>-178.9</c:v>
                </c:pt>
                <c:pt idx="5">
                  <c:v>-357.142</c:v>
                </c:pt>
                <c:pt idx="6">
                  <c:v>-790.78</c:v>
                </c:pt>
                <c:pt idx="7">
                  <c:v>1055.5</c:v>
                </c:pt>
                <c:pt idx="8">
                  <c:v>55.5</c:v>
                </c:pt>
              </c:numCache>
            </c:numRef>
          </c:val>
          <c:extLst>
            <c:ext xmlns:c16="http://schemas.microsoft.com/office/drawing/2014/chart" uri="{C3380CC4-5D6E-409C-BE32-E72D297353CC}">
              <c16:uniqueId val="{00000002-3583-47C0-BCA4-61457579B4FF}"/>
            </c:ext>
          </c:extLst>
        </c:ser>
        <c:dLbls>
          <c:showLegendKey val="0"/>
          <c:showVal val="0"/>
          <c:showCatName val="0"/>
          <c:showSerName val="0"/>
          <c:showPercent val="0"/>
          <c:showBubbleSize val="0"/>
        </c:dLbls>
        <c:gapWidth val="219"/>
        <c:overlap val="-27"/>
        <c:axId val="949977552"/>
        <c:axId val="949978728"/>
      </c:barChart>
      <c:catAx>
        <c:axId val="949977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rgbClr val="2A07AB"/>
                </a:solidFill>
                <a:latin typeface="+mn-lt"/>
                <a:ea typeface="+mn-ea"/>
                <a:cs typeface="+mn-cs"/>
              </a:defRPr>
            </a:pPr>
            <a:endParaRPr lang="zh-CN"/>
          </a:p>
        </c:txPr>
        <c:crossAx val="949978728"/>
        <c:crosses val="autoZero"/>
        <c:auto val="1"/>
        <c:lblAlgn val="ctr"/>
        <c:lblOffset val="100"/>
        <c:noMultiLvlLbl val="0"/>
      </c:catAx>
      <c:valAx>
        <c:axId val="9499787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zh-CN"/>
          </a:p>
        </c:txPr>
        <c:crossAx val="949977552"/>
        <c:crosses val="autoZero"/>
        <c:crossBetween val="between"/>
      </c:valAx>
      <c:spPr>
        <a:noFill/>
        <a:ln>
          <a:noFill/>
        </a:ln>
        <a:effectLst/>
      </c:spPr>
    </c:plotArea>
    <c:legend>
      <c:legendPos val="b"/>
      <c:layout>
        <c:manualLayout>
          <c:xMode val="edge"/>
          <c:yMode val="edge"/>
          <c:x val="0.47325612423447067"/>
          <c:y val="0.76105072539142893"/>
          <c:w val="0.48126531058617661"/>
          <c:h val="5.2452566324421551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zh-CN"/>
        </a:p>
      </c:txPr>
    </c:legend>
    <c:plotVisOnly val="1"/>
    <c:dispBlanksAs val="gap"/>
    <c:showDLblsOverMax val="0"/>
  </c:chart>
  <c:spPr>
    <a:solidFill>
      <a:schemeClr val="lt1"/>
    </a:solidFill>
    <a:ln w="12700" cap="flat" cmpd="sng" algn="ctr">
      <a:solidFill>
        <a:schemeClr val="accent3"/>
      </a:solidFill>
      <a:prstDash val="solid"/>
      <a:miter lim="800000"/>
    </a:ln>
    <a:effectLst/>
  </c:spPr>
  <c:txPr>
    <a:bodyPr/>
    <a:lstStyle/>
    <a:p>
      <a:pPr>
        <a:defRPr>
          <a:solidFill>
            <a:schemeClr val="dk1"/>
          </a:solidFill>
          <a:latin typeface="+mn-lt"/>
          <a:ea typeface="+mn-ea"/>
          <a:cs typeface="+mn-cs"/>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spc="0" baseline="0">
                <a:solidFill>
                  <a:srgbClr val="2A07AB"/>
                </a:solidFill>
                <a:latin typeface="+mn-lt"/>
                <a:ea typeface="+mn-ea"/>
                <a:cs typeface="+mn-cs"/>
              </a:defRPr>
            </a:pPr>
            <a:r>
              <a:rPr lang="zh-CN" sz="1800" b="1">
                <a:solidFill>
                  <a:srgbClr val="2A07AB"/>
                </a:solidFill>
              </a:rPr>
              <a:t>出口</a:t>
            </a:r>
          </a:p>
        </c:rich>
      </c:tx>
      <c:overlay val="0"/>
      <c:spPr>
        <a:noFill/>
        <a:ln>
          <a:noFill/>
        </a:ln>
        <a:effectLst/>
      </c:spPr>
      <c:txPr>
        <a:bodyPr rot="0" spcFirstLastPara="1" vertOverflow="ellipsis" vert="horz" wrap="square" anchor="ctr" anchorCtr="1"/>
        <a:lstStyle/>
        <a:p>
          <a:pPr>
            <a:defRPr sz="1800" b="1" i="0" u="none" strike="noStrike" kern="1200" spc="0" baseline="0">
              <a:solidFill>
                <a:srgbClr val="2A07AB"/>
              </a:solidFill>
              <a:latin typeface="+mn-lt"/>
              <a:ea typeface="+mn-ea"/>
              <a:cs typeface="+mn-cs"/>
            </a:defRPr>
          </a:pPr>
          <a:endParaRPr lang="zh-CN"/>
        </a:p>
      </c:txPr>
    </c:title>
    <c:autoTitleDeleted val="0"/>
    <c:plotArea>
      <c:layout>
        <c:manualLayout>
          <c:layoutTarget val="inner"/>
          <c:xMode val="edge"/>
          <c:yMode val="edge"/>
          <c:x val="0.13711573601844457"/>
          <c:y val="8.8953609685921184E-2"/>
          <c:w val="0.82741979623035822"/>
          <c:h val="0.77001379546268933"/>
        </c:manualLayout>
      </c:layout>
      <c:barChart>
        <c:barDir val="col"/>
        <c:grouping val="clustered"/>
        <c:varyColors val="0"/>
        <c:ser>
          <c:idx val="0"/>
          <c:order val="0"/>
          <c:tx>
            <c:strRef>
              <c:f>Sheet2!$K$20</c:f>
              <c:strCache>
                <c:ptCount val="1"/>
                <c:pt idx="0">
                  <c:v>2015</c:v>
                </c:pt>
              </c:strCache>
            </c:strRef>
          </c:tx>
          <c:spPr>
            <a:solidFill>
              <a:schemeClr val="accent1"/>
            </a:solidFill>
            <a:ln>
              <a:noFill/>
            </a:ln>
            <a:effectLst/>
          </c:spPr>
          <c:invertIfNegative val="0"/>
          <c:cat>
            <c:strRef>
              <c:f>Sheet2!$L$19:$R$19</c:f>
              <c:strCache>
                <c:ptCount val="7"/>
                <c:pt idx="0">
                  <c:v>猪肉</c:v>
                </c:pt>
                <c:pt idx="1">
                  <c:v>牛肉</c:v>
                </c:pt>
                <c:pt idx="2">
                  <c:v>羊肉</c:v>
                </c:pt>
                <c:pt idx="3">
                  <c:v>禽肉</c:v>
                </c:pt>
                <c:pt idx="4">
                  <c:v>禽蛋</c:v>
                </c:pt>
                <c:pt idx="5">
                  <c:v>奶制品</c:v>
                </c:pt>
                <c:pt idx="6">
                  <c:v>水产品</c:v>
                </c:pt>
              </c:strCache>
            </c:strRef>
          </c:cat>
          <c:val>
            <c:numRef>
              <c:f>Sheet2!$L$20:$R$20</c:f>
              <c:numCache>
                <c:formatCode>General</c:formatCode>
                <c:ptCount val="7"/>
                <c:pt idx="0">
                  <c:v>20</c:v>
                </c:pt>
                <c:pt idx="1">
                  <c:v>0.5</c:v>
                </c:pt>
                <c:pt idx="2">
                  <c:v>0.4</c:v>
                </c:pt>
                <c:pt idx="3">
                  <c:v>48.1</c:v>
                </c:pt>
                <c:pt idx="4">
                  <c:v>8.9</c:v>
                </c:pt>
                <c:pt idx="5">
                  <c:v>8.1</c:v>
                </c:pt>
                <c:pt idx="6">
                  <c:v>406</c:v>
                </c:pt>
              </c:numCache>
            </c:numRef>
          </c:val>
          <c:extLst>
            <c:ext xmlns:c16="http://schemas.microsoft.com/office/drawing/2014/chart" uri="{C3380CC4-5D6E-409C-BE32-E72D297353CC}">
              <c16:uniqueId val="{00000000-7B30-45CE-BB3F-EE83977F382B}"/>
            </c:ext>
          </c:extLst>
        </c:ser>
        <c:ser>
          <c:idx val="1"/>
          <c:order val="1"/>
          <c:tx>
            <c:strRef>
              <c:f>Sheet2!$K$21</c:f>
              <c:strCache>
                <c:ptCount val="1"/>
                <c:pt idx="0">
                  <c:v>2020</c:v>
                </c:pt>
              </c:strCache>
            </c:strRef>
          </c:tx>
          <c:spPr>
            <a:solidFill>
              <a:schemeClr val="accent2"/>
            </a:solidFill>
            <a:ln>
              <a:noFill/>
            </a:ln>
            <a:effectLst/>
          </c:spPr>
          <c:invertIfNegative val="0"/>
          <c:cat>
            <c:strRef>
              <c:f>Sheet2!$L$19:$R$19</c:f>
              <c:strCache>
                <c:ptCount val="7"/>
                <c:pt idx="0">
                  <c:v>猪肉</c:v>
                </c:pt>
                <c:pt idx="1">
                  <c:v>牛肉</c:v>
                </c:pt>
                <c:pt idx="2">
                  <c:v>羊肉</c:v>
                </c:pt>
                <c:pt idx="3">
                  <c:v>禽肉</c:v>
                </c:pt>
                <c:pt idx="4">
                  <c:v>禽蛋</c:v>
                </c:pt>
                <c:pt idx="5">
                  <c:v>奶制品</c:v>
                </c:pt>
                <c:pt idx="6">
                  <c:v>水产品</c:v>
                </c:pt>
              </c:strCache>
            </c:strRef>
          </c:cat>
          <c:val>
            <c:numRef>
              <c:f>Sheet2!$L$21:$R$21</c:f>
              <c:numCache>
                <c:formatCode>General</c:formatCode>
                <c:ptCount val="7"/>
                <c:pt idx="0">
                  <c:v>19.8</c:v>
                </c:pt>
                <c:pt idx="1">
                  <c:v>0.2</c:v>
                </c:pt>
                <c:pt idx="2">
                  <c:v>0</c:v>
                </c:pt>
                <c:pt idx="3">
                  <c:v>47.9</c:v>
                </c:pt>
                <c:pt idx="4">
                  <c:v>7.6</c:v>
                </c:pt>
                <c:pt idx="5">
                  <c:v>5.2</c:v>
                </c:pt>
                <c:pt idx="6">
                  <c:v>409.5</c:v>
                </c:pt>
              </c:numCache>
            </c:numRef>
          </c:val>
          <c:extLst>
            <c:ext xmlns:c16="http://schemas.microsoft.com/office/drawing/2014/chart" uri="{C3380CC4-5D6E-409C-BE32-E72D297353CC}">
              <c16:uniqueId val="{00000001-7B30-45CE-BB3F-EE83977F382B}"/>
            </c:ext>
          </c:extLst>
        </c:ser>
        <c:ser>
          <c:idx val="2"/>
          <c:order val="2"/>
          <c:tx>
            <c:strRef>
              <c:f>Sheet2!$K$22</c:f>
              <c:strCache>
                <c:ptCount val="1"/>
                <c:pt idx="0">
                  <c:v>2030</c:v>
                </c:pt>
              </c:strCache>
            </c:strRef>
          </c:tx>
          <c:spPr>
            <a:solidFill>
              <a:schemeClr val="accent3"/>
            </a:solidFill>
            <a:ln>
              <a:noFill/>
            </a:ln>
            <a:effectLst/>
          </c:spPr>
          <c:invertIfNegative val="0"/>
          <c:cat>
            <c:strRef>
              <c:f>Sheet2!$L$19:$R$19</c:f>
              <c:strCache>
                <c:ptCount val="7"/>
                <c:pt idx="0">
                  <c:v>猪肉</c:v>
                </c:pt>
                <c:pt idx="1">
                  <c:v>牛肉</c:v>
                </c:pt>
                <c:pt idx="2">
                  <c:v>羊肉</c:v>
                </c:pt>
                <c:pt idx="3">
                  <c:v>禽肉</c:v>
                </c:pt>
                <c:pt idx="4">
                  <c:v>禽蛋</c:v>
                </c:pt>
                <c:pt idx="5">
                  <c:v>奶制品</c:v>
                </c:pt>
                <c:pt idx="6">
                  <c:v>水产品</c:v>
                </c:pt>
              </c:strCache>
            </c:strRef>
          </c:cat>
          <c:val>
            <c:numRef>
              <c:f>Sheet2!$L$22:$R$22</c:f>
              <c:numCache>
                <c:formatCode>General</c:formatCode>
                <c:ptCount val="7"/>
                <c:pt idx="0">
                  <c:v>15.8</c:v>
                </c:pt>
                <c:pt idx="1">
                  <c:v>0.1</c:v>
                </c:pt>
                <c:pt idx="2">
                  <c:v>0</c:v>
                </c:pt>
                <c:pt idx="3">
                  <c:v>37</c:v>
                </c:pt>
                <c:pt idx="4">
                  <c:v>6.1</c:v>
                </c:pt>
                <c:pt idx="5">
                  <c:v>2.5</c:v>
                </c:pt>
                <c:pt idx="6">
                  <c:v>335.9</c:v>
                </c:pt>
              </c:numCache>
            </c:numRef>
          </c:val>
          <c:extLst>
            <c:ext xmlns:c16="http://schemas.microsoft.com/office/drawing/2014/chart" uri="{C3380CC4-5D6E-409C-BE32-E72D297353CC}">
              <c16:uniqueId val="{00000002-7B30-45CE-BB3F-EE83977F382B}"/>
            </c:ext>
          </c:extLst>
        </c:ser>
        <c:dLbls>
          <c:showLegendKey val="0"/>
          <c:showVal val="0"/>
          <c:showCatName val="0"/>
          <c:showSerName val="0"/>
          <c:showPercent val="0"/>
          <c:showBubbleSize val="0"/>
        </c:dLbls>
        <c:gapWidth val="219"/>
        <c:overlap val="-27"/>
        <c:axId val="949976768"/>
        <c:axId val="949978336"/>
      </c:barChart>
      <c:catAx>
        <c:axId val="9499767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dk1"/>
                </a:solidFill>
                <a:latin typeface="+mn-lt"/>
                <a:ea typeface="+mn-ea"/>
                <a:cs typeface="+mn-cs"/>
              </a:defRPr>
            </a:pPr>
            <a:endParaRPr lang="zh-CN"/>
          </a:p>
        </c:txPr>
        <c:crossAx val="949978336"/>
        <c:crosses val="autoZero"/>
        <c:auto val="1"/>
        <c:lblAlgn val="ctr"/>
        <c:lblOffset val="100"/>
        <c:noMultiLvlLbl val="0"/>
      </c:catAx>
      <c:valAx>
        <c:axId val="949978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zh-CN"/>
          </a:p>
        </c:txPr>
        <c:crossAx val="949976768"/>
        <c:crosses val="autoZero"/>
        <c:crossBetween val="between"/>
      </c:valAx>
      <c:spPr>
        <a:noFill/>
        <a:ln>
          <a:noFill/>
        </a:ln>
        <a:effectLst/>
      </c:spPr>
    </c:plotArea>
    <c:legend>
      <c:legendPos val="b"/>
      <c:layout>
        <c:manualLayout>
          <c:xMode val="edge"/>
          <c:yMode val="edge"/>
          <c:x val="0.23992279090113736"/>
          <c:y val="0.24502365671575541"/>
          <c:w val="0.28126531058617671"/>
          <c:h val="0.1236571595962823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zh-CN"/>
        </a:p>
      </c:txPr>
    </c:legend>
    <c:plotVisOnly val="1"/>
    <c:dispBlanksAs val="gap"/>
    <c:showDLblsOverMax val="0"/>
  </c:chart>
  <c:spPr>
    <a:solidFill>
      <a:schemeClr val="lt1"/>
    </a:solidFill>
    <a:ln w="12700" cap="flat" cmpd="sng" algn="ctr">
      <a:solidFill>
        <a:schemeClr val="accent3"/>
      </a:solidFill>
      <a:prstDash val="solid"/>
      <a:miter lim="800000"/>
    </a:ln>
    <a:effectLst/>
  </c:spPr>
  <c:txPr>
    <a:bodyPr/>
    <a:lstStyle/>
    <a:p>
      <a:pPr>
        <a:defRPr>
          <a:solidFill>
            <a:schemeClr val="dk1"/>
          </a:solidFill>
          <a:latin typeface="+mn-lt"/>
          <a:ea typeface="+mn-ea"/>
          <a:cs typeface="+mn-cs"/>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spc="0" baseline="0">
                <a:solidFill>
                  <a:srgbClr val="2A07AB"/>
                </a:solidFill>
                <a:latin typeface="+mn-lt"/>
                <a:ea typeface="+mn-ea"/>
                <a:cs typeface="+mn-cs"/>
              </a:defRPr>
            </a:pPr>
            <a:r>
              <a:rPr lang="zh-CN" sz="1800" b="1">
                <a:solidFill>
                  <a:srgbClr val="2A07AB"/>
                </a:solidFill>
              </a:rPr>
              <a:t>净出口</a:t>
            </a:r>
          </a:p>
        </c:rich>
      </c:tx>
      <c:overlay val="0"/>
      <c:spPr>
        <a:solidFill>
          <a:schemeClr val="lt1"/>
        </a:solidFill>
        <a:ln w="12700" cap="flat" cmpd="sng" algn="ctr">
          <a:solidFill>
            <a:schemeClr val="bg1"/>
          </a:solidFill>
          <a:prstDash val="solid"/>
          <a:miter lim="800000"/>
        </a:ln>
        <a:effectLst/>
      </c:spPr>
      <c:txPr>
        <a:bodyPr rot="0" spcFirstLastPara="1" vertOverflow="ellipsis" vert="horz" wrap="square" anchor="ctr" anchorCtr="1"/>
        <a:lstStyle/>
        <a:p>
          <a:pPr>
            <a:defRPr sz="1800" b="1" i="0" u="none" strike="noStrike" kern="1200" spc="0" baseline="0">
              <a:solidFill>
                <a:srgbClr val="2A07AB"/>
              </a:solidFill>
              <a:latin typeface="+mn-lt"/>
              <a:ea typeface="+mn-ea"/>
              <a:cs typeface="+mn-cs"/>
            </a:defRPr>
          </a:pPr>
          <a:endParaRPr lang="zh-CN"/>
        </a:p>
      </c:txPr>
    </c:title>
    <c:autoTitleDeleted val="0"/>
    <c:plotArea>
      <c:layout>
        <c:manualLayout>
          <c:layoutTarget val="inner"/>
          <c:xMode val="edge"/>
          <c:yMode val="edge"/>
          <c:x val="9.9567147856517935E-2"/>
          <c:y val="0.10163088340832006"/>
          <c:w val="0.86987729658792656"/>
          <c:h val="0.85999936925337572"/>
        </c:manualLayout>
      </c:layout>
      <c:barChart>
        <c:barDir val="col"/>
        <c:grouping val="clustered"/>
        <c:varyColors val="0"/>
        <c:ser>
          <c:idx val="0"/>
          <c:order val="0"/>
          <c:tx>
            <c:strRef>
              <c:f>Sheet2!$B$43</c:f>
              <c:strCache>
                <c:ptCount val="1"/>
                <c:pt idx="0">
                  <c:v>2015</c:v>
                </c:pt>
              </c:strCache>
            </c:strRef>
          </c:tx>
          <c:spPr>
            <a:solidFill>
              <a:schemeClr val="accent1"/>
            </a:solidFill>
            <a:ln>
              <a:noFill/>
            </a:ln>
            <a:effectLst/>
          </c:spPr>
          <c:invertIfNegative val="0"/>
          <c:cat>
            <c:strRef>
              <c:f>Sheet2!$C$42:$I$42</c:f>
              <c:strCache>
                <c:ptCount val="7"/>
                <c:pt idx="0">
                  <c:v>猪肉</c:v>
                </c:pt>
                <c:pt idx="1">
                  <c:v>牛肉</c:v>
                </c:pt>
                <c:pt idx="2">
                  <c:v>羊肉</c:v>
                </c:pt>
                <c:pt idx="3">
                  <c:v>禽肉</c:v>
                </c:pt>
                <c:pt idx="4">
                  <c:v>禽蛋</c:v>
                </c:pt>
                <c:pt idx="5">
                  <c:v>奶制品</c:v>
                </c:pt>
                <c:pt idx="6">
                  <c:v>水产品</c:v>
                </c:pt>
              </c:strCache>
            </c:strRef>
          </c:cat>
          <c:val>
            <c:numRef>
              <c:f>Sheet2!$C$43:$I$43</c:f>
              <c:numCache>
                <c:formatCode>General</c:formatCode>
                <c:ptCount val="7"/>
                <c:pt idx="0">
                  <c:v>-58</c:v>
                </c:pt>
                <c:pt idx="1">
                  <c:v>-46.8</c:v>
                </c:pt>
                <c:pt idx="2">
                  <c:v>-21.900000000000002</c:v>
                </c:pt>
                <c:pt idx="3">
                  <c:v>7.3000000000000043</c:v>
                </c:pt>
                <c:pt idx="4">
                  <c:v>8.9</c:v>
                </c:pt>
                <c:pt idx="5">
                  <c:v>-1320.2</c:v>
                </c:pt>
                <c:pt idx="6">
                  <c:v>-2.1000000000000227</c:v>
                </c:pt>
              </c:numCache>
            </c:numRef>
          </c:val>
          <c:extLst>
            <c:ext xmlns:c16="http://schemas.microsoft.com/office/drawing/2014/chart" uri="{C3380CC4-5D6E-409C-BE32-E72D297353CC}">
              <c16:uniqueId val="{00000000-DCA5-4B06-8222-6DE68900A3EF}"/>
            </c:ext>
          </c:extLst>
        </c:ser>
        <c:ser>
          <c:idx val="1"/>
          <c:order val="1"/>
          <c:tx>
            <c:strRef>
              <c:f>Sheet2!$B$44</c:f>
              <c:strCache>
                <c:ptCount val="1"/>
                <c:pt idx="0">
                  <c:v>2020</c:v>
                </c:pt>
              </c:strCache>
            </c:strRef>
          </c:tx>
          <c:spPr>
            <a:solidFill>
              <a:schemeClr val="accent2"/>
            </a:solidFill>
            <a:ln>
              <a:noFill/>
            </a:ln>
            <a:effectLst/>
          </c:spPr>
          <c:invertIfNegative val="0"/>
          <c:cat>
            <c:strRef>
              <c:f>Sheet2!$C$42:$I$42</c:f>
              <c:strCache>
                <c:ptCount val="7"/>
                <c:pt idx="0">
                  <c:v>猪肉</c:v>
                </c:pt>
                <c:pt idx="1">
                  <c:v>牛肉</c:v>
                </c:pt>
                <c:pt idx="2">
                  <c:v>羊肉</c:v>
                </c:pt>
                <c:pt idx="3">
                  <c:v>禽肉</c:v>
                </c:pt>
                <c:pt idx="4">
                  <c:v>禽蛋</c:v>
                </c:pt>
                <c:pt idx="5">
                  <c:v>奶制品</c:v>
                </c:pt>
                <c:pt idx="6">
                  <c:v>水产品</c:v>
                </c:pt>
              </c:strCache>
            </c:strRef>
          </c:cat>
          <c:val>
            <c:numRef>
              <c:f>Sheet2!$C$44:$I$44</c:f>
              <c:numCache>
                <c:formatCode>General</c:formatCode>
                <c:ptCount val="7"/>
                <c:pt idx="0">
                  <c:v>-76.2</c:v>
                </c:pt>
                <c:pt idx="1">
                  <c:v>-100.8</c:v>
                </c:pt>
                <c:pt idx="2">
                  <c:v>-42</c:v>
                </c:pt>
                <c:pt idx="3">
                  <c:v>-1.7000000000000028</c:v>
                </c:pt>
                <c:pt idx="4">
                  <c:v>7.6</c:v>
                </c:pt>
                <c:pt idx="5">
                  <c:v>-1976.7</c:v>
                </c:pt>
                <c:pt idx="6">
                  <c:v>-82.199999999999989</c:v>
                </c:pt>
              </c:numCache>
            </c:numRef>
          </c:val>
          <c:extLst>
            <c:ext xmlns:c16="http://schemas.microsoft.com/office/drawing/2014/chart" uri="{C3380CC4-5D6E-409C-BE32-E72D297353CC}">
              <c16:uniqueId val="{00000001-DCA5-4B06-8222-6DE68900A3EF}"/>
            </c:ext>
          </c:extLst>
        </c:ser>
        <c:ser>
          <c:idx val="2"/>
          <c:order val="2"/>
          <c:tx>
            <c:strRef>
              <c:f>Sheet2!$B$45</c:f>
              <c:strCache>
                <c:ptCount val="1"/>
                <c:pt idx="0">
                  <c:v>2030</c:v>
                </c:pt>
              </c:strCache>
            </c:strRef>
          </c:tx>
          <c:spPr>
            <a:solidFill>
              <a:schemeClr val="accent3"/>
            </a:solidFill>
            <a:ln>
              <a:noFill/>
            </a:ln>
            <a:effectLst/>
          </c:spPr>
          <c:invertIfNegative val="0"/>
          <c:cat>
            <c:strRef>
              <c:f>Sheet2!$C$42:$I$42</c:f>
              <c:strCache>
                <c:ptCount val="7"/>
                <c:pt idx="0">
                  <c:v>猪肉</c:v>
                </c:pt>
                <c:pt idx="1">
                  <c:v>牛肉</c:v>
                </c:pt>
                <c:pt idx="2">
                  <c:v>羊肉</c:v>
                </c:pt>
                <c:pt idx="3">
                  <c:v>禽肉</c:v>
                </c:pt>
                <c:pt idx="4">
                  <c:v>禽蛋</c:v>
                </c:pt>
                <c:pt idx="5">
                  <c:v>奶制品</c:v>
                </c:pt>
                <c:pt idx="6">
                  <c:v>水产品</c:v>
                </c:pt>
              </c:strCache>
            </c:strRef>
          </c:cat>
          <c:val>
            <c:numRef>
              <c:f>Sheet2!$C$45:$I$45</c:f>
              <c:numCache>
                <c:formatCode>General</c:formatCode>
                <c:ptCount val="7"/>
                <c:pt idx="0">
                  <c:v>-102.5</c:v>
                </c:pt>
                <c:pt idx="1">
                  <c:v>-218.3</c:v>
                </c:pt>
                <c:pt idx="2">
                  <c:v>-102.6</c:v>
                </c:pt>
                <c:pt idx="3">
                  <c:v>-27.400000000000006</c:v>
                </c:pt>
                <c:pt idx="4">
                  <c:v>6.1</c:v>
                </c:pt>
                <c:pt idx="5">
                  <c:v>-3671.2</c:v>
                </c:pt>
                <c:pt idx="6">
                  <c:v>-267</c:v>
                </c:pt>
              </c:numCache>
            </c:numRef>
          </c:val>
          <c:extLst>
            <c:ext xmlns:c16="http://schemas.microsoft.com/office/drawing/2014/chart" uri="{C3380CC4-5D6E-409C-BE32-E72D297353CC}">
              <c16:uniqueId val="{00000002-DCA5-4B06-8222-6DE68900A3EF}"/>
            </c:ext>
          </c:extLst>
        </c:ser>
        <c:dLbls>
          <c:showLegendKey val="0"/>
          <c:showVal val="0"/>
          <c:showCatName val="0"/>
          <c:showSerName val="0"/>
          <c:showPercent val="0"/>
          <c:showBubbleSize val="0"/>
        </c:dLbls>
        <c:gapWidth val="219"/>
        <c:overlap val="-27"/>
        <c:axId val="949990096"/>
        <c:axId val="949988920"/>
      </c:barChart>
      <c:catAx>
        <c:axId val="949990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dk1"/>
                </a:solidFill>
                <a:latin typeface="+mn-lt"/>
                <a:ea typeface="+mn-ea"/>
                <a:cs typeface="+mn-cs"/>
              </a:defRPr>
            </a:pPr>
            <a:endParaRPr lang="zh-CN"/>
          </a:p>
        </c:txPr>
        <c:crossAx val="949988920"/>
        <c:crosses val="autoZero"/>
        <c:auto val="1"/>
        <c:lblAlgn val="ctr"/>
        <c:lblOffset val="100"/>
        <c:noMultiLvlLbl val="0"/>
      </c:catAx>
      <c:valAx>
        <c:axId val="9499889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zh-CN"/>
          </a:p>
        </c:txPr>
        <c:crossAx val="949990096"/>
        <c:crosses val="autoZero"/>
        <c:crossBetween val="between"/>
      </c:valAx>
      <c:spPr>
        <a:noFill/>
        <a:ln>
          <a:noFill/>
        </a:ln>
        <a:effectLst/>
      </c:spPr>
    </c:plotArea>
    <c:legend>
      <c:legendPos val="b"/>
      <c:layout>
        <c:manualLayout>
          <c:xMode val="edge"/>
          <c:yMode val="edge"/>
          <c:x val="0.24808407132659688"/>
          <c:y val="0.58346629741096856"/>
          <c:w val="0.31636594625140751"/>
          <c:h val="0.1487414221209442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zh-CN"/>
        </a:p>
      </c:txPr>
    </c:legend>
    <c:plotVisOnly val="1"/>
    <c:dispBlanksAs val="gap"/>
    <c:showDLblsOverMax val="0"/>
  </c:chart>
  <c:spPr>
    <a:solidFill>
      <a:schemeClr val="lt1"/>
    </a:solidFill>
    <a:ln w="12700" cap="flat" cmpd="sng" algn="ctr">
      <a:solidFill>
        <a:schemeClr val="accent3"/>
      </a:solidFill>
      <a:prstDash val="solid"/>
      <a:miter lim="800000"/>
    </a:ln>
    <a:effectLst/>
  </c:spPr>
  <c:txPr>
    <a:bodyPr/>
    <a:lstStyle/>
    <a:p>
      <a:pPr>
        <a:defRPr>
          <a:solidFill>
            <a:schemeClr val="dk1"/>
          </a:solidFill>
          <a:latin typeface="+mn-lt"/>
          <a:ea typeface="+mn-ea"/>
          <a:cs typeface="+mn-cs"/>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spc="0" baseline="0">
                <a:solidFill>
                  <a:srgbClr val="2A07AB"/>
                </a:solidFill>
                <a:latin typeface="+mn-lt"/>
                <a:ea typeface="+mn-ea"/>
                <a:cs typeface="+mn-cs"/>
              </a:defRPr>
            </a:pPr>
            <a:r>
              <a:rPr lang="zh-CN" sz="1800" b="1">
                <a:solidFill>
                  <a:srgbClr val="2A07AB"/>
                </a:solidFill>
              </a:rPr>
              <a:t>进口</a:t>
            </a:r>
          </a:p>
        </c:rich>
      </c:tx>
      <c:overlay val="0"/>
      <c:spPr>
        <a:noFill/>
        <a:ln>
          <a:solidFill>
            <a:schemeClr val="bg1"/>
          </a:solidFill>
        </a:ln>
        <a:effectLst/>
      </c:spPr>
      <c:txPr>
        <a:bodyPr rot="0" spcFirstLastPara="1" vertOverflow="ellipsis" vert="horz" wrap="square" anchor="ctr" anchorCtr="1"/>
        <a:lstStyle/>
        <a:p>
          <a:pPr>
            <a:defRPr sz="1800" b="1" i="0" u="none" strike="noStrike" kern="1200" spc="0" baseline="0">
              <a:solidFill>
                <a:srgbClr val="2A07AB"/>
              </a:solidFill>
              <a:latin typeface="+mn-lt"/>
              <a:ea typeface="+mn-ea"/>
              <a:cs typeface="+mn-cs"/>
            </a:defRPr>
          </a:pPr>
          <a:endParaRPr lang="zh-CN"/>
        </a:p>
      </c:txPr>
    </c:title>
    <c:autoTitleDeleted val="0"/>
    <c:plotArea>
      <c:layout>
        <c:manualLayout>
          <c:layoutTarget val="inner"/>
          <c:xMode val="edge"/>
          <c:yMode val="edge"/>
          <c:x val="9.9468869111823899E-2"/>
          <c:y val="9.944787466659305E-2"/>
          <c:w val="0.86746415594356985"/>
          <c:h val="0.76804006061632857"/>
        </c:manualLayout>
      </c:layout>
      <c:barChart>
        <c:barDir val="col"/>
        <c:grouping val="clustered"/>
        <c:varyColors val="0"/>
        <c:ser>
          <c:idx val="0"/>
          <c:order val="0"/>
          <c:tx>
            <c:strRef>
              <c:f>Sheet2!$K$14</c:f>
              <c:strCache>
                <c:ptCount val="1"/>
                <c:pt idx="0">
                  <c:v>2015</c:v>
                </c:pt>
              </c:strCache>
            </c:strRef>
          </c:tx>
          <c:spPr>
            <a:solidFill>
              <a:schemeClr val="accent1"/>
            </a:solidFill>
            <a:ln>
              <a:noFill/>
            </a:ln>
            <a:effectLst/>
          </c:spPr>
          <c:invertIfNegative val="0"/>
          <c:cat>
            <c:strRef>
              <c:f>Sheet2!$L$13:$R$13</c:f>
              <c:strCache>
                <c:ptCount val="7"/>
                <c:pt idx="0">
                  <c:v>猪肉</c:v>
                </c:pt>
                <c:pt idx="1">
                  <c:v>牛肉</c:v>
                </c:pt>
                <c:pt idx="2">
                  <c:v>羊肉</c:v>
                </c:pt>
                <c:pt idx="3">
                  <c:v>禽肉</c:v>
                </c:pt>
                <c:pt idx="4">
                  <c:v>禽蛋</c:v>
                </c:pt>
                <c:pt idx="5">
                  <c:v>奶制品</c:v>
                </c:pt>
                <c:pt idx="6">
                  <c:v>水产品</c:v>
                </c:pt>
              </c:strCache>
            </c:strRef>
          </c:cat>
          <c:val>
            <c:numRef>
              <c:f>Sheet2!$L$14:$R$14</c:f>
              <c:numCache>
                <c:formatCode>General</c:formatCode>
                <c:ptCount val="7"/>
                <c:pt idx="0">
                  <c:v>78</c:v>
                </c:pt>
                <c:pt idx="1">
                  <c:v>47.3</c:v>
                </c:pt>
                <c:pt idx="2">
                  <c:v>22.3</c:v>
                </c:pt>
                <c:pt idx="3">
                  <c:v>40.799999999999997</c:v>
                </c:pt>
                <c:pt idx="4">
                  <c:v>0</c:v>
                </c:pt>
                <c:pt idx="5">
                  <c:v>1328.3</c:v>
                </c:pt>
                <c:pt idx="6">
                  <c:v>408.1</c:v>
                </c:pt>
              </c:numCache>
            </c:numRef>
          </c:val>
          <c:extLst>
            <c:ext xmlns:c16="http://schemas.microsoft.com/office/drawing/2014/chart" uri="{C3380CC4-5D6E-409C-BE32-E72D297353CC}">
              <c16:uniqueId val="{00000000-9DF1-4E81-86D4-8D299E0AA8AA}"/>
            </c:ext>
          </c:extLst>
        </c:ser>
        <c:ser>
          <c:idx val="1"/>
          <c:order val="1"/>
          <c:tx>
            <c:strRef>
              <c:f>Sheet2!$K$15</c:f>
              <c:strCache>
                <c:ptCount val="1"/>
                <c:pt idx="0">
                  <c:v>2020</c:v>
                </c:pt>
              </c:strCache>
            </c:strRef>
          </c:tx>
          <c:spPr>
            <a:solidFill>
              <a:schemeClr val="accent2"/>
            </a:solidFill>
            <a:ln>
              <a:noFill/>
            </a:ln>
            <a:effectLst/>
          </c:spPr>
          <c:invertIfNegative val="0"/>
          <c:cat>
            <c:strRef>
              <c:f>Sheet2!$L$13:$R$13</c:f>
              <c:strCache>
                <c:ptCount val="7"/>
                <c:pt idx="0">
                  <c:v>猪肉</c:v>
                </c:pt>
                <c:pt idx="1">
                  <c:v>牛肉</c:v>
                </c:pt>
                <c:pt idx="2">
                  <c:v>羊肉</c:v>
                </c:pt>
                <c:pt idx="3">
                  <c:v>禽肉</c:v>
                </c:pt>
                <c:pt idx="4">
                  <c:v>禽蛋</c:v>
                </c:pt>
                <c:pt idx="5">
                  <c:v>奶制品</c:v>
                </c:pt>
                <c:pt idx="6">
                  <c:v>水产品</c:v>
                </c:pt>
              </c:strCache>
            </c:strRef>
          </c:cat>
          <c:val>
            <c:numRef>
              <c:f>Sheet2!$L$15:$R$15</c:f>
              <c:numCache>
                <c:formatCode>General</c:formatCode>
                <c:ptCount val="7"/>
                <c:pt idx="0">
                  <c:v>96</c:v>
                </c:pt>
                <c:pt idx="1">
                  <c:v>101</c:v>
                </c:pt>
                <c:pt idx="2">
                  <c:v>42</c:v>
                </c:pt>
                <c:pt idx="3">
                  <c:v>49.6</c:v>
                </c:pt>
                <c:pt idx="4">
                  <c:v>0</c:v>
                </c:pt>
                <c:pt idx="5">
                  <c:v>1981.9</c:v>
                </c:pt>
                <c:pt idx="6">
                  <c:v>491.7</c:v>
                </c:pt>
              </c:numCache>
            </c:numRef>
          </c:val>
          <c:extLst>
            <c:ext xmlns:c16="http://schemas.microsoft.com/office/drawing/2014/chart" uri="{C3380CC4-5D6E-409C-BE32-E72D297353CC}">
              <c16:uniqueId val="{00000001-9DF1-4E81-86D4-8D299E0AA8AA}"/>
            </c:ext>
          </c:extLst>
        </c:ser>
        <c:ser>
          <c:idx val="2"/>
          <c:order val="2"/>
          <c:tx>
            <c:strRef>
              <c:f>Sheet2!$K$16</c:f>
              <c:strCache>
                <c:ptCount val="1"/>
                <c:pt idx="0">
                  <c:v>2030</c:v>
                </c:pt>
              </c:strCache>
            </c:strRef>
          </c:tx>
          <c:spPr>
            <a:solidFill>
              <a:schemeClr val="accent3"/>
            </a:solidFill>
            <a:ln>
              <a:noFill/>
            </a:ln>
            <a:effectLst/>
          </c:spPr>
          <c:invertIfNegative val="0"/>
          <c:cat>
            <c:strRef>
              <c:f>Sheet2!$L$13:$R$13</c:f>
              <c:strCache>
                <c:ptCount val="7"/>
                <c:pt idx="0">
                  <c:v>猪肉</c:v>
                </c:pt>
                <c:pt idx="1">
                  <c:v>牛肉</c:v>
                </c:pt>
                <c:pt idx="2">
                  <c:v>羊肉</c:v>
                </c:pt>
                <c:pt idx="3">
                  <c:v>禽肉</c:v>
                </c:pt>
                <c:pt idx="4">
                  <c:v>禽蛋</c:v>
                </c:pt>
                <c:pt idx="5">
                  <c:v>奶制品</c:v>
                </c:pt>
                <c:pt idx="6">
                  <c:v>水产品</c:v>
                </c:pt>
              </c:strCache>
            </c:strRef>
          </c:cat>
          <c:val>
            <c:numRef>
              <c:f>Sheet2!$L$16:$R$16</c:f>
              <c:numCache>
                <c:formatCode>General</c:formatCode>
                <c:ptCount val="7"/>
                <c:pt idx="0">
                  <c:v>118.3</c:v>
                </c:pt>
                <c:pt idx="1">
                  <c:v>218.4</c:v>
                </c:pt>
                <c:pt idx="2">
                  <c:v>102.6</c:v>
                </c:pt>
                <c:pt idx="3">
                  <c:v>64.400000000000006</c:v>
                </c:pt>
                <c:pt idx="4">
                  <c:v>0</c:v>
                </c:pt>
                <c:pt idx="5">
                  <c:v>3673.7</c:v>
                </c:pt>
                <c:pt idx="6">
                  <c:v>602.9</c:v>
                </c:pt>
              </c:numCache>
            </c:numRef>
          </c:val>
          <c:extLst>
            <c:ext xmlns:c16="http://schemas.microsoft.com/office/drawing/2014/chart" uri="{C3380CC4-5D6E-409C-BE32-E72D297353CC}">
              <c16:uniqueId val="{00000002-9DF1-4E81-86D4-8D299E0AA8AA}"/>
            </c:ext>
          </c:extLst>
        </c:ser>
        <c:dLbls>
          <c:showLegendKey val="0"/>
          <c:showVal val="0"/>
          <c:showCatName val="0"/>
          <c:showSerName val="0"/>
          <c:showPercent val="0"/>
          <c:showBubbleSize val="0"/>
        </c:dLbls>
        <c:gapWidth val="219"/>
        <c:overlap val="-27"/>
        <c:axId val="949991272"/>
        <c:axId val="949993232"/>
      </c:barChart>
      <c:catAx>
        <c:axId val="949991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dk1"/>
                </a:solidFill>
                <a:latin typeface="+mn-lt"/>
                <a:ea typeface="+mn-ea"/>
                <a:cs typeface="+mn-cs"/>
              </a:defRPr>
            </a:pPr>
            <a:endParaRPr lang="zh-CN"/>
          </a:p>
        </c:txPr>
        <c:crossAx val="949993232"/>
        <c:crosses val="autoZero"/>
        <c:auto val="1"/>
        <c:lblAlgn val="ctr"/>
        <c:lblOffset val="100"/>
        <c:noMultiLvlLbl val="0"/>
      </c:catAx>
      <c:valAx>
        <c:axId val="9499932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zh-CN"/>
          </a:p>
        </c:txPr>
        <c:crossAx val="949991272"/>
        <c:crosses val="autoZero"/>
        <c:crossBetween val="between"/>
      </c:valAx>
      <c:spPr>
        <a:solidFill>
          <a:schemeClr val="lt1"/>
        </a:solidFill>
        <a:ln w="12700" cap="flat" cmpd="sng" algn="ctr">
          <a:solidFill>
            <a:schemeClr val="accent3"/>
          </a:solidFill>
          <a:prstDash val="solid"/>
          <a:miter lim="800000"/>
        </a:ln>
        <a:effectLst/>
      </c:spPr>
    </c:plotArea>
    <c:legend>
      <c:legendPos val="b"/>
      <c:layout>
        <c:manualLayout>
          <c:xMode val="edge"/>
          <c:yMode val="edge"/>
          <c:x val="0.20884769098698344"/>
          <c:y val="0.28077849293113222"/>
          <c:w val="0.26409888317950869"/>
          <c:h val="0.15323936322904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zh-CN"/>
        </a:p>
      </c:txPr>
    </c:legend>
    <c:plotVisOnly val="1"/>
    <c:dispBlanksAs val="gap"/>
    <c:showDLblsOverMax val="0"/>
  </c:chart>
  <c:spPr>
    <a:solidFill>
      <a:schemeClr val="lt1"/>
    </a:solidFill>
    <a:ln w="12700" cap="flat" cmpd="sng" algn="ctr">
      <a:solidFill>
        <a:schemeClr val="accent3"/>
      </a:solidFill>
      <a:prstDash val="solid"/>
      <a:miter lim="800000"/>
    </a:ln>
    <a:effectLst/>
  </c:spPr>
  <c:txPr>
    <a:bodyPr/>
    <a:lstStyle/>
    <a:p>
      <a:pPr>
        <a:defRPr>
          <a:solidFill>
            <a:schemeClr val="dk1"/>
          </a:solidFill>
          <a:latin typeface="+mn-lt"/>
          <a:ea typeface="+mn-ea"/>
          <a:cs typeface="+mn-cs"/>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Sheet3!$A$6</c:f>
              <c:strCache>
                <c:ptCount val="1"/>
                <c:pt idx="0">
                  <c:v>2015</c:v>
                </c:pt>
              </c:strCache>
            </c:strRef>
          </c:tx>
          <c:spPr>
            <a:solidFill>
              <a:schemeClr val="accent1"/>
            </a:solidFill>
            <a:ln>
              <a:noFill/>
            </a:ln>
            <a:effectLst/>
          </c:spPr>
          <c:invertIfNegative val="0"/>
          <c:cat>
            <c:strRef>
              <c:f>Sheet3!$B$5:$Q$5</c:f>
              <c:strCache>
                <c:ptCount val="16"/>
                <c:pt idx="0">
                  <c:v>大米</c:v>
                </c:pt>
                <c:pt idx="1">
                  <c:v>小麦</c:v>
                </c:pt>
                <c:pt idx="2">
                  <c:v>玉米</c:v>
                </c:pt>
                <c:pt idx="3">
                  <c:v>大豆 </c:v>
                </c:pt>
                <c:pt idx="4">
                  <c:v>棉花</c:v>
                </c:pt>
                <c:pt idx="5">
                  <c:v>植物油</c:v>
                </c:pt>
                <c:pt idx="6">
                  <c:v>糖</c:v>
                </c:pt>
                <c:pt idx="7">
                  <c:v>蔬菜</c:v>
                </c:pt>
                <c:pt idx="8">
                  <c:v>水果</c:v>
                </c:pt>
                <c:pt idx="9">
                  <c:v>猪肉</c:v>
                </c:pt>
                <c:pt idx="10">
                  <c:v>牛肉</c:v>
                </c:pt>
                <c:pt idx="11">
                  <c:v>羊肉</c:v>
                </c:pt>
                <c:pt idx="12">
                  <c:v>禽肉</c:v>
                </c:pt>
                <c:pt idx="13">
                  <c:v>禽蛋</c:v>
                </c:pt>
                <c:pt idx="14">
                  <c:v>奶制品</c:v>
                </c:pt>
                <c:pt idx="15">
                  <c:v>水产品</c:v>
                </c:pt>
              </c:strCache>
            </c:strRef>
          </c:cat>
          <c:val>
            <c:numRef>
              <c:f>Sheet3!$B$6:$Q$6</c:f>
              <c:numCache>
                <c:formatCode>General</c:formatCode>
                <c:ptCount val="16"/>
                <c:pt idx="0">
                  <c:v>97.9</c:v>
                </c:pt>
                <c:pt idx="1">
                  <c:v>97.8</c:v>
                </c:pt>
                <c:pt idx="2">
                  <c:v>97.9</c:v>
                </c:pt>
                <c:pt idx="3">
                  <c:v>11.1</c:v>
                </c:pt>
                <c:pt idx="4">
                  <c:v>79.7</c:v>
                </c:pt>
                <c:pt idx="5">
                  <c:v>84.5</c:v>
                </c:pt>
                <c:pt idx="6">
                  <c:v>76.099999999999994</c:v>
                </c:pt>
                <c:pt idx="7">
                  <c:v>102.1</c:v>
                </c:pt>
                <c:pt idx="8">
                  <c:v>99.9</c:v>
                </c:pt>
                <c:pt idx="9">
                  <c:v>98.8</c:v>
                </c:pt>
                <c:pt idx="10">
                  <c:v>91.3</c:v>
                </c:pt>
                <c:pt idx="11">
                  <c:v>94.5</c:v>
                </c:pt>
                <c:pt idx="12">
                  <c:v>99.6</c:v>
                </c:pt>
                <c:pt idx="13">
                  <c:v>100.4</c:v>
                </c:pt>
                <c:pt idx="14">
                  <c:v>74.7</c:v>
                </c:pt>
                <c:pt idx="15">
                  <c:v>99.9</c:v>
                </c:pt>
              </c:numCache>
            </c:numRef>
          </c:val>
          <c:extLst>
            <c:ext xmlns:c16="http://schemas.microsoft.com/office/drawing/2014/chart" uri="{C3380CC4-5D6E-409C-BE32-E72D297353CC}">
              <c16:uniqueId val="{00000000-98D7-45E2-AE6A-528A5749CC70}"/>
            </c:ext>
          </c:extLst>
        </c:ser>
        <c:ser>
          <c:idx val="1"/>
          <c:order val="1"/>
          <c:tx>
            <c:strRef>
              <c:f>Sheet3!$A$7</c:f>
              <c:strCache>
                <c:ptCount val="1"/>
                <c:pt idx="0">
                  <c:v>2020</c:v>
                </c:pt>
              </c:strCache>
            </c:strRef>
          </c:tx>
          <c:spPr>
            <a:solidFill>
              <a:schemeClr val="accent2"/>
            </a:solidFill>
            <a:ln>
              <a:noFill/>
            </a:ln>
            <a:effectLst/>
          </c:spPr>
          <c:invertIfNegative val="0"/>
          <c:cat>
            <c:strRef>
              <c:f>Sheet3!$B$5:$Q$5</c:f>
              <c:strCache>
                <c:ptCount val="16"/>
                <c:pt idx="0">
                  <c:v>大米</c:v>
                </c:pt>
                <c:pt idx="1">
                  <c:v>小麦</c:v>
                </c:pt>
                <c:pt idx="2">
                  <c:v>玉米</c:v>
                </c:pt>
                <c:pt idx="3">
                  <c:v>大豆 </c:v>
                </c:pt>
                <c:pt idx="4">
                  <c:v>棉花</c:v>
                </c:pt>
                <c:pt idx="5">
                  <c:v>植物油</c:v>
                </c:pt>
                <c:pt idx="6">
                  <c:v>糖</c:v>
                </c:pt>
                <c:pt idx="7">
                  <c:v>蔬菜</c:v>
                </c:pt>
                <c:pt idx="8">
                  <c:v>水果</c:v>
                </c:pt>
                <c:pt idx="9">
                  <c:v>猪肉</c:v>
                </c:pt>
                <c:pt idx="10">
                  <c:v>牛肉</c:v>
                </c:pt>
                <c:pt idx="11">
                  <c:v>羊肉</c:v>
                </c:pt>
                <c:pt idx="12">
                  <c:v>禽肉</c:v>
                </c:pt>
                <c:pt idx="13">
                  <c:v>禽蛋</c:v>
                </c:pt>
                <c:pt idx="14">
                  <c:v>奶制品</c:v>
                </c:pt>
                <c:pt idx="15">
                  <c:v>水产品</c:v>
                </c:pt>
              </c:strCache>
            </c:strRef>
          </c:cat>
          <c:val>
            <c:numRef>
              <c:f>Sheet3!$B$7:$Q$7</c:f>
              <c:numCache>
                <c:formatCode>General</c:formatCode>
                <c:ptCount val="16"/>
                <c:pt idx="0">
                  <c:v>98.6</c:v>
                </c:pt>
                <c:pt idx="1">
                  <c:v>98</c:v>
                </c:pt>
                <c:pt idx="2">
                  <c:v>96.9</c:v>
                </c:pt>
                <c:pt idx="3">
                  <c:v>10.6</c:v>
                </c:pt>
                <c:pt idx="4">
                  <c:v>82</c:v>
                </c:pt>
                <c:pt idx="5">
                  <c:v>83.1</c:v>
                </c:pt>
                <c:pt idx="6">
                  <c:v>76.099999999999994</c:v>
                </c:pt>
                <c:pt idx="7">
                  <c:v>102</c:v>
                </c:pt>
                <c:pt idx="8">
                  <c:v>99.7</c:v>
                </c:pt>
                <c:pt idx="9">
                  <c:v>98.6</c:v>
                </c:pt>
                <c:pt idx="10">
                  <c:v>85.6</c:v>
                </c:pt>
                <c:pt idx="11">
                  <c:v>91.2</c:v>
                </c:pt>
                <c:pt idx="12">
                  <c:v>99.9</c:v>
                </c:pt>
                <c:pt idx="13">
                  <c:v>100.3</c:v>
                </c:pt>
                <c:pt idx="14">
                  <c:v>71.5</c:v>
                </c:pt>
                <c:pt idx="15">
                  <c:v>98.3</c:v>
                </c:pt>
              </c:numCache>
            </c:numRef>
          </c:val>
          <c:extLst>
            <c:ext xmlns:c16="http://schemas.microsoft.com/office/drawing/2014/chart" uri="{C3380CC4-5D6E-409C-BE32-E72D297353CC}">
              <c16:uniqueId val="{00000001-98D7-45E2-AE6A-528A5749CC70}"/>
            </c:ext>
          </c:extLst>
        </c:ser>
        <c:ser>
          <c:idx val="2"/>
          <c:order val="2"/>
          <c:tx>
            <c:strRef>
              <c:f>Sheet3!$A$8</c:f>
              <c:strCache>
                <c:ptCount val="1"/>
                <c:pt idx="0">
                  <c:v>2030</c:v>
                </c:pt>
              </c:strCache>
            </c:strRef>
          </c:tx>
          <c:spPr>
            <a:solidFill>
              <a:schemeClr val="accent3"/>
            </a:solidFill>
            <a:ln>
              <a:noFill/>
            </a:ln>
            <a:effectLst/>
          </c:spPr>
          <c:invertIfNegative val="0"/>
          <c:cat>
            <c:strRef>
              <c:f>Sheet3!$B$5:$Q$5</c:f>
              <c:strCache>
                <c:ptCount val="16"/>
                <c:pt idx="0">
                  <c:v>大米</c:v>
                </c:pt>
                <c:pt idx="1">
                  <c:v>小麦</c:v>
                </c:pt>
                <c:pt idx="2">
                  <c:v>玉米</c:v>
                </c:pt>
                <c:pt idx="3">
                  <c:v>大豆 </c:v>
                </c:pt>
                <c:pt idx="4">
                  <c:v>棉花</c:v>
                </c:pt>
                <c:pt idx="5">
                  <c:v>植物油</c:v>
                </c:pt>
                <c:pt idx="6">
                  <c:v>糖</c:v>
                </c:pt>
                <c:pt idx="7">
                  <c:v>蔬菜</c:v>
                </c:pt>
                <c:pt idx="8">
                  <c:v>水果</c:v>
                </c:pt>
                <c:pt idx="9">
                  <c:v>猪肉</c:v>
                </c:pt>
                <c:pt idx="10">
                  <c:v>牛肉</c:v>
                </c:pt>
                <c:pt idx="11">
                  <c:v>羊肉</c:v>
                </c:pt>
                <c:pt idx="12">
                  <c:v>禽肉</c:v>
                </c:pt>
                <c:pt idx="13">
                  <c:v>禽蛋</c:v>
                </c:pt>
                <c:pt idx="14">
                  <c:v>奶制品</c:v>
                </c:pt>
                <c:pt idx="15">
                  <c:v>水产品</c:v>
                </c:pt>
              </c:strCache>
            </c:strRef>
          </c:cat>
          <c:val>
            <c:numRef>
              <c:f>Sheet3!$B$8:$Q$8</c:f>
              <c:numCache>
                <c:formatCode>General</c:formatCode>
                <c:ptCount val="16"/>
                <c:pt idx="0">
                  <c:v>98.8</c:v>
                </c:pt>
                <c:pt idx="1">
                  <c:v>98</c:v>
                </c:pt>
                <c:pt idx="2">
                  <c:v>88.7</c:v>
                </c:pt>
                <c:pt idx="3">
                  <c:v>9.6</c:v>
                </c:pt>
                <c:pt idx="4">
                  <c:v>77.099999999999994</c:v>
                </c:pt>
                <c:pt idx="5">
                  <c:v>75.599999999999994</c:v>
                </c:pt>
                <c:pt idx="6">
                  <c:v>69.900000000000006</c:v>
                </c:pt>
                <c:pt idx="7">
                  <c:v>102.6</c:v>
                </c:pt>
                <c:pt idx="8">
                  <c:v>100.3</c:v>
                </c:pt>
                <c:pt idx="9">
                  <c:v>98.3</c:v>
                </c:pt>
                <c:pt idx="10">
                  <c:v>77.3</c:v>
                </c:pt>
                <c:pt idx="11">
                  <c:v>83.3</c:v>
                </c:pt>
                <c:pt idx="12">
                  <c:v>98.8</c:v>
                </c:pt>
                <c:pt idx="13">
                  <c:v>100.2</c:v>
                </c:pt>
                <c:pt idx="14">
                  <c:v>62</c:v>
                </c:pt>
                <c:pt idx="15">
                  <c:v>95.3</c:v>
                </c:pt>
              </c:numCache>
            </c:numRef>
          </c:val>
          <c:extLst>
            <c:ext xmlns:c16="http://schemas.microsoft.com/office/drawing/2014/chart" uri="{C3380CC4-5D6E-409C-BE32-E72D297353CC}">
              <c16:uniqueId val="{00000002-98D7-45E2-AE6A-528A5749CC70}"/>
            </c:ext>
          </c:extLst>
        </c:ser>
        <c:dLbls>
          <c:showLegendKey val="0"/>
          <c:showVal val="0"/>
          <c:showCatName val="0"/>
          <c:showSerName val="0"/>
          <c:showPercent val="0"/>
          <c:showBubbleSize val="0"/>
        </c:dLbls>
        <c:gapWidth val="219"/>
        <c:overlap val="-27"/>
        <c:axId val="949992840"/>
        <c:axId val="949984216"/>
      </c:barChart>
      <c:catAx>
        <c:axId val="9499928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zh-CN"/>
          </a:p>
        </c:txPr>
        <c:crossAx val="949984216"/>
        <c:crosses val="autoZero"/>
        <c:auto val="1"/>
        <c:lblAlgn val="ctr"/>
        <c:lblOffset val="100"/>
        <c:noMultiLvlLbl val="0"/>
      </c:catAx>
      <c:valAx>
        <c:axId val="9499842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zh-CN"/>
          </a:p>
        </c:txPr>
        <c:crossAx val="949992840"/>
        <c:crosses val="autoZero"/>
        <c:crossBetween val="between"/>
      </c:valAx>
      <c:spPr>
        <a:noFill/>
        <a:ln>
          <a:noFill/>
        </a:ln>
        <a:effectLst/>
      </c:spPr>
    </c:plotArea>
    <c:legend>
      <c:legendPos val="b"/>
      <c:layout>
        <c:manualLayout>
          <c:xMode val="edge"/>
          <c:yMode val="edge"/>
          <c:x val="0.24056412734644506"/>
          <c:y val="4.3172517293802684E-2"/>
          <c:w val="0.38411721143378574"/>
          <c:h val="3.8732407093477257E-2"/>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17-04-26T23:30:00.713" idx="1">
    <p:pos x="5811" y="720"/>
    <p:text/>
    <p:extLst>
      <p:ext uri="{C676402C-5697-4E1C-873F-D02D1690AC5C}">
        <p15:threadingInfo xmlns:p15="http://schemas.microsoft.com/office/powerpoint/2012/main" timeZoneBias="-4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17-04-26T23:30:00.713" idx="1">
    <p:pos x="5811" y="720"/>
    <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5BCB0E9-5359-4CBD-8A29-FFB9A9CD40A7}" type="datetimeFigureOut">
              <a:rPr lang="zh-CN" altLang="en-US" smtClean="0"/>
              <a:pPr/>
              <a:t>2021/5/27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81AF453-B4FD-41EF-AB74-D143F8630359}" type="slidenum">
              <a:rPr lang="zh-CN" altLang="en-US" smtClean="0"/>
              <a:pPr/>
              <a:t>‹#›</a:t>
            </a:fld>
            <a:endParaRPr lang="zh-CN" altLang="en-US"/>
          </a:p>
        </p:txBody>
      </p:sp>
    </p:spTree>
    <p:extLst>
      <p:ext uri="{BB962C8B-B14F-4D97-AF65-F5344CB8AC3E}">
        <p14:creationId xmlns:p14="http://schemas.microsoft.com/office/powerpoint/2010/main" val="710312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p:cNvSpPr>
            <a:spLocks noGrp="1" noChangeArrowheads="1"/>
          </p:cNvSpPr>
          <p:nvPr>
            <p:ph type="dt" sz="quarter" idx="1"/>
          </p:nvPr>
        </p:nvSpPr>
        <p:spPr>
          <a:noFill/>
        </p:spPr>
        <p:txBody>
          <a:bodyPr/>
          <a:lstStyle/>
          <a:p>
            <a:fld id="{561E0377-0F1A-4D5F-8F06-CDAB5091F773}" type="datetime4">
              <a:rPr lang="en-GB" altLang="ja-JP" smtClean="0"/>
              <a:pPr/>
              <a:t>27 May 2021</a:t>
            </a:fld>
            <a:endParaRPr lang="en-US" altLang="ja-JP"/>
          </a:p>
        </p:txBody>
      </p:sp>
      <p:sp>
        <p:nvSpPr>
          <p:cNvPr id="55299" name="Rectangle 7"/>
          <p:cNvSpPr>
            <a:spLocks noGrp="1" noChangeArrowheads="1"/>
          </p:cNvSpPr>
          <p:nvPr>
            <p:ph type="sldNum" sz="quarter" idx="5"/>
          </p:nvPr>
        </p:nvSpPr>
        <p:spPr>
          <a:noFill/>
        </p:spPr>
        <p:txBody>
          <a:bodyPr/>
          <a:lstStyle/>
          <a:p>
            <a:fld id="{EABE6928-662A-4F77-9497-BD9E55859008}" type="slidenum">
              <a:rPr lang="en-US" altLang="ja-JP" smtClean="0"/>
              <a:pPr/>
              <a:t>3</a:t>
            </a:fld>
            <a:endParaRPr lang="en-US" altLang="ja-JP"/>
          </a:p>
        </p:txBody>
      </p:sp>
      <p:sp>
        <p:nvSpPr>
          <p:cNvPr id="55300" name="Rectangle 2"/>
          <p:cNvSpPr>
            <a:spLocks noGrp="1" noRot="1" noChangeAspect="1" noChangeArrowheads="1" noTextEdit="1"/>
          </p:cNvSpPr>
          <p:nvPr>
            <p:ph type="sldImg"/>
          </p:nvPr>
        </p:nvSpPr>
        <p:spPr>
          <a:ln/>
        </p:spPr>
      </p:sp>
      <p:sp>
        <p:nvSpPr>
          <p:cNvPr id="55301" name="Rectangle 3"/>
          <p:cNvSpPr>
            <a:spLocks noGrp="1" noChangeArrowheads="1"/>
          </p:cNvSpPr>
          <p:nvPr>
            <p:ph type="body" idx="1"/>
          </p:nvPr>
        </p:nvSpPr>
        <p:spPr>
          <a:noFill/>
          <a:ln/>
        </p:spPr>
        <p:txBody>
          <a:bodyPr/>
          <a:lstStyle/>
          <a:p>
            <a:pPr eaLnBrk="1" hangingPunct="1"/>
            <a:endParaRPr lang="en-GB" altLang="ja-JP">
              <a:latin typeface="Arial" pitchFamily="34" charset="0"/>
            </a:endParaRPr>
          </a:p>
        </p:txBody>
      </p:sp>
    </p:spTree>
    <p:extLst>
      <p:ext uri="{BB962C8B-B14F-4D97-AF65-F5344CB8AC3E}">
        <p14:creationId xmlns:p14="http://schemas.microsoft.com/office/powerpoint/2010/main" val="1749973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p:cNvSpPr>
            <a:spLocks noGrp="1" noChangeArrowheads="1"/>
          </p:cNvSpPr>
          <p:nvPr>
            <p:ph type="dt" sz="quarter" idx="1"/>
          </p:nvPr>
        </p:nvSpPr>
        <p:spPr>
          <a:noFill/>
        </p:spPr>
        <p:txBody>
          <a:bodyPr/>
          <a:lstStyle/>
          <a:p>
            <a:fld id="{ADFDA211-AB29-4E71-9FFF-712C23DBA63F}" type="datetime4">
              <a:rPr lang="en-GB" altLang="ja-JP" smtClean="0"/>
              <a:pPr/>
              <a:t>27 May 2021</a:t>
            </a:fld>
            <a:endParaRPr lang="en-US" altLang="ja-JP"/>
          </a:p>
        </p:txBody>
      </p:sp>
      <p:sp>
        <p:nvSpPr>
          <p:cNvPr id="56323" name="Rectangle 7"/>
          <p:cNvSpPr>
            <a:spLocks noGrp="1" noChangeArrowheads="1"/>
          </p:cNvSpPr>
          <p:nvPr>
            <p:ph type="sldNum" sz="quarter" idx="5"/>
          </p:nvPr>
        </p:nvSpPr>
        <p:spPr>
          <a:noFill/>
        </p:spPr>
        <p:txBody>
          <a:bodyPr/>
          <a:lstStyle/>
          <a:p>
            <a:fld id="{5FB658E0-CD99-4298-9AEC-08C9F9A36E1F}" type="slidenum">
              <a:rPr lang="en-US" altLang="ja-JP" smtClean="0"/>
              <a:pPr/>
              <a:t>4</a:t>
            </a:fld>
            <a:endParaRPr lang="en-US" altLang="ja-JP"/>
          </a:p>
        </p:txBody>
      </p:sp>
      <p:sp>
        <p:nvSpPr>
          <p:cNvPr id="56324" name="Rectangle 2"/>
          <p:cNvSpPr>
            <a:spLocks noGrp="1" noRot="1" noChangeAspect="1" noChangeArrowheads="1" noTextEdit="1"/>
          </p:cNvSpPr>
          <p:nvPr>
            <p:ph type="sldImg"/>
          </p:nvPr>
        </p:nvSpPr>
        <p:spPr>
          <a:ln/>
        </p:spPr>
      </p:sp>
      <p:sp>
        <p:nvSpPr>
          <p:cNvPr id="56325" name="Rectangle 3"/>
          <p:cNvSpPr>
            <a:spLocks noGrp="1" noChangeArrowheads="1"/>
          </p:cNvSpPr>
          <p:nvPr>
            <p:ph type="body" idx="1"/>
          </p:nvPr>
        </p:nvSpPr>
        <p:spPr>
          <a:noFill/>
          <a:ln/>
        </p:spPr>
        <p:txBody>
          <a:bodyPr/>
          <a:lstStyle/>
          <a:p>
            <a:pPr eaLnBrk="1" hangingPunct="1"/>
            <a:endParaRPr lang="en-GB" altLang="ja-JP">
              <a:latin typeface="Arial" pitchFamily="34" charset="0"/>
            </a:endParaRPr>
          </a:p>
        </p:txBody>
      </p:sp>
    </p:spTree>
    <p:extLst>
      <p:ext uri="{BB962C8B-B14F-4D97-AF65-F5344CB8AC3E}">
        <p14:creationId xmlns:p14="http://schemas.microsoft.com/office/powerpoint/2010/main" val="3319367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9CD6145-7FFE-43E1-B0F1-44ED89EA11FF}"/>
              </a:ext>
            </a:extLst>
          </p:cNvPr>
          <p:cNvSpPr>
            <a:spLocks noGrp="1" noChangeArrowheads="1"/>
          </p:cNvSpPr>
          <p:nvPr>
            <p:ph type="sldNum" sz="quarter" idx="5"/>
          </p:nvPr>
        </p:nvSpPr>
        <p:spPr>
          <a:ln/>
        </p:spPr>
        <p:txBody>
          <a:bodyPr/>
          <a:lstStyle/>
          <a:p>
            <a:fld id="{9C774199-48A0-43CA-8384-AF29F59165C9}" type="slidenum">
              <a:rPr lang="en-US" altLang="zh-CN"/>
              <a:pPr/>
              <a:t>12</a:t>
            </a:fld>
            <a:endParaRPr lang="en-US" altLang="zh-CN"/>
          </a:p>
        </p:txBody>
      </p:sp>
      <p:sp>
        <p:nvSpPr>
          <p:cNvPr id="145410" name="Rectangle 2">
            <a:extLst>
              <a:ext uri="{FF2B5EF4-FFF2-40B4-BE49-F238E27FC236}">
                <a16:creationId xmlns:a16="http://schemas.microsoft.com/office/drawing/2014/main" id="{9A172754-59EB-4A6A-AED3-42BB7E20D4B7}"/>
              </a:ext>
            </a:extLst>
          </p:cNvPr>
          <p:cNvSpPr>
            <a:spLocks noChangeArrowheads="1" noTextEdit="1"/>
          </p:cNvSpPr>
          <p:nvPr>
            <p:ph type="sldImg"/>
          </p:nvPr>
        </p:nvSpPr>
        <p:spPr>
          <a:ln/>
        </p:spPr>
      </p:sp>
      <p:sp>
        <p:nvSpPr>
          <p:cNvPr id="145411" name="Rectangle 3">
            <a:extLst>
              <a:ext uri="{FF2B5EF4-FFF2-40B4-BE49-F238E27FC236}">
                <a16:creationId xmlns:a16="http://schemas.microsoft.com/office/drawing/2014/main" id="{67A35CCC-4D5A-4CAC-8845-84C70C7A876C}"/>
              </a:ext>
            </a:extLst>
          </p:cNvPr>
          <p:cNvSpPr>
            <a:spLocks noGrp="1" noChangeArrowheads="1"/>
          </p:cNvSpPr>
          <p:nvPr>
            <p:ph type="body" idx="1"/>
          </p:nvPr>
        </p:nvSpPr>
        <p:spPr/>
        <p:txBody>
          <a:bodyPr/>
          <a:lstStyle/>
          <a:p>
            <a:r>
              <a:rPr lang="en-US" altLang="zh-CN">
                <a:ea typeface="宋体" panose="02010600030101010101" pitchFamily="2" charset="-122"/>
              </a:rPr>
              <a:t>Please change background throughout to darker brown.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7484E24-3AEC-4A9B-AA1D-DD598511CC34}"/>
              </a:ext>
            </a:extLst>
          </p:cNvPr>
          <p:cNvSpPr>
            <a:spLocks noGrp="1" noChangeArrowheads="1"/>
          </p:cNvSpPr>
          <p:nvPr>
            <p:ph type="sldNum" sz="quarter" idx="5"/>
          </p:nvPr>
        </p:nvSpPr>
        <p:spPr>
          <a:ln/>
        </p:spPr>
        <p:txBody>
          <a:bodyPr/>
          <a:lstStyle/>
          <a:p>
            <a:fld id="{BC8276C3-79F9-4F65-987C-B9B80A0A28A2}" type="slidenum">
              <a:rPr lang="en-US" altLang="zh-CN"/>
              <a:pPr/>
              <a:t>13</a:t>
            </a:fld>
            <a:endParaRPr lang="en-US" altLang="zh-CN"/>
          </a:p>
        </p:txBody>
      </p:sp>
      <p:sp>
        <p:nvSpPr>
          <p:cNvPr id="157698" name="Rectangle 2">
            <a:extLst>
              <a:ext uri="{FF2B5EF4-FFF2-40B4-BE49-F238E27FC236}">
                <a16:creationId xmlns:a16="http://schemas.microsoft.com/office/drawing/2014/main" id="{C6E08FB3-C419-40A5-8F89-D800E83E4BC0}"/>
              </a:ext>
            </a:extLst>
          </p:cNvPr>
          <p:cNvSpPr>
            <a:spLocks noChangeArrowheads="1" noTextEdit="1"/>
          </p:cNvSpPr>
          <p:nvPr>
            <p:ph type="sldImg"/>
          </p:nvPr>
        </p:nvSpPr>
        <p:spPr>
          <a:ln/>
        </p:spPr>
      </p:sp>
      <p:sp>
        <p:nvSpPr>
          <p:cNvPr id="157699" name="Rectangle 3">
            <a:extLst>
              <a:ext uri="{FF2B5EF4-FFF2-40B4-BE49-F238E27FC236}">
                <a16:creationId xmlns:a16="http://schemas.microsoft.com/office/drawing/2014/main" id="{C4B4A074-1930-4F31-A2A0-527FD2F5F5DB}"/>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82787F3-584A-4C0A-95C9-9035FB95F2D2}" type="slidenum">
              <a:rPr lang="en-US" altLang="zh-CN"/>
              <a:pPr eaLnBrk="1" hangingPunct="1"/>
              <a:t>14</a:t>
            </a:fld>
            <a:endParaRPr lang="en-US" altLang="zh-CN"/>
          </a:p>
        </p:txBody>
      </p:sp>
      <p:sp>
        <p:nvSpPr>
          <p:cNvPr id="12291" name="Rectangle 2"/>
          <p:cNvSpPr>
            <a:spLocks noGrp="1" noRot="1" noChangeAspect="1" noChangeArrowheads="1" noTextEdit="1"/>
          </p:cNvSpPr>
          <p:nvPr>
            <p:ph type="sldImg"/>
          </p:nvPr>
        </p:nvSpPr>
        <p:spPr>
          <a:xfrm>
            <a:off x="1150938" y="696913"/>
            <a:ext cx="4557712" cy="3417887"/>
          </a:xfrm>
          <a:ln w="12700" cap="flat">
            <a:solidFill>
              <a:schemeClr val="tx1"/>
            </a:solidFill>
          </a:ln>
        </p:spPr>
      </p:sp>
      <p:sp>
        <p:nvSpPr>
          <p:cNvPr id="12292"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eaLnBrk="1" hangingPunct="1"/>
            <a:endParaRPr lang="de-DE" altLang="zh-CN"/>
          </a:p>
        </p:txBody>
      </p:sp>
    </p:spTree>
    <p:extLst>
      <p:ext uri="{BB962C8B-B14F-4D97-AF65-F5344CB8AC3E}">
        <p14:creationId xmlns:p14="http://schemas.microsoft.com/office/powerpoint/2010/main" val="23655849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A3100191-FE7E-45C5-A048-D41B14548977}" type="slidenum">
              <a:rPr lang="en-US" altLang="zh-CN">
                <a:latin typeface="Arial" charset="0"/>
                <a:ea typeface="宋体" charset="-122"/>
              </a:rPr>
              <a:pPr/>
              <a:t>20</a:t>
            </a:fld>
            <a:endParaRPr lang="en-US" altLang="zh-CN">
              <a:latin typeface="Arial" charset="0"/>
              <a:ea typeface="宋体" charset="-122"/>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xfrm>
            <a:off x="914400" y="4343400"/>
            <a:ext cx="5029200" cy="4114800"/>
          </a:xfrm>
          <a:noFill/>
          <a:ln/>
        </p:spPr>
        <p:txBody>
          <a:bodyPr/>
          <a:lstStyle/>
          <a:p>
            <a:pPr eaLnBrk="1" hangingPunct="1"/>
            <a:endParaRPr lang="zh-TW" altLang="en-US">
              <a:latin typeface="Arial" charset="0"/>
              <a:ea typeface="PMingLiU" pitchFamily="18" charset="-120"/>
            </a:endParaRPr>
          </a:p>
        </p:txBody>
      </p:sp>
    </p:spTree>
    <p:extLst>
      <p:ext uri="{BB962C8B-B14F-4D97-AF65-F5344CB8AC3E}">
        <p14:creationId xmlns:p14="http://schemas.microsoft.com/office/powerpoint/2010/main" val="1172038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E950067-EB21-45A6-B8A8-895892AD9094}" type="slidenum">
              <a:rPr lang="zh-CN" altLang="en-US"/>
              <a:pPr eaLnBrk="1" hangingPunct="1"/>
              <a:t>66</a:t>
            </a:fld>
            <a:endParaRPr lang="en-US" altLang="zh-CN"/>
          </a:p>
        </p:txBody>
      </p:sp>
      <p:sp>
        <p:nvSpPr>
          <p:cNvPr id="89091" name="Rectangle 2"/>
          <p:cNvSpPr>
            <a:spLocks noGrp="1" noRot="1" noChangeAspect="1" noChangeArrowheads="1" noTextEdit="1"/>
          </p:cNvSpPr>
          <p:nvPr>
            <p:ph type="sldImg"/>
          </p:nvPr>
        </p:nvSpPr>
        <p:spPr>
          <a:xfrm>
            <a:off x="852488" y="744538"/>
            <a:ext cx="4965700" cy="3724275"/>
          </a:xfrm>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1279197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F3B5C81-FB8B-4CF4-BC4A-3239F7462511}" type="slidenum">
              <a:rPr lang="zh-CN" altLang="en-US"/>
              <a:pPr eaLnBrk="1" hangingPunct="1"/>
              <a:t>67</a:t>
            </a:fld>
            <a:endParaRPr lang="en-US" altLang="zh-CN"/>
          </a:p>
        </p:txBody>
      </p:sp>
      <p:sp>
        <p:nvSpPr>
          <p:cNvPr id="90115" name="Rectangle 2"/>
          <p:cNvSpPr>
            <a:spLocks noGrp="1" noRot="1" noChangeAspect="1" noChangeArrowheads="1" noTextEdit="1"/>
          </p:cNvSpPr>
          <p:nvPr>
            <p:ph type="sldImg"/>
          </p:nvPr>
        </p:nvSpPr>
        <p:spPr>
          <a:xfrm>
            <a:off x="852488" y="744538"/>
            <a:ext cx="4965700" cy="3724275"/>
          </a:xfrm>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26931032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txBox="1">
            <a:spLocks noGrp="1" noChangeArrowheads="1"/>
          </p:cNvSpPr>
          <p:nvPr/>
        </p:nvSpPr>
        <p:spPr bwMode="auto">
          <a:xfrm>
            <a:off x="3778250" y="9431338"/>
            <a:ext cx="288925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9D6D8D38-7BFF-40C1-82B1-BE6E7E972C44}" type="slidenum">
              <a:rPr lang="zh-CN" altLang="en-US" sz="1200"/>
              <a:pPr algn="r" eaLnBrk="1" hangingPunct="1"/>
              <a:t>68</a:t>
            </a:fld>
            <a:endParaRPr lang="en-US" altLang="zh-CN" sz="1200"/>
          </a:p>
        </p:txBody>
      </p:sp>
      <p:sp>
        <p:nvSpPr>
          <p:cNvPr id="91139" name="Rectangle 2"/>
          <p:cNvSpPr>
            <a:spLocks noGrp="1" noRot="1" noChangeAspect="1" noChangeArrowheads="1" noTextEdit="1"/>
          </p:cNvSpPr>
          <p:nvPr>
            <p:ph type="sldImg"/>
          </p:nvPr>
        </p:nvSpPr>
        <p:spPr>
          <a:xfrm>
            <a:off x="852488" y="744538"/>
            <a:ext cx="4965700" cy="3724275"/>
          </a:xfrm>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9158048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A250B7B-19B6-4739-A0CB-573622575C7F}" type="slidenum">
              <a:rPr lang="zh-CN" altLang="en-US"/>
              <a:pPr eaLnBrk="1" hangingPunct="1"/>
              <a:t>69</a:t>
            </a:fld>
            <a:endParaRPr lang="en-US" altLang="zh-CN"/>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9803604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36A01BD-8624-4755-96EE-4A660AAD8FBE}" type="slidenum">
              <a:rPr lang="zh-CN" altLang="en-US"/>
              <a:pPr eaLnBrk="1" hangingPunct="1"/>
              <a:t>70</a:t>
            </a:fld>
            <a:endParaRPr lang="en-US" altLang="zh-CN"/>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1401899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7DBB08E-78F7-4586-833F-B67AF702997C}" type="slidenum">
              <a:rPr lang="zh-CN" altLang="en-US"/>
              <a:pPr eaLnBrk="1" hangingPunct="1"/>
              <a:t>71</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29558302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2122C35-1F0A-4A60-9207-14029D3A0432}" type="slidenum">
              <a:rPr lang="zh-CN" altLang="en-US"/>
              <a:pPr eaLnBrk="1" hangingPunct="1"/>
              <a:t>72</a:t>
            </a:fld>
            <a:endParaRPr lang="en-US" altLang="zh-CN"/>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2969061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C802FE5-3707-4192-970A-2858C64325BB}" type="slidenum">
              <a:rPr lang="zh-CN" altLang="en-US"/>
              <a:pPr eaLnBrk="1" hangingPunct="1"/>
              <a:t>73</a:t>
            </a:fld>
            <a:endParaRPr lang="en-US" altLang="zh-CN"/>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2250353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53BE2B6-1F7B-4B9F-86F3-DA2EDD30D1C3}" type="slidenum">
              <a:rPr lang="zh-CN" altLang="en-US"/>
              <a:pPr eaLnBrk="1" hangingPunct="1"/>
              <a:t>74</a:t>
            </a:fld>
            <a:endParaRPr lang="en-US" altLang="zh-CN"/>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14154519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349EBC9-4CBE-4381-ABFB-33B44615D32A}" type="slidenum">
              <a:rPr lang="zh-CN" altLang="en-US"/>
              <a:pPr eaLnBrk="1" hangingPunct="1"/>
              <a:t>79</a:t>
            </a:fld>
            <a:endParaRPr lang="en-US" altLang="zh-CN"/>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41049111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txBox="1">
            <a:spLocks noGrp="1" noChangeArrowheads="1"/>
          </p:cNvSpPr>
          <p:nvPr/>
        </p:nvSpPr>
        <p:spPr bwMode="auto">
          <a:xfrm>
            <a:off x="3778250" y="9431338"/>
            <a:ext cx="288925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360" tIns="46680" rIns="93360" bIns="46680" anchor="b"/>
          <a:lstStyle>
            <a:lvl1pPr defTabSz="933450" eaLnBrk="0" hangingPunct="0">
              <a:defRPr>
                <a:solidFill>
                  <a:schemeClr val="tx1"/>
                </a:solidFill>
                <a:latin typeface="Arial" panose="020B0604020202020204" pitchFamily="34" charset="0"/>
              </a:defRPr>
            </a:lvl1pPr>
            <a:lvl2pPr marL="742950" indent="-285750" defTabSz="933450" eaLnBrk="0" hangingPunct="0">
              <a:defRPr>
                <a:solidFill>
                  <a:schemeClr val="tx1"/>
                </a:solidFill>
                <a:latin typeface="Arial" panose="020B0604020202020204" pitchFamily="34" charset="0"/>
              </a:defRPr>
            </a:lvl2pPr>
            <a:lvl3pPr marL="1143000" indent="-228600" defTabSz="933450" eaLnBrk="0" hangingPunct="0">
              <a:defRPr>
                <a:solidFill>
                  <a:schemeClr val="tx1"/>
                </a:solidFill>
                <a:latin typeface="Arial" panose="020B0604020202020204" pitchFamily="34" charset="0"/>
              </a:defRPr>
            </a:lvl3pPr>
            <a:lvl4pPr marL="1600200" indent="-228600" defTabSz="933450" eaLnBrk="0" hangingPunct="0">
              <a:defRPr>
                <a:solidFill>
                  <a:schemeClr val="tx1"/>
                </a:solidFill>
                <a:latin typeface="Arial" panose="020B0604020202020204" pitchFamily="34" charset="0"/>
              </a:defRPr>
            </a:lvl4pPr>
            <a:lvl5pPr marL="2057400" indent="-228600" defTabSz="933450" eaLnBrk="0" hangingPunct="0">
              <a:defRPr>
                <a:solidFill>
                  <a:schemeClr val="tx1"/>
                </a:solidFill>
                <a:latin typeface="Arial" panose="020B0604020202020204" pitchFamily="34" charset="0"/>
              </a:defRPr>
            </a:lvl5pPr>
            <a:lvl6pPr marL="2514600" indent="-228600" algn="ctr" defTabSz="933450" eaLnBrk="0" fontAlgn="base" hangingPunct="0">
              <a:spcBef>
                <a:spcPct val="0"/>
              </a:spcBef>
              <a:spcAft>
                <a:spcPct val="0"/>
              </a:spcAft>
              <a:defRPr>
                <a:solidFill>
                  <a:schemeClr val="tx1"/>
                </a:solidFill>
                <a:latin typeface="Arial" panose="020B0604020202020204" pitchFamily="34" charset="0"/>
              </a:defRPr>
            </a:lvl6pPr>
            <a:lvl7pPr marL="2971800" indent="-228600" algn="ctr" defTabSz="933450" eaLnBrk="0" fontAlgn="base" hangingPunct="0">
              <a:spcBef>
                <a:spcPct val="0"/>
              </a:spcBef>
              <a:spcAft>
                <a:spcPct val="0"/>
              </a:spcAft>
              <a:defRPr>
                <a:solidFill>
                  <a:schemeClr val="tx1"/>
                </a:solidFill>
                <a:latin typeface="Arial" panose="020B0604020202020204" pitchFamily="34" charset="0"/>
              </a:defRPr>
            </a:lvl7pPr>
            <a:lvl8pPr marL="3429000" indent="-228600" algn="ctr" defTabSz="933450" eaLnBrk="0" fontAlgn="base" hangingPunct="0">
              <a:spcBef>
                <a:spcPct val="0"/>
              </a:spcBef>
              <a:spcAft>
                <a:spcPct val="0"/>
              </a:spcAft>
              <a:defRPr>
                <a:solidFill>
                  <a:schemeClr val="tx1"/>
                </a:solidFill>
                <a:latin typeface="Arial" panose="020B0604020202020204" pitchFamily="34" charset="0"/>
              </a:defRPr>
            </a:lvl8pPr>
            <a:lvl9pPr marL="3886200" indent="-228600" algn="ctr" defTabSz="933450" eaLnBrk="0" fontAlgn="base" hangingPunct="0">
              <a:spcBef>
                <a:spcPct val="0"/>
              </a:spcBef>
              <a:spcAft>
                <a:spcPct val="0"/>
              </a:spcAft>
              <a:defRPr>
                <a:solidFill>
                  <a:schemeClr val="tx1"/>
                </a:solidFill>
                <a:latin typeface="Arial" panose="020B0604020202020204" pitchFamily="34" charset="0"/>
              </a:defRPr>
            </a:lvl9pPr>
          </a:lstStyle>
          <a:p>
            <a:pPr algn="r" eaLnBrk="1" fontAlgn="base" hangingPunct="1">
              <a:spcBef>
                <a:spcPct val="0"/>
              </a:spcBef>
              <a:spcAft>
                <a:spcPct val="0"/>
              </a:spcAft>
            </a:pPr>
            <a:fld id="{6A7505E7-61EA-44AB-A3EC-B3C0E6956588}" type="slidenum">
              <a:rPr lang="en-US" altLang="zh-CN" sz="1200" smtClean="0">
                <a:solidFill>
                  <a:srgbClr val="000000"/>
                </a:solidFill>
                <a:latin typeface="Calibri" panose="020F0502020204030204" pitchFamily="34" charset="0"/>
              </a:rPr>
              <a:pPr algn="r" eaLnBrk="1" fontAlgn="base" hangingPunct="1">
                <a:spcBef>
                  <a:spcPct val="0"/>
                </a:spcBef>
                <a:spcAft>
                  <a:spcPct val="0"/>
                </a:spcAft>
              </a:pPr>
              <a:t>82</a:t>
            </a:fld>
            <a:endParaRPr lang="en-US" altLang="zh-CN" sz="1200">
              <a:solidFill>
                <a:srgbClr val="000000"/>
              </a:solidFill>
              <a:latin typeface="Calibri" panose="020F0502020204030204" pitchFamily="34" charset="0"/>
            </a:endParaRPr>
          </a:p>
        </p:txBody>
      </p:sp>
      <p:sp>
        <p:nvSpPr>
          <p:cNvPr id="104451" name="Rectangle 2"/>
          <p:cNvSpPr>
            <a:spLocks noGrp="1" noRot="1" noChangeAspect="1" noChangeArrowheads="1" noTextEdit="1"/>
          </p:cNvSpPr>
          <p:nvPr>
            <p:ph type="sldImg"/>
          </p:nvPr>
        </p:nvSpPr>
        <p:spPr>
          <a:xfrm>
            <a:off x="852488" y="744538"/>
            <a:ext cx="4965700" cy="3724275"/>
          </a:xfrm>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360" tIns="46680" rIns="93360" bIns="46680"/>
          <a:lstStyle/>
          <a:p>
            <a:pPr eaLnBrk="1" hangingPunct="1"/>
            <a:r>
              <a:rPr lang="en-US" altLang="zh-CN">
                <a:latin typeface="Arial" panose="020B0604020202020204" pitchFamily="34" charset="0"/>
              </a:rPr>
              <a:t>Poor farmers depend much heavily on agricultural production to get more income…</a:t>
            </a:r>
          </a:p>
        </p:txBody>
      </p:sp>
    </p:spTree>
    <p:extLst>
      <p:ext uri="{BB962C8B-B14F-4D97-AF65-F5344CB8AC3E}">
        <p14:creationId xmlns:p14="http://schemas.microsoft.com/office/powerpoint/2010/main" val="10792714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6" name="bmkFldDocumentNumber"/>
          <p:cNvSpPr txBox="1">
            <a:spLocks noChangeArrowheads="1"/>
          </p:cNvSpPr>
          <p:nvPr/>
        </p:nvSpPr>
        <p:spPr bwMode="auto">
          <a:xfrm rot="16200000">
            <a:off x="7375525" y="1774825"/>
            <a:ext cx="3365500" cy="107950"/>
          </a:xfrm>
          <a:prstGeom prst="rect">
            <a:avLst/>
          </a:prstGeom>
          <a:noFill/>
          <a:ln w="9525">
            <a:noFill/>
            <a:miter lim="800000"/>
            <a:headEnd/>
            <a:tailEnd/>
          </a:ln>
          <a:effectLst/>
        </p:spPr>
        <p:txBody>
          <a:bodyPr lIns="0" tIns="0" rIns="0" bIns="0" anchor="ctr"/>
          <a:lstStyle/>
          <a:p>
            <a:pPr algn="r">
              <a:spcBef>
                <a:spcPct val="50000"/>
              </a:spcBef>
              <a:defRPr/>
            </a:pPr>
            <a:endParaRPr lang="en-GB" altLang="ja-JP" sz="700">
              <a:solidFill>
                <a:srgbClr val="666666"/>
              </a:solidFill>
              <a:ea typeface="ＭＳ Ｐゴシック" pitchFamily="34" charset="-128"/>
              <a:cs typeface="Arial" pitchFamily="34" charset="0"/>
            </a:endParaRPr>
          </a:p>
        </p:txBody>
      </p:sp>
      <p:sp>
        <p:nvSpPr>
          <p:cNvPr id="7" name="bmkConfidentiality"/>
          <p:cNvSpPr txBox="1">
            <a:spLocks noChangeArrowheads="1"/>
          </p:cNvSpPr>
          <p:nvPr/>
        </p:nvSpPr>
        <p:spPr bwMode="auto">
          <a:xfrm>
            <a:off x="293688" y="6572250"/>
            <a:ext cx="4318000" cy="179388"/>
          </a:xfrm>
          <a:prstGeom prst="rect">
            <a:avLst/>
          </a:prstGeom>
          <a:noFill/>
          <a:ln w="9525">
            <a:noFill/>
            <a:miter lim="800000"/>
            <a:headEnd/>
            <a:tailEnd/>
          </a:ln>
          <a:effectLst/>
        </p:spPr>
        <p:txBody>
          <a:bodyPr lIns="0" tIns="0" rIns="0" bIns="0" anchor="b"/>
          <a:lstStyle/>
          <a:p>
            <a:pPr>
              <a:spcBef>
                <a:spcPct val="50000"/>
              </a:spcBef>
              <a:defRPr/>
            </a:pPr>
            <a:endParaRPr lang="en-GB" altLang="ja-JP" sz="1400" b="1">
              <a:solidFill>
                <a:srgbClr val="666666"/>
              </a:solidFill>
              <a:ea typeface="ＭＳ Ｐゴシック" pitchFamily="34" charset="-128"/>
              <a:cs typeface="Arial" pitchFamily="34" charset="0"/>
            </a:endParaRPr>
          </a:p>
        </p:txBody>
      </p:sp>
      <p:sp>
        <p:nvSpPr>
          <p:cNvPr id="8" name="Rectangle 21"/>
          <p:cNvSpPr>
            <a:spLocks noChangeArrowheads="1"/>
          </p:cNvSpPr>
          <p:nvPr/>
        </p:nvSpPr>
        <p:spPr bwMode="auto">
          <a:xfrm>
            <a:off x="152400" y="3660775"/>
            <a:ext cx="8842375" cy="1116013"/>
          </a:xfrm>
          <a:prstGeom prst="rect">
            <a:avLst/>
          </a:prstGeom>
          <a:solidFill>
            <a:schemeClr val="tx1"/>
          </a:solidFill>
          <a:ln w="9525">
            <a:noFill/>
            <a:miter lim="800000"/>
            <a:headEnd/>
            <a:tailEnd/>
          </a:ln>
          <a:effectLst/>
        </p:spPr>
        <p:txBody>
          <a:bodyPr wrap="none" anchor="ctr"/>
          <a:lstStyle/>
          <a:p>
            <a:pPr algn="ctr">
              <a:defRPr/>
            </a:pPr>
            <a:endParaRPr lang="en-GB" altLang="ja-JP">
              <a:solidFill>
                <a:schemeClr val="bg1"/>
              </a:solidFill>
              <a:ea typeface="ＭＳ Ｐゴシック" pitchFamily="34" charset="-128"/>
              <a:cs typeface="Arial" pitchFamily="34" charset="0"/>
            </a:endParaRPr>
          </a:p>
        </p:txBody>
      </p:sp>
      <p:pic>
        <p:nvPicPr>
          <p:cNvPr id="9" name="Rectangle 6" descr="supporting graphic 13"/>
          <p:cNvPicPr preferRelativeResize="0">
            <a:picLocks noChangeArrowheads="1"/>
          </p:cNvPicPr>
          <p:nvPr/>
        </p:nvPicPr>
        <p:blipFill>
          <a:blip r:embed="rId2" cstate="print"/>
          <a:srcRect l="7558" r="2647"/>
          <a:stretch>
            <a:fillRect/>
          </a:stretch>
        </p:blipFill>
        <p:spPr bwMode="auto">
          <a:xfrm>
            <a:off x="146050" y="146050"/>
            <a:ext cx="8845550" cy="3365500"/>
          </a:xfrm>
          <a:prstGeom prst="rect">
            <a:avLst/>
          </a:prstGeom>
          <a:noFill/>
          <a:ln w="12700" algn="ctr">
            <a:noFill/>
            <a:miter lim="800000"/>
            <a:headEnd/>
            <a:tailEnd/>
          </a:ln>
        </p:spPr>
      </p:pic>
      <p:sp>
        <p:nvSpPr>
          <p:cNvPr id="10" name="bmkDraft"/>
          <p:cNvSpPr txBox="1">
            <a:spLocks noChangeArrowheads="1"/>
          </p:cNvSpPr>
          <p:nvPr/>
        </p:nvSpPr>
        <p:spPr bwMode="auto">
          <a:xfrm>
            <a:off x="3811588" y="6281738"/>
            <a:ext cx="1511300" cy="504825"/>
          </a:xfrm>
          <a:prstGeom prst="rect">
            <a:avLst/>
          </a:prstGeom>
          <a:noFill/>
          <a:ln w="9525">
            <a:noFill/>
            <a:miter lim="800000"/>
            <a:headEnd/>
            <a:tailEnd/>
          </a:ln>
          <a:effectLst/>
        </p:spPr>
        <p:txBody>
          <a:bodyPr lIns="0" tIns="0" rIns="0" bIns="0" anchor="b"/>
          <a:lstStyle/>
          <a:p>
            <a:pPr algn="ctr">
              <a:spcBef>
                <a:spcPct val="50000"/>
              </a:spcBef>
              <a:defRPr/>
            </a:pPr>
            <a:endParaRPr lang="en-GB" altLang="ja-JP" sz="2800">
              <a:ea typeface="ＭＳ Ｐゴシック" pitchFamily="34" charset="-128"/>
              <a:cs typeface="Arial" pitchFamily="34" charset="0"/>
            </a:endParaRPr>
          </a:p>
        </p:txBody>
      </p:sp>
      <p:sp>
        <p:nvSpPr>
          <p:cNvPr id="107542" name="bmkFldPresentationTitle"/>
          <p:cNvSpPr>
            <a:spLocks noGrp="1" noChangeArrowheads="1"/>
          </p:cNvSpPr>
          <p:nvPr>
            <p:ph type="ctrTitle"/>
          </p:nvPr>
        </p:nvSpPr>
        <p:spPr>
          <a:xfrm>
            <a:off x="146050" y="3659188"/>
            <a:ext cx="8845550" cy="1116012"/>
          </a:xfrm>
        </p:spPr>
        <p:txBody>
          <a:bodyPr lIns="147600" tIns="45720" rIns="1800000" bIns="97200" anchor="ctr"/>
          <a:lstStyle>
            <a:lvl1pPr>
              <a:lnSpc>
                <a:spcPts val="3600"/>
              </a:lnSpc>
              <a:defRPr>
                <a:solidFill>
                  <a:schemeClr val="bg1"/>
                </a:solidFill>
              </a:defRPr>
            </a:lvl1pPr>
          </a:lstStyle>
          <a:p>
            <a:r>
              <a:rPr lang="zh-TW" altLang="en-US"/>
              <a:t>按一下以編輯母片標題樣式</a:t>
            </a:r>
            <a:endParaRPr lang="en-GB" altLang="ja-JP" dirty="0"/>
          </a:p>
        </p:txBody>
      </p:sp>
      <p:sp>
        <p:nvSpPr>
          <p:cNvPr id="107543" name="bmkFldPresentationSubtitle"/>
          <p:cNvSpPr>
            <a:spLocks noGrp="1" noChangeArrowheads="1"/>
          </p:cNvSpPr>
          <p:nvPr>
            <p:ph type="subTitle" idx="1"/>
          </p:nvPr>
        </p:nvSpPr>
        <p:spPr>
          <a:xfrm>
            <a:off x="146050" y="4922838"/>
            <a:ext cx="8845550" cy="377825"/>
          </a:xfrm>
        </p:spPr>
        <p:txBody>
          <a:bodyPr lIns="147600" tIns="46800" rIns="1800000" bIns="45720"/>
          <a:lstStyle>
            <a:lvl1pPr marL="0" indent="0">
              <a:spcBef>
                <a:spcPct val="0"/>
              </a:spcBef>
              <a:spcAft>
                <a:spcPct val="0"/>
              </a:spcAft>
              <a:buFont typeface="Wingdings" pitchFamily="2" charset="2"/>
              <a:buNone/>
              <a:defRPr sz="2000" b="1">
                <a:solidFill>
                  <a:schemeClr val="tx1"/>
                </a:solidFill>
                <a:latin typeface="微軟正黑體" pitchFamily="34" charset="-120"/>
                <a:ea typeface="微軟正黑體" pitchFamily="34" charset="-120"/>
              </a:defRPr>
            </a:lvl1pPr>
          </a:lstStyle>
          <a:p>
            <a:r>
              <a:rPr lang="zh-TW" altLang="en-US"/>
              <a:t>按一下以編輯母片副標題樣式</a:t>
            </a:r>
            <a:endParaRPr lang="en-GB" altLang="ja-JP"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10"/>
          <p:cNvSpPr>
            <a:spLocks noGrp="1" noChangeArrowheads="1"/>
          </p:cNvSpPr>
          <p:nvPr>
            <p:ph type="sldNum" sz="quarter" idx="10"/>
          </p:nvPr>
        </p:nvSpPr>
        <p:spPr>
          <a:ln/>
        </p:spPr>
        <p:txBody>
          <a:bodyPr/>
          <a:lstStyle>
            <a:lvl1pPr>
              <a:defRPr/>
            </a:lvl1pPr>
          </a:lstStyle>
          <a:p>
            <a:pPr>
              <a:defRPr/>
            </a:pPr>
            <a:fld id="{78FEC7D7-2ADE-423D-BF86-C6BB274E675F}" type="slidenum">
              <a:rPr lang="en-GB" altLang="ja-JP"/>
              <a:pPr>
                <a:defRPr/>
              </a:pPr>
              <a:t>‹#›</a:t>
            </a:fld>
            <a:endParaRPr lang="en-GB" altLang="ja-JP"/>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10"/>
          <p:cNvSpPr>
            <a:spLocks noGrp="1" noChangeArrowheads="1"/>
          </p:cNvSpPr>
          <p:nvPr>
            <p:ph type="sldNum" sz="quarter" idx="10"/>
          </p:nvPr>
        </p:nvSpPr>
        <p:spPr>
          <a:ln/>
        </p:spPr>
        <p:txBody>
          <a:bodyPr/>
          <a:lstStyle>
            <a:lvl1pPr>
              <a:defRPr/>
            </a:lvl1pPr>
          </a:lstStyle>
          <a:p>
            <a:pPr>
              <a:defRPr/>
            </a:pPr>
            <a:fld id="{AD30F7C5-30E3-4B40-B557-2397A3438A69}" type="slidenum">
              <a:rPr lang="en-GB" altLang="ja-JP"/>
              <a:pPr>
                <a:defRPr/>
              </a:pPr>
              <a:t>‹#›</a:t>
            </a:fld>
            <a:endParaRPr lang="en-GB" altLang="ja-JP"/>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152400" y="1135063"/>
            <a:ext cx="4343400" cy="4905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48200" y="1135063"/>
            <a:ext cx="4343400" cy="4905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10"/>
          <p:cNvSpPr>
            <a:spLocks noGrp="1" noChangeArrowheads="1"/>
          </p:cNvSpPr>
          <p:nvPr>
            <p:ph type="sldNum" sz="quarter" idx="10"/>
          </p:nvPr>
        </p:nvSpPr>
        <p:spPr>
          <a:ln/>
        </p:spPr>
        <p:txBody>
          <a:bodyPr/>
          <a:lstStyle>
            <a:lvl1pPr>
              <a:defRPr/>
            </a:lvl1pPr>
          </a:lstStyle>
          <a:p>
            <a:pPr>
              <a:defRPr/>
            </a:pPr>
            <a:fld id="{0AAF1F98-8505-4704-A426-652435581443}" type="slidenum">
              <a:rPr lang="en-GB" altLang="ja-JP"/>
              <a:pPr>
                <a:defRPr/>
              </a:pPr>
              <a:t>‹#›</a:t>
            </a:fld>
            <a:endParaRPr lang="en-GB" altLang="ja-JP"/>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10"/>
          <p:cNvSpPr>
            <a:spLocks noGrp="1" noChangeArrowheads="1"/>
          </p:cNvSpPr>
          <p:nvPr>
            <p:ph type="sldNum" sz="quarter" idx="10"/>
          </p:nvPr>
        </p:nvSpPr>
        <p:spPr>
          <a:ln/>
        </p:spPr>
        <p:txBody>
          <a:bodyPr/>
          <a:lstStyle>
            <a:lvl1pPr>
              <a:defRPr/>
            </a:lvl1pPr>
          </a:lstStyle>
          <a:p>
            <a:pPr>
              <a:defRPr/>
            </a:pPr>
            <a:fld id="{994E592E-8F60-4CE0-97B9-1E4AA9650372}" type="slidenum">
              <a:rPr lang="en-GB" altLang="ja-JP"/>
              <a:pPr>
                <a:defRPr/>
              </a:pPr>
              <a:t>‹#›</a:t>
            </a:fld>
            <a:endParaRPr lang="en-GB" altLang="ja-JP"/>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10"/>
          <p:cNvSpPr>
            <a:spLocks noGrp="1" noChangeArrowheads="1"/>
          </p:cNvSpPr>
          <p:nvPr>
            <p:ph type="sldNum" sz="quarter" idx="10"/>
          </p:nvPr>
        </p:nvSpPr>
        <p:spPr>
          <a:ln/>
        </p:spPr>
        <p:txBody>
          <a:bodyPr/>
          <a:lstStyle>
            <a:lvl1pPr>
              <a:defRPr/>
            </a:lvl1pPr>
          </a:lstStyle>
          <a:p>
            <a:pPr>
              <a:defRPr/>
            </a:pPr>
            <a:fld id="{0027A4F6-4B19-43A8-AC74-32CEF7B4EB10}" type="slidenum">
              <a:rPr lang="en-GB" altLang="ja-JP"/>
              <a:pPr>
                <a:defRPr/>
              </a:pPr>
              <a:t>‹#›</a:t>
            </a:fld>
            <a:endParaRPr lang="en-GB" altLang="ja-JP"/>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10"/>
          <p:cNvSpPr>
            <a:spLocks noGrp="1" noChangeArrowheads="1"/>
          </p:cNvSpPr>
          <p:nvPr>
            <p:ph type="sldNum" sz="quarter" idx="10"/>
          </p:nvPr>
        </p:nvSpPr>
        <p:spPr>
          <a:ln/>
        </p:spPr>
        <p:txBody>
          <a:bodyPr/>
          <a:lstStyle>
            <a:lvl1pPr>
              <a:defRPr/>
            </a:lvl1pPr>
          </a:lstStyle>
          <a:p>
            <a:pPr>
              <a:defRPr/>
            </a:pPr>
            <a:fld id="{2BE75D89-BF02-406C-8A3F-8895CD9CD916}" type="slidenum">
              <a:rPr lang="en-GB" altLang="ja-JP"/>
              <a:pPr>
                <a:defRPr/>
              </a:pPr>
              <a:t>‹#›</a:t>
            </a:fld>
            <a:endParaRPr lang="en-GB" altLang="ja-JP"/>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10"/>
          <p:cNvSpPr>
            <a:spLocks noGrp="1" noChangeArrowheads="1"/>
          </p:cNvSpPr>
          <p:nvPr>
            <p:ph type="sldNum" sz="quarter" idx="10"/>
          </p:nvPr>
        </p:nvSpPr>
        <p:spPr>
          <a:ln/>
        </p:spPr>
        <p:txBody>
          <a:bodyPr/>
          <a:lstStyle>
            <a:lvl1pPr>
              <a:defRPr/>
            </a:lvl1pPr>
          </a:lstStyle>
          <a:p>
            <a:pPr>
              <a:defRPr/>
            </a:pPr>
            <a:fld id="{C4DCB177-9798-4748-84F0-BEBAF1AF6B60}" type="slidenum">
              <a:rPr lang="en-GB" altLang="ja-JP"/>
              <a:pPr>
                <a:defRPr/>
              </a:pPr>
              <a:t>‹#›</a:t>
            </a:fld>
            <a:endParaRPr lang="en-GB" altLang="ja-JP"/>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10"/>
          <p:cNvSpPr>
            <a:spLocks noGrp="1" noChangeArrowheads="1"/>
          </p:cNvSpPr>
          <p:nvPr>
            <p:ph type="sldNum" sz="quarter" idx="10"/>
          </p:nvPr>
        </p:nvSpPr>
        <p:spPr>
          <a:ln/>
        </p:spPr>
        <p:txBody>
          <a:bodyPr/>
          <a:lstStyle>
            <a:lvl1pPr>
              <a:defRPr/>
            </a:lvl1pPr>
          </a:lstStyle>
          <a:p>
            <a:pPr>
              <a:defRPr/>
            </a:pPr>
            <a:fld id="{50AC2059-272F-4ECF-B2CB-EA023BB463E7}" type="slidenum">
              <a:rPr lang="en-GB" altLang="ja-JP"/>
              <a:pPr>
                <a:defRPr/>
              </a:pPr>
              <a:t>‹#›</a:t>
            </a:fld>
            <a:endParaRPr lang="en-GB" altLang="ja-JP"/>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10"/>
          <p:cNvSpPr>
            <a:spLocks noGrp="1" noChangeArrowheads="1"/>
          </p:cNvSpPr>
          <p:nvPr>
            <p:ph type="sldNum" sz="quarter" idx="10"/>
          </p:nvPr>
        </p:nvSpPr>
        <p:spPr>
          <a:ln/>
        </p:spPr>
        <p:txBody>
          <a:bodyPr/>
          <a:lstStyle>
            <a:lvl1pPr>
              <a:defRPr/>
            </a:lvl1pPr>
          </a:lstStyle>
          <a:p>
            <a:pPr>
              <a:defRPr/>
            </a:pPr>
            <a:fld id="{1E5612FB-12BA-48C3-AC16-95039DC1C84B}" type="slidenum">
              <a:rPr lang="en-GB" altLang="ja-JP"/>
              <a:pPr>
                <a:defRPr/>
              </a:pPr>
              <a:t>‹#›</a:t>
            </a:fld>
            <a:endParaRPr lang="en-GB" altLang="ja-JP"/>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781800" y="142875"/>
            <a:ext cx="2209800" cy="5897563"/>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152400" y="142875"/>
            <a:ext cx="6477000" cy="5897563"/>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10"/>
          <p:cNvSpPr>
            <a:spLocks noGrp="1" noChangeArrowheads="1"/>
          </p:cNvSpPr>
          <p:nvPr>
            <p:ph type="sldNum" sz="quarter" idx="10"/>
          </p:nvPr>
        </p:nvSpPr>
        <p:spPr>
          <a:ln/>
        </p:spPr>
        <p:txBody>
          <a:bodyPr/>
          <a:lstStyle>
            <a:lvl1pPr>
              <a:defRPr/>
            </a:lvl1pPr>
          </a:lstStyle>
          <a:p>
            <a:pPr>
              <a:defRPr/>
            </a:pPr>
            <a:fld id="{3252F398-669B-4A08-9F4F-9FBCCF098D3E}" type="slidenum">
              <a:rPr lang="en-GB" altLang="ja-JP"/>
              <a:pPr>
                <a:defRPr/>
              </a:pPr>
              <a:t>‹#›</a:t>
            </a:fld>
            <a:endParaRPr lang="en-GB" altLang="ja-JP"/>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C6B8F2EF-5256-419E-9E16-E117EA0624FC}" type="datetimeFigureOut">
              <a:rPr lang="zh-CN" altLang="en-US" smtClean="0"/>
              <a:pPr/>
              <a:t>2021/5/27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8D0647B-24A2-46AB-A27A-847EF503E68C}" type="slidenum">
              <a:rPr lang="zh-CN" altLang="en-US" smtClean="0"/>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6B8F2EF-5256-419E-9E16-E117EA0624FC}" type="datetimeFigureOut">
              <a:rPr lang="zh-CN" altLang="en-US" smtClean="0"/>
              <a:pPr/>
              <a:t>2021/5/27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8D0647B-24A2-46AB-A27A-847EF503E68C}" type="slidenum">
              <a:rPr lang="zh-CN" altLang="en-US" smtClean="0"/>
              <a:pPr/>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C6B8F2EF-5256-419E-9E16-E117EA0624FC}" type="datetimeFigureOut">
              <a:rPr lang="zh-CN" altLang="en-US" smtClean="0"/>
              <a:pPr/>
              <a:t>2021/5/27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8D0647B-24A2-46AB-A27A-847EF503E68C}" type="slidenum">
              <a:rPr lang="zh-CN" altLang="en-US" smtClean="0"/>
              <a:pPr/>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C6B8F2EF-5256-419E-9E16-E117EA0624FC}" type="datetimeFigureOut">
              <a:rPr lang="zh-CN" altLang="en-US" smtClean="0"/>
              <a:pPr/>
              <a:t>2021/5/27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8D0647B-24A2-46AB-A27A-847EF503E68C}" type="slidenum">
              <a:rPr lang="zh-CN" altLang="en-US" smtClean="0"/>
              <a:pPr/>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C6B8F2EF-5256-419E-9E16-E117EA0624FC}" type="datetimeFigureOut">
              <a:rPr lang="zh-CN" altLang="en-US" smtClean="0"/>
              <a:pPr/>
              <a:t>2021/5/27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8D0647B-24A2-46AB-A27A-847EF503E68C}" type="slidenum">
              <a:rPr lang="zh-CN" altLang="en-US" smtClean="0"/>
              <a:pPr/>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6B8F2EF-5256-419E-9E16-E117EA0624FC}" type="datetimeFigureOut">
              <a:rPr lang="zh-CN" altLang="en-US" smtClean="0"/>
              <a:pPr/>
              <a:t>2021/5/27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8D0647B-24A2-46AB-A27A-847EF503E68C}" type="slidenum">
              <a:rPr lang="zh-CN" altLang="en-US" smtClean="0"/>
              <a:pPr/>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6B8F2EF-5256-419E-9E16-E117EA0624FC}" type="datetimeFigureOut">
              <a:rPr lang="zh-CN" altLang="en-US" smtClean="0"/>
              <a:pPr/>
              <a:t>2021/5/27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8D0647B-24A2-46AB-A27A-847EF503E68C}" type="slidenum">
              <a:rPr lang="zh-CN" altLang="en-US" smtClean="0"/>
              <a:pPr/>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6B8F2EF-5256-419E-9E16-E117EA0624FC}" type="datetimeFigureOut">
              <a:rPr lang="zh-CN" altLang="en-US" smtClean="0"/>
              <a:pPr/>
              <a:t>2021/5/27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8D0647B-24A2-46AB-A27A-847EF503E68C}" type="slidenum">
              <a:rPr lang="zh-CN" altLang="en-US" smtClean="0"/>
              <a:pPr/>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6B8F2EF-5256-419E-9E16-E117EA0624FC}" type="datetimeFigureOut">
              <a:rPr lang="zh-CN" altLang="en-US" smtClean="0"/>
              <a:pPr/>
              <a:t>2021/5/27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8D0647B-24A2-46AB-A27A-847EF503E68C}" type="slidenum">
              <a:rPr lang="zh-CN" altLang="en-US" smtClean="0"/>
              <a:pPr/>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6B8F2EF-5256-419E-9E16-E117EA0624FC}" type="datetimeFigureOut">
              <a:rPr lang="zh-CN" altLang="en-US" smtClean="0"/>
              <a:pPr/>
              <a:t>2021/5/27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8D0647B-24A2-46AB-A27A-847EF503E68C}" type="slidenum">
              <a:rPr lang="zh-CN" altLang="en-US" smtClean="0"/>
              <a:pPr/>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6B8F2EF-5256-419E-9E16-E117EA0624FC}" type="datetimeFigureOut">
              <a:rPr lang="zh-CN" altLang="en-US" smtClean="0"/>
              <a:pPr/>
              <a:t>2021/5/27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8D0647B-24A2-46AB-A27A-847EF503E68C}" type="slidenum">
              <a:rPr lang="zh-CN" altLang="en-US" smtClean="0"/>
              <a:pPr/>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A694329B-38DE-4B6F-AB20-06F50F1E6D15}"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7235394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92D78EFE-DFA0-4E58-887C-4DF789822486}"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30870952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CA15FC6F-89FD-4283-995F-FF4D4B69DCD5}"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1298588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4090C687-C821-41D2-A130-870C1DC10310}"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6708909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fld id="{F7CFF67D-DD31-4EF1-A132-DBA0320339A0}"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9234456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fld id="{AD94CA22-1636-4962-A843-53454DC1AAF0}"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1869715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fld id="{58C02E7C-CA59-4FF0-B2FD-957935D4306D}"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4868741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FBF8847B-EF78-46F7-ACAD-680839959C22}"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5267731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D2168EEA-3315-47F7-9A1E-FE28AF5C53C1}"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41609318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93938856-4F9E-4F8B-AD77-E283349CC5BD}"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3624409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CBF6AE0E-6A2F-48C6-A9BD-2C44A0FD9123}"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3054068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fld id="{D8572D1E-56CC-4171-8EBC-99C381272EEF}"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7966384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图表占位符 2"/>
          <p:cNvSpPr>
            <a:spLocks noGrp="1"/>
          </p:cNvSpPr>
          <p:nvPr>
            <p:ph type="chart" idx="1"/>
          </p:nvPr>
        </p:nvSpPr>
        <p:spPr>
          <a:xfrm>
            <a:off x="457200" y="1600200"/>
            <a:ext cx="8229600" cy="4525963"/>
          </a:xfrm>
        </p:spPr>
        <p:txBody>
          <a:bodyPr/>
          <a:lstStyle/>
          <a:p>
            <a:pPr lvl="0"/>
            <a:endParaRPr lang="zh-CN" alt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7537B041-9946-4087-AD74-E08AEE44A587}"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78392623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表格占位符 2"/>
          <p:cNvSpPr>
            <a:spLocks noGrp="1"/>
          </p:cNvSpPr>
          <p:nvPr>
            <p:ph type="tbl" idx="1"/>
          </p:nvPr>
        </p:nvSpPr>
        <p:spPr>
          <a:xfrm>
            <a:off x="457200" y="1600200"/>
            <a:ext cx="8229600" cy="4525963"/>
          </a:xfrm>
        </p:spPr>
        <p:txBody>
          <a:bodyPr/>
          <a:lstStyle/>
          <a:p>
            <a:pPr lvl="0"/>
            <a:endParaRPr lang="zh-CN" alt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6017F2C0-855A-4623-BF4F-8FD0A1CEA4BD}"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3839659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EB1732E-73EA-499E-AF9B-3055FD8F9015}" type="datetimeFigureOut">
              <a:rPr lang="zh-CN" altLang="en-US" smtClean="0">
                <a:solidFill>
                  <a:prstClr val="black">
                    <a:tint val="75000"/>
                  </a:prstClr>
                </a:solidFill>
              </a:rPr>
              <a:pPr/>
              <a:t>2021/5/27</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DD5B18DA-153F-4BBF-9516-8B0CB30AEE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91104455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EB1732E-73EA-499E-AF9B-3055FD8F9015}" type="datetimeFigureOut">
              <a:rPr lang="zh-CN" altLang="en-US" smtClean="0">
                <a:solidFill>
                  <a:prstClr val="black">
                    <a:tint val="75000"/>
                  </a:prstClr>
                </a:solidFill>
              </a:rPr>
              <a:pPr/>
              <a:t>2021/5/27</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DD5B18DA-153F-4BBF-9516-8B0CB30AEE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51423471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EB1732E-73EA-499E-AF9B-3055FD8F9015}" type="datetimeFigureOut">
              <a:rPr lang="zh-CN" altLang="en-US" smtClean="0">
                <a:solidFill>
                  <a:prstClr val="black">
                    <a:tint val="75000"/>
                  </a:prstClr>
                </a:solidFill>
              </a:rPr>
              <a:pPr/>
              <a:t>2021/5/27</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DD5B18DA-153F-4BBF-9516-8B0CB30AEE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76863741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EEB1732E-73EA-499E-AF9B-3055FD8F9015}" type="datetimeFigureOut">
              <a:rPr lang="zh-CN" altLang="en-US" smtClean="0">
                <a:solidFill>
                  <a:prstClr val="black">
                    <a:tint val="75000"/>
                  </a:prstClr>
                </a:solidFill>
              </a:rPr>
              <a:pPr/>
              <a:t>2021/5/27</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DD5B18DA-153F-4BBF-9516-8B0CB30AEE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9736219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EB1732E-73EA-499E-AF9B-3055FD8F9015}" type="datetimeFigureOut">
              <a:rPr lang="zh-CN" altLang="en-US" smtClean="0">
                <a:solidFill>
                  <a:prstClr val="black">
                    <a:tint val="75000"/>
                  </a:prstClr>
                </a:solidFill>
              </a:rPr>
              <a:pPr/>
              <a:t>2021/5/27</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DD5B18DA-153F-4BBF-9516-8B0CB30AEE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4735146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EB1732E-73EA-499E-AF9B-3055FD8F9015}" type="datetimeFigureOut">
              <a:rPr lang="zh-CN" altLang="en-US" smtClean="0">
                <a:solidFill>
                  <a:prstClr val="black">
                    <a:tint val="75000"/>
                  </a:prstClr>
                </a:solidFill>
              </a:rPr>
              <a:pPr/>
              <a:t>2021/5/27</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DD5B18DA-153F-4BBF-9516-8B0CB30AEE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556563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EB1732E-73EA-499E-AF9B-3055FD8F9015}" type="datetimeFigureOut">
              <a:rPr lang="zh-CN" altLang="en-US" smtClean="0">
                <a:solidFill>
                  <a:prstClr val="black">
                    <a:tint val="75000"/>
                  </a:prstClr>
                </a:solidFill>
              </a:rPr>
              <a:pPr/>
              <a:t>2021/5/27</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DD5B18DA-153F-4BBF-9516-8B0CB30AEE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3109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EB1732E-73EA-499E-AF9B-3055FD8F9015}" type="datetimeFigureOut">
              <a:rPr lang="zh-CN" altLang="en-US" smtClean="0">
                <a:solidFill>
                  <a:prstClr val="black">
                    <a:tint val="75000"/>
                  </a:prstClr>
                </a:solidFill>
              </a:rPr>
              <a:pPr/>
              <a:t>2021/5/27</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DD5B18DA-153F-4BBF-9516-8B0CB30AEE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1742334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EB1732E-73EA-499E-AF9B-3055FD8F9015}" type="datetimeFigureOut">
              <a:rPr lang="zh-CN" altLang="en-US" smtClean="0">
                <a:solidFill>
                  <a:prstClr val="black">
                    <a:tint val="75000"/>
                  </a:prstClr>
                </a:solidFill>
              </a:rPr>
              <a:pPr/>
              <a:t>2021/5/27</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DD5B18DA-153F-4BBF-9516-8B0CB30AEE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6227952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EB1732E-73EA-499E-AF9B-3055FD8F9015}" type="datetimeFigureOut">
              <a:rPr lang="zh-CN" altLang="en-US" smtClean="0">
                <a:solidFill>
                  <a:prstClr val="black">
                    <a:tint val="75000"/>
                  </a:prstClr>
                </a:solidFill>
              </a:rPr>
              <a:pPr/>
              <a:t>2021/5/27</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DD5B18DA-153F-4BBF-9516-8B0CB30AEE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59430694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EB1732E-73EA-499E-AF9B-3055FD8F9015}" type="datetimeFigureOut">
              <a:rPr lang="zh-CN" altLang="en-US" smtClean="0">
                <a:solidFill>
                  <a:prstClr val="black">
                    <a:tint val="75000"/>
                  </a:prstClr>
                </a:solidFill>
              </a:rPr>
              <a:pPr/>
              <a:t>2021/5/27</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DD5B18DA-153F-4BBF-9516-8B0CB30AEE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9744058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hart Placeholder 2"/>
          <p:cNvSpPr>
            <a:spLocks noGrp="1"/>
          </p:cNvSpPr>
          <p:nvPr>
            <p:ph type="chart" idx="1"/>
          </p:nvPr>
        </p:nvSpPr>
        <p:spPr>
          <a:xfrm>
            <a:off x="457200" y="1600200"/>
            <a:ext cx="8229600" cy="4525963"/>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fld id="{7D020CB7-336F-4FE4-BC1C-2825E51786FA}" type="slidenum">
              <a:rPr lang="zh-CN" altLang="en-US"/>
              <a:pPr/>
              <a:t>‹#›</a:t>
            </a:fld>
            <a:endParaRPr lang="en-US" altLang="zh-CN"/>
          </a:p>
        </p:txBody>
      </p:sp>
    </p:spTree>
    <p:extLst>
      <p:ext uri="{BB962C8B-B14F-4D97-AF65-F5344CB8AC3E}">
        <p14:creationId xmlns:p14="http://schemas.microsoft.com/office/powerpoint/2010/main" val="1981551579"/>
      </p:ext>
    </p:extLst>
  </p:cSld>
  <p:clrMapOvr>
    <a:masterClrMapping/>
  </p:clrMapOvr>
  <p:transition spd="slow">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ln/>
        </p:spPr>
        <p:txBody>
          <a:bodyPr/>
          <a:lstStyle>
            <a:lvl1pPr>
              <a:defRPr/>
            </a:lvl1pPr>
          </a:lstStyle>
          <a:p>
            <a:fld id="{D951771B-2036-4E45-ACAC-9F5AB2FA6DCA}" type="slidenum">
              <a:rPr lang="zh-CN" altLang="en-US"/>
              <a:pPr/>
              <a:t>‹#›</a:t>
            </a:fld>
            <a:endParaRPr lang="en-US" altLang="zh-CN"/>
          </a:p>
        </p:txBody>
      </p:sp>
    </p:spTree>
    <p:extLst>
      <p:ext uri="{BB962C8B-B14F-4D97-AF65-F5344CB8AC3E}">
        <p14:creationId xmlns:p14="http://schemas.microsoft.com/office/powerpoint/2010/main" val="2221488135"/>
      </p:ext>
    </p:extLst>
  </p:cSld>
  <p:clrMapOvr>
    <a:masterClrMapping/>
  </p:clrMapOvr>
  <p:transition spd="slow">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BE462AF0-1C1D-4548-BFAD-AE28F3E302A1}"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641859504"/>
      </p:ext>
    </p:extLst>
  </p:cSld>
  <p:clrMapOvr>
    <a:masterClrMapping/>
  </p:clrMapOvr>
  <p:transition spd="slow">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8268B51E-E13D-4036-AADC-E10D8AE75BCD}"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165500957"/>
      </p:ext>
    </p:extLst>
  </p:cSld>
  <p:clrMapOvr>
    <a:masterClrMapping/>
  </p:clrMapOvr>
  <p:transition spd="slow">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09077702-5724-4573-8CA4-F143F5A3CB27}"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900339286"/>
      </p:ext>
    </p:extLst>
  </p:cSld>
  <p:clrMapOvr>
    <a:masterClrMapping/>
  </p:clrMapOvr>
  <p:transition spd="slow">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56822CBC-02A7-4689-83D9-8FBD0DE381D3}"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857995673"/>
      </p:ext>
    </p:extLst>
  </p:cSld>
  <p:clrMapOvr>
    <a:masterClrMapping/>
  </p:clrMapOvr>
  <p:transition spd="slow">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fld id="{FF93BD56-7C23-4F2F-AE04-A10AC98A08A3}"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108502224"/>
      </p:ext>
    </p:extLst>
  </p:cSld>
  <p:clrMapOvr>
    <a:masterClrMapping/>
  </p:clrMapOvr>
  <p:transition spd="slow">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fld id="{82B8ED05-1354-46C9-904A-47E6A755D38B}"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315937205"/>
      </p:ext>
    </p:extLst>
  </p:cSld>
  <p:clrMapOvr>
    <a:masterClrMapping/>
  </p:clrMapOvr>
  <p:transition spd="slow">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fld id="{8D980C0B-2EEB-42D4-838E-F0AAF7E14077}"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400137249"/>
      </p:ext>
    </p:extLst>
  </p:cSld>
  <p:clrMapOvr>
    <a:masterClrMapping/>
  </p:clrMapOvr>
  <p:transition spd="slow">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AB22F6A1-1EB9-4FAF-85CC-36AEDB3435D5}"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010794845"/>
      </p:ext>
    </p:extLst>
  </p:cSld>
  <p:clrMapOvr>
    <a:masterClrMapping/>
  </p:clrMapOvr>
  <p:transition spd="slow">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18163D52-0C1C-4DCE-BC07-E43F616B737F}"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4186350826"/>
      </p:ext>
    </p:extLst>
  </p:cSld>
  <p:clrMapOvr>
    <a:masterClrMapping/>
  </p:clrMapOvr>
  <p:transition spd="slow">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4011C634-AC44-4C61-8931-3F4E4E668D1F}"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782201340"/>
      </p:ext>
    </p:extLst>
  </p:cSld>
  <p:clrMapOvr>
    <a:masterClrMapping/>
  </p:clrMapOvr>
  <p:transition spd="slow">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E3D3E62E-2515-4CD3-AB23-3F0918500374}"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801869590"/>
      </p:ext>
    </p:extLst>
  </p:cSld>
  <p:clrMapOvr>
    <a:masterClrMapping/>
  </p:clrMapOvr>
  <p:transition spd="slow">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BF73A4F7-4CA4-4D3D-9A4C-944E8511EBC7}"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941802658"/>
      </p:ext>
    </p:extLst>
  </p:cSld>
  <p:clrMapOvr>
    <a:masterClrMapping/>
  </p:clrMapOvr>
  <p:transition spd="slow">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hart Placeholder 2"/>
          <p:cNvSpPr>
            <a:spLocks noGrp="1"/>
          </p:cNvSpPr>
          <p:nvPr>
            <p:ph type="chart" idx="1"/>
          </p:nvPr>
        </p:nvSpPr>
        <p:spPr>
          <a:xfrm>
            <a:off x="457200" y="1600200"/>
            <a:ext cx="8229600" cy="4525963"/>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7D020CB7-336F-4FE4-BC1C-2825E51786FA}"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203266597"/>
      </p:ext>
    </p:extLst>
  </p:cSld>
  <p:clrMapOvr>
    <a:masterClrMapping/>
  </p:clrMapOvr>
  <p:transition spd="slow">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fld id="{D951771B-2036-4E45-ACAC-9F5AB2FA6DCA}"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729873098"/>
      </p:ext>
    </p:extLst>
  </p:cSld>
  <p:clrMapOvr>
    <a:masterClrMapping/>
  </p:clrMapOvr>
  <p:transition spd="slow">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25963"/>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34DCC2E1-355D-4CD7-8AA8-FD6D91691CBC}"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84285559"/>
      </p:ext>
    </p:extLst>
  </p:cSld>
  <p:clrMapOvr>
    <a:masterClrMapping/>
  </p:clrMapOvr>
  <p:transition spd="slow">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fld id="{67E14686-CB76-4F7A-A82B-1A3D201B0B75}"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37314176"/>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theme" Target="../theme/theme3.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theme" Target="../theme/theme5.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6504" name="bmkFld2PresentationTitle"/>
          <p:cNvSpPr txBox="1">
            <a:spLocks noChangeArrowheads="1"/>
          </p:cNvSpPr>
          <p:nvPr/>
        </p:nvSpPr>
        <p:spPr bwMode="auto">
          <a:xfrm>
            <a:off x="152400" y="6316663"/>
            <a:ext cx="3238500" cy="207962"/>
          </a:xfrm>
          <a:prstGeom prst="rect">
            <a:avLst/>
          </a:prstGeom>
          <a:noFill/>
          <a:ln w="9525">
            <a:noFill/>
            <a:miter lim="800000"/>
            <a:headEnd/>
            <a:tailEnd/>
          </a:ln>
          <a:effectLst/>
        </p:spPr>
        <p:txBody>
          <a:bodyPr lIns="0" tIns="0" rIns="0" bIns="0" anchor="ctr"/>
          <a:lstStyle/>
          <a:p>
            <a:pPr>
              <a:spcBef>
                <a:spcPct val="50000"/>
              </a:spcBef>
              <a:defRPr/>
            </a:pPr>
            <a:r>
              <a:rPr lang="zh-TW" altLang="en-US" sz="1000" dirty="0">
                <a:solidFill>
                  <a:srgbClr val="666666"/>
                </a:solidFill>
                <a:latin typeface="微軟正黑體" pitchFamily="34" charset="-120"/>
                <a:ea typeface="微軟正黑體" pitchFamily="34" charset="-120"/>
                <a:cs typeface="Arial" charset="0"/>
              </a:rPr>
              <a:t>模型說明會</a:t>
            </a:r>
            <a:endParaRPr lang="en-GB" altLang="ja-JP" sz="1000" dirty="0">
              <a:solidFill>
                <a:srgbClr val="666666"/>
              </a:solidFill>
              <a:latin typeface="微軟正黑體" pitchFamily="34" charset="-120"/>
              <a:ea typeface="微軟正黑體" pitchFamily="34" charset="-120"/>
              <a:cs typeface="Arial" charset="0"/>
            </a:endParaRPr>
          </a:p>
        </p:txBody>
      </p:sp>
      <p:sp>
        <p:nvSpPr>
          <p:cNvPr id="106505" name="bmkFld2Date"/>
          <p:cNvSpPr txBox="1">
            <a:spLocks noChangeArrowheads="1"/>
          </p:cNvSpPr>
          <p:nvPr/>
        </p:nvSpPr>
        <p:spPr bwMode="auto">
          <a:xfrm>
            <a:off x="152400" y="6537325"/>
            <a:ext cx="3238500" cy="204788"/>
          </a:xfrm>
          <a:prstGeom prst="rect">
            <a:avLst/>
          </a:prstGeom>
          <a:noFill/>
          <a:ln w="9525">
            <a:noFill/>
            <a:miter lim="800000"/>
            <a:headEnd/>
            <a:tailEnd/>
          </a:ln>
          <a:effectLst/>
        </p:spPr>
        <p:txBody>
          <a:bodyPr lIns="0" tIns="0" rIns="0" bIns="0" anchor="ctr"/>
          <a:lstStyle/>
          <a:p>
            <a:pPr>
              <a:spcBef>
                <a:spcPct val="50000"/>
              </a:spcBef>
              <a:defRPr/>
            </a:pPr>
            <a:r>
              <a:rPr lang="en-US" altLang="ja-JP" sz="1000" dirty="0">
                <a:solidFill>
                  <a:srgbClr val="666666"/>
                </a:solidFill>
                <a:ea typeface="ＭＳ Ｐゴシック" pitchFamily="34" charset="-128"/>
                <a:cs typeface="Arial" pitchFamily="34" charset="0"/>
              </a:rPr>
              <a:t>Dec., 2012</a:t>
            </a:r>
            <a:endParaRPr lang="en-GB" altLang="ja-JP" sz="1000" dirty="0">
              <a:solidFill>
                <a:srgbClr val="666666"/>
              </a:solidFill>
              <a:ea typeface="ＭＳ Ｐゴシック" pitchFamily="34" charset="-128"/>
              <a:cs typeface="Arial" pitchFamily="34" charset="0"/>
            </a:endParaRPr>
          </a:p>
        </p:txBody>
      </p:sp>
      <p:sp>
        <p:nvSpPr>
          <p:cNvPr id="106506" name="Rectangle 10"/>
          <p:cNvSpPr>
            <a:spLocks noGrp="1" noChangeArrowheads="1"/>
          </p:cNvSpPr>
          <p:nvPr>
            <p:ph type="sldNum" sz="quarter" idx="4"/>
          </p:nvPr>
        </p:nvSpPr>
        <p:spPr bwMode="auto">
          <a:xfrm>
            <a:off x="4391025" y="6616700"/>
            <a:ext cx="360363" cy="107950"/>
          </a:xfrm>
          <a:prstGeom prst="rect">
            <a:avLst/>
          </a:prstGeom>
          <a:noFill/>
          <a:ln w="9525">
            <a:noFill/>
            <a:miter lim="800000"/>
            <a:headEnd/>
            <a:tailEnd/>
          </a:ln>
          <a:effectLst/>
        </p:spPr>
        <p:txBody>
          <a:bodyPr vert="horz" wrap="square" lIns="0" tIns="0" rIns="0" bIns="0" numCol="1" anchor="ctr" anchorCtr="0" compatLnSpc="1">
            <a:prstTxWarp prst="textNoShape">
              <a:avLst/>
            </a:prstTxWarp>
          </a:bodyPr>
          <a:lstStyle>
            <a:lvl1pPr algn="ctr" eaLnBrk="0" hangingPunct="0">
              <a:defRPr sz="700">
                <a:solidFill>
                  <a:srgbClr val="666666"/>
                </a:solidFill>
                <a:latin typeface="Arial" pitchFamily="34" charset="0"/>
                <a:ea typeface="ＭＳ Ｐゴシック" pitchFamily="34" charset="-128"/>
                <a:cs typeface="Arial" pitchFamily="34" charset="0"/>
              </a:defRPr>
            </a:lvl1pPr>
          </a:lstStyle>
          <a:p>
            <a:pPr>
              <a:defRPr/>
            </a:pPr>
            <a:fld id="{FE49C1CD-BB36-47CF-A1A0-F57F72094168}" type="slidenum">
              <a:rPr lang="en-GB" altLang="ja-JP"/>
              <a:pPr>
                <a:defRPr/>
              </a:pPr>
              <a:t>‹#›</a:t>
            </a:fld>
            <a:endParaRPr lang="en-GB" altLang="ja-JP"/>
          </a:p>
        </p:txBody>
      </p:sp>
      <p:sp>
        <p:nvSpPr>
          <p:cNvPr id="22533" name="Rectangle 11"/>
          <p:cNvSpPr>
            <a:spLocks noGrp="1" noChangeArrowheads="1"/>
          </p:cNvSpPr>
          <p:nvPr>
            <p:ph type="body" idx="1"/>
          </p:nvPr>
        </p:nvSpPr>
        <p:spPr bwMode="auto">
          <a:xfrm>
            <a:off x="152400" y="1135063"/>
            <a:ext cx="8839200" cy="4905375"/>
          </a:xfrm>
          <a:prstGeom prst="rect">
            <a:avLst/>
          </a:prstGeom>
          <a:noFill/>
          <a:ln w="9525">
            <a:noFill/>
            <a:miter lim="800000"/>
            <a:headEnd/>
            <a:tailEnd/>
          </a:ln>
        </p:spPr>
        <p:txBody>
          <a:bodyPr vert="horz" wrap="square" lIns="61200" tIns="0" rIns="61200" bIns="0" numCol="1" anchor="t" anchorCtr="0" compatLnSpc="1">
            <a:prstTxWarp prst="textNoShape">
              <a:avLst/>
            </a:prstTxWarp>
          </a:bodyPr>
          <a:lstStyle/>
          <a:p>
            <a:pPr lvl="0"/>
            <a:r>
              <a:rPr lang="en-GB" altLang="ja-JP"/>
              <a:t>Click to edit Master text styles</a:t>
            </a:r>
          </a:p>
          <a:p>
            <a:pPr lvl="1"/>
            <a:r>
              <a:rPr lang="en-GB" altLang="ja-JP"/>
              <a:t>Second level</a:t>
            </a:r>
          </a:p>
          <a:p>
            <a:pPr lvl="2"/>
            <a:r>
              <a:rPr lang="en-GB" altLang="ja-JP"/>
              <a:t>Third level</a:t>
            </a:r>
          </a:p>
          <a:p>
            <a:pPr lvl="3"/>
            <a:r>
              <a:rPr lang="en-GB" altLang="ja-JP"/>
              <a:t>Fourth level</a:t>
            </a:r>
          </a:p>
          <a:p>
            <a:pPr lvl="4"/>
            <a:r>
              <a:rPr lang="en-GB" altLang="ja-JP"/>
              <a:t>Fifth level</a:t>
            </a:r>
          </a:p>
        </p:txBody>
      </p:sp>
      <p:sp>
        <p:nvSpPr>
          <p:cNvPr id="22534" name="Rectangle 12"/>
          <p:cNvSpPr>
            <a:spLocks noGrp="1" noChangeArrowheads="1"/>
          </p:cNvSpPr>
          <p:nvPr>
            <p:ph type="title"/>
          </p:nvPr>
        </p:nvSpPr>
        <p:spPr bwMode="auto">
          <a:xfrm>
            <a:off x="152400" y="142875"/>
            <a:ext cx="8839200" cy="750888"/>
          </a:xfrm>
          <a:prstGeom prst="rect">
            <a:avLst/>
          </a:prstGeom>
          <a:noFill/>
          <a:ln w="9525">
            <a:noFill/>
            <a:miter lim="800000"/>
            <a:headEnd/>
            <a:tailEnd/>
          </a:ln>
        </p:spPr>
        <p:txBody>
          <a:bodyPr vert="horz" wrap="square" lIns="57600" tIns="0" rIns="57600" bIns="0" numCol="1" anchor="b" anchorCtr="0" compatLnSpc="1">
            <a:prstTxWarp prst="textNoShape">
              <a:avLst/>
            </a:prstTxWarp>
          </a:bodyPr>
          <a:lstStyle/>
          <a:p>
            <a:pPr lvl="0"/>
            <a:r>
              <a:rPr lang="en-GB" altLang="ja-JP"/>
              <a:t>Click to edit Master title style</a:t>
            </a:r>
          </a:p>
        </p:txBody>
      </p:sp>
      <p:sp>
        <p:nvSpPr>
          <p:cNvPr id="106509" name="Line 13"/>
          <p:cNvSpPr>
            <a:spLocks noChangeShapeType="1"/>
          </p:cNvSpPr>
          <p:nvPr/>
        </p:nvSpPr>
        <p:spPr bwMode="auto">
          <a:xfrm>
            <a:off x="152400" y="987425"/>
            <a:ext cx="8839200" cy="0"/>
          </a:xfrm>
          <a:prstGeom prst="line">
            <a:avLst/>
          </a:prstGeom>
          <a:noFill/>
          <a:ln w="6350">
            <a:solidFill>
              <a:srgbClr val="99999E"/>
            </a:solidFill>
            <a:round/>
            <a:headEnd/>
            <a:tailEnd/>
          </a:ln>
          <a:effectLst/>
        </p:spPr>
        <p:txBody>
          <a:bodyPr lIns="72000" rIns="72000" anchor="ctr"/>
          <a:lstStyle/>
          <a:p>
            <a:pPr>
              <a:defRPr/>
            </a:pPr>
            <a:endParaRPr lang="ja-JP" altLang="en-US">
              <a:latin typeface="Arial" charset="0"/>
            </a:endParaRPr>
          </a:p>
        </p:txBody>
      </p:sp>
      <p:sp>
        <p:nvSpPr>
          <p:cNvPr id="106510" name="Line 14"/>
          <p:cNvSpPr>
            <a:spLocks noChangeShapeType="1"/>
          </p:cNvSpPr>
          <p:nvPr/>
        </p:nvSpPr>
        <p:spPr bwMode="auto">
          <a:xfrm>
            <a:off x="152400" y="6191250"/>
            <a:ext cx="8839200" cy="0"/>
          </a:xfrm>
          <a:prstGeom prst="line">
            <a:avLst/>
          </a:prstGeom>
          <a:noFill/>
          <a:ln w="6350">
            <a:solidFill>
              <a:srgbClr val="99999E"/>
            </a:solidFill>
            <a:round/>
            <a:headEnd/>
            <a:tailEnd/>
          </a:ln>
          <a:effectLst/>
        </p:spPr>
        <p:txBody>
          <a:bodyPr lIns="72000" tIns="46800" rIns="72000" bIns="46800"/>
          <a:lstStyle/>
          <a:p>
            <a:pPr>
              <a:defRPr/>
            </a:pPr>
            <a:endParaRPr lang="ja-JP" altLang="en-US">
              <a:latin typeface="Arial" charset="0"/>
            </a:endParaRPr>
          </a:p>
        </p:txBody>
      </p:sp>
      <p:sp>
        <p:nvSpPr>
          <p:cNvPr id="106512" name="bmkDraft2"/>
          <p:cNvSpPr txBox="1">
            <a:spLocks noChangeArrowheads="1"/>
          </p:cNvSpPr>
          <p:nvPr/>
        </p:nvSpPr>
        <p:spPr bwMode="auto">
          <a:xfrm>
            <a:off x="3811588" y="6046788"/>
            <a:ext cx="1511300" cy="504825"/>
          </a:xfrm>
          <a:prstGeom prst="rect">
            <a:avLst/>
          </a:prstGeom>
          <a:noFill/>
          <a:ln w="9525">
            <a:noFill/>
            <a:miter lim="800000"/>
            <a:headEnd/>
            <a:tailEnd/>
          </a:ln>
          <a:effectLst/>
        </p:spPr>
        <p:txBody>
          <a:bodyPr lIns="0" tIns="0" rIns="0" bIns="0" anchor="b"/>
          <a:lstStyle/>
          <a:p>
            <a:pPr algn="ctr">
              <a:spcBef>
                <a:spcPct val="50000"/>
              </a:spcBef>
              <a:defRPr/>
            </a:pPr>
            <a:endParaRPr lang="en-GB" altLang="ja-JP" sz="2000">
              <a:ea typeface="ＭＳ Ｐゴシック" pitchFamily="34" charset="-128"/>
              <a:cs typeface="Arial" pitchFamily="34" charset="0"/>
            </a:endParaRPr>
          </a:p>
        </p:txBody>
      </p:sp>
      <p:sp>
        <p:nvSpPr>
          <p:cNvPr id="106513" name="bmkConfidentiality2"/>
          <p:cNvSpPr txBox="1">
            <a:spLocks noChangeArrowheads="1"/>
          </p:cNvSpPr>
          <p:nvPr/>
        </p:nvSpPr>
        <p:spPr bwMode="auto">
          <a:xfrm>
            <a:off x="152400" y="6030913"/>
            <a:ext cx="3022600" cy="144462"/>
          </a:xfrm>
          <a:prstGeom prst="rect">
            <a:avLst/>
          </a:prstGeom>
          <a:noFill/>
          <a:ln w="9525">
            <a:noFill/>
            <a:miter lim="800000"/>
            <a:headEnd/>
            <a:tailEnd/>
          </a:ln>
          <a:effectLst/>
        </p:spPr>
        <p:txBody>
          <a:bodyPr lIns="0" tIns="0" rIns="0" bIns="0" anchor="b"/>
          <a:lstStyle/>
          <a:p>
            <a:pPr>
              <a:spcBef>
                <a:spcPct val="50000"/>
              </a:spcBef>
              <a:defRPr/>
            </a:pPr>
            <a:endParaRPr lang="en-GB" altLang="ja-JP" sz="700" b="1">
              <a:solidFill>
                <a:srgbClr val="666666"/>
              </a:solidFill>
              <a:ea typeface="ＭＳ Ｐゴシック" pitchFamily="34" charset="-128"/>
              <a:cs typeface="Arial"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rtl="0" eaLnBrk="0" fontAlgn="base" hangingPunct="0">
        <a:spcBef>
          <a:spcPct val="0"/>
        </a:spcBef>
        <a:spcAft>
          <a:spcPct val="0"/>
        </a:spcAft>
        <a:defRPr sz="2800">
          <a:solidFill>
            <a:schemeClr val="tx1"/>
          </a:solidFill>
          <a:latin typeface="+mj-lt"/>
          <a:ea typeface="+mj-ea"/>
          <a:cs typeface="+mj-cs"/>
        </a:defRPr>
      </a:lvl1pPr>
      <a:lvl2pPr algn="l" rtl="0" eaLnBrk="0" fontAlgn="base" hangingPunct="0">
        <a:spcBef>
          <a:spcPct val="0"/>
        </a:spcBef>
        <a:spcAft>
          <a:spcPct val="0"/>
        </a:spcAft>
        <a:defRPr sz="2800">
          <a:solidFill>
            <a:schemeClr val="tx1"/>
          </a:solidFill>
          <a:latin typeface="Times New Roman" pitchFamily="18" charset="0"/>
        </a:defRPr>
      </a:lvl2pPr>
      <a:lvl3pPr algn="l" rtl="0" eaLnBrk="0" fontAlgn="base" hangingPunct="0">
        <a:spcBef>
          <a:spcPct val="0"/>
        </a:spcBef>
        <a:spcAft>
          <a:spcPct val="0"/>
        </a:spcAft>
        <a:defRPr sz="2800">
          <a:solidFill>
            <a:schemeClr val="tx1"/>
          </a:solidFill>
          <a:latin typeface="Times New Roman" pitchFamily="18" charset="0"/>
        </a:defRPr>
      </a:lvl3pPr>
      <a:lvl4pPr algn="l" rtl="0" eaLnBrk="0" fontAlgn="base" hangingPunct="0">
        <a:spcBef>
          <a:spcPct val="0"/>
        </a:spcBef>
        <a:spcAft>
          <a:spcPct val="0"/>
        </a:spcAft>
        <a:defRPr sz="2800">
          <a:solidFill>
            <a:schemeClr val="tx1"/>
          </a:solidFill>
          <a:latin typeface="Times New Roman" pitchFamily="18" charset="0"/>
        </a:defRPr>
      </a:lvl4pPr>
      <a:lvl5pPr algn="l" rtl="0" eaLnBrk="0" fontAlgn="base" hangingPunct="0">
        <a:spcBef>
          <a:spcPct val="0"/>
        </a:spcBef>
        <a:spcAft>
          <a:spcPct val="0"/>
        </a:spcAft>
        <a:defRPr sz="2800">
          <a:solidFill>
            <a:schemeClr val="tx1"/>
          </a:solidFill>
          <a:latin typeface="Times New Roman" pitchFamily="18" charset="0"/>
        </a:defRPr>
      </a:lvl5pPr>
      <a:lvl6pPr marL="457200" algn="l" rtl="0" fontAlgn="base">
        <a:spcBef>
          <a:spcPct val="0"/>
        </a:spcBef>
        <a:spcAft>
          <a:spcPct val="0"/>
        </a:spcAft>
        <a:defRPr sz="2800">
          <a:solidFill>
            <a:schemeClr val="tx1"/>
          </a:solidFill>
          <a:latin typeface="Times New Roman" pitchFamily="18" charset="0"/>
        </a:defRPr>
      </a:lvl6pPr>
      <a:lvl7pPr marL="914400" algn="l" rtl="0" fontAlgn="base">
        <a:spcBef>
          <a:spcPct val="0"/>
        </a:spcBef>
        <a:spcAft>
          <a:spcPct val="0"/>
        </a:spcAft>
        <a:defRPr sz="2800">
          <a:solidFill>
            <a:schemeClr val="tx1"/>
          </a:solidFill>
          <a:latin typeface="Times New Roman" pitchFamily="18" charset="0"/>
        </a:defRPr>
      </a:lvl7pPr>
      <a:lvl8pPr marL="1371600" algn="l" rtl="0" fontAlgn="base">
        <a:spcBef>
          <a:spcPct val="0"/>
        </a:spcBef>
        <a:spcAft>
          <a:spcPct val="0"/>
        </a:spcAft>
        <a:defRPr sz="2800">
          <a:solidFill>
            <a:schemeClr val="tx1"/>
          </a:solidFill>
          <a:latin typeface="Times New Roman" pitchFamily="18" charset="0"/>
        </a:defRPr>
      </a:lvl8pPr>
      <a:lvl9pPr marL="1828800" algn="l" rtl="0" fontAlgn="base">
        <a:spcBef>
          <a:spcPct val="0"/>
        </a:spcBef>
        <a:spcAft>
          <a:spcPct val="0"/>
        </a:spcAft>
        <a:defRPr sz="2800">
          <a:solidFill>
            <a:schemeClr val="tx1"/>
          </a:solidFill>
          <a:latin typeface="Times New Roman" pitchFamily="18" charset="0"/>
        </a:defRPr>
      </a:lvl9pPr>
    </p:titleStyle>
    <p:bodyStyle>
      <a:lvl1pPr marL="184150" indent="-184150" algn="l" rtl="0" eaLnBrk="0" fontAlgn="base" hangingPunct="0">
        <a:spcBef>
          <a:spcPct val="40000"/>
        </a:spcBef>
        <a:spcAft>
          <a:spcPct val="20000"/>
        </a:spcAft>
        <a:buClr>
          <a:schemeClr val="tx1"/>
        </a:buClr>
        <a:buFont typeface="Wingdings" pitchFamily="2" charset="2"/>
        <a:buChar char="§"/>
        <a:defRPr>
          <a:solidFill>
            <a:schemeClr val="tx2"/>
          </a:solidFill>
          <a:latin typeface="+mn-lt"/>
          <a:ea typeface="+mn-ea"/>
          <a:cs typeface="+mn-cs"/>
        </a:defRPr>
      </a:lvl1pPr>
      <a:lvl2pPr marL="354013" indent="-168275" algn="l" rtl="0" eaLnBrk="0" fontAlgn="base" hangingPunct="0">
        <a:spcBef>
          <a:spcPct val="0"/>
        </a:spcBef>
        <a:spcAft>
          <a:spcPct val="20000"/>
        </a:spcAft>
        <a:buClr>
          <a:schemeClr val="tx1"/>
        </a:buClr>
        <a:buFont typeface="Times New Roman" pitchFamily="18" charset="0"/>
        <a:buChar char="-"/>
        <a:defRPr sz="1600">
          <a:solidFill>
            <a:schemeClr val="tx2"/>
          </a:solidFill>
          <a:latin typeface="+mn-lt"/>
        </a:defRPr>
      </a:lvl2pPr>
      <a:lvl3pPr marL="546100" indent="-190500" algn="l" rtl="0" eaLnBrk="0" fontAlgn="base" hangingPunct="0">
        <a:spcBef>
          <a:spcPct val="0"/>
        </a:spcBef>
        <a:spcAft>
          <a:spcPct val="20000"/>
        </a:spcAft>
        <a:buClr>
          <a:schemeClr val="tx1"/>
        </a:buClr>
        <a:buFont typeface="Times New Roman" pitchFamily="18" charset="0"/>
        <a:buChar char="-"/>
        <a:defRPr sz="1400">
          <a:solidFill>
            <a:schemeClr val="tx2"/>
          </a:solidFill>
          <a:latin typeface="+mn-lt"/>
        </a:defRPr>
      </a:lvl3pPr>
      <a:lvl4pPr marL="722313" indent="-174625" algn="l" rtl="0" eaLnBrk="0" fontAlgn="base" hangingPunct="0">
        <a:spcBef>
          <a:spcPct val="0"/>
        </a:spcBef>
        <a:spcAft>
          <a:spcPct val="20000"/>
        </a:spcAft>
        <a:buClr>
          <a:schemeClr val="tx1"/>
        </a:buClr>
        <a:buFont typeface="Times New Roman" pitchFamily="18" charset="0"/>
        <a:buChar char="-"/>
        <a:defRPr sz="1400">
          <a:solidFill>
            <a:schemeClr val="tx2"/>
          </a:solidFill>
          <a:latin typeface="+mn-lt"/>
        </a:defRPr>
      </a:lvl4pPr>
      <a:lvl5pPr marL="906463" indent="-182563" algn="l" rtl="0" eaLnBrk="0" fontAlgn="base" hangingPunct="0">
        <a:spcBef>
          <a:spcPct val="0"/>
        </a:spcBef>
        <a:spcAft>
          <a:spcPct val="20000"/>
        </a:spcAft>
        <a:buClr>
          <a:schemeClr val="tx1"/>
        </a:buClr>
        <a:buFont typeface="Times New Roman" pitchFamily="18" charset="0"/>
        <a:buChar char="-"/>
        <a:defRPr sz="1400">
          <a:solidFill>
            <a:schemeClr val="tx2"/>
          </a:solidFill>
          <a:latin typeface="+mn-lt"/>
        </a:defRPr>
      </a:lvl5pPr>
      <a:lvl6pPr marL="1363663" indent="-182563" algn="l" rtl="0" fontAlgn="base">
        <a:spcBef>
          <a:spcPct val="0"/>
        </a:spcBef>
        <a:spcAft>
          <a:spcPct val="20000"/>
        </a:spcAft>
        <a:buClr>
          <a:schemeClr val="tx1"/>
        </a:buClr>
        <a:buFont typeface="Times New Roman" pitchFamily="18" charset="0"/>
        <a:buChar char="-"/>
        <a:defRPr sz="1400">
          <a:solidFill>
            <a:schemeClr val="tx2"/>
          </a:solidFill>
          <a:latin typeface="+mn-lt"/>
        </a:defRPr>
      </a:lvl6pPr>
      <a:lvl7pPr marL="1820863" indent="-182563" algn="l" rtl="0" fontAlgn="base">
        <a:spcBef>
          <a:spcPct val="0"/>
        </a:spcBef>
        <a:spcAft>
          <a:spcPct val="20000"/>
        </a:spcAft>
        <a:buClr>
          <a:schemeClr val="tx1"/>
        </a:buClr>
        <a:buFont typeface="Times New Roman" pitchFamily="18" charset="0"/>
        <a:buChar char="-"/>
        <a:defRPr sz="1400">
          <a:solidFill>
            <a:schemeClr val="tx2"/>
          </a:solidFill>
          <a:latin typeface="+mn-lt"/>
        </a:defRPr>
      </a:lvl7pPr>
      <a:lvl8pPr marL="2278063" indent="-182563" algn="l" rtl="0" fontAlgn="base">
        <a:spcBef>
          <a:spcPct val="0"/>
        </a:spcBef>
        <a:spcAft>
          <a:spcPct val="20000"/>
        </a:spcAft>
        <a:buClr>
          <a:schemeClr val="tx1"/>
        </a:buClr>
        <a:buFont typeface="Times New Roman" pitchFamily="18" charset="0"/>
        <a:buChar char="-"/>
        <a:defRPr sz="1400">
          <a:solidFill>
            <a:schemeClr val="tx2"/>
          </a:solidFill>
          <a:latin typeface="+mn-lt"/>
        </a:defRPr>
      </a:lvl8pPr>
      <a:lvl9pPr marL="2735263" indent="-182563" algn="l" rtl="0" fontAlgn="base">
        <a:spcBef>
          <a:spcPct val="0"/>
        </a:spcBef>
        <a:spcAft>
          <a:spcPct val="20000"/>
        </a:spcAft>
        <a:buClr>
          <a:schemeClr val="tx1"/>
        </a:buClr>
        <a:buFont typeface="Times New Roman" pitchFamily="18" charset="0"/>
        <a:buChar char="-"/>
        <a:defRPr sz="1400">
          <a:solidFill>
            <a:schemeClr val="tx2"/>
          </a:solidFill>
          <a:latin typeface="+mn-lt"/>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9840B9-2197-4D4A-8406-1406F6F4C133}" type="datetimeFigureOut">
              <a:rPr lang="zh-CN" altLang="en-US" smtClean="0"/>
              <a:pPr/>
              <a:t>2021/5/27</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E49C1CD-BB36-47CF-A1A0-F57F72094168}" type="slidenum">
              <a:rPr lang="en-GB" altLang="ja-JP" smtClean="0"/>
              <a:pPr>
                <a:defRPr/>
              </a:pPr>
              <a:t>‹#›</a:t>
            </a:fld>
            <a:endParaRPr lang="en-GB" altLang="ja-JP"/>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a:latin typeface="Arial" charset="0"/>
              </a:defRPr>
            </a:lvl1pPr>
          </a:lstStyle>
          <a:p>
            <a:pPr fontAlgn="base">
              <a:spcBef>
                <a:spcPct val="0"/>
              </a:spcBef>
              <a:spcAft>
                <a:spcPct val="0"/>
              </a:spcAft>
              <a:defRPr/>
            </a:pPr>
            <a:endParaRPr lang="en-US" altLang="zh-CN">
              <a:solidFill>
                <a:srgbClr val="000000"/>
              </a:solidFill>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algn="ctr" fontAlgn="base">
              <a:spcBef>
                <a:spcPct val="0"/>
              </a:spcBef>
              <a:spcAft>
                <a:spcPct val="0"/>
              </a:spcAft>
              <a:defRPr/>
            </a:pPr>
            <a:endParaRPr lang="en-US" altLang="zh-CN">
              <a:solidFill>
                <a:srgbClr val="000000"/>
              </a:solidFill>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pPr>
            <a:fld id="{2D6E799C-B028-4D8A-8184-70C23E64328A}" type="slidenum">
              <a:rPr lang="en-US" altLang="zh-CN" smtClean="0">
                <a:solidFill>
                  <a:srgbClr val="000000"/>
                </a:solidFill>
              </a:rPr>
              <a:pPr fontAlgn="base">
                <a:spcBef>
                  <a:spcPct val="0"/>
                </a:spcBef>
                <a:spcAft>
                  <a:spcPct val="0"/>
                </a:spcAft>
              </a:pPr>
              <a:t>‹#›</a:t>
            </a:fld>
            <a:endParaRPr lang="en-US" altLang="zh-CN">
              <a:solidFill>
                <a:srgbClr val="000000"/>
              </a:solidFill>
            </a:endParaRPr>
          </a:p>
        </p:txBody>
      </p:sp>
    </p:spTree>
    <p:extLst>
      <p:ext uri="{BB962C8B-B14F-4D97-AF65-F5344CB8AC3E}">
        <p14:creationId xmlns:p14="http://schemas.microsoft.com/office/powerpoint/2010/main" val="3489771111"/>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ea typeface="黑体" panose="02010609060101010101" pitchFamily="49" charset="-122"/>
              </a:defRPr>
            </a:lvl1pPr>
          </a:lstStyle>
          <a:p>
            <a:fld id="{EEB1732E-73EA-499E-AF9B-3055FD8F9015}" type="datetimeFigureOut">
              <a:rPr lang="zh-CN" altLang="en-US" smtClean="0">
                <a:solidFill>
                  <a:prstClr val="black">
                    <a:tint val="75000"/>
                  </a:prstClr>
                </a:solidFill>
              </a:rPr>
              <a:pPr/>
              <a:t>2021/5/27</a:t>
            </a:fld>
            <a:endParaRPr lang="zh-CN" altLang="en-US" dirty="0">
              <a:solidFill>
                <a:prstClr val="black">
                  <a:tint val="75000"/>
                </a:prstClr>
              </a:solidFill>
            </a:endParaRPr>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ea typeface="黑体" panose="02010609060101010101" pitchFamily="49" charset="-122"/>
              </a:defRPr>
            </a:lvl1pPr>
          </a:lstStyle>
          <a:p>
            <a:endParaRPr lang="zh-CN" altLang="en-US" dirty="0">
              <a:solidFill>
                <a:prstClr val="black">
                  <a:tint val="75000"/>
                </a:prstClr>
              </a:solidFill>
            </a:endParaRPr>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ea typeface="黑体" panose="02010609060101010101" pitchFamily="49" charset="-122"/>
              </a:defRPr>
            </a:lvl1pPr>
          </a:lstStyle>
          <a:p>
            <a:fld id="{DD5B18DA-153F-4BBF-9516-8B0CB30AEE9C}" type="slidenum">
              <a:rPr lang="zh-CN" altLang="en-US" smtClean="0">
                <a:solidFill>
                  <a:prstClr val="black">
                    <a:tint val="75000"/>
                  </a:prstClr>
                </a:solidFill>
              </a:rPr>
              <a:pPr/>
              <a:t>‹#›</a:t>
            </a:fld>
            <a:endParaRPr lang="zh-CN" altLang="en-US" dirty="0">
              <a:solidFill>
                <a:prstClr val="black">
                  <a:tint val="75000"/>
                </a:prstClr>
              </a:solidFill>
            </a:endParaRPr>
          </a:p>
        </p:txBody>
      </p:sp>
    </p:spTree>
    <p:extLst>
      <p:ext uri="{BB962C8B-B14F-4D97-AF65-F5344CB8AC3E}">
        <p14:creationId xmlns:p14="http://schemas.microsoft.com/office/powerpoint/2010/main" val="2378488194"/>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黑体" panose="02010609060101010101" pitchFamily="49" charset="-122"/>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黑体" panose="02010609060101010101" pitchFamily="49" charset="-122"/>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黑体" panose="02010609060101010101" pitchFamily="49" charset="-122"/>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黑体" panose="02010609060101010101" pitchFamily="49"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黑体" panose="02010609060101010101" pitchFamily="49" charset="-122"/>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黑体" panose="02010609060101010101" pitchFamily="49"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t>Click to edit Master title style</a:t>
            </a:r>
          </a:p>
        </p:txBody>
      </p:sp>
      <p:sp>
        <p:nvSpPr>
          <p:cNvPr id="18435"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280580"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atin typeface="Arial" charset="0"/>
                <a:ea typeface="宋体" pitchFamily="2" charset="-122"/>
              </a:defRPr>
            </a:lvl1pPr>
          </a:lstStyle>
          <a:p>
            <a:pPr fontAlgn="base">
              <a:spcBef>
                <a:spcPct val="0"/>
              </a:spcBef>
              <a:spcAft>
                <a:spcPct val="0"/>
              </a:spcAft>
              <a:defRPr/>
            </a:pPr>
            <a:endParaRPr lang="en-US" altLang="zh-CN">
              <a:solidFill>
                <a:srgbClr val="000000"/>
              </a:solidFill>
            </a:endParaRPr>
          </a:p>
        </p:txBody>
      </p:sp>
      <p:sp>
        <p:nvSpPr>
          <p:cNvPr id="28058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ea typeface="宋体" pitchFamily="2" charset="-122"/>
              </a:defRPr>
            </a:lvl1pPr>
          </a:lstStyle>
          <a:p>
            <a:pPr algn="ctr" fontAlgn="base">
              <a:spcBef>
                <a:spcPct val="0"/>
              </a:spcBef>
              <a:spcAft>
                <a:spcPct val="0"/>
              </a:spcAft>
              <a:defRPr/>
            </a:pPr>
            <a:endParaRPr lang="en-US" altLang="zh-CN">
              <a:solidFill>
                <a:srgbClr val="000000"/>
              </a:solidFill>
            </a:endParaRPr>
          </a:p>
        </p:txBody>
      </p:sp>
      <p:sp>
        <p:nvSpPr>
          <p:cNvPr id="280582"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a typeface="宋体" panose="02010600030101010101" pitchFamily="2" charset="-122"/>
              </a:defRPr>
            </a:lvl1pPr>
          </a:lstStyle>
          <a:p>
            <a:pPr fontAlgn="base">
              <a:spcBef>
                <a:spcPct val="0"/>
              </a:spcBef>
              <a:spcAft>
                <a:spcPct val="0"/>
              </a:spcAft>
            </a:pPr>
            <a:fld id="{C37BE3E2-2FB7-42F7-94EE-8129F261AA46}" type="slidenum">
              <a:rPr lang="zh-CN" altLang="en-US" smtClean="0">
                <a:solidFill>
                  <a:srgbClr val="000000"/>
                </a:solidFill>
              </a:rPr>
              <a:pPr fontAlgn="base">
                <a:spcBef>
                  <a:spcPct val="0"/>
                </a:spcBef>
                <a:spcAft>
                  <a:spcPct val="0"/>
                </a:spcAft>
              </a:pPr>
              <a:t>‹#›</a:t>
            </a:fld>
            <a:endParaRPr lang="en-US" altLang="zh-CN">
              <a:solidFill>
                <a:srgbClr val="000000"/>
              </a:solidFill>
            </a:endParaRPr>
          </a:p>
        </p:txBody>
      </p:sp>
    </p:spTree>
    <p:extLst>
      <p:ext uri="{BB962C8B-B14F-4D97-AF65-F5344CB8AC3E}">
        <p14:creationId xmlns:p14="http://schemas.microsoft.com/office/powerpoint/2010/main" val="4175773410"/>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 id="2147483789" r:id="rId16"/>
  </p:sldLayoutIdLst>
  <p:transition spd="slow">
    <p:fade/>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5.wmf"/><Relationship Id="rId5" Type="http://schemas.openxmlformats.org/officeDocument/2006/relationships/oleObject" Target="../embeddings/oleObject2.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5.bin"/><Relationship Id="rId1" Type="http://schemas.openxmlformats.org/officeDocument/2006/relationships/slideLayout" Target="../slideLayouts/slideLayout13.xml"/><Relationship Id="rId4" Type="http://schemas.openxmlformats.org/officeDocument/2006/relationships/comments" Target="../comments/comment1.xml"/></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6.bin"/><Relationship Id="rId1" Type="http://schemas.openxmlformats.org/officeDocument/2006/relationships/slideLayout" Target="../slideLayouts/slideLayout13.xml"/><Relationship Id="rId4" Type="http://schemas.openxmlformats.org/officeDocument/2006/relationships/comments" Target="../comments/comment2.xml"/></Relationships>
</file>

<file path=ppt/slides/_rels/slide1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7.bin"/><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7.xml"/><Relationship Id="rId1" Type="http://schemas.openxmlformats.org/officeDocument/2006/relationships/audio" Target="file:///C:\wptext\Agec618\MultiregionModel\Accounting\Accounting_02.ppt370.WAV" TargetMode="External"/><Relationship Id="rId6" Type="http://schemas.openxmlformats.org/officeDocument/2006/relationships/image" Target="../media/image11.png"/><Relationship Id="rId5" Type="http://schemas.openxmlformats.org/officeDocument/2006/relationships/image" Target="../media/image10.emf"/><Relationship Id="rId4" Type="http://schemas.openxmlformats.org/officeDocument/2006/relationships/oleObject" Target="../embeddings/oleObject8.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audio" Target="file:///C:\wptext\Agec618\MultiregionModel\Accounting\Accounting_02.ppt374.WAV" TargetMode="Externa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12.emf"/></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10.bin"/><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1.bin"/><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2.bin"/><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3.bin"/><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14.bin"/><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image" Target="../media/image19.wmf"/><Relationship Id="rId7" Type="http://schemas.openxmlformats.org/officeDocument/2006/relationships/image" Target="../media/image21.wmf"/><Relationship Id="rId2" Type="http://schemas.openxmlformats.org/officeDocument/2006/relationships/oleObject" Target="../embeddings/oleObject15.bin"/><Relationship Id="rId1" Type="http://schemas.openxmlformats.org/officeDocument/2006/relationships/slideLayout" Target="../slideLayouts/slideLayout17.xml"/><Relationship Id="rId6" Type="http://schemas.openxmlformats.org/officeDocument/2006/relationships/oleObject" Target="../embeddings/oleObject17.bin"/><Relationship Id="rId11" Type="http://schemas.openxmlformats.org/officeDocument/2006/relationships/image" Target="../media/image23.wmf"/><Relationship Id="rId5" Type="http://schemas.openxmlformats.org/officeDocument/2006/relationships/image" Target="../media/image20.wmf"/><Relationship Id="rId10" Type="http://schemas.openxmlformats.org/officeDocument/2006/relationships/oleObject" Target="../embeddings/oleObject19.bin"/><Relationship Id="rId4" Type="http://schemas.openxmlformats.org/officeDocument/2006/relationships/oleObject" Target="../embeddings/oleObject16.bin"/><Relationship Id="rId9" Type="http://schemas.openxmlformats.org/officeDocument/2006/relationships/image" Target="../media/image22.wmf"/></Relationships>
</file>

<file path=ppt/slides/_rels/slide29.xml.rels><?xml version="1.0" encoding="UTF-8" standalone="yes"?>
<Relationships xmlns="http://schemas.openxmlformats.org/package/2006/relationships"><Relationship Id="rId3" Type="http://schemas.openxmlformats.org/officeDocument/2006/relationships/image" Target="../media/image24.wmf"/><Relationship Id="rId7" Type="http://schemas.openxmlformats.org/officeDocument/2006/relationships/image" Target="../media/image23.wmf"/><Relationship Id="rId2" Type="http://schemas.openxmlformats.org/officeDocument/2006/relationships/oleObject" Target="../embeddings/oleObject20.bin"/><Relationship Id="rId1" Type="http://schemas.openxmlformats.org/officeDocument/2006/relationships/slideLayout" Target="../slideLayouts/slideLayout17.xml"/><Relationship Id="rId6" Type="http://schemas.openxmlformats.org/officeDocument/2006/relationships/oleObject" Target="../embeddings/oleObject22.bin"/><Relationship Id="rId5" Type="http://schemas.openxmlformats.org/officeDocument/2006/relationships/image" Target="../media/image25.wmf"/><Relationship Id="rId4" Type="http://schemas.openxmlformats.org/officeDocument/2006/relationships/oleObject" Target="../embeddings/oleObject21.bin"/></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image" Target="../media/image26.emf"/><Relationship Id="rId1" Type="http://schemas.openxmlformats.org/officeDocument/2006/relationships/slideLayout" Target="../slideLayouts/slideLayout17.xml"/><Relationship Id="rId4" Type="http://schemas.openxmlformats.org/officeDocument/2006/relationships/image" Target="../media/image27.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24.bin"/><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oleObject" Target="../embeddings/oleObject25.bin"/><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oleObject" Target="../embeddings/oleObject26.bin"/><Relationship Id="rId1" Type="http://schemas.openxmlformats.org/officeDocument/2006/relationships/slideLayout" Target="../slideLayouts/slideLayout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2.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oleObject" Target="../embeddings/oleObject27.bin"/><Relationship Id="rId1"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oleObject" Target="../embeddings/oleObject28.bin"/><Relationship Id="rId1" Type="http://schemas.openxmlformats.org/officeDocument/2006/relationships/slideLayout" Target="../slideLayouts/slideLayout35.xml"/></Relationships>
</file>

<file path=ppt/slides/_rels/slide44.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oleObject" Target="../embeddings/oleObject29.bin"/><Relationship Id="rId1" Type="http://schemas.openxmlformats.org/officeDocument/2006/relationships/slideLayout" Target="../slideLayouts/slideLayout35.xml"/></Relationships>
</file>

<file path=ppt/slides/_rels/slide45.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oleObject" Target="../embeddings/oleObject30.bin"/><Relationship Id="rId1" Type="http://schemas.openxmlformats.org/officeDocument/2006/relationships/slideLayout" Target="../slideLayouts/slideLayout35.xml"/></Relationships>
</file>

<file path=ppt/slides/_rels/slide46.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oleObject" Target="../embeddings/oleObject31.bin"/><Relationship Id="rId1" Type="http://schemas.openxmlformats.org/officeDocument/2006/relationships/slideLayout" Target="../slideLayouts/slideLayout35.xml"/></Relationships>
</file>

<file path=ppt/slides/_rels/slide47.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32.bin"/><Relationship Id="rId1" Type="http://schemas.openxmlformats.org/officeDocument/2006/relationships/slideLayout" Target="../slideLayouts/slideLayout35.xml"/></Relationships>
</file>

<file path=ppt/slides/_rels/slide48.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oleObject" Target="../embeddings/oleObject33.bin"/><Relationship Id="rId1" Type="http://schemas.openxmlformats.org/officeDocument/2006/relationships/slideLayout" Target="../slideLayouts/slideLayout3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0.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oleObject" Target="../embeddings/oleObject34.bin"/><Relationship Id="rId1" Type="http://schemas.openxmlformats.org/officeDocument/2006/relationships/slideLayout" Target="../slideLayouts/slideLayout35.xml"/></Relationships>
</file>

<file path=ppt/slides/_rels/slide51.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oleObject" Target="../embeddings/oleObject35.bin"/><Relationship Id="rId1" Type="http://schemas.openxmlformats.org/officeDocument/2006/relationships/slideLayout" Target="../slideLayouts/slideLayout35.xml"/></Relationships>
</file>

<file path=ppt/slides/_rels/slide5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38.xml"/><Relationship Id="rId4" Type="http://schemas.openxmlformats.org/officeDocument/2006/relationships/chart" Target="../charts/chart3.xml"/></Relationships>
</file>

<file path=ppt/slides/_rels/slide5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38.xml"/><Relationship Id="rId4" Type="http://schemas.openxmlformats.org/officeDocument/2006/relationships/chart" Target="../charts/chart6.xml"/></Relationships>
</file>

<file path=ppt/slides/_rels/slide59.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3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1.xml.rels><?xml version="1.0" encoding="UTF-8" standalone="yes"?>
<Relationships xmlns="http://schemas.openxmlformats.org/package/2006/relationships"><Relationship Id="rId8" Type="http://schemas.openxmlformats.org/officeDocument/2006/relationships/image" Target="../media/image49.jpeg"/><Relationship Id="rId3" Type="http://schemas.openxmlformats.org/officeDocument/2006/relationships/image" Target="../media/image44.jpeg"/><Relationship Id="rId7" Type="http://schemas.openxmlformats.org/officeDocument/2006/relationships/image" Target="../media/image48.jpeg"/><Relationship Id="rId2" Type="http://schemas.openxmlformats.org/officeDocument/2006/relationships/image" Target="../media/image43.png"/><Relationship Id="rId1" Type="http://schemas.openxmlformats.org/officeDocument/2006/relationships/slideLayout" Target="../slideLayouts/slideLayout38.xml"/><Relationship Id="rId6" Type="http://schemas.openxmlformats.org/officeDocument/2006/relationships/image" Target="../media/image47.jpeg"/><Relationship Id="rId5" Type="http://schemas.openxmlformats.org/officeDocument/2006/relationships/image" Target="../media/image46.jpeg"/><Relationship Id="rId4" Type="http://schemas.openxmlformats.org/officeDocument/2006/relationships/image" Target="../media/image45.jpeg"/></Relationships>
</file>

<file path=ppt/slides/_rels/slide62.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oleObject" Target="../embeddings/oleObject36.bin"/><Relationship Id="rId1" Type="http://schemas.openxmlformats.org/officeDocument/2006/relationships/slideLayout" Target="../slideLayouts/slideLayout48.xml"/></Relationships>
</file>

<file path=ppt/slides/_rels/slide63.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oleObject" Target="../embeddings/oleObject37.bin"/><Relationship Id="rId1" Type="http://schemas.openxmlformats.org/officeDocument/2006/relationships/slideLayout" Target="../slideLayouts/slideLayout4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3.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notesSlide" Target="../notesSlides/notesSlide10.xml"/><Relationship Id="rId1" Type="http://schemas.openxmlformats.org/officeDocument/2006/relationships/slideLayout" Target="../slideLayouts/slideLayout48.xml"/><Relationship Id="rId4" Type="http://schemas.openxmlformats.org/officeDocument/2006/relationships/image" Target="../media/image52.emf"/></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8.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9.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8.xml"/></Relationships>
</file>

<file path=ppt/slides/_rels/slide73.xml.rels><?xml version="1.0" encoding="UTF-8" standalone="yes"?>
<Relationships xmlns="http://schemas.openxmlformats.org/package/2006/relationships"><Relationship Id="rId8" Type="http://schemas.openxmlformats.org/officeDocument/2006/relationships/image" Target="../media/image55.emf"/><Relationship Id="rId3" Type="http://schemas.openxmlformats.org/officeDocument/2006/relationships/oleObject" Target="../embeddings/oleObject39.bin"/><Relationship Id="rId7" Type="http://schemas.openxmlformats.org/officeDocument/2006/relationships/oleObject" Target="../embeddings/oleObject41.bin"/><Relationship Id="rId2" Type="http://schemas.openxmlformats.org/officeDocument/2006/relationships/notesSlide" Target="../notesSlides/notesSlide14.xml"/><Relationship Id="rId1" Type="http://schemas.openxmlformats.org/officeDocument/2006/relationships/slideLayout" Target="../slideLayouts/slideLayout49.xml"/><Relationship Id="rId6" Type="http://schemas.openxmlformats.org/officeDocument/2006/relationships/image" Target="../media/image54.emf"/><Relationship Id="rId5" Type="http://schemas.openxmlformats.org/officeDocument/2006/relationships/oleObject" Target="../embeddings/oleObject40.bin"/><Relationship Id="rId4" Type="http://schemas.openxmlformats.org/officeDocument/2006/relationships/image" Target="../media/image53.emf"/></Relationships>
</file>

<file path=ppt/slides/_rels/slide74.xml.rels><?xml version="1.0" encoding="UTF-8" standalone="yes"?>
<Relationships xmlns="http://schemas.openxmlformats.org/package/2006/relationships"><Relationship Id="rId8" Type="http://schemas.openxmlformats.org/officeDocument/2006/relationships/image" Target="../media/image58.emf"/><Relationship Id="rId3" Type="http://schemas.openxmlformats.org/officeDocument/2006/relationships/oleObject" Target="../embeddings/oleObject42.bin"/><Relationship Id="rId7" Type="http://schemas.openxmlformats.org/officeDocument/2006/relationships/oleObject" Target="../embeddings/oleObject44.bin"/><Relationship Id="rId2" Type="http://schemas.openxmlformats.org/officeDocument/2006/relationships/notesSlide" Target="../notesSlides/notesSlide15.xml"/><Relationship Id="rId1" Type="http://schemas.openxmlformats.org/officeDocument/2006/relationships/slideLayout" Target="../slideLayouts/slideLayout49.xml"/><Relationship Id="rId6" Type="http://schemas.openxmlformats.org/officeDocument/2006/relationships/image" Target="../media/image57.emf"/><Relationship Id="rId5" Type="http://schemas.openxmlformats.org/officeDocument/2006/relationships/oleObject" Target="../embeddings/oleObject43.bin"/><Relationship Id="rId4" Type="http://schemas.openxmlformats.org/officeDocument/2006/relationships/image" Target="../media/image56.em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9.xml.rels><?xml version="1.0" encoding="UTF-8" standalone="yes"?>
<Relationships xmlns="http://schemas.openxmlformats.org/package/2006/relationships"><Relationship Id="rId8" Type="http://schemas.openxmlformats.org/officeDocument/2006/relationships/image" Target="../media/image61.emf"/><Relationship Id="rId3" Type="http://schemas.openxmlformats.org/officeDocument/2006/relationships/oleObject" Target="../embeddings/oleObject45.bin"/><Relationship Id="rId7" Type="http://schemas.openxmlformats.org/officeDocument/2006/relationships/oleObject" Target="../embeddings/oleObject47.bin"/><Relationship Id="rId2" Type="http://schemas.openxmlformats.org/officeDocument/2006/relationships/notesSlide" Target="../notesSlides/notesSlide16.xml"/><Relationship Id="rId1" Type="http://schemas.openxmlformats.org/officeDocument/2006/relationships/slideLayout" Target="../slideLayouts/slideLayout49.xml"/><Relationship Id="rId6" Type="http://schemas.openxmlformats.org/officeDocument/2006/relationships/image" Target="../media/image60.emf"/><Relationship Id="rId5" Type="http://schemas.openxmlformats.org/officeDocument/2006/relationships/oleObject" Target="../embeddings/oleObject46.bin"/><Relationship Id="rId4" Type="http://schemas.openxmlformats.org/officeDocument/2006/relationships/image" Target="../media/image59.e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8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51.xml"/></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notesSlide" Target="../notesSlides/notesSlide17.xml"/><Relationship Id="rId1" Type="http://schemas.openxmlformats.org/officeDocument/2006/relationships/slideLayout" Target="../slideLayouts/slideLayout56.xml"/><Relationship Id="rId4" Type="http://schemas.openxmlformats.org/officeDocument/2006/relationships/image" Target="../media/image64.e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86.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oleObject" Target="../embeddings/oleObject49.bin"/><Relationship Id="rId1" Type="http://schemas.openxmlformats.org/officeDocument/2006/relationships/slideLayout" Target="../slideLayouts/slideLayout5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91.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image" Target="../media/image66.png"/><Relationship Id="rId1" Type="http://schemas.openxmlformats.org/officeDocument/2006/relationships/slideLayout" Target="../slideLayouts/slideLayout5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93.xml.rels><?xml version="1.0" encoding="UTF-8" standalone="yes"?>
<Relationships xmlns="http://schemas.openxmlformats.org/package/2006/relationships"><Relationship Id="rId3" Type="http://schemas.openxmlformats.org/officeDocument/2006/relationships/image" Target="../media/image74.png"/><Relationship Id="rId7" Type="http://schemas.openxmlformats.org/officeDocument/2006/relationships/image" Target="../media/image67.png"/><Relationship Id="rId2" Type="http://schemas.openxmlformats.org/officeDocument/2006/relationships/image" Target="../media/image73.png"/><Relationship Id="rId1" Type="http://schemas.openxmlformats.org/officeDocument/2006/relationships/slideLayout" Target="../slideLayouts/slideLayout51.xml"/><Relationship Id="rId6" Type="http://schemas.openxmlformats.org/officeDocument/2006/relationships/image" Target="../media/image66.png"/><Relationship Id="rId5" Type="http://schemas.openxmlformats.org/officeDocument/2006/relationships/image" Target="../media/image76.png"/><Relationship Id="rId4" Type="http://schemas.openxmlformats.org/officeDocument/2006/relationships/image" Target="../media/image7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95.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oleObject" Target="../embeddings/oleObject50.bin"/><Relationship Id="rId1" Type="http://schemas.openxmlformats.org/officeDocument/2006/relationships/slideLayout" Target="../slideLayouts/slideLayout62.xml"/><Relationship Id="rId5" Type="http://schemas.openxmlformats.org/officeDocument/2006/relationships/image" Target="../media/image78.emf"/><Relationship Id="rId4" Type="http://schemas.openxmlformats.org/officeDocument/2006/relationships/oleObject" Target="../embeddings/oleObject51.bin"/></Relationships>
</file>

<file path=ppt/slides/_rels/slide9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51.xml"/><Relationship Id="rId5" Type="http://schemas.openxmlformats.org/officeDocument/2006/relationships/image" Target="../media/image79.png"/><Relationship Id="rId4" Type="http://schemas.openxmlformats.org/officeDocument/2006/relationships/image" Target="../media/image69.png"/></Relationships>
</file>

<file path=ppt/slides/_rels/slide9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51.xml"/><Relationship Id="rId5" Type="http://schemas.openxmlformats.org/officeDocument/2006/relationships/image" Target="../media/image80.png"/><Relationship Id="rId4" Type="http://schemas.openxmlformats.org/officeDocument/2006/relationships/image" Target="../media/image69.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99.xml.rels><?xml version="1.0" encoding="UTF-8" standalone="yes"?>
<Relationships xmlns="http://schemas.openxmlformats.org/package/2006/relationships"><Relationship Id="rId3" Type="http://schemas.openxmlformats.org/officeDocument/2006/relationships/image" Target="../media/image81.emf"/><Relationship Id="rId2" Type="http://schemas.openxmlformats.org/officeDocument/2006/relationships/oleObject" Target="../embeddings/oleObject52.bin"/><Relationship Id="rId1" Type="http://schemas.openxmlformats.org/officeDocument/2006/relationships/slideLayout" Target="../slideLayouts/slideLayout51.xml"/><Relationship Id="rId4" Type="http://schemas.openxmlformats.org/officeDocument/2006/relationships/image" Target="../media/image82.png"/></Relationships>
</file>

<file path=ppt/slides/_rels/slide100.xml.rels><?xml version="1.0" encoding="UTF-8" standalone="yes"?>
<Relationships xmlns="http://schemas.openxmlformats.org/package/2006/relationships"><Relationship Id="rId3" Type="http://schemas.openxmlformats.org/officeDocument/2006/relationships/image" Target="../media/image84.jpg"/><Relationship Id="rId2" Type="http://schemas.openxmlformats.org/officeDocument/2006/relationships/image" Target="../media/image83.jpg"/><Relationship Id="rId1" Type="http://schemas.openxmlformats.org/officeDocument/2006/relationships/slideLayout" Target="../slideLayouts/slideLayout51.xml"/><Relationship Id="rId5" Type="http://schemas.openxmlformats.org/officeDocument/2006/relationships/image" Target="../media/image86.jpg"/><Relationship Id="rId4" Type="http://schemas.openxmlformats.org/officeDocument/2006/relationships/image" Target="../media/image8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714348" y="1571612"/>
            <a:ext cx="7772400" cy="1470025"/>
          </a:xfrm>
        </p:spPr>
        <p:txBody>
          <a:bodyPr>
            <a:normAutofit/>
          </a:bodyPr>
          <a:lstStyle/>
          <a:p>
            <a:r>
              <a:rPr lang="zh-CN" altLang="en-US" sz="4000" dirty="0">
                <a:solidFill>
                  <a:srgbClr val="FF0000"/>
                </a:solidFill>
                <a:latin typeface="黑体" pitchFamily="49" charset="-122"/>
                <a:ea typeface="黑体" pitchFamily="49" charset="-122"/>
              </a:rPr>
              <a:t>一般均衡模型理论及其结构</a:t>
            </a:r>
          </a:p>
        </p:txBody>
      </p:sp>
      <p:sp>
        <p:nvSpPr>
          <p:cNvPr id="3" name="副标题 2"/>
          <p:cNvSpPr>
            <a:spLocks noGrp="1"/>
          </p:cNvSpPr>
          <p:nvPr>
            <p:ph type="subTitle" idx="1"/>
          </p:nvPr>
        </p:nvSpPr>
        <p:spPr>
          <a:xfrm>
            <a:off x="1371600" y="3886200"/>
            <a:ext cx="6700862" cy="1752600"/>
          </a:xfrm>
        </p:spPr>
        <p:txBody>
          <a:bodyPr>
            <a:normAutofit fontScale="92500" lnSpcReduction="10000"/>
          </a:bodyPr>
          <a:lstStyle/>
          <a:p>
            <a:r>
              <a:rPr lang="zh-CN" altLang="en-US" sz="2800" b="1" dirty="0">
                <a:solidFill>
                  <a:srgbClr val="000099"/>
                </a:solidFill>
                <a:latin typeface="黑体" pitchFamily="49" charset="-122"/>
                <a:ea typeface="黑体" pitchFamily="49" charset="-122"/>
              </a:rPr>
              <a:t>杨 军</a:t>
            </a:r>
            <a:br>
              <a:rPr lang="en-US" altLang="zh-CN" sz="2800" b="1" dirty="0">
                <a:solidFill>
                  <a:srgbClr val="000099"/>
                </a:solidFill>
                <a:latin typeface="黑体" pitchFamily="49" charset="-122"/>
                <a:ea typeface="黑体" pitchFamily="49" charset="-122"/>
              </a:rPr>
            </a:br>
            <a:endParaRPr lang="en-US" altLang="zh-CN" sz="2800" b="1" dirty="0">
              <a:solidFill>
                <a:srgbClr val="000099"/>
              </a:solidFill>
              <a:latin typeface="黑体" pitchFamily="49" charset="-122"/>
              <a:ea typeface="黑体" pitchFamily="49" charset="-122"/>
            </a:endParaRPr>
          </a:p>
          <a:p>
            <a:r>
              <a:rPr lang="zh-CN" altLang="en-US" sz="2800" b="1" dirty="0">
                <a:solidFill>
                  <a:srgbClr val="000099"/>
                </a:solidFill>
                <a:latin typeface="Calibri" panose="020F0502020204030204" pitchFamily="34" charset="0"/>
                <a:ea typeface="黑体" pitchFamily="49" charset="-122"/>
              </a:rPr>
              <a:t>对外经济贸易大学国际经济贸易学院</a:t>
            </a:r>
            <a:endParaRPr lang="en-US" altLang="zh-CN" sz="2800" b="1" dirty="0">
              <a:solidFill>
                <a:srgbClr val="000099"/>
              </a:solidFill>
              <a:latin typeface="Calibri" panose="020F0502020204030204" pitchFamily="34" charset="0"/>
              <a:ea typeface="黑体" pitchFamily="49" charset="-122"/>
            </a:endParaRPr>
          </a:p>
          <a:p>
            <a:r>
              <a:rPr lang="zh-CN" altLang="en-US" sz="2800" b="1" dirty="0">
                <a:solidFill>
                  <a:srgbClr val="000099"/>
                </a:solidFill>
                <a:latin typeface="Calibri" panose="020F0502020204030204" pitchFamily="34" charset="0"/>
                <a:ea typeface="黑体" pitchFamily="49" charset="-122"/>
              </a:rPr>
              <a:t>经济政策研究中心（</a:t>
            </a:r>
            <a:r>
              <a:rPr lang="en-US" altLang="zh-CN" sz="2800" b="1" dirty="0">
                <a:solidFill>
                  <a:srgbClr val="000099"/>
                </a:solidFill>
                <a:latin typeface="Calibri" panose="020F0502020204030204" pitchFamily="34" charset="0"/>
                <a:ea typeface="黑体" pitchFamily="49" charset="-122"/>
              </a:rPr>
              <a:t>CETP</a:t>
            </a:r>
            <a:r>
              <a:rPr lang="zh-CN" altLang="en-US" sz="2800" b="1" dirty="0">
                <a:solidFill>
                  <a:srgbClr val="000099"/>
                </a:solidFill>
                <a:latin typeface="Calibri" panose="020F0502020204030204" pitchFamily="34" charset="0"/>
                <a:ea typeface="黑体" pitchFamily="49" charset="-122"/>
              </a:rPr>
              <a:t>）</a:t>
            </a:r>
            <a:endParaRPr lang="en-US" altLang="zh-CN" sz="2800" b="1" dirty="0">
              <a:solidFill>
                <a:srgbClr val="000099"/>
              </a:solidFill>
              <a:latin typeface="Calibri" panose="020F0502020204030204" pitchFamily="34" charset="0"/>
              <a:ea typeface="黑体" pitchFamily="49" charset="-122"/>
            </a:endParaRPr>
          </a:p>
          <a:p>
            <a:endParaRPr lang="en-US" altLang="zh-CN" dirty="0"/>
          </a:p>
        </p:txBody>
      </p:sp>
      <p:pic>
        <p:nvPicPr>
          <p:cNvPr id="4" name="图片 3" descr="top_logo.jpg"/>
          <p:cNvPicPr>
            <a:picLocks noChangeAspect="1"/>
          </p:cNvPicPr>
          <p:nvPr/>
        </p:nvPicPr>
        <p:blipFill>
          <a:blip r:embed="rId2" cstate="print"/>
          <a:stretch>
            <a:fillRect/>
          </a:stretch>
        </p:blipFill>
        <p:spPr>
          <a:xfrm>
            <a:off x="0" y="0"/>
            <a:ext cx="2987824" cy="6199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06090"/>
          </a:xfrm>
        </p:spPr>
        <p:txBody>
          <a:bodyPr>
            <a:normAutofit/>
          </a:bodyPr>
          <a:lstStyle/>
          <a:p>
            <a:r>
              <a:rPr lang="zh-CN" altLang="en-US" sz="4000" b="1" dirty="0">
                <a:solidFill>
                  <a:srgbClr val="FF0000"/>
                </a:solidFill>
                <a:latin typeface="黑体" panose="02010609060101010101" pitchFamily="49" charset="-122"/>
                <a:ea typeface="黑体" panose="02010609060101010101" pitchFamily="49" charset="-122"/>
              </a:rPr>
              <a:t>报告主要内容</a:t>
            </a:r>
          </a:p>
        </p:txBody>
      </p:sp>
      <p:sp>
        <p:nvSpPr>
          <p:cNvPr id="3" name="内容占位符 2"/>
          <p:cNvSpPr>
            <a:spLocks noGrp="1"/>
          </p:cNvSpPr>
          <p:nvPr>
            <p:ph idx="1"/>
          </p:nvPr>
        </p:nvSpPr>
        <p:spPr>
          <a:xfrm>
            <a:off x="457200" y="1268760"/>
            <a:ext cx="8229600" cy="4708525"/>
          </a:xfrm>
        </p:spPr>
        <p:txBody>
          <a:bodyPr>
            <a:normAutofit fontScale="92500" lnSpcReduction="10000"/>
          </a:bodyPr>
          <a:lstStyle/>
          <a:p>
            <a:pPr marL="514350" indent="-514350">
              <a:buFont typeface="+mj-lt"/>
              <a:buAutoNum type="arabicPeriod"/>
            </a:pPr>
            <a:r>
              <a:rPr lang="zh-CN" altLang="en-US" dirty="0">
                <a:solidFill>
                  <a:srgbClr val="FF0000"/>
                </a:solidFill>
                <a:latin typeface="Times New Roman" panose="02020603050405020304" pitchFamily="18" charset="0"/>
                <a:ea typeface="黑体" panose="02010609060101010101" pitchFamily="49" charset="-122"/>
              </a:rPr>
              <a:t>均衡模型的简要理论介绍</a:t>
            </a:r>
            <a:endParaRPr lang="en-US" altLang="zh-CN" dirty="0">
              <a:solidFill>
                <a:srgbClr val="FF0000"/>
              </a:solidFill>
              <a:latin typeface="Times New Roman" panose="02020603050405020304" pitchFamily="18" charset="0"/>
              <a:ea typeface="黑体" panose="02010609060101010101" pitchFamily="49" charset="-122"/>
            </a:endParaRPr>
          </a:p>
          <a:p>
            <a:pPr marL="914400" lvl="1" indent="-514350">
              <a:buFont typeface="Wingdings" panose="05000000000000000000" pitchFamily="2" charset="2"/>
              <a:buChar char="l"/>
            </a:pPr>
            <a:r>
              <a:rPr lang="zh-CN" altLang="en-US" dirty="0">
                <a:latin typeface="Times New Roman" panose="02020603050405020304" pitchFamily="18" charset="0"/>
                <a:ea typeface="黑体" panose="02010609060101010101" pitchFamily="49" charset="-122"/>
              </a:rPr>
              <a:t>一般均衡模型</a:t>
            </a:r>
            <a:endParaRPr lang="en-US" altLang="zh-CN" dirty="0">
              <a:latin typeface="Times New Roman" panose="02020603050405020304" pitchFamily="18" charset="0"/>
              <a:ea typeface="黑体" panose="02010609060101010101" pitchFamily="49" charset="-122"/>
            </a:endParaRPr>
          </a:p>
          <a:p>
            <a:pPr marL="914400" lvl="1" indent="-514350">
              <a:buFont typeface="Wingdings" panose="05000000000000000000" pitchFamily="2" charset="2"/>
              <a:buChar char="l"/>
            </a:pPr>
            <a:r>
              <a:rPr lang="zh-CN" altLang="en-US" dirty="0">
                <a:latin typeface="Times New Roman" panose="02020603050405020304" pitchFamily="18" charset="0"/>
                <a:ea typeface="黑体" panose="02010609060101010101" pitchFamily="49" charset="-122"/>
              </a:rPr>
              <a:t>部门均衡模型</a:t>
            </a:r>
            <a:endParaRPr lang="en-US" altLang="zh-CN" dirty="0">
              <a:latin typeface="Times New Roman" panose="02020603050405020304" pitchFamily="18" charset="0"/>
              <a:ea typeface="黑体" panose="02010609060101010101" pitchFamily="49" charset="-122"/>
            </a:endParaRPr>
          </a:p>
          <a:p>
            <a:pPr marL="514350" indent="-514350">
              <a:buFont typeface="+mj-lt"/>
              <a:buAutoNum type="arabicPeriod"/>
            </a:pPr>
            <a:r>
              <a:rPr lang="zh-CN" altLang="en-US" dirty="0">
                <a:solidFill>
                  <a:srgbClr val="FF0000"/>
                </a:solidFill>
                <a:latin typeface="Times New Roman" panose="02020603050405020304" pitchFamily="18" charset="0"/>
                <a:ea typeface="黑体" panose="02010609060101010101" pitchFamily="49" charset="-122"/>
              </a:rPr>
              <a:t>均衡模型具体构建中的部分关键问题</a:t>
            </a:r>
            <a:endParaRPr lang="en-US" altLang="zh-CN" dirty="0">
              <a:solidFill>
                <a:srgbClr val="FF0000"/>
              </a:solidFill>
              <a:latin typeface="Times New Roman" panose="02020603050405020304" pitchFamily="18" charset="0"/>
              <a:ea typeface="黑体" panose="02010609060101010101" pitchFamily="49" charset="-122"/>
            </a:endParaRPr>
          </a:p>
          <a:p>
            <a:pPr marL="914400" lvl="1" indent="-514350">
              <a:buFont typeface="Wingdings" panose="05000000000000000000" pitchFamily="2" charset="2"/>
              <a:buChar char="l"/>
            </a:pPr>
            <a:r>
              <a:rPr lang="zh-CN" altLang="en-US" dirty="0">
                <a:latin typeface="Times New Roman" panose="02020603050405020304" pitchFamily="18" charset="0"/>
                <a:ea typeface="黑体" panose="02010609060101010101" pitchFamily="49" charset="-122"/>
              </a:rPr>
              <a:t>供需模块构建（标准模型）</a:t>
            </a:r>
            <a:endParaRPr lang="en-US" altLang="zh-CN" dirty="0">
              <a:latin typeface="Times New Roman" panose="02020603050405020304" pitchFamily="18" charset="0"/>
              <a:ea typeface="黑体" panose="02010609060101010101" pitchFamily="49" charset="-122"/>
            </a:endParaRPr>
          </a:p>
          <a:p>
            <a:pPr marL="914400" lvl="1" indent="-514350">
              <a:buFont typeface="Wingdings" panose="05000000000000000000" pitchFamily="2" charset="2"/>
              <a:buChar char="l"/>
            </a:pPr>
            <a:r>
              <a:rPr lang="zh-CN" altLang="en-US" dirty="0">
                <a:latin typeface="Times New Roman" panose="02020603050405020304" pitchFamily="18" charset="0"/>
                <a:ea typeface="黑体" panose="02010609060101010101" pitchFamily="49" charset="-122"/>
              </a:rPr>
              <a:t>静态和动态模型</a:t>
            </a:r>
            <a:endParaRPr lang="en-US" altLang="zh-CN" dirty="0">
              <a:latin typeface="Times New Roman" panose="02020603050405020304" pitchFamily="18" charset="0"/>
              <a:ea typeface="黑体" panose="02010609060101010101" pitchFamily="49" charset="-122"/>
            </a:endParaRPr>
          </a:p>
          <a:p>
            <a:pPr marL="514350" indent="-514350">
              <a:buFont typeface="+mj-lt"/>
              <a:buAutoNum type="arabicPeriod"/>
            </a:pPr>
            <a:r>
              <a:rPr lang="zh-CN" altLang="en-US" dirty="0">
                <a:solidFill>
                  <a:srgbClr val="FF0000"/>
                </a:solidFill>
                <a:latin typeface="Times New Roman" panose="02020603050405020304" pitchFamily="18" charset="0"/>
                <a:ea typeface="黑体" panose="02010609060101010101" pitchFamily="49" charset="-122"/>
              </a:rPr>
              <a:t>应用案例</a:t>
            </a:r>
            <a:endParaRPr lang="en-US" altLang="zh-CN" dirty="0">
              <a:solidFill>
                <a:srgbClr val="FF0000"/>
              </a:solidFill>
              <a:latin typeface="Times New Roman" panose="02020603050405020304" pitchFamily="18" charset="0"/>
              <a:ea typeface="黑体" panose="02010609060101010101" pitchFamily="49" charset="-122"/>
            </a:endParaRPr>
          </a:p>
          <a:p>
            <a:pPr marL="914400" lvl="1" indent="-514350">
              <a:buFont typeface="Wingdings" panose="05000000000000000000" pitchFamily="2" charset="2"/>
              <a:buChar char="l"/>
            </a:pPr>
            <a:r>
              <a:rPr lang="zh-CN" altLang="en-US" dirty="0">
                <a:latin typeface="Times New Roman" panose="02020603050405020304" pitchFamily="18" charset="0"/>
                <a:ea typeface="黑体" panose="02010609060101010101" pitchFamily="49" charset="-122"/>
              </a:rPr>
              <a:t>多哈贸易自由化谈判对农业生产和贫困影响</a:t>
            </a:r>
            <a:endParaRPr lang="en-US" altLang="zh-CN" dirty="0">
              <a:latin typeface="Times New Roman" panose="02020603050405020304" pitchFamily="18" charset="0"/>
              <a:ea typeface="黑体" panose="02010609060101010101" pitchFamily="49" charset="-122"/>
            </a:endParaRPr>
          </a:p>
          <a:p>
            <a:pPr marL="914400" lvl="1" indent="-514350">
              <a:buFont typeface="Wingdings" panose="05000000000000000000" pitchFamily="2" charset="2"/>
              <a:buChar char="l"/>
            </a:pPr>
            <a:r>
              <a:rPr lang="zh-CN" altLang="en-US" dirty="0">
                <a:latin typeface="Times New Roman" panose="02020603050405020304" pitchFamily="18" charset="0"/>
                <a:ea typeface="黑体" panose="02010609060101010101" pitchFamily="49" charset="-122"/>
              </a:rPr>
              <a:t>基于</a:t>
            </a:r>
            <a:r>
              <a:rPr lang="en-US" altLang="zh-CN" dirty="0" err="1">
                <a:latin typeface="Times New Roman" panose="02020603050405020304" pitchFamily="18" charset="0"/>
                <a:ea typeface="黑体" panose="02010609060101010101" pitchFamily="49" charset="-122"/>
              </a:rPr>
              <a:t>CAPSiM</a:t>
            </a:r>
            <a:r>
              <a:rPr lang="zh-CN" altLang="en-US" dirty="0">
                <a:latin typeface="Times New Roman" panose="02020603050405020304" pitchFamily="18" charset="0"/>
                <a:ea typeface="黑体" panose="02010609060101010101" pitchFamily="49" charset="-122"/>
              </a:rPr>
              <a:t>模型对未来我国农业供需预测分析</a:t>
            </a:r>
            <a:endParaRPr lang="en-US" altLang="zh-CN" dirty="0">
              <a:latin typeface="Times New Roman" panose="02020603050405020304" pitchFamily="18" charset="0"/>
              <a:ea typeface="黑体" panose="02010609060101010101" pitchFamily="49" charset="-122"/>
            </a:endParaRPr>
          </a:p>
          <a:p>
            <a:pPr marL="914400" lvl="1" indent="-514350">
              <a:buFont typeface="Wingdings" panose="05000000000000000000" pitchFamily="2" charset="2"/>
              <a:buChar char="l"/>
            </a:pPr>
            <a:r>
              <a:rPr lang="zh-CN" altLang="en-US" dirty="0">
                <a:latin typeface="Times New Roman" panose="02020603050405020304" pitchFamily="18" charset="0"/>
                <a:ea typeface="黑体" panose="02010609060101010101" pitchFamily="49" charset="-122"/>
              </a:rPr>
              <a:t>生物能源发展对农业生产和贫困影响</a:t>
            </a:r>
          </a:p>
          <a:p>
            <a:pPr marL="0" indent="0">
              <a:buNone/>
            </a:pPr>
            <a:endParaRPr lang="zh-CN" altLang="en-US" b="1" dirty="0">
              <a:solidFill>
                <a:schemeClr val="accent2"/>
              </a:solidFill>
            </a:endParaRPr>
          </a:p>
          <a:p>
            <a:pPr marL="0" indent="0">
              <a:buNone/>
            </a:pPr>
            <a:endParaRPr lang="en-US" altLang="zh-CN" dirty="0">
              <a:latin typeface="黑体" panose="02010609060101010101" pitchFamily="49" charset="-122"/>
              <a:ea typeface="黑体" panose="02010609060101010101" pitchFamily="49" charset="-122"/>
            </a:endParaRPr>
          </a:p>
          <a:p>
            <a:pPr marL="0" indent="0">
              <a:buNone/>
            </a:pPr>
            <a:endParaRPr lang="en-US" altLang="zh-CN" dirty="0">
              <a:latin typeface="黑体" panose="02010609060101010101" pitchFamily="49" charset="-122"/>
              <a:ea typeface="黑体" panose="02010609060101010101" pitchFamily="49" charset="-122"/>
            </a:endParaRPr>
          </a:p>
          <a:p>
            <a:pPr marL="514350" indent="-514350">
              <a:buFont typeface="+mj-lt"/>
              <a:buAutoNum type="arabicPeriod"/>
            </a:pPr>
            <a:endParaRPr lang="en-US" altLang="zh-CN" dirty="0">
              <a:latin typeface="黑体" panose="02010609060101010101" pitchFamily="49" charset="-122"/>
              <a:ea typeface="黑体" panose="02010609060101010101" pitchFamily="49" charset="-122"/>
            </a:endParaRPr>
          </a:p>
          <a:p>
            <a:endParaRPr lang="zh-CN" altLang="en-US" dirty="0">
              <a:latin typeface="黑体" panose="02010609060101010101" pitchFamily="49" charset="-122"/>
              <a:ea typeface="黑体" panose="02010609060101010101" pitchFamily="49" charset="-122"/>
            </a:endParaRPr>
          </a:p>
        </p:txBody>
      </p:sp>
      <p:sp>
        <p:nvSpPr>
          <p:cNvPr id="4" name="日期占位符 3"/>
          <p:cNvSpPr>
            <a:spLocks noGrp="1"/>
          </p:cNvSpPr>
          <p:nvPr>
            <p:ph type="dt" sz="half" idx="10"/>
          </p:nvPr>
        </p:nvSpPr>
        <p:spPr/>
        <p:txBody>
          <a:bodyPr/>
          <a:lstStyle/>
          <a:p>
            <a:fld id="{32E8C72D-371D-46C3-B39E-84A140A43767}" type="datetime1">
              <a:rPr lang="zh-CN" altLang="en-US" smtClean="0"/>
              <a:t>2021/5/27</a:t>
            </a:fld>
            <a:endParaRPr lang="zh-CN" altLang="en-US"/>
          </a:p>
        </p:txBody>
      </p:sp>
      <p:sp>
        <p:nvSpPr>
          <p:cNvPr id="5" name="灯片编号占位符 4"/>
          <p:cNvSpPr>
            <a:spLocks noGrp="1"/>
          </p:cNvSpPr>
          <p:nvPr>
            <p:ph type="sldNum" sz="quarter" idx="12"/>
          </p:nvPr>
        </p:nvSpPr>
        <p:spPr/>
        <p:txBody>
          <a:bodyPr/>
          <a:lstStyle/>
          <a:p>
            <a:fld id="{C8D0647B-24A2-46AB-A27A-847EF503E68C}" type="slidenum">
              <a:rPr lang="zh-CN" altLang="en-US" smtClean="0"/>
              <a:pPr/>
              <a:t>2</a:t>
            </a:fld>
            <a:endParaRPr lang="zh-CN" altLang="en-US"/>
          </a:p>
        </p:txBody>
      </p:sp>
    </p:spTree>
    <p:extLst>
      <p:ext uri="{BB962C8B-B14F-4D97-AF65-F5344CB8AC3E}">
        <p14:creationId xmlns:p14="http://schemas.microsoft.com/office/powerpoint/2010/main" val="1585485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p:txBody>
          <a:bodyPr/>
          <a:lstStyle/>
          <a:p>
            <a:pPr eaLnBrk="1" hangingPunct="1">
              <a:defRPr/>
            </a:pPr>
            <a:r>
              <a:rPr lang="zh-TW" altLang="en-US" sz="2900" b="1" dirty="0">
                <a:latin typeface="Times New Roman" pitchFamily="18" charset="0"/>
                <a:ea typeface="黑体" pitchFamily="49" charset="-122"/>
              </a:rPr>
              <a:t>均衡</a:t>
            </a:r>
            <a:r>
              <a:rPr lang="zh-CN" altLang="en-US" sz="3200" b="1" dirty="0">
                <a:solidFill>
                  <a:srgbClr val="0033CC"/>
                </a:solidFill>
                <a:effectLst>
                  <a:outerShdw blurRad="38100" dist="38100" dir="2700000" algn="tl">
                    <a:srgbClr val="C0C0C0"/>
                  </a:outerShdw>
                </a:effectLst>
                <a:latin typeface="Times New Roman" pitchFamily="18" charset="0"/>
                <a:ea typeface="黑体" pitchFamily="49" charset="-122"/>
              </a:rPr>
              <a:t>（</a:t>
            </a:r>
            <a:r>
              <a:rPr lang="en-US" altLang="zh-TW" sz="3200" b="1" dirty="0">
                <a:solidFill>
                  <a:srgbClr val="0033CC"/>
                </a:solidFill>
                <a:effectLst>
                  <a:outerShdw blurRad="38100" dist="38100" dir="2700000" algn="tl">
                    <a:srgbClr val="C0C0C0"/>
                  </a:outerShdw>
                </a:effectLst>
                <a:latin typeface="Times New Roman" pitchFamily="18" charset="0"/>
                <a:ea typeface="黑体" pitchFamily="49" charset="-122"/>
              </a:rPr>
              <a:t>equilibrium</a:t>
            </a:r>
            <a:r>
              <a:rPr lang="zh-CN" altLang="en-US" sz="3200" b="1" dirty="0">
                <a:solidFill>
                  <a:srgbClr val="0033CC"/>
                </a:solidFill>
                <a:effectLst>
                  <a:outerShdw blurRad="38100" dist="38100" dir="2700000" algn="tl">
                    <a:srgbClr val="C0C0C0"/>
                  </a:outerShdw>
                </a:effectLst>
                <a:latin typeface="Times New Roman" pitchFamily="18" charset="0"/>
                <a:ea typeface="黑体" pitchFamily="49" charset="-122"/>
              </a:rPr>
              <a:t>）</a:t>
            </a:r>
            <a:r>
              <a:rPr lang="zh-TW" altLang="en-US" sz="2900" b="1" dirty="0">
                <a:latin typeface="Times New Roman" pitchFamily="18" charset="0"/>
                <a:ea typeface="黑体" pitchFamily="49" charset="-122"/>
              </a:rPr>
              <a:t>的意义</a:t>
            </a:r>
            <a:endParaRPr lang="en-GB" altLang="ja-JP" sz="2900" b="1" dirty="0">
              <a:latin typeface="Times New Roman" pitchFamily="18" charset="0"/>
              <a:ea typeface="黑体" pitchFamily="49" charset="-122"/>
            </a:endParaRPr>
          </a:p>
        </p:txBody>
      </p:sp>
      <p:sp>
        <p:nvSpPr>
          <p:cNvPr id="27650" name="スライド番号プレースホルダ 3"/>
          <p:cNvSpPr>
            <a:spLocks noGrp="1"/>
          </p:cNvSpPr>
          <p:nvPr>
            <p:ph type="sldNum" sz="quarter" idx="12"/>
          </p:nvPr>
        </p:nvSpPr>
        <p:spPr>
          <a:noFill/>
        </p:spPr>
        <p:txBody>
          <a:bodyPr/>
          <a:lstStyle/>
          <a:p>
            <a:fld id="{92330EEA-671A-4DB3-B6BF-CCA4D6F9F5DE}" type="slidenum">
              <a:rPr lang="en-GB" altLang="ja-JP" smtClean="0"/>
              <a:pPr/>
              <a:t>3</a:t>
            </a:fld>
            <a:endParaRPr lang="en-GB" altLang="ja-JP"/>
          </a:p>
        </p:txBody>
      </p:sp>
      <p:sp>
        <p:nvSpPr>
          <p:cNvPr id="10" name="Rectangle 3"/>
          <p:cNvSpPr txBox="1">
            <a:spLocks noChangeArrowheads="1"/>
          </p:cNvSpPr>
          <p:nvPr/>
        </p:nvSpPr>
        <p:spPr bwMode="auto">
          <a:xfrm>
            <a:off x="457200" y="1600200"/>
            <a:ext cx="8362950" cy="1036638"/>
          </a:xfrm>
          <a:prstGeom prst="rect">
            <a:avLst/>
          </a:prstGeom>
          <a:noFill/>
          <a:ln w="9525">
            <a:noFill/>
            <a:miter lim="800000"/>
            <a:headEnd/>
            <a:tailEnd/>
          </a:ln>
        </p:spPr>
        <p:txBody>
          <a:bodyPr lIns="61200" tIns="0" rIns="61200" bIns="0"/>
          <a:lstStyle/>
          <a:p>
            <a:pPr marL="184150" indent="-184150" eaLnBrk="0" hangingPunct="0">
              <a:spcBef>
                <a:spcPct val="40000"/>
              </a:spcBef>
              <a:spcAft>
                <a:spcPct val="20000"/>
              </a:spcAft>
              <a:buClr>
                <a:schemeClr val="tx1"/>
              </a:buClr>
              <a:buFont typeface="Wingdings" pitchFamily="2" charset="2"/>
              <a:buChar char="§"/>
              <a:defRPr/>
            </a:pPr>
            <a:r>
              <a:rPr lang="zh-TW" altLang="en-US" sz="2400" b="1" kern="0" dirty="0">
                <a:solidFill>
                  <a:schemeClr val="tx2"/>
                </a:solidFill>
                <a:latin typeface="Times New Roman" panose="02020603050405020304" pitchFamily="18" charset="0"/>
                <a:ea typeface="黑体" panose="02010609060101010101" pitchFamily="49" charset="-122"/>
              </a:rPr>
              <a:t>产品的</a:t>
            </a:r>
            <a:r>
              <a:rPr lang="zh-TW" altLang="en-US" sz="2400" b="1" kern="0" dirty="0">
                <a:solidFill>
                  <a:srgbClr val="FF0066"/>
                </a:solidFill>
                <a:effectLst>
                  <a:outerShdw blurRad="38100" dist="38100" dir="2700000" algn="tl">
                    <a:srgbClr val="C0C0C0"/>
                  </a:outerShdw>
                </a:effectLst>
                <a:latin typeface="Times New Roman" panose="02020603050405020304" pitchFamily="18" charset="0"/>
                <a:ea typeface="黑体" panose="02010609060101010101" pitchFamily="49" charset="-122"/>
              </a:rPr>
              <a:t>市场均衡</a:t>
            </a:r>
            <a:r>
              <a:rPr lang="zh-CN" altLang="en-US" sz="2400" b="1" kern="0" dirty="0">
                <a:solidFill>
                  <a:srgbClr val="002060"/>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en-US" altLang="zh-TW" sz="2400" b="1" kern="0" dirty="0">
                <a:solidFill>
                  <a:schemeClr val="tx2"/>
                </a:solidFill>
                <a:latin typeface="Times New Roman" panose="02020603050405020304" pitchFamily="18" charset="0"/>
                <a:ea typeface="黑体" panose="02010609060101010101" pitchFamily="49" charset="-122"/>
              </a:rPr>
              <a:t>market equilibrium</a:t>
            </a:r>
            <a:r>
              <a:rPr lang="zh-CN" altLang="en-US" sz="2400" b="1" kern="0" dirty="0">
                <a:solidFill>
                  <a:schemeClr val="tx2"/>
                </a:solidFill>
                <a:latin typeface="Times New Roman" panose="02020603050405020304" pitchFamily="18" charset="0"/>
                <a:ea typeface="黑体" panose="02010609060101010101" pitchFamily="49" charset="-122"/>
              </a:rPr>
              <a:t>）系指一组满足以下条件的交易量与交易价格（</a:t>
            </a:r>
            <a:r>
              <a:rPr lang="en-US" altLang="zh-TW" sz="2400" b="1" kern="0" dirty="0">
                <a:solidFill>
                  <a:schemeClr val="tx2"/>
                </a:solidFill>
                <a:latin typeface="Times New Roman" panose="02020603050405020304" pitchFamily="18" charset="0"/>
                <a:ea typeface="黑体" panose="02010609060101010101" pitchFamily="49" charset="-122"/>
              </a:rPr>
              <a:t>Q*, P*</a:t>
            </a:r>
            <a:r>
              <a:rPr lang="zh-TW" altLang="en-US" sz="2400" b="1" kern="0" dirty="0">
                <a:solidFill>
                  <a:schemeClr val="tx2"/>
                </a:solidFill>
                <a:latin typeface="Times New Roman" panose="02020603050405020304" pitchFamily="18" charset="0"/>
                <a:ea typeface="黑体" panose="02010609060101010101" pitchFamily="49" charset="-122"/>
              </a:rPr>
              <a:t>）：</a:t>
            </a:r>
          </a:p>
        </p:txBody>
      </p:sp>
      <p:sp>
        <p:nvSpPr>
          <p:cNvPr id="11" name="Rectangle 4"/>
          <p:cNvSpPr>
            <a:spLocks noChangeArrowheads="1"/>
          </p:cNvSpPr>
          <p:nvPr/>
        </p:nvSpPr>
        <p:spPr bwMode="auto">
          <a:xfrm>
            <a:off x="250825" y="2852738"/>
            <a:ext cx="4033143" cy="2478087"/>
          </a:xfrm>
          <a:prstGeom prst="rect">
            <a:avLst/>
          </a:prstGeom>
          <a:noFill/>
          <a:ln w="9525">
            <a:noFill/>
            <a:miter lim="800000"/>
            <a:headEnd/>
            <a:tailEnd/>
          </a:ln>
          <a:effectLst/>
        </p:spPr>
        <p:txBody>
          <a:bodyPr wrap="square">
            <a:spAutoFit/>
          </a:bodyPr>
          <a:lstStyle/>
          <a:p>
            <a:pPr lvl="1">
              <a:spcBef>
                <a:spcPct val="35000"/>
              </a:spcBef>
              <a:buFontTx/>
              <a:buBlip>
                <a:blip r:embed="rId3"/>
              </a:buBlip>
              <a:defRPr/>
            </a:pPr>
            <a:r>
              <a:rPr lang="en-US" altLang="zh-TW" sz="2000" b="1" dirty="0">
                <a:solidFill>
                  <a:srgbClr val="800000"/>
                </a:solidFill>
                <a:effectLst>
                  <a:outerShdw blurRad="38100" dist="38100" dir="2700000" algn="tl">
                    <a:srgbClr val="C0C0C0"/>
                  </a:outerShdw>
                </a:effectLst>
                <a:latin typeface="黑体" pitchFamily="49" charset="-122"/>
                <a:ea typeface="黑体" pitchFamily="49" charset="-122"/>
              </a:rPr>
              <a:t> </a:t>
            </a:r>
            <a:r>
              <a:rPr lang="zh-CN" altLang="en-US" sz="2000" b="1" dirty="0">
                <a:solidFill>
                  <a:srgbClr val="800000"/>
                </a:solidFill>
                <a:effectLst>
                  <a:outerShdw blurRad="38100" dist="38100" dir="2700000" algn="tl">
                    <a:srgbClr val="C0C0C0"/>
                  </a:outerShdw>
                </a:effectLst>
                <a:latin typeface="黑体" pitchFamily="49" charset="-122"/>
                <a:ea typeface="黑体" pitchFamily="49" charset="-122"/>
              </a:rPr>
              <a:t>消费者的效用最大化</a:t>
            </a:r>
            <a:endParaRPr lang="zh-TW" altLang="en-US" sz="2000" b="1" dirty="0">
              <a:solidFill>
                <a:srgbClr val="800000"/>
              </a:solidFill>
              <a:effectLst>
                <a:outerShdw blurRad="38100" dist="38100" dir="2700000" algn="tl">
                  <a:srgbClr val="C0C0C0"/>
                </a:outerShdw>
              </a:effectLst>
              <a:latin typeface="黑体" pitchFamily="49" charset="-122"/>
              <a:ea typeface="黑体" pitchFamily="49" charset="-122"/>
            </a:endParaRPr>
          </a:p>
          <a:p>
            <a:pPr lvl="1">
              <a:spcBef>
                <a:spcPct val="35000"/>
              </a:spcBef>
              <a:buFontTx/>
              <a:buBlip>
                <a:blip r:embed="rId3"/>
              </a:buBlip>
              <a:defRPr/>
            </a:pPr>
            <a:r>
              <a:rPr lang="zh-CN" altLang="en-US" sz="2000" b="1" dirty="0">
                <a:solidFill>
                  <a:srgbClr val="800000"/>
                </a:solidFill>
                <a:effectLst>
                  <a:outerShdw blurRad="38100" dist="38100" dir="2700000" algn="tl">
                    <a:srgbClr val="C0C0C0"/>
                  </a:outerShdw>
                </a:effectLst>
                <a:latin typeface="黑体" pitchFamily="49" charset="-122"/>
                <a:ea typeface="黑体" pitchFamily="49" charset="-122"/>
              </a:rPr>
              <a:t> 生产者的利润最大化</a:t>
            </a:r>
            <a:endParaRPr lang="zh-TW" altLang="en-US" sz="2000" b="1" dirty="0">
              <a:solidFill>
                <a:srgbClr val="800000"/>
              </a:solidFill>
              <a:effectLst>
                <a:outerShdw blurRad="38100" dist="38100" dir="2700000" algn="tl">
                  <a:srgbClr val="C0C0C0"/>
                </a:outerShdw>
              </a:effectLst>
              <a:latin typeface="黑体" pitchFamily="49" charset="-122"/>
              <a:ea typeface="黑体" pitchFamily="49" charset="-122"/>
            </a:endParaRPr>
          </a:p>
          <a:p>
            <a:pPr lvl="1">
              <a:spcBef>
                <a:spcPct val="35000"/>
              </a:spcBef>
              <a:buFontTx/>
              <a:buBlip>
                <a:blip r:embed="rId3"/>
              </a:buBlip>
              <a:defRPr/>
            </a:pPr>
            <a:r>
              <a:rPr lang="zh-TW" altLang="en-US" sz="2000" b="1" dirty="0">
                <a:solidFill>
                  <a:srgbClr val="800000"/>
                </a:solidFill>
                <a:effectLst>
                  <a:outerShdw blurRad="38100" dist="38100" dir="2700000" algn="tl">
                    <a:srgbClr val="C0C0C0"/>
                  </a:outerShdw>
                </a:effectLst>
                <a:latin typeface="黑体" pitchFamily="49" charset="-122"/>
                <a:ea typeface="黑体" pitchFamily="49" charset="-122"/>
              </a:rPr>
              <a:t> </a:t>
            </a:r>
            <a:r>
              <a:rPr lang="en-US" altLang="zh-TW" sz="2000" b="1" dirty="0">
                <a:solidFill>
                  <a:srgbClr val="800000"/>
                </a:solidFill>
                <a:effectLst>
                  <a:outerShdw blurRad="38100" dist="38100" dir="2700000" algn="tl">
                    <a:srgbClr val="C0C0C0"/>
                  </a:outerShdw>
                </a:effectLst>
                <a:latin typeface="Times New Roman" pitchFamily="18" charset="0"/>
                <a:ea typeface="標楷體" pitchFamily="65" charset="-120"/>
              </a:rPr>
              <a:t>D = S = Q*</a:t>
            </a:r>
            <a:r>
              <a:rPr lang="zh-TW" altLang="en-US" sz="2000" b="1" dirty="0">
                <a:solidFill>
                  <a:srgbClr val="800000"/>
                </a:solidFill>
                <a:effectLst>
                  <a:outerShdw blurRad="38100" dist="38100" dir="2700000" algn="tl">
                    <a:srgbClr val="C0C0C0"/>
                  </a:outerShdw>
                </a:effectLst>
                <a:latin typeface="標楷體" pitchFamily="65" charset="-120"/>
                <a:ea typeface="標楷體" pitchFamily="65" charset="-120"/>
              </a:rPr>
              <a:t>，或</a:t>
            </a:r>
          </a:p>
          <a:p>
            <a:pPr lvl="1">
              <a:spcBef>
                <a:spcPct val="35000"/>
              </a:spcBef>
              <a:defRPr/>
            </a:pPr>
            <a:r>
              <a:rPr lang="zh-CN" altLang="en-US" sz="2000" b="1" dirty="0">
                <a:solidFill>
                  <a:srgbClr val="FF0000"/>
                </a:solidFill>
                <a:effectLst>
                  <a:outerShdw blurRad="38100" dist="38100" dir="2700000" algn="tl">
                    <a:srgbClr val="C0C0C0"/>
                  </a:outerShdw>
                </a:effectLst>
                <a:latin typeface="Times New Roman" pitchFamily="18" charset="0"/>
                <a:ea typeface="標楷體" pitchFamily="65" charset="-120"/>
              </a:rPr>
              <a:t>   边际愿付价格 </a:t>
            </a:r>
            <a:r>
              <a:rPr lang="en-US" altLang="zh-TW" sz="2000" b="1" dirty="0">
                <a:solidFill>
                  <a:srgbClr val="FF0000"/>
                </a:solidFill>
                <a:effectLst>
                  <a:outerShdw blurRad="38100" dist="38100" dir="2700000" algn="tl">
                    <a:srgbClr val="C0C0C0"/>
                  </a:outerShdw>
                </a:effectLst>
                <a:latin typeface="Times New Roman" pitchFamily="18" charset="0"/>
                <a:ea typeface="標楷體" pitchFamily="65" charset="-120"/>
              </a:rPr>
              <a:t>(MWTP)</a:t>
            </a:r>
          </a:p>
          <a:p>
            <a:pPr lvl="1">
              <a:spcBef>
                <a:spcPct val="35000"/>
              </a:spcBef>
              <a:defRPr/>
            </a:pPr>
            <a:r>
              <a:rPr lang="zh-TW" altLang="en-US" sz="2000" b="1" dirty="0">
                <a:solidFill>
                  <a:srgbClr val="FF0000"/>
                </a:solidFill>
                <a:effectLst>
                  <a:outerShdw blurRad="38100" dist="38100" dir="2700000" algn="tl">
                    <a:srgbClr val="C0C0C0"/>
                  </a:outerShdw>
                </a:effectLst>
                <a:latin typeface="Times New Roman" pitchFamily="18" charset="0"/>
                <a:ea typeface="標楷體" pitchFamily="65" charset="-120"/>
              </a:rPr>
              <a:t> </a:t>
            </a:r>
            <a:r>
              <a:rPr lang="en-US" altLang="zh-TW" sz="2000" b="1" dirty="0">
                <a:solidFill>
                  <a:srgbClr val="FF0000"/>
                </a:solidFill>
                <a:effectLst>
                  <a:outerShdw blurRad="38100" dist="38100" dir="2700000" algn="tl">
                    <a:srgbClr val="C0C0C0"/>
                  </a:outerShdw>
                </a:effectLst>
                <a:latin typeface="Times New Roman" pitchFamily="18" charset="0"/>
                <a:ea typeface="標楷體" pitchFamily="65" charset="-120"/>
              </a:rPr>
              <a:t>=</a:t>
            </a:r>
            <a:r>
              <a:rPr lang="zh-CN" altLang="en-US" sz="2000" b="1" dirty="0">
                <a:solidFill>
                  <a:srgbClr val="FF0000"/>
                </a:solidFill>
                <a:effectLst>
                  <a:outerShdw blurRad="38100" dist="38100" dir="2700000" algn="tl">
                    <a:srgbClr val="C0C0C0"/>
                  </a:outerShdw>
                </a:effectLst>
                <a:latin typeface="Times New Roman" pitchFamily="18" charset="0"/>
                <a:ea typeface="標楷體" pitchFamily="65" charset="-120"/>
              </a:rPr>
              <a:t>边际愿受价格</a:t>
            </a:r>
            <a:r>
              <a:rPr lang="en-US" altLang="zh-TW" sz="2000" b="1" dirty="0">
                <a:solidFill>
                  <a:srgbClr val="FF0000"/>
                </a:solidFill>
                <a:effectLst>
                  <a:outerShdw blurRad="38100" dist="38100" dir="2700000" algn="tl">
                    <a:srgbClr val="C0C0C0"/>
                  </a:outerShdw>
                </a:effectLst>
                <a:latin typeface="Times New Roman" pitchFamily="18" charset="0"/>
                <a:ea typeface="標楷體" pitchFamily="65" charset="-120"/>
              </a:rPr>
              <a:t>(MWTA)</a:t>
            </a:r>
          </a:p>
          <a:p>
            <a:pPr lvl="1">
              <a:spcBef>
                <a:spcPct val="35000"/>
              </a:spcBef>
              <a:defRPr/>
            </a:pPr>
            <a:r>
              <a:rPr lang="en-US" altLang="zh-TW" sz="2000" b="1" dirty="0">
                <a:solidFill>
                  <a:srgbClr val="FF0000"/>
                </a:solidFill>
                <a:effectLst>
                  <a:outerShdw blurRad="38100" dist="38100" dir="2700000" algn="tl">
                    <a:srgbClr val="C0C0C0"/>
                  </a:outerShdw>
                </a:effectLst>
                <a:latin typeface="Times New Roman" pitchFamily="18" charset="0"/>
                <a:ea typeface="標楷體" pitchFamily="65" charset="-120"/>
              </a:rPr>
              <a:t> = P*</a:t>
            </a:r>
          </a:p>
        </p:txBody>
      </p:sp>
      <p:sp>
        <p:nvSpPr>
          <p:cNvPr id="12" name="Freeform 5"/>
          <p:cNvSpPr>
            <a:spLocks/>
          </p:cNvSpPr>
          <p:nvPr/>
        </p:nvSpPr>
        <p:spPr bwMode="auto">
          <a:xfrm>
            <a:off x="5003800" y="3141663"/>
            <a:ext cx="3529013" cy="2447925"/>
          </a:xfrm>
          <a:custGeom>
            <a:avLst/>
            <a:gdLst>
              <a:gd name="T0" fmla="*/ 0 w 2223"/>
              <a:gd name="T1" fmla="*/ 0 h 1542"/>
              <a:gd name="T2" fmla="*/ 0 w 2223"/>
              <a:gd name="T3" fmla="*/ 2447925 h 1542"/>
              <a:gd name="T4" fmla="*/ 3529013 w 2223"/>
              <a:gd name="T5" fmla="*/ 2447925 h 1542"/>
              <a:gd name="T6" fmla="*/ 0 60000 65536"/>
              <a:gd name="T7" fmla="*/ 0 60000 65536"/>
              <a:gd name="T8" fmla="*/ 0 60000 65536"/>
              <a:gd name="T9" fmla="*/ 0 w 2223"/>
              <a:gd name="T10" fmla="*/ 0 h 1542"/>
              <a:gd name="T11" fmla="*/ 2223 w 2223"/>
              <a:gd name="T12" fmla="*/ 1542 h 1542"/>
            </a:gdLst>
            <a:ahLst/>
            <a:cxnLst>
              <a:cxn ang="T6">
                <a:pos x="T0" y="T1"/>
              </a:cxn>
              <a:cxn ang="T7">
                <a:pos x="T2" y="T3"/>
              </a:cxn>
              <a:cxn ang="T8">
                <a:pos x="T4" y="T5"/>
              </a:cxn>
            </a:cxnLst>
            <a:rect l="T9" t="T10" r="T11" b="T12"/>
            <a:pathLst>
              <a:path w="2223" h="1542">
                <a:moveTo>
                  <a:pt x="0" y="0"/>
                </a:moveTo>
                <a:lnTo>
                  <a:pt x="0" y="1542"/>
                </a:lnTo>
                <a:lnTo>
                  <a:pt x="2223" y="1542"/>
                </a:lnTo>
              </a:path>
            </a:pathLst>
          </a:custGeom>
          <a:noFill/>
          <a:ln w="9525">
            <a:solidFill>
              <a:schemeClr val="tx1"/>
            </a:solidFill>
            <a:round/>
            <a:headEnd/>
            <a:tailEnd/>
          </a:ln>
        </p:spPr>
        <p:txBody>
          <a:bodyPr/>
          <a:lstStyle/>
          <a:p>
            <a:endParaRPr lang="zh-TW" altLang="en-US"/>
          </a:p>
        </p:txBody>
      </p:sp>
      <p:sp>
        <p:nvSpPr>
          <p:cNvPr id="13" name="Text Box 6"/>
          <p:cNvSpPr txBox="1">
            <a:spLocks noChangeArrowheads="1"/>
          </p:cNvSpPr>
          <p:nvPr/>
        </p:nvSpPr>
        <p:spPr bwMode="auto">
          <a:xfrm>
            <a:off x="8512175" y="5321300"/>
            <a:ext cx="361950" cy="366713"/>
          </a:xfrm>
          <a:prstGeom prst="rect">
            <a:avLst/>
          </a:prstGeom>
          <a:noFill/>
          <a:ln w="9525">
            <a:noFill/>
            <a:miter lim="800000"/>
            <a:headEnd/>
            <a:tailEnd/>
          </a:ln>
        </p:spPr>
        <p:txBody>
          <a:bodyPr wrap="none">
            <a:spAutoFit/>
          </a:bodyPr>
          <a:lstStyle/>
          <a:p>
            <a:r>
              <a:rPr lang="en-US" altLang="zh-TW" b="1">
                <a:ea typeface="新細明體" pitchFamily="18" charset="-120"/>
              </a:rPr>
              <a:t>Q</a:t>
            </a:r>
          </a:p>
        </p:txBody>
      </p:sp>
      <p:sp>
        <p:nvSpPr>
          <p:cNvPr id="14" name="Text Box 7"/>
          <p:cNvSpPr txBox="1">
            <a:spLocks noChangeArrowheads="1"/>
          </p:cNvSpPr>
          <p:nvPr/>
        </p:nvSpPr>
        <p:spPr bwMode="auto">
          <a:xfrm>
            <a:off x="4716463" y="2781300"/>
            <a:ext cx="336550" cy="366713"/>
          </a:xfrm>
          <a:prstGeom prst="rect">
            <a:avLst/>
          </a:prstGeom>
          <a:noFill/>
          <a:ln w="9525">
            <a:noFill/>
            <a:miter lim="800000"/>
            <a:headEnd/>
            <a:tailEnd/>
          </a:ln>
        </p:spPr>
        <p:txBody>
          <a:bodyPr wrap="none">
            <a:spAutoFit/>
          </a:bodyPr>
          <a:lstStyle/>
          <a:p>
            <a:r>
              <a:rPr lang="en-US" altLang="zh-TW" b="1">
                <a:ea typeface="新細明體" pitchFamily="18" charset="-120"/>
              </a:rPr>
              <a:t>P</a:t>
            </a:r>
          </a:p>
        </p:txBody>
      </p:sp>
      <p:sp>
        <p:nvSpPr>
          <p:cNvPr id="15" name="Line 8"/>
          <p:cNvSpPr>
            <a:spLocks noChangeShapeType="1"/>
          </p:cNvSpPr>
          <p:nvPr/>
        </p:nvSpPr>
        <p:spPr bwMode="auto">
          <a:xfrm>
            <a:off x="5219700" y="3500438"/>
            <a:ext cx="2736850" cy="1800225"/>
          </a:xfrm>
          <a:prstGeom prst="line">
            <a:avLst/>
          </a:prstGeom>
          <a:noFill/>
          <a:ln w="28575">
            <a:solidFill>
              <a:srgbClr val="FF0066"/>
            </a:solidFill>
            <a:round/>
            <a:headEnd/>
            <a:tailEnd/>
          </a:ln>
        </p:spPr>
        <p:txBody>
          <a:bodyPr/>
          <a:lstStyle/>
          <a:p>
            <a:endParaRPr lang="zh-TW" altLang="en-US"/>
          </a:p>
        </p:txBody>
      </p:sp>
      <p:sp>
        <p:nvSpPr>
          <p:cNvPr id="16" name="Line 9"/>
          <p:cNvSpPr>
            <a:spLocks noChangeShapeType="1"/>
          </p:cNvSpPr>
          <p:nvPr/>
        </p:nvSpPr>
        <p:spPr bwMode="auto">
          <a:xfrm flipV="1">
            <a:off x="5076825" y="3213100"/>
            <a:ext cx="2808288" cy="2087563"/>
          </a:xfrm>
          <a:prstGeom prst="line">
            <a:avLst/>
          </a:prstGeom>
          <a:noFill/>
          <a:ln w="28575">
            <a:solidFill>
              <a:srgbClr val="006699"/>
            </a:solidFill>
            <a:round/>
            <a:headEnd/>
            <a:tailEnd/>
          </a:ln>
        </p:spPr>
        <p:txBody>
          <a:bodyPr/>
          <a:lstStyle/>
          <a:p>
            <a:endParaRPr lang="zh-TW" altLang="en-US"/>
          </a:p>
        </p:txBody>
      </p:sp>
      <p:sp>
        <p:nvSpPr>
          <p:cNvPr id="17" name="Freeform 10"/>
          <p:cNvSpPr>
            <a:spLocks/>
          </p:cNvSpPr>
          <p:nvPr/>
        </p:nvSpPr>
        <p:spPr bwMode="auto">
          <a:xfrm>
            <a:off x="5003800" y="4292600"/>
            <a:ext cx="1439863" cy="1296988"/>
          </a:xfrm>
          <a:custGeom>
            <a:avLst/>
            <a:gdLst>
              <a:gd name="T0" fmla="*/ 0 w 907"/>
              <a:gd name="T1" fmla="*/ 0 h 817"/>
              <a:gd name="T2" fmla="*/ 1439863 w 907"/>
              <a:gd name="T3" fmla="*/ 0 h 817"/>
              <a:gd name="T4" fmla="*/ 1439863 w 907"/>
              <a:gd name="T5" fmla="*/ 1296988 h 817"/>
              <a:gd name="T6" fmla="*/ 0 60000 65536"/>
              <a:gd name="T7" fmla="*/ 0 60000 65536"/>
              <a:gd name="T8" fmla="*/ 0 60000 65536"/>
              <a:gd name="T9" fmla="*/ 0 w 907"/>
              <a:gd name="T10" fmla="*/ 0 h 817"/>
              <a:gd name="T11" fmla="*/ 907 w 907"/>
              <a:gd name="T12" fmla="*/ 817 h 817"/>
            </a:gdLst>
            <a:ahLst/>
            <a:cxnLst>
              <a:cxn ang="T6">
                <a:pos x="T0" y="T1"/>
              </a:cxn>
              <a:cxn ang="T7">
                <a:pos x="T2" y="T3"/>
              </a:cxn>
              <a:cxn ang="T8">
                <a:pos x="T4" y="T5"/>
              </a:cxn>
            </a:cxnLst>
            <a:rect l="T9" t="T10" r="T11" b="T12"/>
            <a:pathLst>
              <a:path w="907" h="817">
                <a:moveTo>
                  <a:pt x="0" y="0"/>
                </a:moveTo>
                <a:lnTo>
                  <a:pt x="907" y="0"/>
                </a:lnTo>
                <a:lnTo>
                  <a:pt x="907" y="817"/>
                </a:lnTo>
              </a:path>
            </a:pathLst>
          </a:custGeom>
          <a:noFill/>
          <a:ln w="28575" cap="flat" cmpd="sng">
            <a:solidFill>
              <a:srgbClr val="800000"/>
            </a:solidFill>
            <a:prstDash val="sysDot"/>
            <a:round/>
            <a:headEnd/>
            <a:tailEnd/>
          </a:ln>
        </p:spPr>
        <p:txBody>
          <a:bodyPr/>
          <a:lstStyle/>
          <a:p>
            <a:endParaRPr lang="zh-TW" altLang="en-US"/>
          </a:p>
        </p:txBody>
      </p:sp>
      <p:sp>
        <p:nvSpPr>
          <p:cNvPr id="18" name="Rectangle 11"/>
          <p:cNvSpPr>
            <a:spLocks noChangeArrowheads="1"/>
          </p:cNvSpPr>
          <p:nvPr/>
        </p:nvSpPr>
        <p:spPr bwMode="auto">
          <a:xfrm>
            <a:off x="4572000" y="4076700"/>
            <a:ext cx="425450" cy="366713"/>
          </a:xfrm>
          <a:prstGeom prst="rect">
            <a:avLst/>
          </a:prstGeom>
          <a:noFill/>
          <a:ln w="9525">
            <a:noFill/>
            <a:miter lim="800000"/>
            <a:headEnd/>
            <a:tailEnd/>
          </a:ln>
        </p:spPr>
        <p:txBody>
          <a:bodyPr wrap="none">
            <a:spAutoFit/>
          </a:bodyPr>
          <a:lstStyle/>
          <a:p>
            <a:r>
              <a:rPr lang="en-US" altLang="zh-TW" b="1">
                <a:ea typeface="新細明體" pitchFamily="18" charset="-120"/>
              </a:rPr>
              <a:t>P*</a:t>
            </a:r>
          </a:p>
        </p:txBody>
      </p:sp>
      <p:sp>
        <p:nvSpPr>
          <p:cNvPr id="19" name="Rectangle 12"/>
          <p:cNvSpPr>
            <a:spLocks noChangeArrowheads="1"/>
          </p:cNvSpPr>
          <p:nvPr/>
        </p:nvSpPr>
        <p:spPr bwMode="auto">
          <a:xfrm>
            <a:off x="6156325" y="5589588"/>
            <a:ext cx="450850" cy="366712"/>
          </a:xfrm>
          <a:prstGeom prst="rect">
            <a:avLst/>
          </a:prstGeom>
          <a:noFill/>
          <a:ln w="9525">
            <a:noFill/>
            <a:miter lim="800000"/>
            <a:headEnd/>
            <a:tailEnd/>
          </a:ln>
        </p:spPr>
        <p:txBody>
          <a:bodyPr wrap="none">
            <a:spAutoFit/>
          </a:bodyPr>
          <a:lstStyle/>
          <a:p>
            <a:r>
              <a:rPr lang="en-US" altLang="zh-TW" b="1">
                <a:ea typeface="新細明體" pitchFamily="18" charset="-120"/>
              </a:rPr>
              <a:t>Q*</a:t>
            </a:r>
          </a:p>
        </p:txBody>
      </p:sp>
      <p:sp>
        <p:nvSpPr>
          <p:cNvPr id="20" name="Text Box 13"/>
          <p:cNvSpPr txBox="1">
            <a:spLocks noChangeArrowheads="1"/>
          </p:cNvSpPr>
          <p:nvPr/>
        </p:nvSpPr>
        <p:spPr bwMode="auto">
          <a:xfrm>
            <a:off x="5127625" y="3160713"/>
            <a:ext cx="654050" cy="366712"/>
          </a:xfrm>
          <a:prstGeom prst="rect">
            <a:avLst/>
          </a:prstGeom>
          <a:noFill/>
          <a:ln w="9525">
            <a:noFill/>
            <a:miter lim="800000"/>
            <a:headEnd/>
            <a:tailEnd/>
          </a:ln>
        </p:spPr>
        <p:txBody>
          <a:bodyPr wrap="none">
            <a:spAutoFit/>
          </a:bodyPr>
          <a:lstStyle/>
          <a:p>
            <a:r>
              <a:rPr lang="en-US" altLang="zh-TW" b="1">
                <a:ea typeface="新細明體" pitchFamily="18" charset="-120"/>
              </a:rPr>
              <a:t>D(P)</a:t>
            </a:r>
          </a:p>
        </p:txBody>
      </p:sp>
      <p:sp>
        <p:nvSpPr>
          <p:cNvPr id="21" name="Text Box 14"/>
          <p:cNvSpPr txBox="1">
            <a:spLocks noChangeArrowheads="1"/>
          </p:cNvSpPr>
          <p:nvPr/>
        </p:nvSpPr>
        <p:spPr bwMode="auto">
          <a:xfrm>
            <a:off x="7812088" y="3141663"/>
            <a:ext cx="641350" cy="366712"/>
          </a:xfrm>
          <a:prstGeom prst="rect">
            <a:avLst/>
          </a:prstGeom>
          <a:noFill/>
          <a:ln w="9525">
            <a:noFill/>
            <a:miter lim="800000"/>
            <a:headEnd/>
            <a:tailEnd/>
          </a:ln>
        </p:spPr>
        <p:txBody>
          <a:bodyPr wrap="none">
            <a:spAutoFit/>
          </a:bodyPr>
          <a:lstStyle/>
          <a:p>
            <a:r>
              <a:rPr lang="en-US" altLang="zh-TW" b="1">
                <a:ea typeface="新細明體" pitchFamily="18" charset="-120"/>
              </a:rPr>
              <a:t>S(P)</a:t>
            </a:r>
          </a:p>
        </p:txBody>
      </p:sp>
      <p:sp>
        <p:nvSpPr>
          <p:cNvPr id="22" name="Text Box 15"/>
          <p:cNvSpPr txBox="1">
            <a:spLocks noChangeArrowheads="1"/>
          </p:cNvSpPr>
          <p:nvPr/>
        </p:nvSpPr>
        <p:spPr bwMode="auto">
          <a:xfrm>
            <a:off x="6280150" y="3881438"/>
            <a:ext cx="336550" cy="366712"/>
          </a:xfrm>
          <a:prstGeom prst="rect">
            <a:avLst/>
          </a:prstGeom>
          <a:noFill/>
          <a:ln w="9525">
            <a:noFill/>
            <a:miter lim="800000"/>
            <a:headEnd/>
            <a:tailEnd/>
          </a:ln>
        </p:spPr>
        <p:txBody>
          <a:bodyPr wrap="none">
            <a:spAutoFit/>
          </a:bodyPr>
          <a:lstStyle/>
          <a:p>
            <a:r>
              <a:rPr lang="en-US" altLang="zh-TW">
                <a:ea typeface="新細明體" pitchFamily="18" charset="-120"/>
              </a:rPr>
              <a: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i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ox(in)">
                                      <p:cBhvr>
                                        <p:cTn id="12" dur="500"/>
                                        <p:tgtEl>
                                          <p:spTgt spid="12"/>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ox(in)">
                                      <p:cBhvr>
                                        <p:cTn id="15" dur="500"/>
                                        <p:tgtEl>
                                          <p:spTgt spid="13"/>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box(in)">
                                      <p:cBhvr>
                                        <p:cTn id="18" dur="500"/>
                                        <p:tgtEl>
                                          <p:spTgt spid="14"/>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ox(in)">
                                      <p:cBhvr>
                                        <p:cTn id="21" dur="500"/>
                                        <p:tgtEl>
                                          <p:spTgt spid="15"/>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box(in)">
                                      <p:cBhvr>
                                        <p:cTn id="24" dur="500"/>
                                        <p:tgtEl>
                                          <p:spTgt spid="16"/>
                                        </p:tgtEl>
                                      </p:cBhvr>
                                    </p:animEffect>
                                  </p:childTnLst>
                                </p:cTn>
                              </p:par>
                              <p:par>
                                <p:cTn id="25" presetID="4" presetClass="entr" presetSubtype="16"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box(in)">
                                      <p:cBhvr>
                                        <p:cTn id="27" dur="500"/>
                                        <p:tgtEl>
                                          <p:spTgt spid="17"/>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box(in)">
                                      <p:cBhvr>
                                        <p:cTn id="30" dur="500"/>
                                        <p:tgtEl>
                                          <p:spTgt spid="18"/>
                                        </p:tgtEl>
                                      </p:cBhvr>
                                    </p:animEffect>
                                  </p:childTnLst>
                                </p:cTn>
                              </p:par>
                              <p:par>
                                <p:cTn id="31" presetID="4" presetClass="entr" presetSubtype="16"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ox(in)">
                                      <p:cBhvr>
                                        <p:cTn id="33" dur="500"/>
                                        <p:tgtEl>
                                          <p:spTgt spid="19"/>
                                        </p:tgtEl>
                                      </p:cBhvr>
                                    </p:animEffect>
                                  </p:childTnLst>
                                </p:cTn>
                              </p:par>
                              <p:par>
                                <p:cTn id="34" presetID="4" presetClass="entr" presetSubtype="16"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box(in)">
                                      <p:cBhvr>
                                        <p:cTn id="36" dur="500"/>
                                        <p:tgtEl>
                                          <p:spTgt spid="20"/>
                                        </p:tgtEl>
                                      </p:cBhvr>
                                    </p:animEffect>
                                  </p:childTnLst>
                                </p:cTn>
                              </p:par>
                              <p:par>
                                <p:cTn id="37" presetID="4" presetClass="entr" presetSubtype="16"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box(in)">
                                      <p:cBhvr>
                                        <p:cTn id="39" dur="500"/>
                                        <p:tgtEl>
                                          <p:spTgt spid="21"/>
                                        </p:tgtEl>
                                      </p:cBhvr>
                                    </p:animEffect>
                                  </p:childTnLst>
                                </p:cTn>
                              </p:par>
                              <p:par>
                                <p:cTn id="40" presetID="4" presetClass="entr" presetSubtype="16"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box(in)">
                                      <p:cBhvr>
                                        <p:cTn id="4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13" grpId="0"/>
      <p:bldP spid="14" grpId="0"/>
      <p:bldP spid="15" grpId="0" animBg="1"/>
      <p:bldP spid="16" grpId="0" animBg="1"/>
      <p:bldP spid="17" grpId="0" animBg="1"/>
      <p:bldP spid="18" grpId="0"/>
      <p:bldP spid="19" grpId="0"/>
      <p:bldP spid="20" grpId="0"/>
      <p:bldP spid="21" grpId="0"/>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p:txBody>
          <a:bodyPr/>
          <a:lstStyle/>
          <a:p>
            <a:pPr eaLnBrk="1" hangingPunct="1">
              <a:defRPr/>
            </a:pPr>
            <a:r>
              <a:rPr lang="zh-TW" altLang="en-US" sz="2900" b="1" dirty="0">
                <a:latin typeface="微軟正黑體" pitchFamily="34" charset="-120"/>
                <a:ea typeface="微軟正黑體" pitchFamily="34" charset="-120"/>
              </a:rPr>
              <a:t>一般均衡</a:t>
            </a:r>
            <a:r>
              <a:rPr lang="en-US" altLang="zh-TW" sz="3200" b="1" dirty="0">
                <a:solidFill>
                  <a:srgbClr val="0033CC"/>
                </a:solidFill>
                <a:effectLst>
                  <a:outerShdw blurRad="38100" dist="38100" dir="2700000" algn="tl">
                    <a:srgbClr val="C0C0C0"/>
                  </a:outerShdw>
                </a:effectLst>
                <a:latin typeface="微軟正黑體" pitchFamily="34" charset="-120"/>
                <a:ea typeface="微軟正黑體" pitchFamily="34" charset="-120"/>
              </a:rPr>
              <a:t>(general equilibrium)</a:t>
            </a:r>
            <a:endParaRPr lang="en-GB" altLang="ja-JP" sz="2900" b="1" dirty="0">
              <a:latin typeface="微軟正黑體" pitchFamily="34" charset="-120"/>
              <a:ea typeface="微軟正黑體" pitchFamily="34" charset="-120"/>
            </a:endParaRPr>
          </a:p>
        </p:txBody>
      </p:sp>
      <p:sp>
        <p:nvSpPr>
          <p:cNvPr id="1030" name="スライド番号プレースホルダ 3"/>
          <p:cNvSpPr>
            <a:spLocks noGrp="1"/>
          </p:cNvSpPr>
          <p:nvPr>
            <p:ph type="sldNum" sz="quarter" idx="12"/>
          </p:nvPr>
        </p:nvSpPr>
        <p:spPr>
          <a:noFill/>
        </p:spPr>
        <p:txBody>
          <a:bodyPr/>
          <a:lstStyle/>
          <a:p>
            <a:fld id="{8D76A034-6F92-4935-A4E3-5BE7C2C3A63A}" type="slidenum">
              <a:rPr lang="en-GB" altLang="ja-JP" smtClean="0"/>
              <a:pPr/>
              <a:t>4</a:t>
            </a:fld>
            <a:endParaRPr lang="en-GB" altLang="ja-JP"/>
          </a:p>
        </p:txBody>
      </p:sp>
      <p:sp>
        <p:nvSpPr>
          <p:cNvPr id="23" name="Rectangle 3"/>
          <p:cNvSpPr txBox="1">
            <a:spLocks noChangeArrowheads="1"/>
          </p:cNvSpPr>
          <p:nvPr/>
        </p:nvSpPr>
        <p:spPr bwMode="auto">
          <a:xfrm>
            <a:off x="539750" y="1628775"/>
            <a:ext cx="8208963" cy="2160588"/>
          </a:xfrm>
          <a:prstGeom prst="rect">
            <a:avLst/>
          </a:prstGeom>
          <a:noFill/>
          <a:ln w="9525">
            <a:noFill/>
            <a:miter lim="800000"/>
            <a:headEnd/>
            <a:tailEnd/>
          </a:ln>
        </p:spPr>
        <p:txBody>
          <a:bodyPr lIns="61200" tIns="0" rIns="61200" bIns="0"/>
          <a:lstStyle/>
          <a:p>
            <a:pPr marL="184150" indent="-184150" eaLnBrk="0" hangingPunct="0">
              <a:spcBef>
                <a:spcPct val="40000"/>
              </a:spcBef>
              <a:spcAft>
                <a:spcPct val="20000"/>
              </a:spcAft>
              <a:buClr>
                <a:schemeClr val="tx1"/>
              </a:buClr>
              <a:buFont typeface="Wingdings" pitchFamily="2" charset="2"/>
              <a:buChar char="§"/>
              <a:defRPr/>
            </a:pPr>
            <a:r>
              <a:rPr lang="en-US" altLang="zh-TW" sz="2400" b="1" kern="0" dirty="0">
                <a:solidFill>
                  <a:schemeClr val="tx2"/>
                </a:solidFill>
                <a:latin typeface="+mj-lt"/>
              </a:rPr>
              <a:t>The economy is in </a:t>
            </a:r>
            <a:r>
              <a:rPr lang="en-US" altLang="zh-TW" sz="2400" b="1" kern="0" dirty="0">
                <a:solidFill>
                  <a:srgbClr val="FF0000"/>
                </a:solidFill>
                <a:latin typeface="+mj-lt"/>
              </a:rPr>
              <a:t>general equilibrium</a:t>
            </a:r>
            <a:r>
              <a:rPr lang="en-US" altLang="zh-TW" sz="2400" b="1" kern="0" dirty="0">
                <a:solidFill>
                  <a:schemeClr val="tx2"/>
                </a:solidFill>
                <a:latin typeface="+mj-lt"/>
              </a:rPr>
              <a:t> when prices have fully adjusted so that supply equals demand </a:t>
            </a:r>
            <a:r>
              <a:rPr lang="en-US" altLang="zh-TW" sz="2400" b="1" kern="0" dirty="0">
                <a:solidFill>
                  <a:srgbClr val="800000"/>
                </a:solidFill>
                <a:latin typeface="+mj-lt"/>
              </a:rPr>
              <a:t>in all markets</a:t>
            </a:r>
            <a:r>
              <a:rPr lang="en-US" altLang="zh-TW" sz="2400" b="1" kern="0" dirty="0">
                <a:solidFill>
                  <a:schemeClr val="tx2"/>
                </a:solidFill>
                <a:latin typeface="+mj-lt"/>
              </a:rPr>
              <a:t>. That is, for all </a:t>
            </a:r>
            <a:r>
              <a:rPr lang="en-US" altLang="zh-TW" sz="2400" b="1" i="1" kern="0" dirty="0">
                <a:solidFill>
                  <a:schemeClr val="tx2"/>
                </a:solidFill>
                <a:latin typeface="+mj-lt"/>
              </a:rPr>
              <a:t>j</a:t>
            </a:r>
            <a:r>
              <a:rPr lang="en-US" altLang="zh-TW" sz="2400" b="1" kern="0" dirty="0">
                <a:solidFill>
                  <a:schemeClr val="tx2"/>
                </a:solidFill>
                <a:latin typeface="+mj-lt"/>
              </a:rPr>
              <a:t> = 1, 2, …, N,</a:t>
            </a:r>
          </a:p>
        </p:txBody>
      </p:sp>
      <p:graphicFrame>
        <p:nvGraphicFramePr>
          <p:cNvPr id="1026" name="Object 2"/>
          <p:cNvGraphicFramePr>
            <a:graphicFrameLocks noChangeAspect="1"/>
          </p:cNvGraphicFramePr>
          <p:nvPr/>
        </p:nvGraphicFramePr>
        <p:xfrm>
          <a:off x="971550" y="3284538"/>
          <a:ext cx="5689600" cy="636587"/>
        </p:xfrm>
        <a:graphic>
          <a:graphicData uri="http://schemas.openxmlformats.org/presentationml/2006/ole">
            <mc:AlternateContent xmlns:mc="http://schemas.openxmlformats.org/markup-compatibility/2006">
              <mc:Choice xmlns:v="urn:schemas-microsoft-com:vml" Requires="v">
                <p:oleObj name="Equation" r:id="rId3" imgW="2273040" imgH="253800" progId="Equation.DSMT4">
                  <p:embed/>
                </p:oleObj>
              </mc:Choice>
              <mc:Fallback>
                <p:oleObj name="Equation" r:id="rId3" imgW="2273040" imgH="2538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3284538"/>
                        <a:ext cx="5689600" cy="636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3" name="Text Box 5"/>
          <p:cNvSpPr txBox="1">
            <a:spLocks noChangeArrowheads="1"/>
          </p:cNvSpPr>
          <p:nvPr/>
        </p:nvSpPr>
        <p:spPr bwMode="auto">
          <a:xfrm>
            <a:off x="6659563" y="3355975"/>
            <a:ext cx="801687" cy="457200"/>
          </a:xfrm>
          <a:prstGeom prst="rect">
            <a:avLst/>
          </a:prstGeom>
          <a:noFill/>
          <a:ln w="9525">
            <a:noFill/>
            <a:miter lim="800000"/>
            <a:headEnd/>
            <a:tailEnd/>
          </a:ln>
        </p:spPr>
        <p:txBody>
          <a:bodyPr wrap="none">
            <a:spAutoFit/>
          </a:bodyPr>
          <a:lstStyle/>
          <a:p>
            <a:r>
              <a:rPr lang="en-US" altLang="zh-TW" sz="2400">
                <a:latin typeface="Times New Roman" pitchFamily="18" charset="0"/>
                <a:ea typeface="新細明體" pitchFamily="18" charset="-120"/>
              </a:rPr>
              <a:t>with </a:t>
            </a:r>
          </a:p>
        </p:txBody>
      </p:sp>
      <p:graphicFrame>
        <p:nvGraphicFramePr>
          <p:cNvPr id="1027" name="Object 3"/>
          <p:cNvGraphicFramePr>
            <a:graphicFrameLocks noChangeAspect="1"/>
          </p:cNvGraphicFramePr>
          <p:nvPr/>
        </p:nvGraphicFramePr>
        <p:xfrm>
          <a:off x="7451725" y="3302000"/>
          <a:ext cx="1233488" cy="600075"/>
        </p:xfrm>
        <a:graphic>
          <a:graphicData uri="http://schemas.openxmlformats.org/presentationml/2006/ole">
            <mc:AlternateContent xmlns:mc="http://schemas.openxmlformats.org/markup-compatibility/2006">
              <mc:Choice xmlns:v="urn:schemas-microsoft-com:vml" Requires="v">
                <p:oleObj name="Equation" r:id="rId5" imgW="469800" imgH="228600" progId="Equation.DSMT4">
                  <p:embed/>
                </p:oleObj>
              </mc:Choice>
              <mc:Fallback>
                <p:oleObj name="Equation" r:id="rId5" imgW="469800" imgH="2286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51725" y="3302000"/>
                        <a:ext cx="1233488" cy="600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4"/>
          <p:cNvGraphicFramePr>
            <a:graphicFrameLocks noChangeAspect="1"/>
          </p:cNvGraphicFramePr>
          <p:nvPr/>
        </p:nvGraphicFramePr>
        <p:xfrm>
          <a:off x="993775" y="4114800"/>
          <a:ext cx="1166813" cy="666750"/>
        </p:xfrm>
        <a:graphic>
          <a:graphicData uri="http://schemas.openxmlformats.org/presentationml/2006/ole">
            <mc:AlternateContent xmlns:mc="http://schemas.openxmlformats.org/markup-compatibility/2006">
              <mc:Choice xmlns:v="urn:schemas-microsoft-com:vml" Requires="v">
                <p:oleObj name="Equation" r:id="rId7" imgW="444240" imgH="253800" progId="Equation.DSMT4">
                  <p:embed/>
                </p:oleObj>
              </mc:Choice>
              <mc:Fallback>
                <p:oleObj name="Equation" r:id="rId7" imgW="444240" imgH="2538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3775" y="4114800"/>
                        <a:ext cx="1166813" cy="66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4" name="Text Box 8"/>
          <p:cNvSpPr txBox="1">
            <a:spLocks noChangeArrowheads="1"/>
          </p:cNvSpPr>
          <p:nvPr/>
        </p:nvSpPr>
        <p:spPr bwMode="auto">
          <a:xfrm>
            <a:off x="2124075" y="4219575"/>
            <a:ext cx="2747963" cy="457200"/>
          </a:xfrm>
          <a:prstGeom prst="rect">
            <a:avLst/>
          </a:prstGeom>
          <a:noFill/>
          <a:ln w="9525">
            <a:noFill/>
            <a:miter lim="800000"/>
            <a:headEnd/>
            <a:tailEnd/>
          </a:ln>
        </p:spPr>
        <p:txBody>
          <a:bodyPr wrap="none">
            <a:spAutoFit/>
          </a:bodyPr>
          <a:lstStyle/>
          <a:p>
            <a:r>
              <a:rPr lang="en-US" altLang="zh-TW" sz="2400">
                <a:latin typeface="Times New Roman" pitchFamily="18" charset="0"/>
                <a:ea typeface="新細明體" pitchFamily="18" charset="-120"/>
              </a:rPr>
              <a:t>for goods </a:t>
            </a:r>
            <a:r>
              <a:rPr lang="en-US" altLang="zh-TW" sz="2400" i="1">
                <a:latin typeface="Times New Roman" pitchFamily="18" charset="0"/>
                <a:ea typeface="新細明體" pitchFamily="18" charset="-120"/>
              </a:rPr>
              <a:t>j</a:t>
            </a:r>
            <a:r>
              <a:rPr lang="en-US" altLang="zh-TW" sz="2400">
                <a:latin typeface="Times New Roman" pitchFamily="18" charset="0"/>
                <a:ea typeface="新細明體" pitchFamily="18" charset="-120"/>
              </a:rPr>
              <a:t> such that </a:t>
            </a:r>
          </a:p>
        </p:txBody>
      </p:sp>
      <p:graphicFrame>
        <p:nvGraphicFramePr>
          <p:cNvPr id="1029" name="Object 5"/>
          <p:cNvGraphicFramePr>
            <a:graphicFrameLocks noChangeAspect="1"/>
          </p:cNvGraphicFramePr>
          <p:nvPr/>
        </p:nvGraphicFramePr>
        <p:xfrm>
          <a:off x="1835150" y="4781550"/>
          <a:ext cx="5400675" cy="596900"/>
        </p:xfrm>
        <a:graphic>
          <a:graphicData uri="http://schemas.openxmlformats.org/presentationml/2006/ole">
            <mc:AlternateContent xmlns:mc="http://schemas.openxmlformats.org/markup-compatibility/2006">
              <mc:Choice xmlns:v="urn:schemas-microsoft-com:vml" Requires="v">
                <p:oleObj name="Equation" r:id="rId9" imgW="2298600" imgH="253800" progId="Equation.DSMT4">
                  <p:embed/>
                </p:oleObj>
              </mc:Choice>
              <mc:Fallback>
                <p:oleObj name="Equation" r:id="rId9" imgW="2298600" imgH="25380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35150" y="4781550"/>
                        <a:ext cx="5400675" cy="59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25470"/>
          </a:xfrm>
        </p:spPr>
        <p:txBody>
          <a:bodyPr>
            <a:normAutofit/>
          </a:bodyPr>
          <a:lstStyle/>
          <a:p>
            <a:r>
              <a:rPr lang="en-US" altLang="zh-CN" sz="3600" b="1" dirty="0">
                <a:solidFill>
                  <a:srgbClr val="C00000"/>
                </a:solidFill>
                <a:latin typeface="Times New Roman" pitchFamily="18" charset="0"/>
                <a:ea typeface="黑体" pitchFamily="49" charset="-122"/>
              </a:rPr>
              <a:t>CGE</a:t>
            </a:r>
            <a:r>
              <a:rPr lang="zh-CN" altLang="en-US" sz="3600" b="1" dirty="0">
                <a:solidFill>
                  <a:srgbClr val="C00000"/>
                </a:solidFill>
                <a:latin typeface="黑体" pitchFamily="49" charset="-122"/>
                <a:ea typeface="黑体" pitchFamily="49" charset="-122"/>
              </a:rPr>
              <a:t>模型发展过程简要回顾</a:t>
            </a:r>
          </a:p>
        </p:txBody>
      </p:sp>
      <p:sp>
        <p:nvSpPr>
          <p:cNvPr id="3" name="内容占位符 2"/>
          <p:cNvSpPr>
            <a:spLocks noGrp="1"/>
          </p:cNvSpPr>
          <p:nvPr>
            <p:ph idx="1"/>
          </p:nvPr>
        </p:nvSpPr>
        <p:spPr>
          <a:xfrm>
            <a:off x="323528" y="1052736"/>
            <a:ext cx="8640960" cy="5357850"/>
          </a:xfrm>
        </p:spPr>
        <p:txBody>
          <a:bodyPr>
            <a:noAutofit/>
          </a:bodyPr>
          <a:lstStyle/>
          <a:p>
            <a:pPr>
              <a:lnSpc>
                <a:spcPct val="120000"/>
              </a:lnSpc>
            </a:pPr>
            <a:r>
              <a:rPr lang="zh-CN" altLang="en-US" sz="2800" b="1" u="sng" dirty="0">
                <a:solidFill>
                  <a:srgbClr val="FF0000"/>
                </a:solidFill>
                <a:latin typeface="Times New Roman" pitchFamily="18" charset="0"/>
                <a:ea typeface="黑体" pitchFamily="49" charset="-122"/>
              </a:rPr>
              <a:t>脱胎于瓦尔拉斯</a:t>
            </a:r>
            <a:r>
              <a:rPr lang="en-US" altLang="zh-CN" sz="2800" b="1" u="sng" dirty="0">
                <a:solidFill>
                  <a:srgbClr val="FF0000"/>
                </a:solidFill>
                <a:latin typeface="Times New Roman" pitchFamily="18" charset="0"/>
                <a:ea typeface="黑体" pitchFamily="49" charset="-122"/>
              </a:rPr>
              <a:t>(</a:t>
            </a:r>
            <a:r>
              <a:rPr lang="en-US" altLang="zh-CN" sz="2800" b="1" u="sng" dirty="0" err="1">
                <a:solidFill>
                  <a:srgbClr val="FF0000"/>
                </a:solidFill>
                <a:latin typeface="Times New Roman" pitchFamily="18" charset="0"/>
                <a:ea typeface="黑体" pitchFamily="49" charset="-122"/>
              </a:rPr>
              <a:t>Walras</a:t>
            </a:r>
            <a:r>
              <a:rPr lang="en-US" altLang="zh-CN" sz="2800" b="1" u="sng" dirty="0">
                <a:solidFill>
                  <a:srgbClr val="FF0000"/>
                </a:solidFill>
                <a:latin typeface="Times New Roman" pitchFamily="18" charset="0"/>
                <a:ea typeface="黑体" pitchFamily="49" charset="-122"/>
              </a:rPr>
              <a:t>)</a:t>
            </a:r>
            <a:r>
              <a:rPr lang="zh-CN" altLang="en-US" sz="2800" b="1" u="sng" dirty="0">
                <a:solidFill>
                  <a:srgbClr val="FF0000"/>
                </a:solidFill>
                <a:latin typeface="Times New Roman" pitchFamily="18" charset="0"/>
                <a:ea typeface="黑体" pitchFamily="49" charset="-122"/>
              </a:rPr>
              <a:t>的一般均衡理论</a:t>
            </a:r>
            <a:r>
              <a:rPr lang="zh-CN" altLang="en-US" sz="2800" b="1" dirty="0">
                <a:solidFill>
                  <a:srgbClr val="000099"/>
                </a:solidFill>
                <a:latin typeface="Times New Roman" pitchFamily="18" charset="0"/>
                <a:ea typeface="黑体" pitchFamily="49" charset="-122"/>
              </a:rPr>
              <a:t>。</a:t>
            </a:r>
            <a:r>
              <a:rPr lang="en-US" altLang="zh-CN" sz="2800" b="1" dirty="0">
                <a:solidFill>
                  <a:srgbClr val="000099"/>
                </a:solidFill>
                <a:latin typeface="Times New Roman" pitchFamily="18" charset="0"/>
                <a:ea typeface="黑体" pitchFamily="49" charset="-122"/>
              </a:rPr>
              <a:t>1874</a:t>
            </a:r>
            <a:r>
              <a:rPr lang="zh-CN" altLang="en-US" sz="2800" b="1" dirty="0">
                <a:solidFill>
                  <a:srgbClr val="000099"/>
                </a:solidFill>
                <a:latin typeface="Times New Roman" pitchFamily="18" charset="0"/>
                <a:ea typeface="黑体" pitchFamily="49" charset="-122"/>
              </a:rPr>
              <a:t>年，瓦尔拉斯提出了一般均衡的理论模型，用抽象的数学语言表述了一般均衡的思想。</a:t>
            </a:r>
            <a:endParaRPr lang="en-US" altLang="zh-CN" sz="2800" b="1" dirty="0">
              <a:solidFill>
                <a:srgbClr val="000099"/>
              </a:solidFill>
              <a:latin typeface="Times New Roman" pitchFamily="18" charset="0"/>
              <a:ea typeface="黑体" pitchFamily="49" charset="-122"/>
            </a:endParaRPr>
          </a:p>
          <a:p>
            <a:pPr>
              <a:lnSpc>
                <a:spcPct val="120000"/>
              </a:lnSpc>
            </a:pPr>
            <a:r>
              <a:rPr lang="en-US" altLang="zh-CN" sz="2800" b="1" u="sng" dirty="0">
                <a:solidFill>
                  <a:srgbClr val="FF0000"/>
                </a:solidFill>
                <a:latin typeface="Times New Roman" pitchFamily="18" charset="0"/>
                <a:ea typeface="黑体" pitchFamily="49" charset="-122"/>
              </a:rPr>
              <a:t>1936</a:t>
            </a:r>
            <a:r>
              <a:rPr lang="zh-CN" altLang="en-US" sz="2800" b="1" u="sng" dirty="0">
                <a:solidFill>
                  <a:srgbClr val="FF0000"/>
                </a:solidFill>
                <a:latin typeface="Times New Roman" pitchFamily="18" charset="0"/>
                <a:ea typeface="黑体" pitchFamily="49" charset="-122"/>
              </a:rPr>
              <a:t>年，列昂节夫首次引入投入</a:t>
            </a:r>
            <a:r>
              <a:rPr lang="en-US" altLang="zh-CN" sz="2800" b="1" u="sng" dirty="0">
                <a:solidFill>
                  <a:srgbClr val="FF0000"/>
                </a:solidFill>
                <a:latin typeface="Times New Roman" pitchFamily="18" charset="0"/>
                <a:ea typeface="黑体" pitchFamily="49" charset="-122"/>
              </a:rPr>
              <a:t>-</a:t>
            </a:r>
            <a:r>
              <a:rPr lang="zh-CN" altLang="en-US" sz="2800" b="1" u="sng" dirty="0">
                <a:solidFill>
                  <a:srgbClr val="FF0000"/>
                </a:solidFill>
                <a:latin typeface="Times New Roman" pitchFamily="18" charset="0"/>
                <a:ea typeface="黑体" pitchFamily="49" charset="-122"/>
              </a:rPr>
              <a:t>产出模型，并假定成本是线性的、技术系数是固定的</a:t>
            </a:r>
            <a:r>
              <a:rPr lang="zh-CN" altLang="en-US" sz="2800" b="1" dirty="0">
                <a:solidFill>
                  <a:srgbClr val="000099"/>
                </a:solidFill>
                <a:latin typeface="Times New Roman" pitchFamily="18" charset="0"/>
                <a:ea typeface="黑体" pitchFamily="49" charset="-122"/>
              </a:rPr>
              <a:t>。不过，这些理论一般均衡模型的解的存在性至此还一直没有解决；</a:t>
            </a:r>
            <a:endParaRPr lang="en-US" altLang="zh-CN" sz="2800" b="1" dirty="0">
              <a:solidFill>
                <a:srgbClr val="000099"/>
              </a:solidFill>
              <a:latin typeface="Times New Roman" pitchFamily="18" charset="0"/>
              <a:ea typeface="黑体" pitchFamily="49" charset="-122"/>
            </a:endParaRPr>
          </a:p>
          <a:p>
            <a:pPr>
              <a:lnSpc>
                <a:spcPct val="120000"/>
              </a:lnSpc>
            </a:pPr>
            <a:r>
              <a:rPr lang="zh-CN" altLang="en-US" sz="2800" b="1" u="sng" dirty="0">
                <a:solidFill>
                  <a:srgbClr val="FF0000"/>
                </a:solidFill>
                <a:latin typeface="Times New Roman" pitchFamily="18" charset="0"/>
                <a:ea typeface="黑体" pitchFamily="49" charset="-122"/>
              </a:rPr>
              <a:t>理论一般均衡模型解的存在性、唯一性、优化性和稳定性直到</a:t>
            </a:r>
            <a:r>
              <a:rPr lang="en-US" altLang="zh-CN" sz="2800" b="1" u="sng" dirty="0">
                <a:solidFill>
                  <a:srgbClr val="FF0000"/>
                </a:solidFill>
                <a:latin typeface="Times New Roman" pitchFamily="18" charset="0"/>
                <a:ea typeface="黑体" pitchFamily="49" charset="-122"/>
              </a:rPr>
              <a:t>50</a:t>
            </a:r>
            <a:r>
              <a:rPr lang="zh-CN" altLang="en-US" sz="2800" b="1" u="sng" dirty="0">
                <a:solidFill>
                  <a:srgbClr val="FF0000"/>
                </a:solidFill>
                <a:latin typeface="Times New Roman" pitchFamily="18" charset="0"/>
                <a:ea typeface="黑体" pitchFamily="49" charset="-122"/>
              </a:rPr>
              <a:t>年代才由阿罗</a:t>
            </a:r>
            <a:r>
              <a:rPr lang="en-US" altLang="zh-CN" sz="2800" b="1" u="sng" dirty="0">
                <a:solidFill>
                  <a:srgbClr val="FF0000"/>
                </a:solidFill>
                <a:latin typeface="Times New Roman" pitchFamily="18" charset="0"/>
                <a:ea typeface="黑体" pitchFamily="49" charset="-122"/>
              </a:rPr>
              <a:t>(Arrow</a:t>
            </a:r>
            <a:r>
              <a:rPr lang="zh-CN" altLang="en-US" sz="2800" b="1" u="sng" dirty="0">
                <a:solidFill>
                  <a:srgbClr val="FF0000"/>
                </a:solidFill>
                <a:latin typeface="Times New Roman" pitchFamily="18" charset="0"/>
                <a:ea typeface="黑体" pitchFamily="49" charset="-122"/>
              </a:rPr>
              <a:t>，</a:t>
            </a:r>
            <a:r>
              <a:rPr lang="en-US" altLang="zh-CN" sz="2800" b="1" u="sng" dirty="0">
                <a:solidFill>
                  <a:srgbClr val="FF0000"/>
                </a:solidFill>
                <a:latin typeface="Times New Roman" pitchFamily="18" charset="0"/>
                <a:ea typeface="黑体" pitchFamily="49" charset="-122"/>
              </a:rPr>
              <a:t>1951)</a:t>
            </a:r>
            <a:r>
              <a:rPr lang="zh-CN" altLang="en-US" sz="2800" b="1" u="sng" dirty="0">
                <a:solidFill>
                  <a:srgbClr val="FF0000"/>
                </a:solidFill>
                <a:latin typeface="Times New Roman" pitchFamily="18" charset="0"/>
                <a:ea typeface="黑体" pitchFamily="49" charset="-122"/>
              </a:rPr>
              <a:t>、阿罗和德布鲁</a:t>
            </a:r>
            <a:r>
              <a:rPr lang="en-US" altLang="zh-CN" sz="2800" b="1" u="sng" dirty="0">
                <a:solidFill>
                  <a:srgbClr val="FF0000"/>
                </a:solidFill>
                <a:latin typeface="Times New Roman" pitchFamily="18" charset="0"/>
                <a:ea typeface="黑体" pitchFamily="49" charset="-122"/>
              </a:rPr>
              <a:t>(Arrow and </a:t>
            </a:r>
            <a:r>
              <a:rPr lang="en-US" altLang="zh-CN" sz="2800" b="1" u="sng" dirty="0" err="1">
                <a:solidFill>
                  <a:srgbClr val="FF0000"/>
                </a:solidFill>
                <a:latin typeface="Times New Roman" pitchFamily="18" charset="0"/>
                <a:ea typeface="黑体" pitchFamily="49" charset="-122"/>
              </a:rPr>
              <a:t>Debru</a:t>
            </a:r>
            <a:r>
              <a:rPr lang="zh-CN" altLang="en-US" sz="2800" b="1" u="sng" dirty="0">
                <a:solidFill>
                  <a:srgbClr val="FF0000"/>
                </a:solidFill>
                <a:latin typeface="Times New Roman" pitchFamily="18" charset="0"/>
                <a:ea typeface="黑体" pitchFamily="49" charset="-122"/>
              </a:rPr>
              <a:t>，</a:t>
            </a:r>
            <a:r>
              <a:rPr lang="en-US" altLang="zh-CN" sz="2800" b="1" u="sng" dirty="0">
                <a:solidFill>
                  <a:srgbClr val="FF0000"/>
                </a:solidFill>
                <a:latin typeface="Times New Roman" pitchFamily="18" charset="0"/>
                <a:ea typeface="黑体" pitchFamily="49" charset="-122"/>
              </a:rPr>
              <a:t>1954)</a:t>
            </a:r>
            <a:r>
              <a:rPr lang="zh-CN" altLang="en-US" sz="2800" b="1" u="sng" dirty="0">
                <a:solidFill>
                  <a:srgbClr val="FF0000"/>
                </a:solidFill>
                <a:latin typeface="Times New Roman" pitchFamily="18" charset="0"/>
                <a:ea typeface="黑体" pitchFamily="49" charset="-122"/>
              </a:rPr>
              <a:t>给予证明</a:t>
            </a:r>
            <a:r>
              <a:rPr lang="zh-CN" altLang="en-US" sz="2800" b="1" dirty="0">
                <a:solidFill>
                  <a:srgbClr val="000099"/>
                </a:solidFill>
                <a:latin typeface="Times New Roman" pitchFamily="18" charset="0"/>
                <a:ea typeface="黑体" pitchFamily="49" charset="-122"/>
              </a:rPr>
              <a:t>。</a:t>
            </a:r>
            <a:endParaRPr lang="en-US" altLang="zh-CN" sz="2800" b="1" dirty="0">
              <a:solidFill>
                <a:srgbClr val="000099"/>
              </a:solidFill>
              <a:latin typeface="Times New Roman" pitchFamily="18" charset="0"/>
              <a:ea typeface="黑体" pitchFamily="49" charset="-122"/>
            </a:endParaRPr>
          </a:p>
        </p:txBody>
      </p:sp>
      <p:sp>
        <p:nvSpPr>
          <p:cNvPr id="4" name="日期占位符 3"/>
          <p:cNvSpPr>
            <a:spLocks noGrp="1"/>
          </p:cNvSpPr>
          <p:nvPr>
            <p:ph type="dt" sz="half" idx="10"/>
          </p:nvPr>
        </p:nvSpPr>
        <p:spPr/>
        <p:txBody>
          <a:bodyPr/>
          <a:lstStyle/>
          <a:p>
            <a:fld id="{C6B8F2EF-5256-419E-9E16-E117EA0624FC}" type="datetimeFigureOut">
              <a:rPr lang="zh-CN" altLang="en-US" smtClean="0"/>
              <a:pPr/>
              <a:t>2021/5/27</a:t>
            </a:fld>
            <a:endParaRPr lang="zh-CN" altLang="en-US"/>
          </a:p>
        </p:txBody>
      </p:sp>
      <p:sp>
        <p:nvSpPr>
          <p:cNvPr id="5" name="灯片编号占位符 4"/>
          <p:cNvSpPr>
            <a:spLocks noGrp="1"/>
          </p:cNvSpPr>
          <p:nvPr>
            <p:ph type="sldNum" sz="quarter" idx="12"/>
          </p:nvPr>
        </p:nvSpPr>
        <p:spPr/>
        <p:txBody>
          <a:bodyPr/>
          <a:lstStyle/>
          <a:p>
            <a:fld id="{C8D0647B-24A2-46AB-A27A-847EF503E68C}" type="slidenum">
              <a:rPr lang="zh-CN" altLang="en-US" smtClean="0"/>
              <a:pPr/>
              <a:t>5</a:t>
            </a:fld>
            <a:endParaRPr lang="zh-CN" altLang="en-US"/>
          </a:p>
        </p:txBody>
      </p:sp>
    </p:spTree>
    <p:extLst>
      <p:ext uri="{BB962C8B-B14F-4D97-AF65-F5344CB8AC3E}">
        <p14:creationId xmlns:p14="http://schemas.microsoft.com/office/powerpoint/2010/main" val="1296324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25470"/>
          </a:xfrm>
        </p:spPr>
        <p:txBody>
          <a:bodyPr>
            <a:normAutofit/>
          </a:bodyPr>
          <a:lstStyle/>
          <a:p>
            <a:r>
              <a:rPr lang="en-US" altLang="zh-CN" sz="3600" b="1" dirty="0">
                <a:solidFill>
                  <a:srgbClr val="C00000"/>
                </a:solidFill>
                <a:latin typeface="Times New Roman" pitchFamily="18" charset="0"/>
                <a:ea typeface="黑体" pitchFamily="49" charset="-122"/>
              </a:rPr>
              <a:t>CGE</a:t>
            </a:r>
            <a:r>
              <a:rPr lang="zh-CN" altLang="en-US" sz="3600" b="1" dirty="0">
                <a:solidFill>
                  <a:srgbClr val="C00000"/>
                </a:solidFill>
                <a:latin typeface="黑体" pitchFamily="49" charset="-122"/>
                <a:ea typeface="黑体" pitchFamily="49" charset="-122"/>
              </a:rPr>
              <a:t>模型发展过程简要回顾</a:t>
            </a:r>
          </a:p>
        </p:txBody>
      </p:sp>
      <p:sp>
        <p:nvSpPr>
          <p:cNvPr id="3" name="内容占位符 2"/>
          <p:cNvSpPr>
            <a:spLocks noGrp="1"/>
          </p:cNvSpPr>
          <p:nvPr>
            <p:ph idx="1"/>
          </p:nvPr>
        </p:nvSpPr>
        <p:spPr>
          <a:xfrm>
            <a:off x="323528" y="1124744"/>
            <a:ext cx="8640960" cy="5285842"/>
          </a:xfrm>
        </p:spPr>
        <p:txBody>
          <a:bodyPr>
            <a:noAutofit/>
          </a:bodyPr>
          <a:lstStyle/>
          <a:p>
            <a:pPr>
              <a:lnSpc>
                <a:spcPct val="120000"/>
              </a:lnSpc>
            </a:pPr>
            <a:r>
              <a:rPr lang="zh-CN" altLang="en-US" sz="2400" b="1" u="sng" dirty="0">
                <a:solidFill>
                  <a:srgbClr val="FF0000"/>
                </a:solidFill>
                <a:latin typeface="Times New Roman" pitchFamily="18" charset="0"/>
                <a:ea typeface="黑体" pitchFamily="49" charset="-122"/>
              </a:rPr>
              <a:t>尽管理论一般均衡模型的研究取得了如此的进步，但是，要将其应用于实际问题，还需解决相应模型解的算法问题</a:t>
            </a:r>
            <a:r>
              <a:rPr lang="zh-CN" altLang="en-US" sz="2400" b="1" dirty="0">
                <a:solidFill>
                  <a:srgbClr val="000099"/>
                </a:solidFill>
                <a:latin typeface="Times New Roman" pitchFamily="18" charset="0"/>
                <a:ea typeface="黑体" pitchFamily="49" charset="-122"/>
              </a:rPr>
              <a:t>。约翰森</a:t>
            </a:r>
            <a:r>
              <a:rPr lang="en-US" altLang="zh-CN" sz="2400" b="1" dirty="0">
                <a:solidFill>
                  <a:srgbClr val="000099"/>
                </a:solidFill>
                <a:latin typeface="Times New Roman" pitchFamily="18" charset="0"/>
                <a:ea typeface="黑体" pitchFamily="49" charset="-122"/>
              </a:rPr>
              <a:t>(Johansen</a:t>
            </a:r>
            <a:r>
              <a:rPr lang="zh-CN" altLang="en-US" sz="2400" b="1" dirty="0">
                <a:solidFill>
                  <a:srgbClr val="000099"/>
                </a:solidFill>
                <a:latin typeface="Times New Roman" pitchFamily="18" charset="0"/>
                <a:ea typeface="黑体" pitchFamily="49" charset="-122"/>
              </a:rPr>
              <a:t>，</a:t>
            </a:r>
            <a:r>
              <a:rPr lang="en-US" altLang="zh-CN" sz="2400" b="1" dirty="0">
                <a:solidFill>
                  <a:srgbClr val="000099"/>
                </a:solidFill>
                <a:latin typeface="Times New Roman" pitchFamily="18" charset="0"/>
                <a:ea typeface="黑体" pitchFamily="49" charset="-122"/>
              </a:rPr>
              <a:t>1960)</a:t>
            </a:r>
            <a:r>
              <a:rPr lang="zh-CN" altLang="en-US" sz="2400" b="1" dirty="0">
                <a:solidFill>
                  <a:srgbClr val="000099"/>
                </a:solidFill>
                <a:latin typeface="Times New Roman" pitchFamily="18" charset="0"/>
                <a:ea typeface="黑体" pitchFamily="49" charset="-122"/>
              </a:rPr>
              <a:t>构建了一个包括</a:t>
            </a:r>
            <a:r>
              <a:rPr lang="en-US" altLang="zh-CN" sz="2400" b="1" dirty="0">
                <a:solidFill>
                  <a:srgbClr val="000099"/>
                </a:solidFill>
                <a:latin typeface="Times New Roman" pitchFamily="18" charset="0"/>
                <a:ea typeface="黑体" pitchFamily="49" charset="-122"/>
              </a:rPr>
              <a:t>20</a:t>
            </a:r>
            <a:r>
              <a:rPr lang="zh-CN" altLang="en-US" sz="2400" b="1" dirty="0">
                <a:solidFill>
                  <a:srgbClr val="000099"/>
                </a:solidFill>
                <a:latin typeface="Times New Roman" pitchFamily="18" charset="0"/>
                <a:ea typeface="黑体" pitchFamily="49" charset="-122"/>
              </a:rPr>
              <a:t>个成本最小化的产业部门和一个效用最大化的家庭部门的实际一般均衡模型，并给出了相应的均衡价格的具体算法。由于约翰森模型的可计算性质，人们普遍把约翰森模型看作第一个</a:t>
            </a:r>
            <a:r>
              <a:rPr lang="en-US" altLang="zh-CN" sz="2400" b="1" dirty="0">
                <a:solidFill>
                  <a:srgbClr val="000099"/>
                </a:solidFill>
                <a:latin typeface="Times New Roman" pitchFamily="18" charset="0"/>
                <a:ea typeface="黑体" pitchFamily="49" charset="-122"/>
              </a:rPr>
              <a:t>CGE</a:t>
            </a:r>
            <a:r>
              <a:rPr lang="zh-CN" altLang="en-US" sz="2400" b="1" dirty="0">
                <a:solidFill>
                  <a:srgbClr val="000099"/>
                </a:solidFill>
                <a:latin typeface="Times New Roman" pitchFamily="18" charset="0"/>
                <a:ea typeface="黑体" pitchFamily="49" charset="-122"/>
              </a:rPr>
              <a:t>模型。</a:t>
            </a:r>
            <a:endParaRPr lang="en-US" altLang="zh-CN" sz="2400" b="1" dirty="0">
              <a:solidFill>
                <a:srgbClr val="000099"/>
              </a:solidFill>
              <a:latin typeface="Times New Roman" pitchFamily="18" charset="0"/>
              <a:ea typeface="黑体" pitchFamily="49" charset="-122"/>
            </a:endParaRPr>
          </a:p>
          <a:p>
            <a:pPr>
              <a:lnSpc>
                <a:spcPct val="120000"/>
              </a:lnSpc>
            </a:pPr>
            <a:r>
              <a:rPr lang="en-US" altLang="zh-CN" sz="2400" b="1" u="sng" dirty="0">
                <a:solidFill>
                  <a:srgbClr val="FF0000"/>
                </a:solidFill>
                <a:latin typeface="Times New Roman" pitchFamily="18" charset="0"/>
                <a:ea typeface="黑体" pitchFamily="49" charset="-122"/>
              </a:rPr>
              <a:t>1967</a:t>
            </a:r>
            <a:r>
              <a:rPr lang="zh-CN" altLang="en-US" sz="2400" b="1" u="sng" dirty="0">
                <a:solidFill>
                  <a:srgbClr val="FF0000"/>
                </a:solidFill>
                <a:latin typeface="Times New Roman" pitchFamily="18" charset="0"/>
                <a:ea typeface="黑体" pitchFamily="49" charset="-122"/>
              </a:rPr>
              <a:t>年，斯卡夫</a:t>
            </a:r>
            <a:r>
              <a:rPr lang="en-US" altLang="zh-CN" sz="2400" b="1" u="sng" dirty="0">
                <a:solidFill>
                  <a:srgbClr val="FF0000"/>
                </a:solidFill>
                <a:latin typeface="Times New Roman" pitchFamily="18" charset="0"/>
                <a:ea typeface="黑体" pitchFamily="49" charset="-122"/>
              </a:rPr>
              <a:t>(Scarf)</a:t>
            </a:r>
            <a:r>
              <a:rPr lang="zh-CN" altLang="en-US" sz="2400" b="1" u="sng" dirty="0">
                <a:solidFill>
                  <a:srgbClr val="FF0000"/>
                </a:solidFill>
                <a:latin typeface="Times New Roman" pitchFamily="18" charset="0"/>
                <a:ea typeface="黑体" pitchFamily="49" charset="-122"/>
              </a:rPr>
              <a:t>研制了一种开创性的算法，用于对数字设定的一般均衡模型进行求解</a:t>
            </a:r>
            <a:r>
              <a:rPr lang="zh-CN" altLang="en-US" sz="2400" b="1" dirty="0">
                <a:solidFill>
                  <a:srgbClr val="000099"/>
                </a:solidFill>
                <a:latin typeface="Times New Roman" pitchFamily="18" charset="0"/>
                <a:ea typeface="黑体" pitchFamily="49" charset="-122"/>
              </a:rPr>
              <a:t>。斯卡夫关于均衡价格开创性的算法使得一般均衡模型从纯理论结构转化为可计算的实际应用模型成为可能，并大大地促进了大型实际</a:t>
            </a:r>
            <a:r>
              <a:rPr lang="en-US" altLang="zh-CN" sz="2400" b="1" dirty="0">
                <a:solidFill>
                  <a:srgbClr val="000099"/>
                </a:solidFill>
                <a:latin typeface="Times New Roman" pitchFamily="18" charset="0"/>
                <a:ea typeface="黑体" pitchFamily="49" charset="-122"/>
              </a:rPr>
              <a:t>CGE</a:t>
            </a:r>
            <a:r>
              <a:rPr lang="zh-CN" altLang="en-US" sz="2400" b="1" dirty="0">
                <a:solidFill>
                  <a:srgbClr val="000099"/>
                </a:solidFill>
                <a:latin typeface="Times New Roman" pitchFamily="18" charset="0"/>
                <a:ea typeface="黑体" pitchFamily="49" charset="-122"/>
              </a:rPr>
              <a:t>模型的开发和应用。</a:t>
            </a:r>
          </a:p>
        </p:txBody>
      </p:sp>
      <p:sp>
        <p:nvSpPr>
          <p:cNvPr id="4" name="日期占位符 3"/>
          <p:cNvSpPr>
            <a:spLocks noGrp="1"/>
          </p:cNvSpPr>
          <p:nvPr>
            <p:ph type="dt" sz="half" idx="10"/>
          </p:nvPr>
        </p:nvSpPr>
        <p:spPr/>
        <p:txBody>
          <a:bodyPr/>
          <a:lstStyle/>
          <a:p>
            <a:fld id="{C6B8F2EF-5256-419E-9E16-E117EA0624FC}" type="datetimeFigureOut">
              <a:rPr lang="zh-CN" altLang="en-US" smtClean="0"/>
              <a:pPr/>
              <a:t>2021/5/27</a:t>
            </a:fld>
            <a:endParaRPr lang="zh-CN" altLang="en-US"/>
          </a:p>
        </p:txBody>
      </p:sp>
      <p:sp>
        <p:nvSpPr>
          <p:cNvPr id="5" name="灯片编号占位符 4"/>
          <p:cNvSpPr>
            <a:spLocks noGrp="1"/>
          </p:cNvSpPr>
          <p:nvPr>
            <p:ph type="sldNum" sz="quarter" idx="12"/>
          </p:nvPr>
        </p:nvSpPr>
        <p:spPr/>
        <p:txBody>
          <a:bodyPr/>
          <a:lstStyle/>
          <a:p>
            <a:fld id="{C8D0647B-24A2-46AB-A27A-847EF503E68C}" type="slidenum">
              <a:rPr lang="zh-CN" altLang="en-US" smtClean="0"/>
              <a:pPr/>
              <a:t>6</a:t>
            </a:fld>
            <a:endParaRPr lang="zh-CN" altLang="en-US"/>
          </a:p>
        </p:txBody>
      </p:sp>
    </p:spTree>
    <p:extLst>
      <p:ext uri="{BB962C8B-B14F-4D97-AF65-F5344CB8AC3E}">
        <p14:creationId xmlns:p14="http://schemas.microsoft.com/office/powerpoint/2010/main" val="4168213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FF0000"/>
                </a:solidFill>
                <a:latin typeface="黑体" pitchFamily="49" charset="-122"/>
                <a:ea typeface="黑体" pitchFamily="49" charset="-122"/>
              </a:rPr>
              <a:t>两大促进因素</a:t>
            </a:r>
          </a:p>
        </p:txBody>
      </p:sp>
      <p:sp>
        <p:nvSpPr>
          <p:cNvPr id="3" name="内容占位符 2"/>
          <p:cNvSpPr>
            <a:spLocks noGrp="1"/>
          </p:cNvSpPr>
          <p:nvPr>
            <p:ph idx="1"/>
          </p:nvPr>
        </p:nvSpPr>
        <p:spPr>
          <a:xfrm>
            <a:off x="460097" y="1700808"/>
            <a:ext cx="8229600" cy="4525963"/>
          </a:xfrm>
        </p:spPr>
        <p:txBody>
          <a:bodyPr/>
          <a:lstStyle/>
          <a:p>
            <a:pPr>
              <a:spcBef>
                <a:spcPts val="1200"/>
              </a:spcBef>
              <a:spcAft>
                <a:spcPts val="600"/>
              </a:spcAft>
            </a:pPr>
            <a:r>
              <a:rPr lang="zh-CN" altLang="en-US" b="1" dirty="0">
                <a:solidFill>
                  <a:srgbClr val="0000FF"/>
                </a:solidFill>
                <a:latin typeface="Calibri" panose="020F0502020204030204" pitchFamily="34" charset="0"/>
                <a:ea typeface="黑体" panose="02010609060101010101" pitchFamily="49" charset="-122"/>
              </a:rPr>
              <a:t>上世纪</a:t>
            </a:r>
            <a:r>
              <a:rPr lang="en-US" altLang="zh-CN" b="1" dirty="0">
                <a:solidFill>
                  <a:srgbClr val="0000FF"/>
                </a:solidFill>
                <a:latin typeface="Calibri" panose="020F0502020204030204" pitchFamily="34" charset="0"/>
                <a:ea typeface="黑体" panose="02010609060101010101" pitchFamily="49" charset="-122"/>
              </a:rPr>
              <a:t>70</a:t>
            </a:r>
            <a:r>
              <a:rPr lang="zh-CN" altLang="en-US" b="1" dirty="0">
                <a:solidFill>
                  <a:srgbClr val="0000FF"/>
                </a:solidFill>
                <a:latin typeface="Calibri" panose="020F0502020204030204" pitchFamily="34" charset="0"/>
                <a:ea typeface="黑体" panose="02010609060101010101" pitchFamily="49" charset="-122"/>
              </a:rPr>
              <a:t>年的石油危机，对系统计量经济模型的反思和否定。</a:t>
            </a:r>
            <a:endParaRPr lang="en-US" altLang="zh-CN" b="1" dirty="0">
              <a:solidFill>
                <a:srgbClr val="0000FF"/>
              </a:solidFill>
              <a:latin typeface="Calibri" panose="020F0502020204030204" pitchFamily="34" charset="0"/>
              <a:ea typeface="黑体" panose="02010609060101010101" pitchFamily="49" charset="-122"/>
            </a:endParaRPr>
          </a:p>
          <a:p>
            <a:pPr>
              <a:spcBef>
                <a:spcPts val="1200"/>
              </a:spcBef>
              <a:spcAft>
                <a:spcPts val="600"/>
              </a:spcAft>
            </a:pPr>
            <a:r>
              <a:rPr lang="zh-CN" altLang="en-US" b="1" dirty="0">
                <a:solidFill>
                  <a:srgbClr val="0000FF"/>
                </a:solidFill>
                <a:latin typeface="Calibri" panose="020F0502020204030204" pitchFamily="34" charset="0"/>
                <a:ea typeface="黑体" panose="02010609060101010101" pitchFamily="49" charset="-122"/>
              </a:rPr>
              <a:t>上世纪</a:t>
            </a:r>
            <a:r>
              <a:rPr lang="en-US" altLang="zh-CN" b="1" dirty="0">
                <a:solidFill>
                  <a:srgbClr val="0000FF"/>
                </a:solidFill>
                <a:latin typeface="Calibri" panose="020F0502020204030204" pitchFamily="34" charset="0"/>
                <a:ea typeface="黑体" panose="02010609060101010101" pitchFamily="49" charset="-122"/>
              </a:rPr>
              <a:t>90</a:t>
            </a:r>
            <a:r>
              <a:rPr lang="zh-CN" altLang="en-US" b="1" dirty="0">
                <a:solidFill>
                  <a:srgbClr val="0000FF"/>
                </a:solidFill>
                <a:latin typeface="Calibri" panose="020F0502020204030204" pitchFamily="34" charset="0"/>
                <a:ea typeface="黑体" panose="02010609060101010101" pitchFamily="49" charset="-122"/>
              </a:rPr>
              <a:t>年代以来，计算机技术和优化软件的发展。</a:t>
            </a:r>
            <a:endParaRPr lang="en-US" altLang="zh-CN" b="1" dirty="0">
              <a:solidFill>
                <a:srgbClr val="0000FF"/>
              </a:solidFill>
              <a:latin typeface="Calibri" panose="020F0502020204030204" pitchFamily="34" charset="0"/>
              <a:ea typeface="黑体" panose="02010609060101010101" pitchFamily="49" charset="-122"/>
            </a:endParaRPr>
          </a:p>
          <a:p>
            <a:endParaRPr lang="zh-CN" altLang="en-US" dirty="0"/>
          </a:p>
        </p:txBody>
      </p:sp>
      <p:sp>
        <p:nvSpPr>
          <p:cNvPr id="4" name="日期占位符 3"/>
          <p:cNvSpPr>
            <a:spLocks noGrp="1"/>
          </p:cNvSpPr>
          <p:nvPr>
            <p:ph type="dt" sz="half" idx="10"/>
          </p:nvPr>
        </p:nvSpPr>
        <p:spPr/>
        <p:txBody>
          <a:bodyPr/>
          <a:lstStyle/>
          <a:p>
            <a:fld id="{C6B8F2EF-5256-419E-9E16-E117EA0624FC}" type="datetimeFigureOut">
              <a:rPr lang="zh-CN" altLang="en-US" smtClean="0"/>
              <a:pPr/>
              <a:t>2021/5/27</a:t>
            </a:fld>
            <a:endParaRPr lang="zh-CN" altLang="en-US"/>
          </a:p>
        </p:txBody>
      </p:sp>
      <p:sp>
        <p:nvSpPr>
          <p:cNvPr id="5" name="灯片编号占位符 4"/>
          <p:cNvSpPr>
            <a:spLocks noGrp="1"/>
          </p:cNvSpPr>
          <p:nvPr>
            <p:ph type="sldNum" sz="quarter" idx="12"/>
          </p:nvPr>
        </p:nvSpPr>
        <p:spPr/>
        <p:txBody>
          <a:bodyPr/>
          <a:lstStyle/>
          <a:p>
            <a:fld id="{C8D0647B-24A2-46AB-A27A-847EF503E68C}" type="slidenum">
              <a:rPr lang="zh-CN" altLang="en-US" smtClean="0"/>
              <a:pPr/>
              <a:t>7</a:t>
            </a:fld>
            <a:endParaRPr lang="zh-CN" altLang="en-US"/>
          </a:p>
        </p:txBody>
      </p:sp>
    </p:spTree>
    <p:extLst>
      <p:ext uri="{BB962C8B-B14F-4D97-AF65-F5344CB8AC3E}">
        <p14:creationId xmlns:p14="http://schemas.microsoft.com/office/powerpoint/2010/main" val="3320634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57200" y="274639"/>
            <a:ext cx="8229600" cy="634082"/>
          </a:xfrm>
        </p:spPr>
        <p:txBody>
          <a:bodyPr>
            <a:normAutofit fontScale="90000"/>
          </a:bodyPr>
          <a:lstStyle/>
          <a:p>
            <a:r>
              <a:rPr lang="zh-TW" altLang="en-US" sz="3600" b="1" dirty="0">
                <a:solidFill>
                  <a:srgbClr val="FF0000"/>
                </a:solidFill>
                <a:effectLst>
                  <a:outerShdw blurRad="38100" dist="38100" dir="2700000" algn="tl">
                    <a:srgbClr val="000000">
                      <a:alpha val="43137"/>
                    </a:srgbClr>
                  </a:outerShdw>
                </a:effectLst>
                <a:latin typeface="微軟正黑體" pitchFamily="34" charset="-120"/>
                <a:ea typeface="微軟正黑體" pitchFamily="34" charset="-120"/>
              </a:rPr>
              <a:t>一般均衡</a:t>
            </a:r>
            <a:r>
              <a:rPr lang="en-US" altLang="zh-TW" sz="3600" b="1" dirty="0">
                <a:solidFill>
                  <a:srgbClr val="FF0000"/>
                </a:solidFill>
                <a:effectLst>
                  <a:outerShdw blurRad="38100" dist="38100" dir="2700000" algn="tl">
                    <a:srgbClr val="000000">
                      <a:alpha val="43137"/>
                    </a:srgbClr>
                  </a:outerShdw>
                </a:effectLst>
                <a:latin typeface="微軟正黑體" pitchFamily="34" charset="-120"/>
                <a:ea typeface="微軟正黑體" pitchFamily="34" charset="-120"/>
              </a:rPr>
              <a:t>(General Equilibrium)</a:t>
            </a:r>
            <a:endParaRPr lang="zh-TW" altLang="en-US" sz="3600" b="1" dirty="0">
              <a:solidFill>
                <a:srgbClr val="FF0000"/>
              </a:solidFill>
              <a:effectLst>
                <a:outerShdw blurRad="38100" dist="38100" dir="2700000" algn="tl">
                  <a:srgbClr val="C0C0C0"/>
                </a:outerShdw>
              </a:effectLst>
              <a:ea typeface="微軟正黑體" pitchFamily="34" charset="-120"/>
            </a:endParaRPr>
          </a:p>
        </p:txBody>
      </p:sp>
      <p:sp>
        <p:nvSpPr>
          <p:cNvPr id="36867" name="Rectangle 3"/>
          <p:cNvSpPr>
            <a:spLocks noChangeArrowheads="1"/>
          </p:cNvSpPr>
          <p:nvPr/>
        </p:nvSpPr>
        <p:spPr bwMode="auto">
          <a:xfrm>
            <a:off x="1435466" y="1552575"/>
            <a:ext cx="1509713" cy="412750"/>
          </a:xfrm>
          <a:prstGeom prst="rect">
            <a:avLst/>
          </a:prstGeom>
          <a:solidFill>
            <a:srgbClr val="FFFF99"/>
          </a:solidFill>
          <a:ln w="9525">
            <a:solidFill>
              <a:schemeClr val="tx1"/>
            </a:solidFill>
            <a:miter lim="800000"/>
            <a:headEnd/>
            <a:tailEnd/>
          </a:ln>
          <a:effectLst>
            <a:outerShdw dist="107763" dir="18900000" algn="ctr" rotWithShape="0">
              <a:schemeClr val="bg2"/>
            </a:outerShdw>
          </a:effectLst>
        </p:spPr>
        <p:txBody>
          <a:bodyPr wrap="none" lIns="82479" tIns="41239" rIns="82479" bIns="41239" anchor="ctr"/>
          <a:lstStyle/>
          <a:p>
            <a:pPr algn="ctr" defTabSz="825500" eaLnBrk="0" hangingPunct="0"/>
            <a:r>
              <a:rPr lang="zh-CN" altLang="en-US" sz="2200" dirty="0">
                <a:latin typeface="黑体" pitchFamily="49" charset="-122"/>
                <a:ea typeface="黑体" pitchFamily="49" charset="-122"/>
              </a:rPr>
              <a:t>消费者</a:t>
            </a:r>
            <a:endParaRPr kumimoji="0" lang="zh-TW" altLang="en-US" sz="2200" dirty="0">
              <a:latin typeface="黑体" pitchFamily="49" charset="-122"/>
              <a:ea typeface="黑体" pitchFamily="49" charset="-122"/>
            </a:endParaRPr>
          </a:p>
        </p:txBody>
      </p:sp>
      <p:sp>
        <p:nvSpPr>
          <p:cNvPr id="36868" name="Rectangle 4"/>
          <p:cNvSpPr>
            <a:spLocks noChangeArrowheads="1"/>
          </p:cNvSpPr>
          <p:nvPr/>
        </p:nvSpPr>
        <p:spPr bwMode="auto">
          <a:xfrm>
            <a:off x="1503729" y="5683250"/>
            <a:ext cx="1511300" cy="412750"/>
          </a:xfrm>
          <a:prstGeom prst="rect">
            <a:avLst/>
          </a:prstGeom>
          <a:solidFill>
            <a:srgbClr val="FFCC99"/>
          </a:solidFill>
          <a:ln w="9525">
            <a:solidFill>
              <a:schemeClr val="tx1"/>
            </a:solidFill>
            <a:miter lim="800000"/>
            <a:headEnd/>
            <a:tailEnd/>
          </a:ln>
          <a:effectLst>
            <a:outerShdw dist="107763" dir="18900000" algn="ctr" rotWithShape="0">
              <a:schemeClr val="bg2"/>
            </a:outerShdw>
          </a:effectLst>
        </p:spPr>
        <p:txBody>
          <a:bodyPr wrap="none" lIns="82479" tIns="41239" rIns="82479" bIns="41239" anchor="ctr"/>
          <a:lstStyle/>
          <a:p>
            <a:pPr algn="ctr" defTabSz="825500" eaLnBrk="0" hangingPunct="0"/>
            <a:r>
              <a:rPr kumimoji="0" lang="zh-CN" altLang="en-US" sz="2200" b="1" dirty="0">
                <a:latin typeface="黑体" pitchFamily="49" charset="-122"/>
                <a:ea typeface="黑体" pitchFamily="49" charset="-122"/>
              </a:rPr>
              <a:t>生产者</a:t>
            </a:r>
            <a:endParaRPr kumimoji="0" lang="zh-TW" altLang="en-US" sz="2200" b="1" dirty="0">
              <a:latin typeface="黑体" pitchFamily="49" charset="-122"/>
              <a:ea typeface="黑体" pitchFamily="49" charset="-122"/>
            </a:endParaRPr>
          </a:p>
        </p:txBody>
      </p:sp>
      <p:sp>
        <p:nvSpPr>
          <p:cNvPr id="36869" name="AutoShape 5"/>
          <p:cNvSpPr>
            <a:spLocks noChangeArrowheads="1"/>
          </p:cNvSpPr>
          <p:nvPr/>
        </p:nvSpPr>
        <p:spPr bwMode="auto">
          <a:xfrm>
            <a:off x="3865897" y="2447925"/>
            <a:ext cx="1577975" cy="481013"/>
          </a:xfrm>
          <a:prstGeom prst="roundRect">
            <a:avLst>
              <a:gd name="adj" fmla="val 16667"/>
            </a:avLst>
          </a:prstGeom>
          <a:ln>
            <a:headEnd/>
            <a:tailEnd/>
          </a:ln>
        </p:spPr>
        <p:style>
          <a:lnRef idx="1">
            <a:schemeClr val="accent2"/>
          </a:lnRef>
          <a:fillRef idx="3">
            <a:schemeClr val="accent2"/>
          </a:fillRef>
          <a:effectRef idx="2">
            <a:schemeClr val="accent2"/>
          </a:effectRef>
          <a:fontRef idx="minor">
            <a:schemeClr val="lt1"/>
          </a:fontRef>
        </p:style>
        <p:txBody>
          <a:bodyPr wrap="none" lIns="82479" tIns="41239" rIns="82479" bIns="41239" anchor="ctr"/>
          <a:lstStyle/>
          <a:p>
            <a:pPr algn="ctr" defTabSz="825500" eaLnBrk="0" hangingPunct="0"/>
            <a:r>
              <a:rPr kumimoji="0" lang="zh-TW" altLang="en-US" sz="2200" dirty="0">
                <a:latin typeface="Times New Roman" pitchFamily="18" charset="0"/>
                <a:ea typeface="標楷體" pitchFamily="65" charset="-120"/>
              </a:rPr>
              <a:t>产品市场</a:t>
            </a:r>
          </a:p>
        </p:txBody>
      </p:sp>
      <p:sp>
        <p:nvSpPr>
          <p:cNvPr id="36870" name="AutoShape 6"/>
          <p:cNvSpPr>
            <a:spLocks noChangeArrowheads="1"/>
          </p:cNvSpPr>
          <p:nvPr/>
        </p:nvSpPr>
        <p:spPr bwMode="auto">
          <a:xfrm>
            <a:off x="3934160" y="4306888"/>
            <a:ext cx="1577975" cy="481012"/>
          </a:xfrm>
          <a:prstGeom prst="roundRect">
            <a:avLst>
              <a:gd name="adj" fmla="val 16667"/>
            </a:avLst>
          </a:prstGeom>
          <a:ln>
            <a:headEnd/>
            <a:tailEnd/>
          </a:ln>
        </p:spPr>
        <p:style>
          <a:lnRef idx="0">
            <a:schemeClr val="accent4"/>
          </a:lnRef>
          <a:fillRef idx="3">
            <a:schemeClr val="accent4"/>
          </a:fillRef>
          <a:effectRef idx="3">
            <a:schemeClr val="accent4"/>
          </a:effectRef>
          <a:fontRef idx="minor">
            <a:schemeClr val="lt1"/>
          </a:fontRef>
        </p:style>
        <p:txBody>
          <a:bodyPr wrap="none" lIns="82479" tIns="41239" rIns="82479" bIns="41239" anchor="ctr"/>
          <a:lstStyle/>
          <a:p>
            <a:pPr algn="ctr" defTabSz="825500" eaLnBrk="0" hangingPunct="0"/>
            <a:r>
              <a:rPr kumimoji="0" lang="zh-TW" altLang="en-US" sz="2200">
                <a:latin typeface="Times New Roman" pitchFamily="18" charset="0"/>
                <a:ea typeface="標楷體" pitchFamily="65" charset="-120"/>
              </a:rPr>
              <a:t>要素市场</a:t>
            </a:r>
          </a:p>
        </p:txBody>
      </p:sp>
      <p:sp>
        <p:nvSpPr>
          <p:cNvPr id="36871" name="Line 7"/>
          <p:cNvSpPr>
            <a:spLocks noChangeShapeType="1"/>
          </p:cNvSpPr>
          <p:nvPr/>
        </p:nvSpPr>
        <p:spPr bwMode="auto">
          <a:xfrm>
            <a:off x="2945179" y="1965325"/>
            <a:ext cx="1443037" cy="482600"/>
          </a:xfrm>
          <a:prstGeom prst="line">
            <a:avLst/>
          </a:prstGeom>
          <a:noFill/>
          <a:ln w="28575">
            <a:solidFill>
              <a:schemeClr val="accent2"/>
            </a:solidFill>
            <a:round/>
            <a:headEnd/>
            <a:tailEnd type="triangle" w="med" len="med"/>
          </a:ln>
          <a:effectLst/>
        </p:spPr>
        <p:txBody>
          <a:bodyPr/>
          <a:lstStyle/>
          <a:p>
            <a:endParaRPr lang="zh-TW" altLang="en-US"/>
          </a:p>
        </p:txBody>
      </p:sp>
      <p:sp>
        <p:nvSpPr>
          <p:cNvPr id="36873" name="Text Box 9"/>
          <p:cNvSpPr txBox="1">
            <a:spLocks noChangeArrowheads="1"/>
          </p:cNvSpPr>
          <p:nvPr/>
        </p:nvSpPr>
        <p:spPr bwMode="auto">
          <a:xfrm>
            <a:off x="3288068" y="1214422"/>
            <a:ext cx="1859340" cy="760392"/>
          </a:xfrm>
          <a:prstGeom prst="rect">
            <a:avLst/>
          </a:prstGeom>
          <a:noFill/>
          <a:ln w="9525">
            <a:noFill/>
            <a:miter lim="800000"/>
            <a:headEnd/>
            <a:tailEnd/>
          </a:ln>
          <a:effectLst/>
        </p:spPr>
        <p:txBody>
          <a:bodyPr wrap="none" lIns="82479" tIns="41239" rIns="82479" bIns="41239">
            <a:spAutoFit/>
          </a:bodyPr>
          <a:lstStyle/>
          <a:p>
            <a:pPr algn="ctr" defTabSz="825500" eaLnBrk="0" hangingPunct="0"/>
            <a:r>
              <a:rPr kumimoji="0" lang="zh-CN" altLang="en-US" sz="2200" b="1" dirty="0">
                <a:solidFill>
                  <a:srgbClr val="C00000"/>
                </a:solidFill>
                <a:latin typeface="Times New Roman" pitchFamily="18" charset="0"/>
              </a:rPr>
              <a:t>消费理论</a:t>
            </a:r>
          </a:p>
          <a:p>
            <a:pPr algn="ctr" defTabSz="825500" eaLnBrk="0" hangingPunct="0"/>
            <a:r>
              <a:rPr kumimoji="0" lang="zh-CN" altLang="en-US" sz="2200" b="1" dirty="0">
                <a:solidFill>
                  <a:srgbClr val="C00000"/>
                </a:solidFill>
                <a:latin typeface="Times New Roman" pitchFamily="18" charset="0"/>
              </a:rPr>
              <a:t>（选择理论</a:t>
            </a:r>
            <a:r>
              <a:rPr kumimoji="0" lang="zh-TW" altLang="en-US" sz="2200" b="1" dirty="0">
                <a:solidFill>
                  <a:srgbClr val="C00000"/>
                </a:solidFill>
                <a:latin typeface="Times New Roman" pitchFamily="18" charset="0"/>
              </a:rPr>
              <a:t>）</a:t>
            </a:r>
          </a:p>
        </p:txBody>
      </p:sp>
      <p:sp>
        <p:nvSpPr>
          <p:cNvPr id="36874" name="Line 10"/>
          <p:cNvSpPr>
            <a:spLocks noChangeShapeType="1"/>
          </p:cNvSpPr>
          <p:nvPr/>
        </p:nvSpPr>
        <p:spPr bwMode="auto">
          <a:xfrm>
            <a:off x="2191116" y="1965325"/>
            <a:ext cx="2265363" cy="2409825"/>
          </a:xfrm>
          <a:prstGeom prst="line">
            <a:avLst/>
          </a:prstGeom>
          <a:noFill/>
          <a:ln w="28575">
            <a:solidFill>
              <a:schemeClr val="accent2"/>
            </a:solidFill>
            <a:round/>
            <a:headEnd/>
            <a:tailEnd type="triangle" w="med" len="med"/>
          </a:ln>
          <a:effectLst/>
        </p:spPr>
        <p:txBody>
          <a:bodyPr/>
          <a:lstStyle/>
          <a:p>
            <a:endParaRPr lang="zh-TW" altLang="en-US"/>
          </a:p>
        </p:txBody>
      </p:sp>
      <p:sp>
        <p:nvSpPr>
          <p:cNvPr id="36876" name="Text Box 12"/>
          <p:cNvSpPr txBox="1">
            <a:spLocks noChangeArrowheads="1"/>
          </p:cNvSpPr>
          <p:nvPr/>
        </p:nvSpPr>
        <p:spPr bwMode="auto">
          <a:xfrm>
            <a:off x="500034" y="2578534"/>
            <a:ext cx="1859340" cy="421838"/>
          </a:xfrm>
          <a:prstGeom prst="rect">
            <a:avLst/>
          </a:prstGeom>
          <a:noFill/>
          <a:ln w="9525">
            <a:noFill/>
            <a:miter lim="800000"/>
            <a:headEnd/>
            <a:tailEnd/>
          </a:ln>
          <a:effectLst/>
        </p:spPr>
        <p:txBody>
          <a:bodyPr wrap="none" lIns="82479" tIns="41239" rIns="82479" bIns="41239">
            <a:spAutoFit/>
          </a:bodyPr>
          <a:lstStyle/>
          <a:p>
            <a:pPr defTabSz="825500" eaLnBrk="0" hangingPunct="0"/>
            <a:r>
              <a:rPr kumimoji="0" lang="zh-CN" altLang="en-US" sz="2200" b="1" dirty="0">
                <a:solidFill>
                  <a:srgbClr val="C00000"/>
                </a:solidFill>
                <a:latin typeface="黑体" pitchFamily="49" charset="-122"/>
                <a:ea typeface="黑体" pitchFamily="49" charset="-122"/>
              </a:rPr>
              <a:t>要素供给理论</a:t>
            </a:r>
            <a:endParaRPr kumimoji="0" lang="zh-TW" altLang="en-US" sz="2200" b="1" dirty="0">
              <a:solidFill>
                <a:srgbClr val="C00000"/>
              </a:solidFill>
              <a:latin typeface="黑体" pitchFamily="49" charset="-122"/>
              <a:ea typeface="黑体" pitchFamily="49" charset="-122"/>
            </a:endParaRPr>
          </a:p>
        </p:txBody>
      </p:sp>
      <p:sp>
        <p:nvSpPr>
          <p:cNvPr id="36877" name="Line 13"/>
          <p:cNvSpPr>
            <a:spLocks noChangeShapeType="1"/>
          </p:cNvSpPr>
          <p:nvPr/>
        </p:nvSpPr>
        <p:spPr bwMode="auto">
          <a:xfrm flipV="1">
            <a:off x="3083291" y="2928938"/>
            <a:ext cx="1304925" cy="2686050"/>
          </a:xfrm>
          <a:prstGeom prst="line">
            <a:avLst/>
          </a:prstGeom>
          <a:noFill/>
          <a:ln w="28575">
            <a:solidFill>
              <a:srgbClr val="CC3399"/>
            </a:solidFill>
            <a:round/>
            <a:headEnd/>
            <a:tailEnd type="triangle" w="med" len="med"/>
          </a:ln>
          <a:effectLst/>
        </p:spPr>
        <p:txBody>
          <a:bodyPr/>
          <a:lstStyle/>
          <a:p>
            <a:endParaRPr lang="zh-TW" altLang="en-US"/>
          </a:p>
        </p:txBody>
      </p:sp>
      <p:sp>
        <p:nvSpPr>
          <p:cNvPr id="36879" name="Text Box 15"/>
          <p:cNvSpPr txBox="1">
            <a:spLocks noChangeArrowheads="1"/>
          </p:cNvSpPr>
          <p:nvPr/>
        </p:nvSpPr>
        <p:spPr bwMode="auto">
          <a:xfrm>
            <a:off x="1140164" y="4200530"/>
            <a:ext cx="1715070" cy="698837"/>
          </a:xfrm>
          <a:prstGeom prst="rect">
            <a:avLst/>
          </a:prstGeom>
          <a:noFill/>
          <a:ln w="9525">
            <a:noFill/>
            <a:miter lim="800000"/>
            <a:headEnd/>
            <a:tailEnd/>
          </a:ln>
          <a:effectLst/>
        </p:spPr>
        <p:txBody>
          <a:bodyPr wrap="none" lIns="82479" tIns="41239" rIns="82479" bIns="41239">
            <a:spAutoFit/>
          </a:bodyPr>
          <a:lstStyle/>
          <a:p>
            <a:pPr algn="ctr" defTabSz="825500" eaLnBrk="0" hangingPunct="0"/>
            <a:r>
              <a:rPr kumimoji="0" lang="zh-TW" altLang="en-US" sz="2000" b="1" dirty="0">
                <a:solidFill>
                  <a:srgbClr val="0000FF"/>
                </a:solidFill>
                <a:latin typeface="黑体" pitchFamily="49" charset="-122"/>
                <a:ea typeface="黑体" pitchFamily="49" charset="-122"/>
              </a:rPr>
              <a:t>生产理论</a:t>
            </a:r>
          </a:p>
          <a:p>
            <a:pPr algn="ctr" defTabSz="825500" eaLnBrk="0" hangingPunct="0"/>
            <a:r>
              <a:rPr kumimoji="0" lang="zh-CN" altLang="en-US" sz="2000" b="1" dirty="0">
                <a:solidFill>
                  <a:srgbClr val="0000FF"/>
                </a:solidFill>
                <a:latin typeface="黑体" pitchFamily="49" charset="-122"/>
                <a:ea typeface="黑体" pitchFamily="49" charset="-122"/>
              </a:rPr>
              <a:t>（厂商理论）</a:t>
            </a:r>
            <a:endParaRPr kumimoji="0" lang="zh-TW" altLang="en-US" sz="2000" b="1" dirty="0">
              <a:solidFill>
                <a:srgbClr val="0000FF"/>
              </a:solidFill>
              <a:latin typeface="黑体" pitchFamily="49" charset="-122"/>
              <a:ea typeface="黑体" pitchFamily="49" charset="-122"/>
            </a:endParaRPr>
          </a:p>
        </p:txBody>
      </p:sp>
      <p:sp>
        <p:nvSpPr>
          <p:cNvPr id="36880" name="Line 16"/>
          <p:cNvSpPr>
            <a:spLocks noChangeShapeType="1"/>
          </p:cNvSpPr>
          <p:nvPr/>
        </p:nvSpPr>
        <p:spPr bwMode="auto">
          <a:xfrm flipV="1">
            <a:off x="3083291" y="4719638"/>
            <a:ext cx="1373188" cy="1169987"/>
          </a:xfrm>
          <a:prstGeom prst="line">
            <a:avLst/>
          </a:prstGeom>
          <a:noFill/>
          <a:ln w="28575">
            <a:solidFill>
              <a:srgbClr val="CC3399"/>
            </a:solidFill>
            <a:round/>
            <a:headEnd/>
            <a:tailEnd type="triangle" w="med" len="med"/>
          </a:ln>
          <a:effectLst/>
        </p:spPr>
        <p:txBody>
          <a:bodyPr/>
          <a:lstStyle/>
          <a:p>
            <a:endParaRPr lang="zh-TW" altLang="en-US"/>
          </a:p>
        </p:txBody>
      </p:sp>
      <p:sp>
        <p:nvSpPr>
          <p:cNvPr id="36882" name="Text Box 18"/>
          <p:cNvSpPr txBox="1">
            <a:spLocks noChangeArrowheads="1"/>
          </p:cNvSpPr>
          <p:nvPr/>
        </p:nvSpPr>
        <p:spPr bwMode="auto">
          <a:xfrm>
            <a:off x="3571868" y="5650368"/>
            <a:ext cx="1859340" cy="421838"/>
          </a:xfrm>
          <a:prstGeom prst="rect">
            <a:avLst/>
          </a:prstGeom>
          <a:noFill/>
          <a:ln w="9525">
            <a:noFill/>
            <a:miter lim="800000"/>
            <a:headEnd/>
            <a:tailEnd/>
          </a:ln>
          <a:effectLst/>
        </p:spPr>
        <p:txBody>
          <a:bodyPr wrap="none" lIns="82479" tIns="41239" rIns="82479" bIns="41239">
            <a:spAutoFit/>
          </a:bodyPr>
          <a:lstStyle/>
          <a:p>
            <a:pPr defTabSz="825500" eaLnBrk="0" hangingPunct="0"/>
            <a:r>
              <a:rPr kumimoji="0" lang="zh-CN" altLang="en-US" sz="2200" b="1" dirty="0">
                <a:solidFill>
                  <a:srgbClr val="0000FF"/>
                </a:solidFill>
                <a:latin typeface="Times New Roman" pitchFamily="18" charset="0"/>
              </a:rPr>
              <a:t>要素需求理论</a:t>
            </a:r>
            <a:endParaRPr kumimoji="0" lang="zh-TW" altLang="en-US" sz="2200" b="1" dirty="0">
              <a:solidFill>
                <a:srgbClr val="0000FF"/>
              </a:solidFill>
              <a:latin typeface="Times New Roman" pitchFamily="18" charset="0"/>
            </a:endParaRPr>
          </a:p>
        </p:txBody>
      </p:sp>
      <p:sp>
        <p:nvSpPr>
          <p:cNvPr id="36883" name="Line 19"/>
          <p:cNvSpPr>
            <a:spLocks noChangeShapeType="1"/>
          </p:cNvSpPr>
          <p:nvPr/>
        </p:nvSpPr>
        <p:spPr bwMode="auto">
          <a:xfrm>
            <a:off x="4994639" y="1704961"/>
            <a:ext cx="411163" cy="0"/>
          </a:xfrm>
          <a:prstGeom prst="line">
            <a:avLst/>
          </a:prstGeom>
          <a:noFill/>
          <a:ln w="9525">
            <a:solidFill>
              <a:schemeClr val="tx1"/>
            </a:solidFill>
            <a:round/>
            <a:headEnd/>
            <a:tailEnd type="triangle" w="med" len="med"/>
          </a:ln>
          <a:effectLst/>
        </p:spPr>
        <p:txBody>
          <a:bodyPr/>
          <a:lstStyle/>
          <a:p>
            <a:endParaRPr lang="zh-TW" altLang="en-US"/>
          </a:p>
        </p:txBody>
      </p:sp>
      <p:sp>
        <p:nvSpPr>
          <p:cNvPr id="36884" name="Text Box 20"/>
          <p:cNvSpPr txBox="1">
            <a:spLocks noChangeArrowheads="1"/>
          </p:cNvSpPr>
          <p:nvPr/>
        </p:nvSpPr>
        <p:spPr bwMode="auto">
          <a:xfrm>
            <a:off x="5405802" y="1428736"/>
            <a:ext cx="427037" cy="417513"/>
          </a:xfrm>
          <a:prstGeom prst="rect">
            <a:avLst/>
          </a:prstGeom>
          <a:noFill/>
          <a:ln w="9525">
            <a:noFill/>
            <a:miter lim="800000"/>
            <a:headEnd/>
            <a:tailEnd/>
          </a:ln>
          <a:effectLst/>
        </p:spPr>
        <p:txBody>
          <a:bodyPr wrap="none" lIns="82479" tIns="41239" rIns="82479" bIns="41239">
            <a:spAutoFit/>
          </a:bodyPr>
          <a:lstStyle/>
          <a:p>
            <a:pPr defTabSz="825500" eaLnBrk="0" hangingPunct="0"/>
            <a:r>
              <a:rPr kumimoji="0" lang="en-US" altLang="zh-TW" sz="2200" b="1">
                <a:effectLst>
                  <a:outerShdw blurRad="38100" dist="38100" dir="2700000" algn="tl">
                    <a:srgbClr val="C0C0C0"/>
                  </a:outerShdw>
                </a:effectLst>
                <a:latin typeface="Times New Roman" pitchFamily="18" charset="0"/>
              </a:rPr>
              <a:t>q</a:t>
            </a:r>
            <a:r>
              <a:rPr kumimoji="0" lang="en-US" altLang="zh-TW" sz="2200" b="1" baseline="30000">
                <a:effectLst>
                  <a:outerShdw blurRad="38100" dist="38100" dir="2700000" algn="tl">
                    <a:srgbClr val="C0C0C0"/>
                  </a:outerShdw>
                </a:effectLst>
                <a:latin typeface="Times New Roman" pitchFamily="18" charset="0"/>
              </a:rPr>
              <a:t>d</a:t>
            </a:r>
          </a:p>
        </p:txBody>
      </p:sp>
      <p:sp>
        <p:nvSpPr>
          <p:cNvPr id="36885" name="Text Box 21"/>
          <p:cNvSpPr txBox="1">
            <a:spLocks noChangeArrowheads="1"/>
          </p:cNvSpPr>
          <p:nvPr/>
        </p:nvSpPr>
        <p:spPr bwMode="auto">
          <a:xfrm>
            <a:off x="582948" y="4330704"/>
            <a:ext cx="397401" cy="421838"/>
          </a:xfrm>
          <a:prstGeom prst="rect">
            <a:avLst/>
          </a:prstGeom>
          <a:noFill/>
          <a:ln w="9525">
            <a:noFill/>
            <a:miter lim="800000"/>
            <a:headEnd/>
            <a:tailEnd/>
          </a:ln>
          <a:effectLst/>
        </p:spPr>
        <p:txBody>
          <a:bodyPr wrap="none" lIns="82479" tIns="41239" rIns="82479" bIns="41239">
            <a:spAutoFit/>
          </a:bodyPr>
          <a:lstStyle/>
          <a:p>
            <a:pPr defTabSz="825500" eaLnBrk="0" hangingPunct="0"/>
            <a:r>
              <a:rPr kumimoji="0" lang="en-US" altLang="zh-TW" sz="2200" b="1">
                <a:effectLst>
                  <a:outerShdw blurRad="38100" dist="38100" dir="2700000" algn="tl">
                    <a:srgbClr val="C0C0C0"/>
                  </a:outerShdw>
                </a:effectLst>
                <a:latin typeface="Times New Roman" pitchFamily="18" charset="0"/>
              </a:rPr>
              <a:t>q</a:t>
            </a:r>
            <a:r>
              <a:rPr kumimoji="0" lang="en-US" altLang="zh-TW" sz="2200" b="1" baseline="30000">
                <a:effectLst>
                  <a:outerShdw blurRad="38100" dist="38100" dir="2700000" algn="tl">
                    <a:srgbClr val="C0C0C0"/>
                  </a:outerShdw>
                </a:effectLst>
                <a:latin typeface="Times New Roman" pitchFamily="18" charset="0"/>
              </a:rPr>
              <a:t>s</a:t>
            </a:r>
          </a:p>
        </p:txBody>
      </p:sp>
      <p:sp>
        <p:nvSpPr>
          <p:cNvPr id="36886" name="Line 22"/>
          <p:cNvSpPr>
            <a:spLocks noChangeShapeType="1"/>
          </p:cNvSpPr>
          <p:nvPr/>
        </p:nvSpPr>
        <p:spPr bwMode="auto">
          <a:xfrm flipH="1">
            <a:off x="994110" y="4606929"/>
            <a:ext cx="274638" cy="0"/>
          </a:xfrm>
          <a:prstGeom prst="line">
            <a:avLst/>
          </a:prstGeom>
          <a:noFill/>
          <a:ln w="9525">
            <a:solidFill>
              <a:schemeClr val="tx1"/>
            </a:solidFill>
            <a:round/>
            <a:headEnd/>
            <a:tailEnd type="triangle" w="med" len="med"/>
          </a:ln>
          <a:effectLst/>
        </p:spPr>
        <p:txBody>
          <a:bodyPr/>
          <a:lstStyle/>
          <a:p>
            <a:endParaRPr lang="zh-TW" altLang="en-US" b="1"/>
          </a:p>
        </p:txBody>
      </p:sp>
      <p:sp>
        <p:nvSpPr>
          <p:cNvPr id="36888" name="Text Box 24"/>
          <p:cNvSpPr txBox="1">
            <a:spLocks noChangeArrowheads="1"/>
          </p:cNvSpPr>
          <p:nvPr/>
        </p:nvSpPr>
        <p:spPr bwMode="auto">
          <a:xfrm>
            <a:off x="5448673" y="5643578"/>
            <a:ext cx="411163" cy="417513"/>
          </a:xfrm>
          <a:prstGeom prst="rect">
            <a:avLst/>
          </a:prstGeom>
          <a:noFill/>
          <a:ln w="9525">
            <a:noFill/>
            <a:miter lim="800000"/>
            <a:headEnd/>
            <a:tailEnd/>
          </a:ln>
          <a:effectLst/>
        </p:spPr>
        <p:txBody>
          <a:bodyPr wrap="none" lIns="82479" tIns="41239" rIns="82479" bIns="41239">
            <a:spAutoFit/>
          </a:bodyPr>
          <a:lstStyle/>
          <a:p>
            <a:pPr defTabSz="825500" eaLnBrk="0" hangingPunct="0"/>
            <a:r>
              <a:rPr kumimoji="0" lang="en-US" altLang="zh-TW" sz="2200" b="1" dirty="0" err="1">
                <a:effectLst>
                  <a:outerShdw blurRad="38100" dist="38100" dir="2700000" algn="tl">
                    <a:srgbClr val="C0C0C0"/>
                  </a:outerShdw>
                </a:effectLst>
                <a:latin typeface="Times New Roman" pitchFamily="18" charset="0"/>
              </a:rPr>
              <a:t>x</a:t>
            </a:r>
            <a:r>
              <a:rPr kumimoji="0" lang="en-US" altLang="zh-TW" sz="2200" b="1" baseline="30000" dirty="0" err="1">
                <a:effectLst>
                  <a:outerShdw blurRad="38100" dist="38100" dir="2700000" algn="tl">
                    <a:srgbClr val="C0C0C0"/>
                  </a:outerShdw>
                </a:effectLst>
                <a:latin typeface="Times New Roman" pitchFamily="18" charset="0"/>
              </a:rPr>
              <a:t>d</a:t>
            </a:r>
            <a:endParaRPr kumimoji="0" lang="en-US" altLang="zh-TW" sz="2200" b="1" baseline="30000" dirty="0">
              <a:effectLst>
                <a:outerShdw blurRad="38100" dist="38100" dir="2700000" algn="tl">
                  <a:srgbClr val="C0C0C0"/>
                </a:outerShdw>
              </a:effectLst>
              <a:latin typeface="Times New Roman" pitchFamily="18" charset="0"/>
            </a:endParaRPr>
          </a:p>
        </p:txBody>
      </p:sp>
      <p:sp>
        <p:nvSpPr>
          <p:cNvPr id="36889" name="Text Box 25"/>
          <p:cNvSpPr txBox="1">
            <a:spLocks noChangeArrowheads="1"/>
          </p:cNvSpPr>
          <p:nvPr/>
        </p:nvSpPr>
        <p:spPr bwMode="auto">
          <a:xfrm>
            <a:off x="981046" y="1857364"/>
            <a:ext cx="379413" cy="417513"/>
          </a:xfrm>
          <a:prstGeom prst="rect">
            <a:avLst/>
          </a:prstGeom>
          <a:noFill/>
          <a:ln w="9525">
            <a:noFill/>
            <a:miter lim="800000"/>
            <a:headEnd/>
            <a:tailEnd/>
          </a:ln>
          <a:effectLst/>
        </p:spPr>
        <p:txBody>
          <a:bodyPr wrap="none" lIns="82479" tIns="41239" rIns="82479" bIns="41239">
            <a:spAutoFit/>
          </a:bodyPr>
          <a:lstStyle/>
          <a:p>
            <a:pPr defTabSz="825500" eaLnBrk="0" hangingPunct="0"/>
            <a:r>
              <a:rPr kumimoji="0" lang="en-US" altLang="zh-TW" sz="2200" b="1" dirty="0" err="1">
                <a:effectLst>
                  <a:outerShdw blurRad="38100" dist="38100" dir="2700000" algn="tl">
                    <a:srgbClr val="C0C0C0"/>
                  </a:outerShdw>
                </a:effectLst>
                <a:latin typeface="Times New Roman" pitchFamily="18" charset="0"/>
              </a:rPr>
              <a:t>x</a:t>
            </a:r>
            <a:r>
              <a:rPr kumimoji="0" lang="en-US" altLang="zh-TW" sz="2200" b="1" baseline="30000" dirty="0" err="1">
                <a:effectLst>
                  <a:outerShdw blurRad="38100" dist="38100" dir="2700000" algn="tl">
                    <a:srgbClr val="C0C0C0"/>
                  </a:outerShdw>
                </a:effectLst>
                <a:latin typeface="Times New Roman" pitchFamily="18" charset="0"/>
              </a:rPr>
              <a:t>s</a:t>
            </a:r>
            <a:endParaRPr kumimoji="0" lang="en-US" altLang="zh-TW" sz="2200" b="1" baseline="30000" dirty="0">
              <a:effectLst>
                <a:outerShdw blurRad="38100" dist="38100" dir="2700000" algn="tl">
                  <a:srgbClr val="C0C0C0"/>
                </a:outerShdw>
              </a:effectLst>
              <a:latin typeface="Times New Roman" pitchFamily="18" charset="0"/>
            </a:endParaRPr>
          </a:p>
        </p:txBody>
      </p:sp>
      <p:sp>
        <p:nvSpPr>
          <p:cNvPr id="36890" name="Line 26"/>
          <p:cNvSpPr>
            <a:spLocks noChangeShapeType="1"/>
          </p:cNvSpPr>
          <p:nvPr/>
        </p:nvSpPr>
        <p:spPr bwMode="auto">
          <a:xfrm flipV="1">
            <a:off x="1117571" y="2303897"/>
            <a:ext cx="0" cy="274637"/>
          </a:xfrm>
          <a:prstGeom prst="line">
            <a:avLst/>
          </a:prstGeom>
          <a:noFill/>
          <a:ln w="9525">
            <a:solidFill>
              <a:schemeClr val="tx1"/>
            </a:solidFill>
            <a:round/>
            <a:headEnd/>
            <a:tailEnd type="triangle" w="med" len="med"/>
          </a:ln>
          <a:effectLst/>
        </p:spPr>
        <p:txBody>
          <a:bodyPr/>
          <a:lstStyle/>
          <a:p>
            <a:endParaRPr lang="zh-TW" altLang="en-US"/>
          </a:p>
        </p:txBody>
      </p:sp>
      <p:sp>
        <p:nvSpPr>
          <p:cNvPr id="36891" name="AutoShape 27"/>
          <p:cNvSpPr>
            <a:spLocks noChangeArrowheads="1"/>
          </p:cNvSpPr>
          <p:nvPr/>
        </p:nvSpPr>
        <p:spPr bwMode="auto">
          <a:xfrm>
            <a:off x="5866161" y="2285992"/>
            <a:ext cx="1716087" cy="757238"/>
          </a:xfrm>
          <a:prstGeom prst="octagon">
            <a:avLst>
              <a:gd name="adj" fmla="val 29287"/>
            </a:avLst>
          </a:prstGeom>
          <a:ln>
            <a:headEnd/>
            <a:tailEnd/>
          </a:ln>
        </p:spPr>
        <p:style>
          <a:lnRef idx="0">
            <a:schemeClr val="accent2"/>
          </a:lnRef>
          <a:fillRef idx="3">
            <a:schemeClr val="accent2"/>
          </a:fillRef>
          <a:effectRef idx="3">
            <a:schemeClr val="accent2"/>
          </a:effectRef>
          <a:fontRef idx="minor">
            <a:schemeClr val="lt1"/>
          </a:fontRef>
        </p:style>
        <p:txBody>
          <a:bodyPr wrap="none" lIns="82479" tIns="41239" rIns="82479" bIns="41239" anchor="ctr"/>
          <a:lstStyle/>
          <a:p>
            <a:pPr algn="ctr" defTabSz="825500" eaLnBrk="0" hangingPunct="0"/>
            <a:r>
              <a:rPr kumimoji="0" lang="zh-TW" altLang="en-US" sz="2200" b="1" dirty="0">
                <a:solidFill>
                  <a:srgbClr val="FFFF00"/>
                </a:solidFill>
                <a:latin typeface="Times New Roman" pitchFamily="18" charset="0"/>
              </a:rPr>
              <a:t>均衡条件</a:t>
            </a:r>
          </a:p>
          <a:p>
            <a:pPr algn="ctr" defTabSz="825500" eaLnBrk="0" hangingPunct="0"/>
            <a:r>
              <a:rPr kumimoji="0" lang="en-US" altLang="zh-TW" sz="2200" b="1" dirty="0" err="1">
                <a:solidFill>
                  <a:srgbClr val="FFFF00"/>
                </a:solidFill>
                <a:latin typeface="Times New Roman" pitchFamily="18" charset="0"/>
              </a:rPr>
              <a:t>Q</a:t>
            </a:r>
            <a:r>
              <a:rPr kumimoji="0" lang="en-US" altLang="zh-TW" sz="2200" b="1" baseline="30000" dirty="0" err="1">
                <a:solidFill>
                  <a:srgbClr val="FFFF00"/>
                </a:solidFill>
                <a:latin typeface="Times New Roman" pitchFamily="18" charset="0"/>
              </a:rPr>
              <a:t>d</a:t>
            </a:r>
            <a:r>
              <a:rPr kumimoji="0" lang="en-US" altLang="zh-TW" sz="2200" b="1" dirty="0">
                <a:solidFill>
                  <a:srgbClr val="FFFF00"/>
                </a:solidFill>
                <a:latin typeface="Times New Roman" pitchFamily="18" charset="0"/>
              </a:rPr>
              <a:t> = Q</a:t>
            </a:r>
            <a:r>
              <a:rPr kumimoji="0" lang="en-US" altLang="zh-TW" sz="2200" b="1" baseline="30000" dirty="0">
                <a:solidFill>
                  <a:srgbClr val="FFFF00"/>
                </a:solidFill>
                <a:latin typeface="Times New Roman" pitchFamily="18" charset="0"/>
              </a:rPr>
              <a:t>s</a:t>
            </a:r>
          </a:p>
        </p:txBody>
      </p:sp>
      <p:sp>
        <p:nvSpPr>
          <p:cNvPr id="36892" name="Line 28"/>
          <p:cNvSpPr>
            <a:spLocks noChangeShapeType="1"/>
          </p:cNvSpPr>
          <p:nvPr/>
        </p:nvSpPr>
        <p:spPr bwMode="auto">
          <a:xfrm>
            <a:off x="5437533" y="2654300"/>
            <a:ext cx="412750" cy="0"/>
          </a:xfrm>
          <a:prstGeom prst="line">
            <a:avLst/>
          </a:prstGeom>
          <a:noFill/>
          <a:ln w="9525">
            <a:solidFill>
              <a:schemeClr val="tx1"/>
            </a:solidFill>
            <a:round/>
            <a:headEnd/>
            <a:tailEnd/>
          </a:ln>
          <a:effectLst/>
        </p:spPr>
        <p:txBody>
          <a:bodyPr/>
          <a:lstStyle/>
          <a:p>
            <a:endParaRPr lang="zh-TW" altLang="en-US"/>
          </a:p>
        </p:txBody>
      </p:sp>
      <p:sp>
        <p:nvSpPr>
          <p:cNvPr id="36893" name="AutoShape 29"/>
          <p:cNvSpPr>
            <a:spLocks noChangeArrowheads="1"/>
          </p:cNvSpPr>
          <p:nvPr/>
        </p:nvSpPr>
        <p:spPr bwMode="auto">
          <a:xfrm>
            <a:off x="5934423" y="4144955"/>
            <a:ext cx="1716088" cy="757237"/>
          </a:xfrm>
          <a:prstGeom prst="octagon">
            <a:avLst>
              <a:gd name="adj" fmla="val 29287"/>
            </a:avLst>
          </a:prstGeom>
          <a:ln>
            <a:headEnd/>
            <a:tailEnd/>
          </a:ln>
        </p:spPr>
        <p:style>
          <a:lnRef idx="0">
            <a:schemeClr val="accent4"/>
          </a:lnRef>
          <a:fillRef idx="3">
            <a:schemeClr val="accent4"/>
          </a:fillRef>
          <a:effectRef idx="3">
            <a:schemeClr val="accent4"/>
          </a:effectRef>
          <a:fontRef idx="minor">
            <a:schemeClr val="lt1"/>
          </a:fontRef>
        </p:style>
        <p:txBody>
          <a:bodyPr wrap="none" lIns="82479" tIns="41239" rIns="82479" bIns="41239" anchor="ctr"/>
          <a:lstStyle/>
          <a:p>
            <a:pPr algn="ctr" defTabSz="825500" eaLnBrk="0" hangingPunct="0"/>
            <a:r>
              <a:rPr kumimoji="0" lang="zh-TW" altLang="en-US" sz="2200" b="1" dirty="0">
                <a:solidFill>
                  <a:srgbClr val="FFFF00"/>
                </a:solidFill>
                <a:latin typeface="Times New Roman" pitchFamily="18" charset="0"/>
              </a:rPr>
              <a:t>均衡条件</a:t>
            </a:r>
          </a:p>
          <a:p>
            <a:pPr algn="ctr" defTabSz="825500" eaLnBrk="0" hangingPunct="0"/>
            <a:r>
              <a:rPr kumimoji="0" lang="en-US" altLang="zh-TW" sz="2200" b="1" dirty="0" err="1">
                <a:solidFill>
                  <a:srgbClr val="FFFF00"/>
                </a:solidFill>
                <a:latin typeface="Times New Roman" pitchFamily="18" charset="0"/>
              </a:rPr>
              <a:t>X</a:t>
            </a:r>
            <a:r>
              <a:rPr kumimoji="0" lang="en-US" altLang="zh-TW" sz="2200" b="1" baseline="30000" dirty="0" err="1">
                <a:solidFill>
                  <a:srgbClr val="FFFF00"/>
                </a:solidFill>
                <a:latin typeface="Times New Roman" pitchFamily="18" charset="0"/>
              </a:rPr>
              <a:t>d</a:t>
            </a:r>
            <a:r>
              <a:rPr kumimoji="0" lang="en-US" altLang="zh-TW" sz="2200" b="1" dirty="0">
                <a:solidFill>
                  <a:srgbClr val="FFFF00"/>
                </a:solidFill>
                <a:latin typeface="Times New Roman" pitchFamily="18" charset="0"/>
              </a:rPr>
              <a:t> = X</a:t>
            </a:r>
            <a:r>
              <a:rPr kumimoji="0" lang="en-US" altLang="zh-TW" sz="2200" b="1" baseline="30000" dirty="0">
                <a:solidFill>
                  <a:srgbClr val="FFFF00"/>
                </a:solidFill>
                <a:latin typeface="Times New Roman" pitchFamily="18" charset="0"/>
              </a:rPr>
              <a:t>s</a:t>
            </a:r>
          </a:p>
        </p:txBody>
      </p:sp>
      <p:sp>
        <p:nvSpPr>
          <p:cNvPr id="36894" name="Line 30"/>
          <p:cNvSpPr>
            <a:spLocks noChangeShapeType="1"/>
          </p:cNvSpPr>
          <p:nvPr/>
        </p:nvSpPr>
        <p:spPr bwMode="auto">
          <a:xfrm>
            <a:off x="5507383" y="4513263"/>
            <a:ext cx="411162" cy="0"/>
          </a:xfrm>
          <a:prstGeom prst="line">
            <a:avLst/>
          </a:prstGeom>
          <a:noFill/>
          <a:ln w="9525">
            <a:solidFill>
              <a:schemeClr val="tx1"/>
            </a:solidFill>
            <a:round/>
            <a:headEnd/>
            <a:tailEnd/>
          </a:ln>
          <a:effectLst/>
        </p:spPr>
        <p:txBody>
          <a:bodyPr/>
          <a:lstStyle/>
          <a:p>
            <a:endParaRPr lang="zh-TW" altLang="en-US"/>
          </a:p>
        </p:txBody>
      </p:sp>
      <p:sp>
        <p:nvSpPr>
          <p:cNvPr id="36897" name="Rectangle 33"/>
          <p:cNvSpPr>
            <a:spLocks noChangeArrowheads="1"/>
          </p:cNvSpPr>
          <p:nvPr/>
        </p:nvSpPr>
        <p:spPr bwMode="auto">
          <a:xfrm>
            <a:off x="5580409" y="3308353"/>
            <a:ext cx="2540000" cy="620713"/>
          </a:xfrm>
          <a:prstGeom prst="rect">
            <a:avLst/>
          </a:prstGeom>
          <a:solidFill>
            <a:srgbClr val="CCFFFF"/>
          </a:solidFill>
          <a:ln w="9525">
            <a:solidFill>
              <a:schemeClr val="tx1"/>
            </a:solidFill>
            <a:miter lim="800000"/>
            <a:headEnd/>
            <a:tailEnd/>
          </a:ln>
          <a:effectLst>
            <a:outerShdw dist="107763" dir="18900000" algn="ctr" rotWithShape="0">
              <a:schemeClr val="bg2"/>
            </a:outerShdw>
          </a:effectLst>
        </p:spPr>
        <p:txBody>
          <a:bodyPr wrap="none" lIns="82479" tIns="41239" rIns="82479" bIns="41239" anchor="ctr"/>
          <a:lstStyle/>
          <a:p>
            <a:pPr algn="ctr" defTabSz="825500" eaLnBrk="0" hangingPunct="0"/>
            <a:r>
              <a:rPr kumimoji="0" lang="zh-TW" altLang="en-US" sz="2200" dirty="0">
                <a:latin typeface="Times New Roman" pitchFamily="18" charset="0"/>
                <a:ea typeface="標楷體" pitchFamily="65" charset="-120"/>
              </a:rPr>
              <a:t>一般均衡</a:t>
            </a:r>
          </a:p>
          <a:p>
            <a:pPr algn="ctr" defTabSz="825500" eaLnBrk="0" hangingPunct="0"/>
            <a:r>
              <a:rPr kumimoji="0" lang="zh-TW" altLang="en-US" sz="2200" dirty="0">
                <a:latin typeface="Times New Roman" pitchFamily="18" charset="0"/>
              </a:rPr>
              <a:t>（</a:t>
            </a:r>
            <a:r>
              <a:rPr kumimoji="0" lang="en-US" altLang="zh-TW" sz="2200" dirty="0">
                <a:latin typeface="Times New Roman" pitchFamily="18" charset="0"/>
              </a:rPr>
              <a:t>general equilibrium</a:t>
            </a:r>
            <a:r>
              <a:rPr kumimoji="0" lang="zh-TW" altLang="en-US" sz="2200" dirty="0">
                <a:latin typeface="Times New Roman" pitchFamily="18" charset="0"/>
              </a:rPr>
              <a:t>）</a:t>
            </a:r>
          </a:p>
        </p:txBody>
      </p:sp>
      <p:sp>
        <p:nvSpPr>
          <p:cNvPr id="37" name="下箭头 36"/>
          <p:cNvSpPr/>
          <p:nvPr/>
        </p:nvSpPr>
        <p:spPr>
          <a:xfrm rot="3924520">
            <a:off x="3060238" y="1402340"/>
            <a:ext cx="357190" cy="514165"/>
          </a:xfrm>
          <a:prstGeom prst="down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sp>
        <p:nvSpPr>
          <p:cNvPr id="38" name="下箭头 37"/>
          <p:cNvSpPr/>
          <p:nvPr/>
        </p:nvSpPr>
        <p:spPr>
          <a:xfrm>
            <a:off x="1502118" y="2129017"/>
            <a:ext cx="357190" cy="514165"/>
          </a:xfrm>
          <a:prstGeom prst="down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sp>
        <p:nvSpPr>
          <p:cNvPr id="39" name="下箭头 38"/>
          <p:cNvSpPr/>
          <p:nvPr/>
        </p:nvSpPr>
        <p:spPr>
          <a:xfrm rot="10800000">
            <a:off x="1859307" y="5120493"/>
            <a:ext cx="357190" cy="514165"/>
          </a:xfrm>
          <a:prstGeom prst="down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sp>
        <p:nvSpPr>
          <p:cNvPr id="40" name="下箭头 39"/>
          <p:cNvSpPr/>
          <p:nvPr/>
        </p:nvSpPr>
        <p:spPr>
          <a:xfrm rot="5400000">
            <a:off x="3138142" y="5636528"/>
            <a:ext cx="357190" cy="514165"/>
          </a:xfrm>
          <a:prstGeom prst="down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cxnSp>
        <p:nvCxnSpPr>
          <p:cNvPr id="42" name="直接箭头连接符 41"/>
          <p:cNvCxnSpPr/>
          <p:nvPr/>
        </p:nvCxnSpPr>
        <p:spPr>
          <a:xfrm rot="5400000">
            <a:off x="6544822" y="3178967"/>
            <a:ext cx="214314" cy="158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rot="5400000" flipH="1" flipV="1">
            <a:off x="6545616" y="4036223"/>
            <a:ext cx="214314" cy="158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867"/>
                                        </p:tgtEl>
                                        <p:attrNameLst>
                                          <p:attrName>style.visibility</p:attrName>
                                        </p:attrNameLst>
                                      </p:cBhvr>
                                      <p:to>
                                        <p:strVal val="visible"/>
                                      </p:to>
                                    </p:set>
                                    <p:anim calcmode="lin" valueType="num">
                                      <p:cBhvr additive="base">
                                        <p:cTn id="7" dur="500" fill="hold"/>
                                        <p:tgtEl>
                                          <p:spTgt spid="36867"/>
                                        </p:tgtEl>
                                        <p:attrNameLst>
                                          <p:attrName>ppt_x</p:attrName>
                                        </p:attrNameLst>
                                      </p:cBhvr>
                                      <p:tavLst>
                                        <p:tav tm="0">
                                          <p:val>
                                            <p:strVal val="0-#ppt_w/2"/>
                                          </p:val>
                                        </p:tav>
                                        <p:tav tm="100000">
                                          <p:val>
                                            <p:strVal val="#ppt_x"/>
                                          </p:val>
                                        </p:tav>
                                      </p:tavLst>
                                    </p:anim>
                                    <p:anim calcmode="lin" valueType="num">
                                      <p:cBhvr additive="base">
                                        <p:cTn id="8" dur="500" fill="hold"/>
                                        <p:tgtEl>
                                          <p:spTgt spid="3686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868"/>
                                        </p:tgtEl>
                                        <p:attrNameLst>
                                          <p:attrName>style.visibility</p:attrName>
                                        </p:attrNameLst>
                                      </p:cBhvr>
                                      <p:to>
                                        <p:strVal val="visible"/>
                                      </p:to>
                                    </p:set>
                                    <p:anim calcmode="lin" valueType="num">
                                      <p:cBhvr additive="base">
                                        <p:cTn id="13" dur="500" fill="hold"/>
                                        <p:tgtEl>
                                          <p:spTgt spid="36868"/>
                                        </p:tgtEl>
                                        <p:attrNameLst>
                                          <p:attrName>ppt_x</p:attrName>
                                        </p:attrNameLst>
                                      </p:cBhvr>
                                      <p:tavLst>
                                        <p:tav tm="0">
                                          <p:val>
                                            <p:strVal val="0-#ppt_w/2"/>
                                          </p:val>
                                        </p:tav>
                                        <p:tav tm="100000">
                                          <p:val>
                                            <p:strVal val="#ppt_x"/>
                                          </p:val>
                                        </p:tav>
                                      </p:tavLst>
                                    </p:anim>
                                    <p:anim calcmode="lin" valueType="num">
                                      <p:cBhvr additive="base">
                                        <p:cTn id="14" dur="500" fill="hold"/>
                                        <p:tgtEl>
                                          <p:spTgt spid="3686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6869"/>
                                        </p:tgtEl>
                                        <p:attrNameLst>
                                          <p:attrName>style.visibility</p:attrName>
                                        </p:attrNameLst>
                                      </p:cBhvr>
                                      <p:to>
                                        <p:strVal val="visible"/>
                                      </p:to>
                                    </p:set>
                                    <p:anim calcmode="lin" valueType="num">
                                      <p:cBhvr additive="base">
                                        <p:cTn id="19" dur="500" fill="hold"/>
                                        <p:tgtEl>
                                          <p:spTgt spid="36869"/>
                                        </p:tgtEl>
                                        <p:attrNameLst>
                                          <p:attrName>ppt_x</p:attrName>
                                        </p:attrNameLst>
                                      </p:cBhvr>
                                      <p:tavLst>
                                        <p:tav tm="0">
                                          <p:val>
                                            <p:strVal val="0-#ppt_w/2"/>
                                          </p:val>
                                        </p:tav>
                                        <p:tav tm="100000">
                                          <p:val>
                                            <p:strVal val="#ppt_x"/>
                                          </p:val>
                                        </p:tav>
                                      </p:tavLst>
                                    </p:anim>
                                    <p:anim calcmode="lin" valueType="num">
                                      <p:cBhvr additive="base">
                                        <p:cTn id="20" dur="500" fill="hold"/>
                                        <p:tgtEl>
                                          <p:spTgt spid="3686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6870"/>
                                        </p:tgtEl>
                                        <p:attrNameLst>
                                          <p:attrName>style.visibility</p:attrName>
                                        </p:attrNameLst>
                                      </p:cBhvr>
                                      <p:to>
                                        <p:strVal val="visible"/>
                                      </p:to>
                                    </p:set>
                                    <p:anim calcmode="lin" valueType="num">
                                      <p:cBhvr additive="base">
                                        <p:cTn id="25" dur="500" fill="hold"/>
                                        <p:tgtEl>
                                          <p:spTgt spid="36870"/>
                                        </p:tgtEl>
                                        <p:attrNameLst>
                                          <p:attrName>ppt_x</p:attrName>
                                        </p:attrNameLst>
                                      </p:cBhvr>
                                      <p:tavLst>
                                        <p:tav tm="0">
                                          <p:val>
                                            <p:strVal val="0-#ppt_w/2"/>
                                          </p:val>
                                        </p:tav>
                                        <p:tav tm="100000">
                                          <p:val>
                                            <p:strVal val="#ppt_x"/>
                                          </p:val>
                                        </p:tav>
                                      </p:tavLst>
                                    </p:anim>
                                    <p:anim calcmode="lin" valueType="num">
                                      <p:cBhvr additive="base">
                                        <p:cTn id="26" dur="500" fill="hold"/>
                                        <p:tgtEl>
                                          <p:spTgt spid="3687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6871"/>
                                        </p:tgtEl>
                                        <p:attrNameLst>
                                          <p:attrName>style.visibility</p:attrName>
                                        </p:attrNameLst>
                                      </p:cBhvr>
                                      <p:to>
                                        <p:strVal val="visible"/>
                                      </p:to>
                                    </p:set>
                                    <p:anim calcmode="lin" valueType="num">
                                      <p:cBhvr additive="base">
                                        <p:cTn id="31" dur="500" fill="hold"/>
                                        <p:tgtEl>
                                          <p:spTgt spid="36871"/>
                                        </p:tgtEl>
                                        <p:attrNameLst>
                                          <p:attrName>ppt_x</p:attrName>
                                        </p:attrNameLst>
                                      </p:cBhvr>
                                      <p:tavLst>
                                        <p:tav tm="0">
                                          <p:val>
                                            <p:strVal val="0-#ppt_w/2"/>
                                          </p:val>
                                        </p:tav>
                                        <p:tav tm="100000">
                                          <p:val>
                                            <p:strVal val="#ppt_x"/>
                                          </p:val>
                                        </p:tav>
                                      </p:tavLst>
                                    </p:anim>
                                    <p:anim calcmode="lin" valueType="num">
                                      <p:cBhvr additive="base">
                                        <p:cTn id="32" dur="500" fill="hold"/>
                                        <p:tgtEl>
                                          <p:spTgt spid="36871"/>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6873"/>
                                        </p:tgtEl>
                                        <p:attrNameLst>
                                          <p:attrName>style.visibility</p:attrName>
                                        </p:attrNameLst>
                                      </p:cBhvr>
                                      <p:to>
                                        <p:strVal val="visible"/>
                                      </p:to>
                                    </p:set>
                                    <p:anim calcmode="lin" valueType="num">
                                      <p:cBhvr additive="base">
                                        <p:cTn id="37" dur="500" fill="hold"/>
                                        <p:tgtEl>
                                          <p:spTgt spid="36873"/>
                                        </p:tgtEl>
                                        <p:attrNameLst>
                                          <p:attrName>ppt_x</p:attrName>
                                        </p:attrNameLst>
                                      </p:cBhvr>
                                      <p:tavLst>
                                        <p:tav tm="0">
                                          <p:val>
                                            <p:strVal val="0-#ppt_w/2"/>
                                          </p:val>
                                        </p:tav>
                                        <p:tav tm="100000">
                                          <p:val>
                                            <p:strVal val="#ppt_x"/>
                                          </p:val>
                                        </p:tav>
                                      </p:tavLst>
                                    </p:anim>
                                    <p:anim calcmode="lin" valueType="num">
                                      <p:cBhvr additive="base">
                                        <p:cTn id="38" dur="500" fill="hold"/>
                                        <p:tgtEl>
                                          <p:spTgt spid="36873"/>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6874"/>
                                        </p:tgtEl>
                                        <p:attrNameLst>
                                          <p:attrName>style.visibility</p:attrName>
                                        </p:attrNameLst>
                                      </p:cBhvr>
                                      <p:to>
                                        <p:strVal val="visible"/>
                                      </p:to>
                                    </p:set>
                                    <p:anim calcmode="lin" valueType="num">
                                      <p:cBhvr additive="base">
                                        <p:cTn id="43" dur="500" fill="hold"/>
                                        <p:tgtEl>
                                          <p:spTgt spid="36874"/>
                                        </p:tgtEl>
                                        <p:attrNameLst>
                                          <p:attrName>ppt_x</p:attrName>
                                        </p:attrNameLst>
                                      </p:cBhvr>
                                      <p:tavLst>
                                        <p:tav tm="0">
                                          <p:val>
                                            <p:strVal val="0-#ppt_w/2"/>
                                          </p:val>
                                        </p:tav>
                                        <p:tav tm="100000">
                                          <p:val>
                                            <p:strVal val="#ppt_x"/>
                                          </p:val>
                                        </p:tav>
                                      </p:tavLst>
                                    </p:anim>
                                    <p:anim calcmode="lin" valueType="num">
                                      <p:cBhvr additive="base">
                                        <p:cTn id="44" dur="500" fill="hold"/>
                                        <p:tgtEl>
                                          <p:spTgt spid="36874"/>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6876"/>
                                        </p:tgtEl>
                                        <p:attrNameLst>
                                          <p:attrName>style.visibility</p:attrName>
                                        </p:attrNameLst>
                                      </p:cBhvr>
                                      <p:to>
                                        <p:strVal val="visible"/>
                                      </p:to>
                                    </p:set>
                                    <p:anim calcmode="lin" valueType="num">
                                      <p:cBhvr additive="base">
                                        <p:cTn id="49" dur="500" fill="hold"/>
                                        <p:tgtEl>
                                          <p:spTgt spid="36876"/>
                                        </p:tgtEl>
                                        <p:attrNameLst>
                                          <p:attrName>ppt_x</p:attrName>
                                        </p:attrNameLst>
                                      </p:cBhvr>
                                      <p:tavLst>
                                        <p:tav tm="0">
                                          <p:val>
                                            <p:strVal val="0-#ppt_w/2"/>
                                          </p:val>
                                        </p:tav>
                                        <p:tav tm="100000">
                                          <p:val>
                                            <p:strVal val="#ppt_x"/>
                                          </p:val>
                                        </p:tav>
                                      </p:tavLst>
                                    </p:anim>
                                    <p:anim calcmode="lin" valueType="num">
                                      <p:cBhvr additive="base">
                                        <p:cTn id="50" dur="500" fill="hold"/>
                                        <p:tgtEl>
                                          <p:spTgt spid="36876"/>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6877"/>
                                        </p:tgtEl>
                                        <p:attrNameLst>
                                          <p:attrName>style.visibility</p:attrName>
                                        </p:attrNameLst>
                                      </p:cBhvr>
                                      <p:to>
                                        <p:strVal val="visible"/>
                                      </p:to>
                                    </p:set>
                                    <p:anim calcmode="lin" valueType="num">
                                      <p:cBhvr additive="base">
                                        <p:cTn id="55" dur="500" fill="hold"/>
                                        <p:tgtEl>
                                          <p:spTgt spid="36877"/>
                                        </p:tgtEl>
                                        <p:attrNameLst>
                                          <p:attrName>ppt_x</p:attrName>
                                        </p:attrNameLst>
                                      </p:cBhvr>
                                      <p:tavLst>
                                        <p:tav tm="0">
                                          <p:val>
                                            <p:strVal val="0-#ppt_w/2"/>
                                          </p:val>
                                        </p:tav>
                                        <p:tav tm="100000">
                                          <p:val>
                                            <p:strVal val="#ppt_x"/>
                                          </p:val>
                                        </p:tav>
                                      </p:tavLst>
                                    </p:anim>
                                    <p:anim calcmode="lin" valueType="num">
                                      <p:cBhvr additive="base">
                                        <p:cTn id="56" dur="500" fill="hold"/>
                                        <p:tgtEl>
                                          <p:spTgt spid="36877"/>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36879"/>
                                        </p:tgtEl>
                                        <p:attrNameLst>
                                          <p:attrName>style.visibility</p:attrName>
                                        </p:attrNameLst>
                                      </p:cBhvr>
                                      <p:to>
                                        <p:strVal val="visible"/>
                                      </p:to>
                                    </p:set>
                                    <p:anim calcmode="lin" valueType="num">
                                      <p:cBhvr additive="base">
                                        <p:cTn id="61" dur="500" fill="hold"/>
                                        <p:tgtEl>
                                          <p:spTgt spid="36879"/>
                                        </p:tgtEl>
                                        <p:attrNameLst>
                                          <p:attrName>ppt_x</p:attrName>
                                        </p:attrNameLst>
                                      </p:cBhvr>
                                      <p:tavLst>
                                        <p:tav tm="0">
                                          <p:val>
                                            <p:strVal val="0-#ppt_w/2"/>
                                          </p:val>
                                        </p:tav>
                                        <p:tav tm="100000">
                                          <p:val>
                                            <p:strVal val="#ppt_x"/>
                                          </p:val>
                                        </p:tav>
                                      </p:tavLst>
                                    </p:anim>
                                    <p:anim calcmode="lin" valueType="num">
                                      <p:cBhvr additive="base">
                                        <p:cTn id="62" dur="500" fill="hold"/>
                                        <p:tgtEl>
                                          <p:spTgt spid="36879"/>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36880"/>
                                        </p:tgtEl>
                                        <p:attrNameLst>
                                          <p:attrName>style.visibility</p:attrName>
                                        </p:attrNameLst>
                                      </p:cBhvr>
                                      <p:to>
                                        <p:strVal val="visible"/>
                                      </p:to>
                                    </p:set>
                                    <p:anim calcmode="lin" valueType="num">
                                      <p:cBhvr additive="base">
                                        <p:cTn id="67" dur="500" fill="hold"/>
                                        <p:tgtEl>
                                          <p:spTgt spid="36880"/>
                                        </p:tgtEl>
                                        <p:attrNameLst>
                                          <p:attrName>ppt_x</p:attrName>
                                        </p:attrNameLst>
                                      </p:cBhvr>
                                      <p:tavLst>
                                        <p:tav tm="0">
                                          <p:val>
                                            <p:strVal val="0-#ppt_w/2"/>
                                          </p:val>
                                        </p:tav>
                                        <p:tav tm="100000">
                                          <p:val>
                                            <p:strVal val="#ppt_x"/>
                                          </p:val>
                                        </p:tav>
                                      </p:tavLst>
                                    </p:anim>
                                    <p:anim calcmode="lin" valueType="num">
                                      <p:cBhvr additive="base">
                                        <p:cTn id="68" dur="500" fill="hold"/>
                                        <p:tgtEl>
                                          <p:spTgt spid="36880"/>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36882"/>
                                        </p:tgtEl>
                                        <p:attrNameLst>
                                          <p:attrName>style.visibility</p:attrName>
                                        </p:attrNameLst>
                                      </p:cBhvr>
                                      <p:to>
                                        <p:strVal val="visible"/>
                                      </p:to>
                                    </p:set>
                                    <p:anim calcmode="lin" valueType="num">
                                      <p:cBhvr additive="base">
                                        <p:cTn id="73" dur="500" fill="hold"/>
                                        <p:tgtEl>
                                          <p:spTgt spid="36882"/>
                                        </p:tgtEl>
                                        <p:attrNameLst>
                                          <p:attrName>ppt_x</p:attrName>
                                        </p:attrNameLst>
                                      </p:cBhvr>
                                      <p:tavLst>
                                        <p:tav tm="0">
                                          <p:val>
                                            <p:strVal val="0-#ppt_w/2"/>
                                          </p:val>
                                        </p:tav>
                                        <p:tav tm="100000">
                                          <p:val>
                                            <p:strVal val="#ppt_x"/>
                                          </p:val>
                                        </p:tav>
                                      </p:tavLst>
                                    </p:anim>
                                    <p:anim calcmode="lin" valueType="num">
                                      <p:cBhvr additive="base">
                                        <p:cTn id="74" dur="500" fill="hold"/>
                                        <p:tgtEl>
                                          <p:spTgt spid="36882"/>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36883"/>
                                        </p:tgtEl>
                                        <p:attrNameLst>
                                          <p:attrName>style.visibility</p:attrName>
                                        </p:attrNameLst>
                                      </p:cBhvr>
                                      <p:to>
                                        <p:strVal val="visible"/>
                                      </p:to>
                                    </p:set>
                                    <p:anim calcmode="lin" valueType="num">
                                      <p:cBhvr additive="base">
                                        <p:cTn id="79" dur="500" fill="hold"/>
                                        <p:tgtEl>
                                          <p:spTgt spid="36883"/>
                                        </p:tgtEl>
                                        <p:attrNameLst>
                                          <p:attrName>ppt_x</p:attrName>
                                        </p:attrNameLst>
                                      </p:cBhvr>
                                      <p:tavLst>
                                        <p:tav tm="0">
                                          <p:val>
                                            <p:strVal val="0-#ppt_w/2"/>
                                          </p:val>
                                        </p:tav>
                                        <p:tav tm="100000">
                                          <p:val>
                                            <p:strVal val="#ppt_x"/>
                                          </p:val>
                                        </p:tav>
                                      </p:tavLst>
                                    </p:anim>
                                    <p:anim calcmode="lin" valueType="num">
                                      <p:cBhvr additive="base">
                                        <p:cTn id="80" dur="500" fill="hold"/>
                                        <p:tgtEl>
                                          <p:spTgt spid="36883"/>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36884"/>
                                        </p:tgtEl>
                                        <p:attrNameLst>
                                          <p:attrName>style.visibility</p:attrName>
                                        </p:attrNameLst>
                                      </p:cBhvr>
                                      <p:to>
                                        <p:strVal val="visible"/>
                                      </p:to>
                                    </p:set>
                                    <p:anim calcmode="lin" valueType="num">
                                      <p:cBhvr additive="base">
                                        <p:cTn id="85" dur="500" fill="hold"/>
                                        <p:tgtEl>
                                          <p:spTgt spid="36884"/>
                                        </p:tgtEl>
                                        <p:attrNameLst>
                                          <p:attrName>ppt_x</p:attrName>
                                        </p:attrNameLst>
                                      </p:cBhvr>
                                      <p:tavLst>
                                        <p:tav tm="0">
                                          <p:val>
                                            <p:strVal val="0-#ppt_w/2"/>
                                          </p:val>
                                        </p:tav>
                                        <p:tav tm="100000">
                                          <p:val>
                                            <p:strVal val="#ppt_x"/>
                                          </p:val>
                                        </p:tav>
                                      </p:tavLst>
                                    </p:anim>
                                    <p:anim calcmode="lin" valueType="num">
                                      <p:cBhvr additive="base">
                                        <p:cTn id="86" dur="500" fill="hold"/>
                                        <p:tgtEl>
                                          <p:spTgt spid="36884"/>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36886"/>
                                        </p:tgtEl>
                                        <p:attrNameLst>
                                          <p:attrName>style.visibility</p:attrName>
                                        </p:attrNameLst>
                                      </p:cBhvr>
                                      <p:to>
                                        <p:strVal val="visible"/>
                                      </p:to>
                                    </p:set>
                                    <p:anim calcmode="lin" valueType="num">
                                      <p:cBhvr additive="base">
                                        <p:cTn id="91" dur="500" fill="hold"/>
                                        <p:tgtEl>
                                          <p:spTgt spid="36886"/>
                                        </p:tgtEl>
                                        <p:attrNameLst>
                                          <p:attrName>ppt_x</p:attrName>
                                        </p:attrNameLst>
                                      </p:cBhvr>
                                      <p:tavLst>
                                        <p:tav tm="0">
                                          <p:val>
                                            <p:strVal val="0-#ppt_w/2"/>
                                          </p:val>
                                        </p:tav>
                                        <p:tav tm="100000">
                                          <p:val>
                                            <p:strVal val="#ppt_x"/>
                                          </p:val>
                                        </p:tav>
                                      </p:tavLst>
                                    </p:anim>
                                    <p:anim calcmode="lin" valueType="num">
                                      <p:cBhvr additive="base">
                                        <p:cTn id="92" dur="500" fill="hold"/>
                                        <p:tgtEl>
                                          <p:spTgt spid="36886"/>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36885"/>
                                        </p:tgtEl>
                                        <p:attrNameLst>
                                          <p:attrName>style.visibility</p:attrName>
                                        </p:attrNameLst>
                                      </p:cBhvr>
                                      <p:to>
                                        <p:strVal val="visible"/>
                                      </p:to>
                                    </p:set>
                                    <p:anim calcmode="lin" valueType="num">
                                      <p:cBhvr additive="base">
                                        <p:cTn id="97" dur="500" fill="hold"/>
                                        <p:tgtEl>
                                          <p:spTgt spid="36885"/>
                                        </p:tgtEl>
                                        <p:attrNameLst>
                                          <p:attrName>ppt_x</p:attrName>
                                        </p:attrNameLst>
                                      </p:cBhvr>
                                      <p:tavLst>
                                        <p:tav tm="0">
                                          <p:val>
                                            <p:strVal val="0-#ppt_w/2"/>
                                          </p:val>
                                        </p:tav>
                                        <p:tav tm="100000">
                                          <p:val>
                                            <p:strVal val="#ppt_x"/>
                                          </p:val>
                                        </p:tav>
                                      </p:tavLst>
                                    </p:anim>
                                    <p:anim calcmode="lin" valueType="num">
                                      <p:cBhvr additive="base">
                                        <p:cTn id="98" dur="500" fill="hold"/>
                                        <p:tgtEl>
                                          <p:spTgt spid="36885"/>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36888"/>
                                        </p:tgtEl>
                                        <p:attrNameLst>
                                          <p:attrName>style.visibility</p:attrName>
                                        </p:attrNameLst>
                                      </p:cBhvr>
                                      <p:to>
                                        <p:strVal val="visible"/>
                                      </p:to>
                                    </p:set>
                                    <p:anim calcmode="lin" valueType="num">
                                      <p:cBhvr additive="base">
                                        <p:cTn id="103" dur="500" fill="hold"/>
                                        <p:tgtEl>
                                          <p:spTgt spid="36888"/>
                                        </p:tgtEl>
                                        <p:attrNameLst>
                                          <p:attrName>ppt_x</p:attrName>
                                        </p:attrNameLst>
                                      </p:cBhvr>
                                      <p:tavLst>
                                        <p:tav tm="0">
                                          <p:val>
                                            <p:strVal val="0-#ppt_w/2"/>
                                          </p:val>
                                        </p:tav>
                                        <p:tav tm="100000">
                                          <p:val>
                                            <p:strVal val="#ppt_x"/>
                                          </p:val>
                                        </p:tav>
                                      </p:tavLst>
                                    </p:anim>
                                    <p:anim calcmode="lin" valueType="num">
                                      <p:cBhvr additive="base">
                                        <p:cTn id="104" dur="500" fill="hold"/>
                                        <p:tgtEl>
                                          <p:spTgt spid="36888"/>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8" fill="hold" grpId="0" nodeType="clickEffect">
                                  <p:stCondLst>
                                    <p:cond delay="0"/>
                                  </p:stCondLst>
                                  <p:childTnLst>
                                    <p:set>
                                      <p:cBhvr>
                                        <p:cTn id="108" dur="1" fill="hold">
                                          <p:stCondLst>
                                            <p:cond delay="0"/>
                                          </p:stCondLst>
                                        </p:cTn>
                                        <p:tgtEl>
                                          <p:spTgt spid="36890"/>
                                        </p:tgtEl>
                                        <p:attrNameLst>
                                          <p:attrName>style.visibility</p:attrName>
                                        </p:attrNameLst>
                                      </p:cBhvr>
                                      <p:to>
                                        <p:strVal val="visible"/>
                                      </p:to>
                                    </p:set>
                                    <p:anim calcmode="lin" valueType="num">
                                      <p:cBhvr additive="base">
                                        <p:cTn id="109" dur="500" fill="hold"/>
                                        <p:tgtEl>
                                          <p:spTgt spid="36890"/>
                                        </p:tgtEl>
                                        <p:attrNameLst>
                                          <p:attrName>ppt_x</p:attrName>
                                        </p:attrNameLst>
                                      </p:cBhvr>
                                      <p:tavLst>
                                        <p:tav tm="0">
                                          <p:val>
                                            <p:strVal val="0-#ppt_w/2"/>
                                          </p:val>
                                        </p:tav>
                                        <p:tav tm="100000">
                                          <p:val>
                                            <p:strVal val="#ppt_x"/>
                                          </p:val>
                                        </p:tav>
                                      </p:tavLst>
                                    </p:anim>
                                    <p:anim calcmode="lin" valueType="num">
                                      <p:cBhvr additive="base">
                                        <p:cTn id="110" dur="500" fill="hold"/>
                                        <p:tgtEl>
                                          <p:spTgt spid="36890"/>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8" fill="hold" grpId="0" nodeType="clickEffect">
                                  <p:stCondLst>
                                    <p:cond delay="0"/>
                                  </p:stCondLst>
                                  <p:childTnLst>
                                    <p:set>
                                      <p:cBhvr>
                                        <p:cTn id="114" dur="1" fill="hold">
                                          <p:stCondLst>
                                            <p:cond delay="0"/>
                                          </p:stCondLst>
                                        </p:cTn>
                                        <p:tgtEl>
                                          <p:spTgt spid="36889"/>
                                        </p:tgtEl>
                                        <p:attrNameLst>
                                          <p:attrName>style.visibility</p:attrName>
                                        </p:attrNameLst>
                                      </p:cBhvr>
                                      <p:to>
                                        <p:strVal val="visible"/>
                                      </p:to>
                                    </p:set>
                                    <p:anim calcmode="lin" valueType="num">
                                      <p:cBhvr additive="base">
                                        <p:cTn id="115" dur="500" fill="hold"/>
                                        <p:tgtEl>
                                          <p:spTgt spid="36889"/>
                                        </p:tgtEl>
                                        <p:attrNameLst>
                                          <p:attrName>ppt_x</p:attrName>
                                        </p:attrNameLst>
                                      </p:cBhvr>
                                      <p:tavLst>
                                        <p:tav tm="0">
                                          <p:val>
                                            <p:strVal val="0-#ppt_w/2"/>
                                          </p:val>
                                        </p:tav>
                                        <p:tav tm="100000">
                                          <p:val>
                                            <p:strVal val="#ppt_x"/>
                                          </p:val>
                                        </p:tav>
                                      </p:tavLst>
                                    </p:anim>
                                    <p:anim calcmode="lin" valueType="num">
                                      <p:cBhvr additive="base">
                                        <p:cTn id="116" dur="500" fill="hold"/>
                                        <p:tgtEl>
                                          <p:spTgt spid="36889"/>
                                        </p:tgtEl>
                                        <p:attrNameLst>
                                          <p:attrName>ppt_y</p:attrName>
                                        </p:attrNameLst>
                                      </p:cBhvr>
                                      <p:tavLst>
                                        <p:tav tm="0">
                                          <p:val>
                                            <p:strVal val="#ppt_y"/>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8" fill="hold" grpId="0" nodeType="clickEffect">
                                  <p:stCondLst>
                                    <p:cond delay="0"/>
                                  </p:stCondLst>
                                  <p:childTnLst>
                                    <p:set>
                                      <p:cBhvr>
                                        <p:cTn id="120" dur="1" fill="hold">
                                          <p:stCondLst>
                                            <p:cond delay="0"/>
                                          </p:stCondLst>
                                        </p:cTn>
                                        <p:tgtEl>
                                          <p:spTgt spid="36892"/>
                                        </p:tgtEl>
                                        <p:attrNameLst>
                                          <p:attrName>style.visibility</p:attrName>
                                        </p:attrNameLst>
                                      </p:cBhvr>
                                      <p:to>
                                        <p:strVal val="visible"/>
                                      </p:to>
                                    </p:set>
                                    <p:anim calcmode="lin" valueType="num">
                                      <p:cBhvr additive="base">
                                        <p:cTn id="121" dur="500" fill="hold"/>
                                        <p:tgtEl>
                                          <p:spTgt spid="36892"/>
                                        </p:tgtEl>
                                        <p:attrNameLst>
                                          <p:attrName>ppt_x</p:attrName>
                                        </p:attrNameLst>
                                      </p:cBhvr>
                                      <p:tavLst>
                                        <p:tav tm="0">
                                          <p:val>
                                            <p:strVal val="0-#ppt_w/2"/>
                                          </p:val>
                                        </p:tav>
                                        <p:tav tm="100000">
                                          <p:val>
                                            <p:strVal val="#ppt_x"/>
                                          </p:val>
                                        </p:tav>
                                      </p:tavLst>
                                    </p:anim>
                                    <p:anim calcmode="lin" valueType="num">
                                      <p:cBhvr additive="base">
                                        <p:cTn id="122" dur="500" fill="hold"/>
                                        <p:tgtEl>
                                          <p:spTgt spid="36892"/>
                                        </p:tgtEl>
                                        <p:attrNameLst>
                                          <p:attrName>ppt_y</p:attrName>
                                        </p:attrNameLst>
                                      </p:cBhvr>
                                      <p:tavLst>
                                        <p:tav tm="0">
                                          <p:val>
                                            <p:strVal val="#ppt_y"/>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8" fill="hold" grpId="0" nodeType="clickEffect">
                                  <p:stCondLst>
                                    <p:cond delay="0"/>
                                  </p:stCondLst>
                                  <p:childTnLst>
                                    <p:set>
                                      <p:cBhvr>
                                        <p:cTn id="126" dur="1" fill="hold">
                                          <p:stCondLst>
                                            <p:cond delay="0"/>
                                          </p:stCondLst>
                                        </p:cTn>
                                        <p:tgtEl>
                                          <p:spTgt spid="36891"/>
                                        </p:tgtEl>
                                        <p:attrNameLst>
                                          <p:attrName>style.visibility</p:attrName>
                                        </p:attrNameLst>
                                      </p:cBhvr>
                                      <p:to>
                                        <p:strVal val="visible"/>
                                      </p:to>
                                    </p:set>
                                    <p:anim calcmode="lin" valueType="num">
                                      <p:cBhvr additive="base">
                                        <p:cTn id="127" dur="500" fill="hold"/>
                                        <p:tgtEl>
                                          <p:spTgt spid="36891"/>
                                        </p:tgtEl>
                                        <p:attrNameLst>
                                          <p:attrName>ppt_x</p:attrName>
                                        </p:attrNameLst>
                                      </p:cBhvr>
                                      <p:tavLst>
                                        <p:tav tm="0">
                                          <p:val>
                                            <p:strVal val="0-#ppt_w/2"/>
                                          </p:val>
                                        </p:tav>
                                        <p:tav tm="100000">
                                          <p:val>
                                            <p:strVal val="#ppt_x"/>
                                          </p:val>
                                        </p:tav>
                                      </p:tavLst>
                                    </p:anim>
                                    <p:anim calcmode="lin" valueType="num">
                                      <p:cBhvr additive="base">
                                        <p:cTn id="128" dur="500" fill="hold"/>
                                        <p:tgtEl>
                                          <p:spTgt spid="36891"/>
                                        </p:tgtEl>
                                        <p:attrNameLst>
                                          <p:attrName>ppt_y</p:attrName>
                                        </p:attrNameLst>
                                      </p:cBhvr>
                                      <p:tavLst>
                                        <p:tav tm="0">
                                          <p:val>
                                            <p:strVal val="#ppt_y"/>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8" fill="hold" grpId="0" nodeType="clickEffect">
                                  <p:stCondLst>
                                    <p:cond delay="0"/>
                                  </p:stCondLst>
                                  <p:childTnLst>
                                    <p:set>
                                      <p:cBhvr>
                                        <p:cTn id="132" dur="1" fill="hold">
                                          <p:stCondLst>
                                            <p:cond delay="0"/>
                                          </p:stCondLst>
                                        </p:cTn>
                                        <p:tgtEl>
                                          <p:spTgt spid="36894"/>
                                        </p:tgtEl>
                                        <p:attrNameLst>
                                          <p:attrName>style.visibility</p:attrName>
                                        </p:attrNameLst>
                                      </p:cBhvr>
                                      <p:to>
                                        <p:strVal val="visible"/>
                                      </p:to>
                                    </p:set>
                                    <p:anim calcmode="lin" valueType="num">
                                      <p:cBhvr additive="base">
                                        <p:cTn id="133" dur="500" fill="hold"/>
                                        <p:tgtEl>
                                          <p:spTgt spid="36894"/>
                                        </p:tgtEl>
                                        <p:attrNameLst>
                                          <p:attrName>ppt_x</p:attrName>
                                        </p:attrNameLst>
                                      </p:cBhvr>
                                      <p:tavLst>
                                        <p:tav tm="0">
                                          <p:val>
                                            <p:strVal val="0-#ppt_w/2"/>
                                          </p:val>
                                        </p:tav>
                                        <p:tav tm="100000">
                                          <p:val>
                                            <p:strVal val="#ppt_x"/>
                                          </p:val>
                                        </p:tav>
                                      </p:tavLst>
                                    </p:anim>
                                    <p:anim calcmode="lin" valueType="num">
                                      <p:cBhvr additive="base">
                                        <p:cTn id="134" dur="500" fill="hold"/>
                                        <p:tgtEl>
                                          <p:spTgt spid="36894"/>
                                        </p:tgtEl>
                                        <p:attrNameLst>
                                          <p:attrName>ppt_y</p:attrName>
                                        </p:attrNameLst>
                                      </p:cBhvr>
                                      <p:tavLst>
                                        <p:tav tm="0">
                                          <p:val>
                                            <p:strVal val="#ppt_y"/>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8" fill="hold" grpId="0" nodeType="clickEffect">
                                  <p:stCondLst>
                                    <p:cond delay="0"/>
                                  </p:stCondLst>
                                  <p:childTnLst>
                                    <p:set>
                                      <p:cBhvr>
                                        <p:cTn id="138" dur="1" fill="hold">
                                          <p:stCondLst>
                                            <p:cond delay="0"/>
                                          </p:stCondLst>
                                        </p:cTn>
                                        <p:tgtEl>
                                          <p:spTgt spid="36893"/>
                                        </p:tgtEl>
                                        <p:attrNameLst>
                                          <p:attrName>style.visibility</p:attrName>
                                        </p:attrNameLst>
                                      </p:cBhvr>
                                      <p:to>
                                        <p:strVal val="visible"/>
                                      </p:to>
                                    </p:set>
                                    <p:anim calcmode="lin" valueType="num">
                                      <p:cBhvr additive="base">
                                        <p:cTn id="139" dur="500" fill="hold"/>
                                        <p:tgtEl>
                                          <p:spTgt spid="36893"/>
                                        </p:tgtEl>
                                        <p:attrNameLst>
                                          <p:attrName>ppt_x</p:attrName>
                                        </p:attrNameLst>
                                      </p:cBhvr>
                                      <p:tavLst>
                                        <p:tav tm="0">
                                          <p:val>
                                            <p:strVal val="0-#ppt_w/2"/>
                                          </p:val>
                                        </p:tav>
                                        <p:tav tm="100000">
                                          <p:val>
                                            <p:strVal val="#ppt_x"/>
                                          </p:val>
                                        </p:tav>
                                      </p:tavLst>
                                    </p:anim>
                                    <p:anim calcmode="lin" valueType="num">
                                      <p:cBhvr additive="base">
                                        <p:cTn id="140" dur="500" fill="hold"/>
                                        <p:tgtEl>
                                          <p:spTgt spid="36893"/>
                                        </p:tgtEl>
                                        <p:attrNameLst>
                                          <p:attrName>ppt_y</p:attrName>
                                        </p:attrNameLst>
                                      </p:cBhvr>
                                      <p:tavLst>
                                        <p:tav tm="0">
                                          <p:val>
                                            <p:strVal val="#ppt_y"/>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8" fill="hold" grpId="0" nodeType="clickEffect">
                                  <p:stCondLst>
                                    <p:cond delay="0"/>
                                  </p:stCondLst>
                                  <p:childTnLst>
                                    <p:set>
                                      <p:cBhvr>
                                        <p:cTn id="144" dur="1" fill="hold">
                                          <p:stCondLst>
                                            <p:cond delay="0"/>
                                          </p:stCondLst>
                                        </p:cTn>
                                        <p:tgtEl>
                                          <p:spTgt spid="36897"/>
                                        </p:tgtEl>
                                        <p:attrNameLst>
                                          <p:attrName>style.visibility</p:attrName>
                                        </p:attrNameLst>
                                      </p:cBhvr>
                                      <p:to>
                                        <p:strVal val="visible"/>
                                      </p:to>
                                    </p:set>
                                    <p:anim calcmode="lin" valueType="num">
                                      <p:cBhvr additive="base">
                                        <p:cTn id="145" dur="500" fill="hold"/>
                                        <p:tgtEl>
                                          <p:spTgt spid="36897"/>
                                        </p:tgtEl>
                                        <p:attrNameLst>
                                          <p:attrName>ppt_x</p:attrName>
                                        </p:attrNameLst>
                                      </p:cBhvr>
                                      <p:tavLst>
                                        <p:tav tm="0">
                                          <p:val>
                                            <p:strVal val="0-#ppt_w/2"/>
                                          </p:val>
                                        </p:tav>
                                        <p:tav tm="100000">
                                          <p:val>
                                            <p:strVal val="#ppt_x"/>
                                          </p:val>
                                        </p:tav>
                                      </p:tavLst>
                                    </p:anim>
                                    <p:anim calcmode="lin" valueType="num">
                                      <p:cBhvr additive="base">
                                        <p:cTn id="146" dur="500" fill="hold"/>
                                        <p:tgtEl>
                                          <p:spTgt spid="3689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animBg="1" autoUpdateAnimBg="0"/>
      <p:bldP spid="36868" grpId="0" animBg="1" autoUpdateAnimBg="0"/>
      <p:bldP spid="36869" grpId="0" animBg="1" autoUpdateAnimBg="0"/>
      <p:bldP spid="36870" grpId="0" animBg="1" autoUpdateAnimBg="0"/>
      <p:bldP spid="36871" grpId="0" animBg="1"/>
      <p:bldP spid="36873" grpId="0" autoUpdateAnimBg="0"/>
      <p:bldP spid="36874" grpId="0" animBg="1"/>
      <p:bldP spid="36876" grpId="0" autoUpdateAnimBg="0"/>
      <p:bldP spid="36877" grpId="0" animBg="1"/>
      <p:bldP spid="36879" grpId="0" autoUpdateAnimBg="0"/>
      <p:bldP spid="36880" grpId="0" animBg="1"/>
      <p:bldP spid="36882" grpId="0" autoUpdateAnimBg="0"/>
      <p:bldP spid="36883" grpId="0" animBg="1"/>
      <p:bldP spid="36884" grpId="0" autoUpdateAnimBg="0"/>
      <p:bldP spid="36885" grpId="0" autoUpdateAnimBg="0"/>
      <p:bldP spid="36886" grpId="0" animBg="1"/>
      <p:bldP spid="36888" grpId="0" autoUpdateAnimBg="0"/>
      <p:bldP spid="36889" grpId="0" autoUpdateAnimBg="0"/>
      <p:bldP spid="36890" grpId="0" animBg="1"/>
      <p:bldP spid="36891" grpId="0" animBg="1" autoUpdateAnimBg="0"/>
      <p:bldP spid="36892" grpId="0" animBg="1"/>
      <p:bldP spid="36893" grpId="0" animBg="1" autoUpdateAnimBg="0"/>
      <p:bldP spid="36894" grpId="0" animBg="1"/>
      <p:bldP spid="36897"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Slide Number Placeholder 5"/>
          <p:cNvSpPr>
            <a:spLocks noGrp="1"/>
          </p:cNvSpPr>
          <p:nvPr>
            <p:ph type="sldNum" sz="quarter" idx="12"/>
          </p:nvPr>
        </p:nvSpPr>
        <p:spPr bwMode="auto">
          <a:noFill/>
          <a:ln>
            <a:miter lim="800000"/>
            <a:headEnd/>
            <a:tailEnd/>
          </a:ln>
        </p:spPr>
        <p:txBody>
          <a:bodyPr/>
          <a:lstStyle/>
          <a:p>
            <a:fld id="{AE4BAEBB-6F25-4FA2-8B8E-338E005A66AE}" type="slidenum">
              <a:rPr lang="en-US" altLang="zh-CN" smtClean="0"/>
              <a:pPr/>
              <a:t>9</a:t>
            </a:fld>
            <a:endParaRPr lang="en-US" altLang="zh-CN"/>
          </a:p>
        </p:txBody>
      </p:sp>
      <p:sp>
        <p:nvSpPr>
          <p:cNvPr id="4100" name="Rectangle 2"/>
          <p:cNvSpPr>
            <a:spLocks noGrp="1" noChangeArrowheads="1"/>
          </p:cNvSpPr>
          <p:nvPr>
            <p:ph type="title"/>
          </p:nvPr>
        </p:nvSpPr>
        <p:spPr>
          <a:xfrm>
            <a:off x="428625" y="285750"/>
            <a:ext cx="7772400" cy="609600"/>
          </a:xfrm>
        </p:spPr>
        <p:txBody>
          <a:bodyPr>
            <a:normAutofit fontScale="90000"/>
          </a:bodyPr>
          <a:lstStyle/>
          <a:p>
            <a:r>
              <a:rPr lang="en-AU" sz="3600" b="1" dirty="0">
                <a:solidFill>
                  <a:srgbClr val="FF0000"/>
                </a:solidFill>
                <a:latin typeface="Tahoma" pitchFamily="34" charset="0"/>
              </a:rPr>
              <a:t>CGE</a:t>
            </a:r>
            <a:r>
              <a:rPr lang="zh-CN" altLang="en-US" sz="3600" b="1" dirty="0">
                <a:solidFill>
                  <a:srgbClr val="FF0000"/>
                </a:solidFill>
                <a:latin typeface="Tahoma" pitchFamily="34" charset="0"/>
              </a:rPr>
              <a:t>模型数据库</a:t>
            </a:r>
            <a:r>
              <a:rPr lang="en-US" altLang="zh-CN" sz="3600" b="1" dirty="0">
                <a:solidFill>
                  <a:srgbClr val="FF0000"/>
                </a:solidFill>
                <a:latin typeface="Tahoma" pitchFamily="34" charset="0"/>
              </a:rPr>
              <a:t>-</a:t>
            </a:r>
            <a:r>
              <a:rPr lang="zh-CN" altLang="en-US" sz="3600" b="1" dirty="0">
                <a:solidFill>
                  <a:srgbClr val="FF0000"/>
                </a:solidFill>
                <a:latin typeface="Tahoma" pitchFamily="34" charset="0"/>
              </a:rPr>
              <a:t>社会核算矩阵（</a:t>
            </a:r>
            <a:r>
              <a:rPr lang="en-US" altLang="zh-CN" sz="3600" b="1" dirty="0">
                <a:solidFill>
                  <a:srgbClr val="FF0000"/>
                </a:solidFill>
                <a:latin typeface="Tahoma" pitchFamily="34" charset="0"/>
              </a:rPr>
              <a:t>SAM</a:t>
            </a:r>
            <a:r>
              <a:rPr lang="zh-CN" altLang="en-US" sz="3600" b="1" dirty="0">
                <a:solidFill>
                  <a:srgbClr val="FF0000"/>
                </a:solidFill>
                <a:latin typeface="Tahoma" pitchFamily="34" charset="0"/>
              </a:rPr>
              <a:t>）</a:t>
            </a:r>
            <a:endParaRPr lang="en-US" altLang="zh-CN" sz="3200" b="1" dirty="0">
              <a:solidFill>
                <a:srgbClr val="FF0000"/>
              </a:solidFill>
            </a:endParaRPr>
          </a:p>
        </p:txBody>
      </p:sp>
      <p:graphicFrame>
        <p:nvGraphicFramePr>
          <p:cNvPr id="4098" name="Object 6"/>
          <p:cNvGraphicFramePr>
            <a:graphicFrameLocks noChangeAspect="1"/>
          </p:cNvGraphicFramePr>
          <p:nvPr/>
        </p:nvGraphicFramePr>
        <p:xfrm>
          <a:off x="358775" y="1143000"/>
          <a:ext cx="8866188" cy="5338763"/>
        </p:xfrm>
        <a:graphic>
          <a:graphicData uri="http://schemas.openxmlformats.org/presentationml/2006/ole">
            <mc:AlternateContent xmlns:mc="http://schemas.openxmlformats.org/markup-compatibility/2006">
              <mc:Choice xmlns:v="urn:schemas-microsoft-com:vml" Requires="v">
                <p:oleObj name="Document" r:id="rId2" imgW="8850293" imgH="5279794" progId="Word.Document.8">
                  <p:embed/>
                </p:oleObj>
              </mc:Choice>
              <mc:Fallback>
                <p:oleObj name="Document" r:id="rId2" imgW="8850293" imgH="5279794" progId="Word.Document.8">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775" y="1143000"/>
                        <a:ext cx="8866188" cy="5338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矩形 1"/>
          <p:cNvSpPr/>
          <p:nvPr/>
        </p:nvSpPr>
        <p:spPr>
          <a:xfrm>
            <a:off x="2411760" y="1916832"/>
            <a:ext cx="936104" cy="432048"/>
          </a:xfrm>
          <a:prstGeom prst="rect">
            <a:avLst/>
          </a:prstGeom>
          <a:solidFill>
            <a:srgbClr val="FF0000">
              <a:alpha val="0"/>
            </a:srgbClr>
          </a:solidFill>
          <a:ln w="539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411760" y="3122712"/>
            <a:ext cx="936104" cy="1138003"/>
          </a:xfrm>
          <a:prstGeom prst="rect">
            <a:avLst/>
          </a:prstGeom>
          <a:solidFill>
            <a:srgbClr val="FFFF00">
              <a:alpha val="0"/>
            </a:srgbClr>
          </a:solidFill>
          <a:ln w="539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2411760" y="2430081"/>
            <a:ext cx="936104" cy="566872"/>
          </a:xfrm>
          <a:prstGeom prst="rect">
            <a:avLst/>
          </a:prstGeom>
          <a:solidFill>
            <a:srgbClr val="FFFF00">
              <a:alpha val="0"/>
            </a:srgbClr>
          </a:solidFill>
          <a:ln w="539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3707904" y="1915369"/>
            <a:ext cx="1814847"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dirty="0">
                <a:solidFill>
                  <a:srgbClr val="FF0000"/>
                </a:solidFill>
                <a:latin typeface="黑体" panose="02010609060101010101" pitchFamily="49" charset="-122"/>
                <a:ea typeface="黑体" panose="02010609060101010101" pitchFamily="49" charset="-122"/>
              </a:rPr>
              <a:t>各种中间投入</a:t>
            </a:r>
          </a:p>
        </p:txBody>
      </p:sp>
      <p:sp>
        <p:nvSpPr>
          <p:cNvPr id="9" name="文本框 8"/>
          <p:cNvSpPr txBox="1"/>
          <p:nvPr/>
        </p:nvSpPr>
        <p:spPr>
          <a:xfrm>
            <a:off x="3884445" y="3627715"/>
            <a:ext cx="1814847"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dirty="0">
                <a:solidFill>
                  <a:srgbClr val="FF0000"/>
                </a:solidFill>
                <a:latin typeface="黑体" panose="02010609060101010101" pitchFamily="49" charset="-122"/>
                <a:ea typeface="黑体" panose="02010609060101010101" pitchFamily="49" charset="-122"/>
              </a:rPr>
              <a:t>劳动力、资本和土地等初级要素</a:t>
            </a:r>
          </a:p>
        </p:txBody>
      </p:sp>
      <p:sp>
        <p:nvSpPr>
          <p:cNvPr id="10" name="文本框 9"/>
          <p:cNvSpPr txBox="1"/>
          <p:nvPr/>
        </p:nvSpPr>
        <p:spPr>
          <a:xfrm>
            <a:off x="3586225" y="2586876"/>
            <a:ext cx="2966975"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dirty="0">
                <a:solidFill>
                  <a:srgbClr val="FF0000"/>
                </a:solidFill>
                <a:latin typeface="黑体" panose="02010609060101010101" pitchFamily="49" charset="-122"/>
                <a:ea typeface="黑体" panose="02010609060101010101" pitchFamily="49" charset="-122"/>
              </a:rPr>
              <a:t>运输成本和各种间接税</a:t>
            </a:r>
          </a:p>
        </p:txBody>
      </p:sp>
      <p:sp>
        <p:nvSpPr>
          <p:cNvPr id="11" name="矩形 10"/>
          <p:cNvSpPr/>
          <p:nvPr/>
        </p:nvSpPr>
        <p:spPr>
          <a:xfrm>
            <a:off x="2440477" y="4353972"/>
            <a:ext cx="907387" cy="371172"/>
          </a:xfrm>
          <a:prstGeom prst="rect">
            <a:avLst/>
          </a:prstGeom>
          <a:solidFill>
            <a:srgbClr val="FFFF00">
              <a:alpha val="0"/>
            </a:srgbClr>
          </a:solidFill>
          <a:ln w="539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3983143" y="4409212"/>
            <a:ext cx="1425069"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dirty="0">
                <a:solidFill>
                  <a:srgbClr val="FF0000"/>
                </a:solidFill>
                <a:latin typeface="黑体" panose="02010609060101010101" pitchFamily="49" charset="-122"/>
                <a:ea typeface="黑体" panose="02010609060101010101" pitchFamily="49" charset="-122"/>
              </a:rPr>
              <a:t>生产税</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grpId="1" nodeType="clickEffect">
                                  <p:stCondLst>
                                    <p:cond delay="0"/>
                                  </p:stCondLst>
                                  <p:childTnLst>
                                    <p:animEffect transition="out" filter="fade">
                                      <p:cBhvr>
                                        <p:cTn id="12" dur="500"/>
                                        <p:tgtEl>
                                          <p:spTgt spid="2"/>
                                        </p:tgtEl>
                                      </p:cBhvr>
                                    </p:animEffect>
                                    <p:set>
                                      <p:cBhvr>
                                        <p:cTn id="13" dur="1" fill="hold">
                                          <p:stCondLst>
                                            <p:cond delay="499"/>
                                          </p:stCondLst>
                                        </p:cTn>
                                        <p:tgtEl>
                                          <p:spTgt spid="2"/>
                                        </p:tgtEl>
                                        <p:attrNameLst>
                                          <p:attrName>style.visibility</p:attrName>
                                        </p:attrNameLst>
                                      </p:cBhvr>
                                      <p:to>
                                        <p:strVal val="hidden"/>
                                      </p:to>
                                    </p:set>
                                  </p:childTnLst>
                                </p:cTn>
                              </p:par>
                              <p:par>
                                <p:cTn id="14" presetID="10" presetClass="exit" presetSubtype="0" fill="hold" grpId="1" nodeType="withEffect">
                                  <p:stCondLst>
                                    <p:cond delay="0"/>
                                  </p:stCondLst>
                                  <p:childTnLst>
                                    <p:animEffect transition="out" filter="fade">
                                      <p:cBhvr>
                                        <p:cTn id="15" dur="500"/>
                                        <p:tgtEl>
                                          <p:spTgt spid="3"/>
                                        </p:tgtEl>
                                      </p:cBhvr>
                                    </p:animEffect>
                                    <p:set>
                                      <p:cBhvr>
                                        <p:cTn id="16" dur="1" fill="hold">
                                          <p:stCondLst>
                                            <p:cond delay="499"/>
                                          </p:stCondLst>
                                        </p:cTn>
                                        <p:tgtEl>
                                          <p:spTgt spid="3"/>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1" nodeType="clickEffect">
                                  <p:stCondLst>
                                    <p:cond delay="0"/>
                                  </p:stCondLst>
                                  <p:childTnLst>
                                    <p:animEffect transition="out" filter="fade">
                                      <p:cBhvr>
                                        <p:cTn id="26" dur="500"/>
                                        <p:tgtEl>
                                          <p:spTgt spid="6"/>
                                        </p:tgtEl>
                                      </p:cBhvr>
                                    </p:animEffect>
                                    <p:set>
                                      <p:cBhvr>
                                        <p:cTn id="27" dur="1" fill="hold">
                                          <p:stCondLst>
                                            <p:cond delay="499"/>
                                          </p:stCondLst>
                                        </p:cTn>
                                        <p:tgtEl>
                                          <p:spTgt spid="6"/>
                                        </p:tgtEl>
                                        <p:attrNameLst>
                                          <p:attrName>style.visibility</p:attrName>
                                        </p:attrNameLst>
                                      </p:cBhvr>
                                      <p:to>
                                        <p:strVal val="hidden"/>
                                      </p:to>
                                    </p:set>
                                  </p:childTnLst>
                                </p:cTn>
                              </p:par>
                              <p:par>
                                <p:cTn id="28" presetID="10" presetClass="exit" presetSubtype="0" fill="hold" grpId="1" nodeType="withEffect">
                                  <p:stCondLst>
                                    <p:cond delay="0"/>
                                  </p:stCondLst>
                                  <p:childTnLst>
                                    <p:animEffect transition="out" filter="fade">
                                      <p:cBhvr>
                                        <p:cTn id="29" dur="500"/>
                                        <p:tgtEl>
                                          <p:spTgt spid="9"/>
                                        </p:tgtEl>
                                      </p:cBhvr>
                                    </p:animEffect>
                                    <p:set>
                                      <p:cBhvr>
                                        <p:cTn id="30" dur="1" fill="hold">
                                          <p:stCondLst>
                                            <p:cond delay="499"/>
                                          </p:stCondLst>
                                        </p:cTn>
                                        <p:tgtEl>
                                          <p:spTgt spid="9"/>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11"/>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6" grpId="0" animBg="1"/>
      <p:bldP spid="6" grpId="1" animBg="1"/>
      <p:bldP spid="7" grpId="0" animBg="1"/>
      <p:bldP spid="3" grpId="0" animBg="1"/>
      <p:bldP spid="3" grpId="1" animBg="1"/>
      <p:bldP spid="9" grpId="0" animBg="1"/>
      <p:bldP spid="9" grpId="1" animBg="1"/>
      <p:bldP spid="10" grpId="0" animBg="1"/>
      <p:bldP spid="11" grpId="0" animBg="1"/>
      <p:bldP spid="11" grpId="1" animBg="1"/>
      <p:bldP spid="12" grpId="0" animBg="1"/>
      <p:bldP spid="12"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Slide Number Placeholder 5"/>
          <p:cNvSpPr>
            <a:spLocks noGrp="1"/>
          </p:cNvSpPr>
          <p:nvPr>
            <p:ph type="sldNum" sz="quarter" idx="12"/>
          </p:nvPr>
        </p:nvSpPr>
        <p:spPr bwMode="auto">
          <a:noFill/>
          <a:ln>
            <a:miter lim="800000"/>
            <a:headEnd/>
            <a:tailEnd/>
          </a:ln>
        </p:spPr>
        <p:txBody>
          <a:bodyPr/>
          <a:lstStyle/>
          <a:p>
            <a:fld id="{AE4BAEBB-6F25-4FA2-8B8E-338E005A66AE}" type="slidenum">
              <a:rPr lang="en-US" altLang="zh-CN" smtClean="0"/>
              <a:pPr/>
              <a:t>10</a:t>
            </a:fld>
            <a:endParaRPr lang="en-US" altLang="zh-CN"/>
          </a:p>
        </p:txBody>
      </p:sp>
      <p:sp>
        <p:nvSpPr>
          <p:cNvPr id="4100" name="Rectangle 2"/>
          <p:cNvSpPr>
            <a:spLocks noGrp="1" noChangeArrowheads="1"/>
          </p:cNvSpPr>
          <p:nvPr>
            <p:ph type="title"/>
          </p:nvPr>
        </p:nvSpPr>
        <p:spPr>
          <a:xfrm>
            <a:off x="428625" y="285750"/>
            <a:ext cx="7772400" cy="609600"/>
          </a:xfrm>
        </p:spPr>
        <p:txBody>
          <a:bodyPr>
            <a:normAutofit fontScale="90000"/>
          </a:bodyPr>
          <a:lstStyle/>
          <a:p>
            <a:r>
              <a:rPr lang="en-AU" sz="3600" b="1" dirty="0">
                <a:solidFill>
                  <a:srgbClr val="FF0000"/>
                </a:solidFill>
                <a:latin typeface="Tahoma" pitchFamily="34" charset="0"/>
              </a:rPr>
              <a:t>CGE</a:t>
            </a:r>
            <a:r>
              <a:rPr lang="zh-CN" altLang="en-US" sz="3600" b="1" dirty="0">
                <a:solidFill>
                  <a:srgbClr val="FF0000"/>
                </a:solidFill>
                <a:latin typeface="Tahoma" pitchFamily="34" charset="0"/>
              </a:rPr>
              <a:t>模型数据库</a:t>
            </a:r>
            <a:r>
              <a:rPr lang="en-US" altLang="zh-CN" sz="3600" b="1" dirty="0">
                <a:solidFill>
                  <a:srgbClr val="FF0000"/>
                </a:solidFill>
                <a:latin typeface="Tahoma" pitchFamily="34" charset="0"/>
              </a:rPr>
              <a:t>-</a:t>
            </a:r>
            <a:r>
              <a:rPr lang="zh-CN" altLang="en-US" sz="3600" b="1" dirty="0">
                <a:solidFill>
                  <a:srgbClr val="FF0000"/>
                </a:solidFill>
                <a:latin typeface="Tahoma" pitchFamily="34" charset="0"/>
              </a:rPr>
              <a:t>社会核算矩阵（</a:t>
            </a:r>
            <a:r>
              <a:rPr lang="en-US" altLang="zh-CN" sz="3600" b="1" dirty="0">
                <a:solidFill>
                  <a:srgbClr val="FF0000"/>
                </a:solidFill>
                <a:latin typeface="Tahoma" pitchFamily="34" charset="0"/>
              </a:rPr>
              <a:t>SAM</a:t>
            </a:r>
            <a:r>
              <a:rPr lang="zh-CN" altLang="en-US" sz="3600" b="1" dirty="0">
                <a:solidFill>
                  <a:srgbClr val="FF0000"/>
                </a:solidFill>
                <a:latin typeface="Tahoma" pitchFamily="34" charset="0"/>
              </a:rPr>
              <a:t>）</a:t>
            </a:r>
            <a:endParaRPr lang="en-US" altLang="zh-CN" sz="3200" b="1" dirty="0">
              <a:solidFill>
                <a:srgbClr val="FF0000"/>
              </a:solidFill>
            </a:endParaRPr>
          </a:p>
        </p:txBody>
      </p:sp>
      <p:graphicFrame>
        <p:nvGraphicFramePr>
          <p:cNvPr id="4098" name="Object 6"/>
          <p:cNvGraphicFramePr>
            <a:graphicFrameLocks noChangeAspect="1"/>
          </p:cNvGraphicFramePr>
          <p:nvPr/>
        </p:nvGraphicFramePr>
        <p:xfrm>
          <a:off x="358775" y="1143000"/>
          <a:ext cx="8866188" cy="5338763"/>
        </p:xfrm>
        <a:graphic>
          <a:graphicData uri="http://schemas.openxmlformats.org/presentationml/2006/ole">
            <mc:AlternateContent xmlns:mc="http://schemas.openxmlformats.org/markup-compatibility/2006">
              <mc:Choice xmlns:v="urn:schemas-microsoft-com:vml" Requires="v">
                <p:oleObj name="Document" r:id="rId2" imgW="8850293" imgH="5279794" progId="Word.Document.8">
                  <p:embed/>
                </p:oleObj>
              </mc:Choice>
              <mc:Fallback>
                <p:oleObj name="Document" r:id="rId2" imgW="8850293" imgH="5279794" progId="Word.Document.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775" y="1143000"/>
                        <a:ext cx="8866188" cy="5338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矩形 3"/>
          <p:cNvSpPr/>
          <p:nvPr/>
        </p:nvSpPr>
        <p:spPr>
          <a:xfrm>
            <a:off x="2411760" y="1988840"/>
            <a:ext cx="5472608" cy="360040"/>
          </a:xfrm>
          <a:prstGeom prst="rect">
            <a:avLst/>
          </a:prstGeom>
          <a:solidFill>
            <a:schemeClr val="accent1">
              <a:alpha val="0"/>
            </a:schemeClr>
          </a:solidFill>
          <a:ln w="539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2411760" y="3194720"/>
            <a:ext cx="936104" cy="306288"/>
          </a:xfrm>
          <a:prstGeom prst="rect">
            <a:avLst/>
          </a:prstGeom>
          <a:solidFill>
            <a:schemeClr val="accent1">
              <a:alpha val="0"/>
            </a:schemeClr>
          </a:solidFill>
          <a:ln w="539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2410578" y="3568638"/>
            <a:ext cx="936104" cy="292410"/>
          </a:xfrm>
          <a:prstGeom prst="rect">
            <a:avLst/>
          </a:prstGeom>
          <a:solidFill>
            <a:schemeClr val="accent1">
              <a:alpha val="0"/>
            </a:schemeClr>
          </a:solidFill>
          <a:ln w="539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2409396" y="3928678"/>
            <a:ext cx="936104" cy="292410"/>
          </a:xfrm>
          <a:prstGeom prst="rect">
            <a:avLst/>
          </a:prstGeom>
          <a:solidFill>
            <a:schemeClr val="accent1">
              <a:alpha val="0"/>
            </a:schemeClr>
          </a:solidFill>
          <a:ln w="539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010306" y="2413501"/>
            <a:ext cx="2692921"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b="1" dirty="0">
                <a:solidFill>
                  <a:srgbClr val="FF0000"/>
                </a:solidFill>
              </a:rPr>
              <a:t>产出的流向</a:t>
            </a:r>
            <a:r>
              <a:rPr lang="en-US" altLang="zh-CN" b="1" dirty="0">
                <a:solidFill>
                  <a:srgbClr val="FF0000"/>
                </a:solidFill>
              </a:rPr>
              <a:t>——</a:t>
            </a:r>
            <a:r>
              <a:rPr lang="zh-CN" altLang="en-US" b="1" dirty="0">
                <a:solidFill>
                  <a:srgbClr val="FF0000"/>
                </a:solidFill>
              </a:rPr>
              <a:t>使用情况</a:t>
            </a:r>
          </a:p>
        </p:txBody>
      </p:sp>
      <p:sp>
        <p:nvSpPr>
          <p:cNvPr id="18" name="文本框 17"/>
          <p:cNvSpPr txBox="1"/>
          <p:nvPr/>
        </p:nvSpPr>
        <p:spPr>
          <a:xfrm>
            <a:off x="3860279" y="3586118"/>
            <a:ext cx="2295897"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b="1" dirty="0">
                <a:solidFill>
                  <a:srgbClr val="FF0000"/>
                </a:solidFill>
              </a:rPr>
              <a:t>各种要素的使用情况</a:t>
            </a:r>
          </a:p>
        </p:txBody>
      </p:sp>
    </p:spTree>
    <p:extLst>
      <p:ext uri="{BB962C8B-B14F-4D97-AF65-F5344CB8AC3E}">
        <p14:creationId xmlns:p14="http://schemas.microsoft.com/office/powerpoint/2010/main" val="1471767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grpId="1" nodeType="clickEffect">
                                  <p:stCondLst>
                                    <p:cond delay="0"/>
                                  </p:stCondLst>
                                  <p:childTnLst>
                                    <p:animEffect transition="out" filter="fade">
                                      <p:cBhvr>
                                        <p:cTn id="12" dur="500"/>
                                        <p:tgtEl>
                                          <p:spTgt spid="4"/>
                                        </p:tgtEl>
                                      </p:cBhvr>
                                    </p:animEffect>
                                    <p:set>
                                      <p:cBhvr>
                                        <p:cTn id="13" dur="1" fill="hold">
                                          <p:stCondLst>
                                            <p:cond delay="499"/>
                                          </p:stCondLst>
                                        </p:cTn>
                                        <p:tgtEl>
                                          <p:spTgt spid="4"/>
                                        </p:tgtEl>
                                        <p:attrNameLst>
                                          <p:attrName>style.visibility</p:attrName>
                                        </p:attrNameLst>
                                      </p:cBhvr>
                                      <p:to>
                                        <p:strVal val="hidden"/>
                                      </p:to>
                                    </p:set>
                                  </p:childTnLst>
                                </p:cTn>
                              </p:par>
                              <p:par>
                                <p:cTn id="14" presetID="10" presetClass="exit" presetSubtype="0" fill="hold" grpId="1" nodeType="withEffect">
                                  <p:stCondLst>
                                    <p:cond delay="0"/>
                                  </p:stCondLst>
                                  <p:childTnLst>
                                    <p:animEffect transition="out" filter="fade">
                                      <p:cBhvr>
                                        <p:cTn id="15" dur="500"/>
                                        <p:tgtEl>
                                          <p:spTgt spid="5"/>
                                        </p:tgtEl>
                                      </p:cBhvr>
                                    </p:animEffect>
                                    <p:set>
                                      <p:cBhvr>
                                        <p:cTn id="16" dur="1" fill="hold">
                                          <p:stCondLst>
                                            <p:cond delay="499"/>
                                          </p:stCondLst>
                                        </p:cTn>
                                        <p:tgtEl>
                                          <p:spTgt spid="5"/>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14" grpId="0" animBg="1"/>
      <p:bldP spid="15" grpId="0" animBg="1"/>
      <p:bldP spid="16" grpId="0" animBg="1"/>
      <p:bldP spid="5" grpId="0" animBg="1"/>
      <p:bldP spid="5" grpId="1" animBg="1"/>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a:xfrm>
            <a:off x="457200" y="188913"/>
            <a:ext cx="8229600" cy="647700"/>
          </a:xfrm>
        </p:spPr>
        <p:txBody>
          <a:bodyPr>
            <a:normAutofit fontScale="90000"/>
          </a:bodyPr>
          <a:lstStyle/>
          <a:p>
            <a:pPr eaLnBrk="1" hangingPunct="1"/>
            <a:r>
              <a:rPr lang="zh-CN" altLang="en-US" b="1">
                <a:solidFill>
                  <a:schemeClr val="accent2"/>
                </a:solidFill>
                <a:ea typeface="黑体" pitchFamily="49" charset="-122"/>
              </a:rPr>
              <a:t>所有价格的链接关系</a:t>
            </a:r>
          </a:p>
        </p:txBody>
      </p:sp>
      <p:graphicFrame>
        <p:nvGraphicFramePr>
          <p:cNvPr id="3074" name="Object 3"/>
          <p:cNvGraphicFramePr>
            <a:graphicFrameLocks noGrp="1" noChangeAspect="1"/>
          </p:cNvGraphicFramePr>
          <p:nvPr>
            <p:ph idx="4294967295"/>
          </p:nvPr>
        </p:nvGraphicFramePr>
        <p:xfrm>
          <a:off x="838200" y="1125538"/>
          <a:ext cx="7262813" cy="5537200"/>
        </p:xfrm>
        <a:graphic>
          <a:graphicData uri="http://schemas.openxmlformats.org/presentationml/2006/ole">
            <mc:AlternateContent xmlns:mc="http://schemas.openxmlformats.org/markup-compatibility/2006">
              <mc:Choice xmlns:v="urn:schemas-microsoft-com:vml" Requires="v">
                <p:oleObj name="Visio" r:id="rId2" imgW="3722920" imgH="3424733" progId="Visio.Drawing.11">
                  <p:embed/>
                </p:oleObj>
              </mc:Choice>
              <mc:Fallback>
                <p:oleObj name="Visio" r:id="rId2" imgW="3722920" imgH="3424733" progId="Visio.Drawing.11">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125538"/>
                        <a:ext cx="7262813" cy="5537200"/>
                      </a:xfrm>
                      <a:prstGeom prst="rect">
                        <a:avLst/>
                      </a:prstGeom>
                      <a:solidFill>
                        <a:srgbClr val="FFFFFF"/>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 name="直接箭头连接符 2"/>
          <p:cNvCxnSpPr/>
          <p:nvPr/>
        </p:nvCxnSpPr>
        <p:spPr>
          <a:xfrm flipH="1">
            <a:off x="2051720" y="1628800"/>
            <a:ext cx="216024" cy="288032"/>
          </a:xfrm>
          <a:prstGeom prst="straightConnector1">
            <a:avLst/>
          </a:prstGeom>
          <a:ln w="57150">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8" name="直接箭头连接符 7"/>
          <p:cNvCxnSpPr/>
          <p:nvPr/>
        </p:nvCxnSpPr>
        <p:spPr>
          <a:xfrm flipH="1">
            <a:off x="2028548" y="2348880"/>
            <a:ext cx="23172" cy="359246"/>
          </a:xfrm>
          <a:prstGeom prst="straightConnector1">
            <a:avLst/>
          </a:prstGeom>
          <a:ln w="57150">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11" name="直接箭头连接符 10"/>
          <p:cNvCxnSpPr/>
          <p:nvPr/>
        </p:nvCxnSpPr>
        <p:spPr>
          <a:xfrm>
            <a:off x="2028548" y="3140174"/>
            <a:ext cx="11586" cy="562051"/>
          </a:xfrm>
          <a:prstGeom prst="straightConnector1">
            <a:avLst/>
          </a:prstGeom>
          <a:ln w="57150">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13" name="直接箭头连接符 12"/>
          <p:cNvCxnSpPr/>
          <p:nvPr/>
        </p:nvCxnSpPr>
        <p:spPr>
          <a:xfrm>
            <a:off x="2153939" y="4149080"/>
            <a:ext cx="11586" cy="562051"/>
          </a:xfrm>
          <a:prstGeom prst="straightConnector1">
            <a:avLst/>
          </a:prstGeom>
          <a:ln w="57150">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14" name="直接箭头连接符 13"/>
          <p:cNvCxnSpPr/>
          <p:nvPr/>
        </p:nvCxnSpPr>
        <p:spPr>
          <a:xfrm>
            <a:off x="2150431" y="5124883"/>
            <a:ext cx="11586" cy="562051"/>
          </a:xfrm>
          <a:prstGeom prst="straightConnector1">
            <a:avLst/>
          </a:prstGeom>
          <a:ln w="57150">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15" name="直接箭头连接符 14"/>
          <p:cNvCxnSpPr/>
          <p:nvPr/>
        </p:nvCxnSpPr>
        <p:spPr>
          <a:xfrm>
            <a:off x="2555776" y="5805264"/>
            <a:ext cx="3240360" cy="0"/>
          </a:xfrm>
          <a:prstGeom prst="straightConnector1">
            <a:avLst/>
          </a:prstGeom>
          <a:ln w="57150">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18" name="直接箭头连接符 17"/>
          <p:cNvCxnSpPr/>
          <p:nvPr/>
        </p:nvCxnSpPr>
        <p:spPr>
          <a:xfrm flipV="1">
            <a:off x="6156176" y="5124883"/>
            <a:ext cx="0" cy="392349"/>
          </a:xfrm>
          <a:prstGeom prst="straightConnector1">
            <a:avLst/>
          </a:prstGeom>
          <a:ln w="57150">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22" name="直接箭头连接符 21"/>
          <p:cNvCxnSpPr/>
          <p:nvPr/>
        </p:nvCxnSpPr>
        <p:spPr>
          <a:xfrm flipV="1">
            <a:off x="6156176" y="3702225"/>
            <a:ext cx="0" cy="839205"/>
          </a:xfrm>
          <a:prstGeom prst="straightConnector1">
            <a:avLst/>
          </a:prstGeom>
          <a:ln w="57150">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24" name="直接箭头连接符 23"/>
          <p:cNvCxnSpPr/>
          <p:nvPr/>
        </p:nvCxnSpPr>
        <p:spPr>
          <a:xfrm flipH="1" flipV="1">
            <a:off x="5220072" y="3144937"/>
            <a:ext cx="648072" cy="410647"/>
          </a:xfrm>
          <a:prstGeom prst="straightConnector1">
            <a:avLst/>
          </a:prstGeom>
          <a:ln w="57150">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26" name="直接箭头连接符 25"/>
          <p:cNvCxnSpPr/>
          <p:nvPr/>
        </p:nvCxnSpPr>
        <p:spPr>
          <a:xfrm flipV="1">
            <a:off x="6156176" y="3003957"/>
            <a:ext cx="0" cy="417242"/>
          </a:xfrm>
          <a:prstGeom prst="straightConnector1">
            <a:avLst/>
          </a:prstGeom>
          <a:ln w="57150">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30" name="直接箭头连接符 29"/>
          <p:cNvCxnSpPr/>
          <p:nvPr/>
        </p:nvCxnSpPr>
        <p:spPr>
          <a:xfrm flipV="1">
            <a:off x="6376330" y="3140174"/>
            <a:ext cx="787958" cy="505813"/>
          </a:xfrm>
          <a:prstGeom prst="straightConnector1">
            <a:avLst/>
          </a:prstGeom>
          <a:ln w="57150">
            <a:solidFill>
              <a:srgbClr val="FF0000"/>
            </a:solidFill>
            <a:tailEnd type="triangle"/>
          </a:ln>
        </p:spPr>
        <p:style>
          <a:lnRef idx="3">
            <a:schemeClr val="accent2"/>
          </a:lnRef>
          <a:fillRef idx="0">
            <a:schemeClr val="accent2"/>
          </a:fillRef>
          <a:effectRef idx="2">
            <a:schemeClr val="accent2"/>
          </a:effectRef>
          <a:fontRef idx="minor">
            <a:schemeClr val="tx1"/>
          </a:fontRef>
        </p:style>
      </p:cxnSp>
    </p:spTree>
  </p:cSld>
  <p:clrMapOvr>
    <a:masterClrMapping/>
  </p:clrMapOvr>
  <p:transition advTm="76444"/>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2">
            <a:extLst>
              <a:ext uri="{FF2B5EF4-FFF2-40B4-BE49-F238E27FC236}">
                <a16:creationId xmlns:a16="http://schemas.microsoft.com/office/drawing/2014/main" id="{F5F207E1-1D2E-46FA-AE0A-F8B454DA6F95}"/>
              </a:ext>
            </a:extLst>
          </p:cNvPr>
          <p:cNvSpPr>
            <a:spLocks noGrp="1"/>
          </p:cNvSpPr>
          <p:nvPr>
            <p:ph type="dt" sz="half" idx="10"/>
          </p:nvPr>
        </p:nvSpPr>
        <p:spPr/>
        <p:txBody>
          <a:bodyPr/>
          <a:lstStyle/>
          <a:p>
            <a:fld id="{A63C4BDB-5846-4DD8-9A4F-3DA5FF01124D}" type="datetime5">
              <a:rPr lang="en-US" altLang="zh-CN"/>
              <a:pPr/>
              <a:t>27-May-21</a:t>
            </a:fld>
            <a:endParaRPr lang="en-US" altLang="zh-CN"/>
          </a:p>
        </p:txBody>
      </p:sp>
      <p:sp>
        <p:nvSpPr>
          <p:cNvPr id="6" name="页脚占位符 3">
            <a:extLst>
              <a:ext uri="{FF2B5EF4-FFF2-40B4-BE49-F238E27FC236}">
                <a16:creationId xmlns:a16="http://schemas.microsoft.com/office/drawing/2014/main" id="{C4F00E5B-4CC2-4AC6-BEB3-AFD05AF9F81B}"/>
              </a:ext>
            </a:extLst>
          </p:cNvPr>
          <p:cNvSpPr>
            <a:spLocks noGrp="1"/>
          </p:cNvSpPr>
          <p:nvPr>
            <p:ph type="ftr" sz="quarter" idx="11"/>
          </p:nvPr>
        </p:nvSpPr>
        <p:spPr/>
        <p:txBody>
          <a:bodyPr/>
          <a:lstStyle/>
          <a:p>
            <a:r>
              <a:rPr lang="en-US" altLang="zh-CN"/>
              <a:t>Applied General Equilibrium Analysis</a:t>
            </a:r>
          </a:p>
        </p:txBody>
      </p:sp>
      <p:sp>
        <p:nvSpPr>
          <p:cNvPr id="7" name="灯片编号占位符 4">
            <a:extLst>
              <a:ext uri="{FF2B5EF4-FFF2-40B4-BE49-F238E27FC236}">
                <a16:creationId xmlns:a16="http://schemas.microsoft.com/office/drawing/2014/main" id="{256CCFB5-4230-45EB-966E-4DD7392FB4EF}"/>
              </a:ext>
            </a:extLst>
          </p:cNvPr>
          <p:cNvSpPr>
            <a:spLocks noGrp="1"/>
          </p:cNvSpPr>
          <p:nvPr>
            <p:ph type="sldNum" sz="quarter" idx="12"/>
          </p:nvPr>
        </p:nvSpPr>
        <p:spPr/>
        <p:txBody>
          <a:bodyPr/>
          <a:lstStyle/>
          <a:p>
            <a:fld id="{5F6AA3E9-08C1-4566-AA18-437049145110}" type="slidenum">
              <a:rPr lang="en-US" altLang="zh-CN"/>
              <a:pPr/>
              <a:t>12</a:t>
            </a:fld>
            <a:endParaRPr lang="en-US" altLang="zh-CN"/>
          </a:p>
        </p:txBody>
      </p:sp>
      <p:graphicFrame>
        <p:nvGraphicFramePr>
          <p:cNvPr id="144400" name="Object 16">
            <a:extLst>
              <a:ext uri="{FF2B5EF4-FFF2-40B4-BE49-F238E27FC236}">
                <a16:creationId xmlns:a16="http://schemas.microsoft.com/office/drawing/2014/main" id="{6DDBB953-4413-4DA8-B91F-AB14511FD354}"/>
              </a:ext>
            </a:extLst>
          </p:cNvPr>
          <p:cNvGraphicFramePr>
            <a:graphicFrameLocks noChangeAspect="1"/>
          </p:cNvGraphicFramePr>
          <p:nvPr/>
        </p:nvGraphicFramePr>
        <p:xfrm>
          <a:off x="3276600" y="457200"/>
          <a:ext cx="4300538" cy="5638800"/>
        </p:xfrm>
        <a:graphic>
          <a:graphicData uri="http://schemas.openxmlformats.org/presentationml/2006/ole">
            <mc:AlternateContent xmlns:mc="http://schemas.openxmlformats.org/markup-compatibility/2006">
              <mc:Choice xmlns:v="urn:schemas-microsoft-com:vml" Requires="v">
                <p:oleObj name="Visio" r:id="rId4" imgW="5020148" imgH="6578803" progId="Visio.Drawing.6">
                  <p:embed/>
                </p:oleObj>
              </mc:Choice>
              <mc:Fallback>
                <p:oleObj name="Visio" r:id="rId4" imgW="5020148" imgH="6578803" progId="Visio.Drawing.6">
                  <p:embed/>
                  <p:pic>
                    <p:nvPicPr>
                      <p:cNvPr id="144400" name="Object 16">
                        <a:extLst>
                          <a:ext uri="{FF2B5EF4-FFF2-40B4-BE49-F238E27FC236}">
                            <a16:creationId xmlns:a16="http://schemas.microsoft.com/office/drawing/2014/main" id="{6DDBB953-4413-4DA8-B91F-AB14511FD35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457200"/>
                        <a:ext cx="4300538"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4401" name="Rectangle 17">
            <a:extLst>
              <a:ext uri="{FF2B5EF4-FFF2-40B4-BE49-F238E27FC236}">
                <a16:creationId xmlns:a16="http://schemas.microsoft.com/office/drawing/2014/main" id="{DC5A1266-6670-40DA-9377-A17D334561C1}"/>
              </a:ext>
            </a:extLst>
          </p:cNvPr>
          <p:cNvSpPr>
            <a:spLocks noGrp="1" noChangeArrowheads="1"/>
          </p:cNvSpPr>
          <p:nvPr>
            <p:ph type="title"/>
          </p:nvPr>
        </p:nvSpPr>
        <p:spPr>
          <a:xfrm>
            <a:off x="323528" y="131927"/>
            <a:ext cx="1666529" cy="1143000"/>
          </a:xfrm>
        </p:spPr>
        <p:style>
          <a:lnRef idx="2">
            <a:schemeClr val="accent3">
              <a:shade val="50000"/>
            </a:schemeClr>
          </a:lnRef>
          <a:fillRef idx="1">
            <a:schemeClr val="accent3"/>
          </a:fillRef>
          <a:effectRef idx="0">
            <a:schemeClr val="accent3"/>
          </a:effectRef>
          <a:fontRef idx="minor">
            <a:schemeClr val="lt1"/>
          </a:fontRef>
        </p:style>
        <p:txBody>
          <a:bodyPr>
            <a:normAutofit fontScale="90000"/>
          </a:bodyPr>
          <a:lstStyle/>
          <a:p>
            <a:r>
              <a:rPr lang="en-US" altLang="zh-CN" sz="3400" dirty="0">
                <a:solidFill>
                  <a:schemeClr val="tx1"/>
                </a:solidFill>
                <a:ea typeface="宋体" panose="02010600030101010101" pitchFamily="2" charset="-122"/>
              </a:rPr>
              <a:t>Value</a:t>
            </a:r>
            <a:br>
              <a:rPr lang="en-US" altLang="zh-CN" sz="3400" dirty="0">
                <a:solidFill>
                  <a:schemeClr val="tx1"/>
                </a:solidFill>
                <a:ea typeface="宋体" panose="02010600030101010101" pitchFamily="2" charset="-122"/>
              </a:rPr>
            </a:br>
            <a:r>
              <a:rPr lang="en-US" altLang="zh-CN" sz="3400" dirty="0">
                <a:solidFill>
                  <a:schemeClr val="tx1"/>
                </a:solidFill>
                <a:ea typeface="宋体" panose="02010600030101010101" pitchFamily="2" charset="-122"/>
              </a:rPr>
              <a:t>Linkages</a:t>
            </a:r>
          </a:p>
        </p:txBody>
      </p:sp>
      <p:pic>
        <p:nvPicPr>
          <p:cNvPr id="144402" name="Accounting_02.ppt370.WAV">
            <a:hlinkClick r:id="" action="ppaction://media"/>
            <a:extLst>
              <a:ext uri="{FF2B5EF4-FFF2-40B4-BE49-F238E27FC236}">
                <a16:creationId xmlns:a16="http://schemas.microsoft.com/office/drawing/2014/main" id="{E8CF95C9-AD7E-4382-96CE-84326E78EA08}"/>
              </a:ext>
            </a:extLst>
          </p:cNvPr>
          <p:cNvPicPr>
            <a:picLocks noChangeAspect="1" noChangeArrowheads="1"/>
          </p:cNvPicPr>
          <p:nvPr>
            <a:audioFile r:link="rId1"/>
          </p:nvPr>
        </p:nvPicPr>
        <p:blipFill>
          <a:blip r:embed="rId6">
            <a:extLst>
              <a:ext uri="{28A0092B-C50C-407E-A947-70E740481C1C}">
                <a14:useLocalDpi xmlns:a14="http://schemas.microsoft.com/office/drawing/2010/main" val="0"/>
              </a:ext>
            </a:extLst>
          </a:blip>
          <a:srcRect/>
          <a:stretch>
            <a:fillRect/>
          </a:stretch>
        </p:blipFill>
        <p:spPr bwMode="auto">
          <a:xfrm>
            <a:off x="8772525" y="6486525"/>
            <a:ext cx="304800" cy="304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advTm="38449"/>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1" fill="hold"/>
                                        <p:tgtEl>
                                          <p:spTgt spid="14440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4402"/>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a:extLst>
              <a:ext uri="{FF2B5EF4-FFF2-40B4-BE49-F238E27FC236}">
                <a16:creationId xmlns:a16="http://schemas.microsoft.com/office/drawing/2014/main" id="{F3401600-0BA0-486D-BA48-9EF3750BAE1F}"/>
              </a:ext>
            </a:extLst>
          </p:cNvPr>
          <p:cNvSpPr>
            <a:spLocks noGrp="1"/>
          </p:cNvSpPr>
          <p:nvPr>
            <p:ph type="dt" sz="half" idx="10"/>
          </p:nvPr>
        </p:nvSpPr>
        <p:spPr/>
        <p:txBody>
          <a:bodyPr/>
          <a:lstStyle/>
          <a:p>
            <a:fld id="{C5C85810-E9C3-4CA8-9735-84DAD5A0EDEE}" type="datetime5">
              <a:rPr lang="en-US" altLang="zh-CN"/>
              <a:pPr/>
              <a:t>27-May-21</a:t>
            </a:fld>
            <a:endParaRPr lang="en-US" altLang="zh-CN"/>
          </a:p>
        </p:txBody>
      </p:sp>
      <p:sp>
        <p:nvSpPr>
          <p:cNvPr id="6" name="页脚占位符 4">
            <a:extLst>
              <a:ext uri="{FF2B5EF4-FFF2-40B4-BE49-F238E27FC236}">
                <a16:creationId xmlns:a16="http://schemas.microsoft.com/office/drawing/2014/main" id="{C02C6AC2-FB13-46F5-AD4F-57CDE0EFD3C9}"/>
              </a:ext>
            </a:extLst>
          </p:cNvPr>
          <p:cNvSpPr>
            <a:spLocks noGrp="1"/>
          </p:cNvSpPr>
          <p:nvPr>
            <p:ph type="ftr" sz="quarter" idx="11"/>
          </p:nvPr>
        </p:nvSpPr>
        <p:spPr/>
        <p:txBody>
          <a:bodyPr/>
          <a:lstStyle/>
          <a:p>
            <a:r>
              <a:rPr lang="en-US" altLang="zh-CN"/>
              <a:t>Applied General Equilibrium Analysis</a:t>
            </a:r>
          </a:p>
        </p:txBody>
      </p:sp>
      <p:sp>
        <p:nvSpPr>
          <p:cNvPr id="7" name="灯片编号占位符 5">
            <a:extLst>
              <a:ext uri="{FF2B5EF4-FFF2-40B4-BE49-F238E27FC236}">
                <a16:creationId xmlns:a16="http://schemas.microsoft.com/office/drawing/2014/main" id="{8E8C6C67-3CE4-4F4B-ADCB-FF37317A8FE5}"/>
              </a:ext>
            </a:extLst>
          </p:cNvPr>
          <p:cNvSpPr>
            <a:spLocks noGrp="1"/>
          </p:cNvSpPr>
          <p:nvPr>
            <p:ph type="sldNum" sz="quarter" idx="12"/>
          </p:nvPr>
        </p:nvSpPr>
        <p:spPr/>
        <p:txBody>
          <a:bodyPr/>
          <a:lstStyle/>
          <a:p>
            <a:fld id="{4BFD91C2-D94C-4881-A0C1-92C181062A8F}" type="slidenum">
              <a:rPr lang="en-US" altLang="zh-CN"/>
              <a:pPr/>
              <a:t>13</a:t>
            </a:fld>
            <a:endParaRPr lang="en-US" altLang="zh-CN"/>
          </a:p>
        </p:txBody>
      </p:sp>
      <p:sp>
        <p:nvSpPr>
          <p:cNvPr id="156674" name="Rectangle 2">
            <a:extLst>
              <a:ext uri="{FF2B5EF4-FFF2-40B4-BE49-F238E27FC236}">
                <a16:creationId xmlns:a16="http://schemas.microsoft.com/office/drawing/2014/main" id="{E68A73DA-69F6-4159-90AB-C01D67A83BB6}"/>
              </a:ext>
            </a:extLst>
          </p:cNvPr>
          <p:cNvSpPr>
            <a:spLocks noGrp="1" noChangeArrowheads="1"/>
          </p:cNvSpPr>
          <p:nvPr>
            <p:ph type="title"/>
          </p:nvPr>
        </p:nvSpPr>
        <p:spPr/>
        <p:txBody>
          <a:bodyPr/>
          <a:lstStyle/>
          <a:p>
            <a:r>
              <a:rPr lang="en-US" altLang="zh-CN" sz="3800">
                <a:ea typeface="宋体" panose="02010600030101010101" pitchFamily="2" charset="-122"/>
              </a:rPr>
              <a:t>Distribution of Sales: Quantity Form</a:t>
            </a:r>
          </a:p>
        </p:txBody>
      </p:sp>
      <p:sp>
        <p:nvSpPr>
          <p:cNvPr id="156695" name="Rectangle 23">
            <a:extLst>
              <a:ext uri="{FF2B5EF4-FFF2-40B4-BE49-F238E27FC236}">
                <a16:creationId xmlns:a16="http://schemas.microsoft.com/office/drawing/2014/main" id="{4C11F315-12F3-4A35-9F14-5513A89453D4}"/>
              </a:ext>
            </a:extLst>
          </p:cNvPr>
          <p:cNvSpPr>
            <a:spLocks noGrp="1" noChangeArrowheads="1"/>
          </p:cNvSpPr>
          <p:nvPr>
            <p:ph type="body" idx="1"/>
          </p:nvPr>
        </p:nvSpPr>
        <p:spPr/>
        <p:txBody>
          <a:bodyPr/>
          <a:lstStyle/>
          <a:p>
            <a:pPr lvl="1">
              <a:lnSpc>
                <a:spcPct val="80000"/>
              </a:lnSpc>
              <a:buFont typeface="Wingdings" panose="05000000000000000000" pitchFamily="2" charset="2"/>
              <a:buNone/>
            </a:pPr>
            <a:r>
              <a:rPr lang="en-US" altLang="zh-CN" sz="1800" i="1">
                <a:ea typeface="宋体" panose="02010600030101010101" pitchFamily="2" charset="-122"/>
              </a:rPr>
              <a:t>   </a:t>
            </a:r>
            <a:r>
              <a:rPr lang="en-US" altLang="zh-CN" sz="1800" i="1">
                <a:solidFill>
                  <a:schemeClr val="folHlink"/>
                </a:solidFill>
                <a:ea typeface="宋体" panose="02010600030101010101" pitchFamily="2" charset="-122"/>
              </a:rPr>
              <a:t>VOA(i,r)</a:t>
            </a:r>
            <a:r>
              <a:rPr lang="en-US" altLang="zh-CN" sz="1800" i="1">
                <a:ea typeface="宋体" panose="02010600030101010101" pitchFamily="2" charset="-122"/>
              </a:rPr>
              <a:t>				= </a:t>
            </a:r>
            <a:r>
              <a:rPr lang="en-US" altLang="zh-CN" sz="1800" i="1">
                <a:solidFill>
                  <a:srgbClr val="008000"/>
                </a:solidFill>
                <a:ea typeface="宋体" panose="02010600030101010101" pitchFamily="2" charset="-122"/>
              </a:rPr>
              <a:t>PS(i,r) * QO(i,r)</a:t>
            </a:r>
            <a:endParaRPr lang="en-US" altLang="zh-CN" sz="1800">
              <a:solidFill>
                <a:srgbClr val="008000"/>
              </a:solidFill>
              <a:ea typeface="宋体" panose="02010600030101010101" pitchFamily="2" charset="-122"/>
            </a:endParaRPr>
          </a:p>
          <a:p>
            <a:pPr lvl="1">
              <a:lnSpc>
                <a:spcPct val="80000"/>
              </a:lnSpc>
              <a:buFont typeface="Wingdings" panose="05000000000000000000" pitchFamily="2" charset="2"/>
              <a:buNone/>
            </a:pPr>
            <a:r>
              <a:rPr lang="en-US" altLang="zh-CN" sz="1800" i="1">
                <a:solidFill>
                  <a:schemeClr val="folHlink"/>
                </a:solidFill>
                <a:ea typeface="宋体" panose="02010600030101010101" pitchFamily="2" charset="-122"/>
              </a:rPr>
              <a:t>+ PTAX(i,r)</a:t>
            </a:r>
            <a:endParaRPr lang="en-US" altLang="zh-CN" sz="1800">
              <a:solidFill>
                <a:schemeClr val="folHlink"/>
              </a:solidFill>
              <a:ea typeface="宋体" panose="02010600030101010101" pitchFamily="2" charset="-122"/>
            </a:endParaRPr>
          </a:p>
          <a:p>
            <a:pPr lvl="1">
              <a:lnSpc>
                <a:spcPct val="80000"/>
              </a:lnSpc>
              <a:buFont typeface="Wingdings" panose="05000000000000000000" pitchFamily="2" charset="2"/>
              <a:buNone/>
            </a:pPr>
            <a:r>
              <a:rPr lang="en-US" altLang="zh-CN" sz="1800" i="1">
                <a:solidFill>
                  <a:schemeClr val="folHlink"/>
                </a:solidFill>
                <a:ea typeface="宋体" panose="02010600030101010101" pitchFamily="2" charset="-122"/>
              </a:rPr>
              <a:t>= VOM(i,r)</a:t>
            </a:r>
            <a:r>
              <a:rPr lang="en-US" altLang="zh-CN" sz="1800" i="1">
                <a:ea typeface="宋体" panose="02010600030101010101" pitchFamily="2" charset="-122"/>
              </a:rPr>
              <a:t>				= </a:t>
            </a:r>
            <a:r>
              <a:rPr lang="en-US" altLang="zh-CN" sz="1800" i="1">
                <a:solidFill>
                  <a:srgbClr val="0000FF"/>
                </a:solidFill>
                <a:ea typeface="宋体" panose="02010600030101010101" pitchFamily="2" charset="-122"/>
              </a:rPr>
              <a:t>PM(i,r) * QO(i,r)</a:t>
            </a:r>
            <a:endParaRPr lang="en-US" altLang="zh-CN" sz="1800">
              <a:ea typeface="宋体" panose="02010600030101010101" pitchFamily="2" charset="-122"/>
            </a:endParaRPr>
          </a:p>
          <a:p>
            <a:pPr lvl="1">
              <a:lnSpc>
                <a:spcPct val="80000"/>
              </a:lnSpc>
              <a:buFont typeface="Wingdings" panose="05000000000000000000" pitchFamily="2" charset="2"/>
              <a:buNone/>
            </a:pPr>
            <a:r>
              <a:rPr lang="en-US" altLang="zh-CN" sz="1800" i="1">
                <a:solidFill>
                  <a:schemeClr val="folHlink"/>
                </a:solidFill>
                <a:ea typeface="宋体" panose="02010600030101010101" pitchFamily="2" charset="-122"/>
              </a:rPr>
              <a:t>	= VDM(i,r)</a:t>
            </a:r>
            <a:endParaRPr lang="en-US" altLang="zh-CN" sz="1800">
              <a:solidFill>
                <a:schemeClr val="folHlink"/>
              </a:solidFill>
              <a:ea typeface="宋体" panose="02010600030101010101" pitchFamily="2" charset="-122"/>
            </a:endParaRPr>
          </a:p>
          <a:p>
            <a:pPr lvl="1">
              <a:lnSpc>
                <a:spcPct val="80000"/>
              </a:lnSpc>
              <a:buFont typeface="Wingdings" panose="05000000000000000000" pitchFamily="2" charset="2"/>
              <a:buNone/>
            </a:pPr>
            <a:r>
              <a:rPr lang="en-US" altLang="zh-CN" sz="1800" i="1">
                <a:solidFill>
                  <a:schemeClr val="folHlink"/>
                </a:solidFill>
                <a:ea typeface="宋体" panose="02010600030101010101" pitchFamily="2" charset="-122"/>
              </a:rPr>
              <a:t>	+ VST(i,r)</a:t>
            </a:r>
            <a:endParaRPr lang="en-US" altLang="zh-CN" sz="1800">
              <a:solidFill>
                <a:schemeClr val="folHlink"/>
              </a:solidFill>
              <a:ea typeface="宋体" panose="02010600030101010101" pitchFamily="2" charset="-122"/>
            </a:endParaRPr>
          </a:p>
          <a:p>
            <a:pPr lvl="1">
              <a:lnSpc>
                <a:spcPct val="80000"/>
              </a:lnSpc>
              <a:buFont typeface="Wingdings" panose="05000000000000000000" pitchFamily="2" charset="2"/>
              <a:buNone/>
            </a:pPr>
            <a:r>
              <a:rPr lang="en-US" altLang="zh-CN" sz="1800" i="1">
                <a:solidFill>
                  <a:schemeClr val="folHlink"/>
                </a:solidFill>
                <a:ea typeface="宋体" panose="02010600030101010101" pitchFamily="2" charset="-122"/>
              </a:rPr>
              <a:t>	+ sum(s,VXMD(i,r,s))</a:t>
            </a:r>
            <a:r>
              <a:rPr lang="en-US" altLang="zh-CN" sz="1800" i="1">
                <a:ea typeface="宋体" panose="02010600030101010101" pitchFamily="2" charset="-122"/>
              </a:rPr>
              <a:t>		= </a:t>
            </a:r>
            <a:r>
              <a:rPr lang="en-US" altLang="zh-CN" sz="1800" i="1">
                <a:solidFill>
                  <a:srgbClr val="0000FF"/>
                </a:solidFill>
                <a:ea typeface="宋体" panose="02010600030101010101" pitchFamily="2" charset="-122"/>
              </a:rPr>
              <a:t>PM(i,r) * QXS(i,r,s)</a:t>
            </a:r>
          </a:p>
          <a:p>
            <a:pPr lvl="1">
              <a:lnSpc>
                <a:spcPct val="80000"/>
              </a:lnSpc>
              <a:buFont typeface="Wingdings" panose="05000000000000000000" pitchFamily="2" charset="2"/>
              <a:buNone/>
            </a:pPr>
            <a:r>
              <a:rPr lang="en-US" altLang="zh-CN" sz="1800" i="1">
                <a:solidFill>
                  <a:schemeClr val="folHlink"/>
                </a:solidFill>
                <a:ea typeface="宋体" panose="02010600030101010101" pitchFamily="2" charset="-122"/>
              </a:rPr>
              <a:t>		VXMD(i,r,s) + XTAXD(i,r,s)</a:t>
            </a:r>
          </a:p>
          <a:p>
            <a:pPr lvl="1">
              <a:lnSpc>
                <a:spcPct val="80000"/>
              </a:lnSpc>
              <a:buFont typeface="Wingdings" panose="05000000000000000000" pitchFamily="2" charset="2"/>
              <a:buNone/>
            </a:pPr>
            <a:r>
              <a:rPr lang="en-US" altLang="zh-CN" sz="1800" i="1">
                <a:solidFill>
                  <a:schemeClr val="folHlink"/>
                </a:solidFill>
                <a:ea typeface="宋体" panose="02010600030101010101" pitchFamily="2" charset="-122"/>
              </a:rPr>
              <a:t>		= VXWD(i,r,s)</a:t>
            </a:r>
            <a:r>
              <a:rPr lang="en-US" altLang="zh-CN" sz="1800" i="1">
                <a:ea typeface="宋体" panose="02010600030101010101" pitchFamily="2" charset="-122"/>
              </a:rPr>
              <a:t>			= PFOB(i,r,s) * QXS(i,r,s)</a:t>
            </a:r>
          </a:p>
          <a:p>
            <a:pPr lvl="1">
              <a:lnSpc>
                <a:spcPct val="80000"/>
              </a:lnSpc>
              <a:buFont typeface="Wingdings" panose="05000000000000000000" pitchFamily="2" charset="2"/>
              <a:buNone/>
            </a:pPr>
            <a:r>
              <a:rPr lang="en-US" altLang="zh-CN" sz="1800" i="1">
                <a:solidFill>
                  <a:schemeClr val="folHlink"/>
                </a:solidFill>
                <a:ea typeface="宋体" panose="02010600030101010101" pitchFamily="2" charset="-122"/>
              </a:rPr>
              <a:t>		+ VTWR(i,r,s)</a:t>
            </a:r>
          </a:p>
          <a:p>
            <a:pPr lvl="1">
              <a:lnSpc>
                <a:spcPct val="80000"/>
              </a:lnSpc>
              <a:buFont typeface="Wingdings" panose="05000000000000000000" pitchFamily="2" charset="2"/>
              <a:buNone/>
            </a:pPr>
            <a:r>
              <a:rPr lang="en-US" altLang="zh-CN" sz="1800" i="1">
                <a:solidFill>
                  <a:schemeClr val="folHlink"/>
                </a:solidFill>
                <a:ea typeface="宋体" panose="02010600030101010101" pitchFamily="2" charset="-122"/>
              </a:rPr>
              <a:t>		= VIWS(i,r,s)</a:t>
            </a:r>
            <a:r>
              <a:rPr lang="en-US" altLang="zh-CN" sz="1800" i="1">
                <a:ea typeface="宋体" panose="02010600030101010101" pitchFamily="2" charset="-122"/>
              </a:rPr>
              <a:t>			= PCIF(i,r,s) * QXS(i,r,s)</a:t>
            </a:r>
          </a:p>
          <a:p>
            <a:pPr lvl="1">
              <a:lnSpc>
                <a:spcPct val="80000"/>
              </a:lnSpc>
              <a:buFont typeface="Wingdings" panose="05000000000000000000" pitchFamily="2" charset="2"/>
              <a:buNone/>
            </a:pPr>
            <a:r>
              <a:rPr lang="en-US" altLang="zh-CN" sz="1800" i="1">
                <a:solidFill>
                  <a:schemeClr val="folHlink"/>
                </a:solidFill>
                <a:ea typeface="宋体" panose="02010600030101010101" pitchFamily="2" charset="-122"/>
              </a:rPr>
              <a:t>		+ MTAX(i,r,s)</a:t>
            </a:r>
          </a:p>
          <a:p>
            <a:pPr lvl="1">
              <a:lnSpc>
                <a:spcPct val="80000"/>
              </a:lnSpc>
              <a:buFont typeface="Wingdings" panose="05000000000000000000" pitchFamily="2" charset="2"/>
              <a:buNone/>
            </a:pPr>
            <a:r>
              <a:rPr lang="en-US" altLang="zh-CN" sz="1800" i="1">
                <a:solidFill>
                  <a:schemeClr val="folHlink"/>
                </a:solidFill>
                <a:ea typeface="宋体" panose="02010600030101010101" pitchFamily="2" charset="-122"/>
              </a:rPr>
              <a:t>		= VIMS(i,r,s)</a:t>
            </a:r>
            <a:r>
              <a:rPr lang="en-US" altLang="zh-CN" sz="1800" i="1">
                <a:ea typeface="宋体" panose="02010600030101010101" pitchFamily="2" charset="-122"/>
              </a:rPr>
              <a:t>			= </a:t>
            </a:r>
            <a:r>
              <a:rPr lang="en-US" altLang="zh-CN" sz="1800" i="1">
                <a:solidFill>
                  <a:srgbClr val="0000FF"/>
                </a:solidFill>
                <a:ea typeface="宋体" panose="02010600030101010101" pitchFamily="2" charset="-122"/>
              </a:rPr>
              <a:t>PMS(i,r,s) * QXS(i,r,s)</a:t>
            </a:r>
          </a:p>
          <a:p>
            <a:pPr lvl="1">
              <a:lnSpc>
                <a:spcPct val="80000"/>
              </a:lnSpc>
              <a:buFont typeface="Wingdings" panose="05000000000000000000" pitchFamily="2" charset="2"/>
              <a:buNone/>
            </a:pPr>
            <a:r>
              <a:rPr lang="en-US" altLang="zh-CN" sz="1800">
                <a:ea typeface="宋体" panose="02010600030101010101" pitchFamily="2" charset="-122"/>
              </a:rPr>
              <a:t> 			</a:t>
            </a:r>
            <a:r>
              <a:rPr lang="en-US" altLang="zh-CN" sz="1800" i="1">
                <a:solidFill>
                  <a:schemeClr val="folHlink"/>
                </a:solidFill>
                <a:ea typeface="宋体" panose="02010600030101010101" pitchFamily="2" charset="-122"/>
              </a:rPr>
              <a:t>VIM(i,s)</a:t>
            </a:r>
            <a:r>
              <a:rPr lang="en-US" altLang="zh-CN" sz="1800" i="1">
                <a:ea typeface="宋体" panose="02010600030101010101" pitchFamily="2" charset="-122"/>
              </a:rPr>
              <a:t>			= </a:t>
            </a:r>
            <a:r>
              <a:rPr lang="en-US" altLang="zh-CN" sz="1800" i="1">
                <a:solidFill>
                  <a:srgbClr val="0000FF"/>
                </a:solidFill>
                <a:ea typeface="宋体" panose="02010600030101010101" pitchFamily="2" charset="-122"/>
              </a:rPr>
              <a:t>PIM(i,s) * QIM(i,s)</a:t>
            </a:r>
            <a:endParaRPr lang="en-US" altLang="zh-CN" sz="1900">
              <a:ea typeface="宋体" panose="02010600030101010101" pitchFamily="2" charset="-122"/>
            </a:endParaRPr>
          </a:p>
          <a:p>
            <a:pPr lvl="1">
              <a:lnSpc>
                <a:spcPct val="80000"/>
              </a:lnSpc>
              <a:buFont typeface="Wingdings" panose="05000000000000000000" pitchFamily="2" charset="2"/>
              <a:buNone/>
            </a:pPr>
            <a:r>
              <a:rPr lang="en-US" altLang="zh-CN" sz="1800" i="1">
                <a:solidFill>
                  <a:schemeClr val="folHlink"/>
                </a:solidFill>
                <a:ea typeface="宋体" panose="02010600030101010101" pitchFamily="2" charset="-122"/>
              </a:rPr>
              <a:t>			= VIPM(i,s)</a:t>
            </a:r>
            <a:r>
              <a:rPr lang="en-US" altLang="zh-CN" sz="1800" i="1">
                <a:ea typeface="宋体" panose="02010600030101010101" pitchFamily="2" charset="-122"/>
              </a:rPr>
              <a:t>		= </a:t>
            </a:r>
            <a:r>
              <a:rPr lang="en-US" altLang="zh-CN" sz="1800" i="1">
                <a:solidFill>
                  <a:srgbClr val="0000FF"/>
                </a:solidFill>
                <a:ea typeface="宋体" panose="02010600030101010101" pitchFamily="2" charset="-122"/>
              </a:rPr>
              <a:t>PIM(i,s) * QPM(i,s)</a:t>
            </a:r>
          </a:p>
          <a:p>
            <a:pPr lvl="1">
              <a:lnSpc>
                <a:spcPct val="80000"/>
              </a:lnSpc>
              <a:buFont typeface="Wingdings" panose="05000000000000000000" pitchFamily="2" charset="2"/>
              <a:buNone/>
            </a:pPr>
            <a:r>
              <a:rPr lang="en-US" altLang="zh-CN" sz="1800" i="1">
                <a:solidFill>
                  <a:schemeClr val="folHlink"/>
                </a:solidFill>
                <a:ea typeface="宋体" panose="02010600030101010101" pitchFamily="2" charset="-122"/>
              </a:rPr>
              <a:t>			+ VIGM(i,s)</a:t>
            </a:r>
            <a:r>
              <a:rPr lang="en-US" altLang="zh-CN" sz="1800" i="1">
                <a:ea typeface="宋体" panose="02010600030101010101" pitchFamily="2" charset="-122"/>
              </a:rPr>
              <a:t>		= </a:t>
            </a:r>
            <a:r>
              <a:rPr lang="en-US" altLang="zh-CN" sz="1800" i="1">
                <a:solidFill>
                  <a:srgbClr val="0000FF"/>
                </a:solidFill>
                <a:ea typeface="宋体" panose="02010600030101010101" pitchFamily="2" charset="-122"/>
              </a:rPr>
              <a:t>PIM(i,s) * QGM(i,s)</a:t>
            </a:r>
          </a:p>
          <a:p>
            <a:pPr lvl="1">
              <a:lnSpc>
                <a:spcPct val="80000"/>
              </a:lnSpc>
              <a:buFont typeface="Wingdings" panose="05000000000000000000" pitchFamily="2" charset="2"/>
              <a:buNone/>
            </a:pPr>
            <a:r>
              <a:rPr lang="en-US" altLang="zh-CN" sz="1800" i="1">
                <a:solidFill>
                  <a:schemeClr val="folHlink"/>
                </a:solidFill>
                <a:ea typeface="宋体" panose="02010600030101010101" pitchFamily="2" charset="-122"/>
              </a:rPr>
              <a:t>			 sum(j,VIFM(i,j,s))</a:t>
            </a:r>
            <a:r>
              <a:rPr lang="en-US" altLang="zh-CN" sz="1800" i="1">
                <a:ea typeface="宋体" panose="02010600030101010101" pitchFamily="2" charset="-122"/>
              </a:rPr>
              <a:t>		= </a:t>
            </a:r>
            <a:r>
              <a:rPr lang="en-US" altLang="zh-CN" sz="1800" i="1">
                <a:solidFill>
                  <a:srgbClr val="0000FF"/>
                </a:solidFill>
                <a:ea typeface="宋体" panose="02010600030101010101" pitchFamily="2" charset="-122"/>
              </a:rPr>
              <a:t>PIM(i,s) * QFM(i,j,s)</a:t>
            </a:r>
          </a:p>
          <a:p>
            <a:pPr lvl="1">
              <a:lnSpc>
                <a:spcPct val="80000"/>
              </a:lnSpc>
              <a:buFont typeface="Wingdings" panose="05000000000000000000" pitchFamily="2" charset="2"/>
              <a:buNone/>
            </a:pPr>
            <a:endParaRPr lang="en-US" altLang="zh-CN" sz="1800" i="1">
              <a:solidFill>
                <a:srgbClr val="0000FF"/>
              </a:solidFill>
              <a:ea typeface="宋体" panose="02010600030101010101" pitchFamily="2" charset="-122"/>
            </a:endParaRPr>
          </a:p>
        </p:txBody>
      </p:sp>
      <p:pic>
        <p:nvPicPr>
          <p:cNvPr id="156697" name="Accounting_02.ppt374.WAV">
            <a:hlinkClick r:id="" action="ppaction://media"/>
            <a:extLst>
              <a:ext uri="{FF2B5EF4-FFF2-40B4-BE49-F238E27FC236}">
                <a16:creationId xmlns:a16="http://schemas.microsoft.com/office/drawing/2014/main" id="{CC5B8311-B707-4129-A268-9E91B6CF4FE0}"/>
              </a:ext>
            </a:extLst>
          </p:cNvPr>
          <p:cNvPicPr>
            <a:picLocks noChangeAspect="1" noChangeArrowheads="1"/>
          </p:cNvPicPr>
          <p:nvPr>
            <a:audioFile r:link="rId1"/>
          </p:nvPr>
        </p:nvPicPr>
        <p:blipFill>
          <a:blip r:embed="rId4">
            <a:extLst>
              <a:ext uri="{28A0092B-C50C-407E-A947-70E740481C1C}">
                <a14:useLocalDpi xmlns:a14="http://schemas.microsoft.com/office/drawing/2010/main" val="0"/>
              </a:ext>
            </a:extLst>
          </a:blip>
          <a:srcRect/>
          <a:stretch>
            <a:fillRect/>
          </a:stretch>
        </p:blipFill>
        <p:spPr bwMode="auto">
          <a:xfrm>
            <a:off x="8772525" y="6486525"/>
            <a:ext cx="304800" cy="304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advTm="93003"/>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1" fill="hold"/>
                                        <p:tgtEl>
                                          <p:spTgt spid="15669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56697"/>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0" y="0"/>
            <a:ext cx="9144000" cy="692150"/>
          </a:xfrm>
        </p:spPr>
        <p:txBody>
          <a:bodyPr>
            <a:normAutofit fontScale="90000"/>
          </a:bodyPr>
          <a:lstStyle/>
          <a:p>
            <a:pPr eaLnBrk="1" hangingPunct="1"/>
            <a:r>
              <a:rPr lang="zh-CN" altLang="en-US" sz="4000" b="1" dirty="0">
                <a:solidFill>
                  <a:srgbClr val="FF0000"/>
                </a:solidFill>
                <a:ea typeface="黑体" panose="02010609060101010101" pitchFamily="49" charset="-122"/>
              </a:rPr>
              <a:t>全球模型</a:t>
            </a:r>
            <a:r>
              <a:rPr lang="en-US" altLang="zh-CN" sz="4000" b="1" dirty="0">
                <a:solidFill>
                  <a:srgbClr val="FF0000"/>
                </a:solidFill>
                <a:ea typeface="黑体" panose="02010609060101010101" pitchFamily="49" charset="-122"/>
              </a:rPr>
              <a:t>GTAP</a:t>
            </a:r>
            <a:r>
              <a:rPr lang="zh-CN" altLang="en-US" sz="4000" b="1" dirty="0">
                <a:solidFill>
                  <a:srgbClr val="FF0000"/>
                </a:solidFill>
                <a:ea typeface="黑体" panose="02010609060101010101" pitchFamily="49" charset="-122"/>
              </a:rPr>
              <a:t>理论框架</a:t>
            </a:r>
          </a:p>
        </p:txBody>
      </p:sp>
      <p:graphicFrame>
        <p:nvGraphicFramePr>
          <p:cNvPr id="1026" name="Object 3"/>
          <p:cNvGraphicFramePr>
            <a:graphicFrameLocks noGrp="1" noChangeAspect="1"/>
          </p:cNvGraphicFramePr>
          <p:nvPr>
            <p:ph idx="1"/>
          </p:nvPr>
        </p:nvGraphicFramePr>
        <p:xfrm>
          <a:off x="1835150" y="908050"/>
          <a:ext cx="5581650" cy="5661025"/>
        </p:xfrm>
        <a:graphic>
          <a:graphicData uri="http://schemas.openxmlformats.org/presentationml/2006/ole">
            <mc:AlternateContent xmlns:mc="http://schemas.openxmlformats.org/markup-compatibility/2006">
              <mc:Choice xmlns:v="urn:schemas-microsoft-com:vml" Requires="v">
                <p:oleObj name="Visio" r:id="rId3" imgW="3970020" imgH="4026027" progId="Visio.Drawing.11">
                  <p:embed/>
                </p:oleObj>
              </mc:Choice>
              <mc:Fallback>
                <p:oleObj name="Visio" r:id="rId3" imgW="3970020" imgH="4026027"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908050"/>
                        <a:ext cx="5581650" cy="566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656474469"/>
      </p:ext>
    </p:extLst>
  </p:cSld>
  <p:clrMapOvr>
    <a:masterClrMapping/>
  </p:clrMapOvr>
  <p:transition advTm="37300">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620688"/>
            <a:ext cx="8260707" cy="750516"/>
          </a:xfrm>
        </p:spPr>
        <p:txBody>
          <a:bodyPr>
            <a:noAutofit/>
          </a:bodyPr>
          <a:lstStyle/>
          <a:p>
            <a:r>
              <a:rPr lang="zh-CN" altLang="en-US" sz="3200" b="1" dirty="0">
                <a:solidFill>
                  <a:srgbClr val="FF0000"/>
                </a:solidFill>
                <a:latin typeface="Calibri" panose="020F0502020204030204" pitchFamily="34" charset="0"/>
                <a:ea typeface="黑体" panose="02010609060101010101" pitchFamily="49" charset="-122"/>
              </a:rPr>
              <a:t>中国农业政策分析与预测模型</a:t>
            </a:r>
            <a:r>
              <a:rPr lang="en-US" altLang="zh-CN" sz="3200" b="1" dirty="0">
                <a:solidFill>
                  <a:srgbClr val="FF0000"/>
                </a:solidFill>
                <a:latin typeface="Calibri" panose="020F0502020204030204" pitchFamily="34" charset="0"/>
                <a:ea typeface="黑体" panose="02010609060101010101" pitchFamily="49" charset="-122"/>
              </a:rPr>
              <a:t> </a:t>
            </a:r>
            <a:r>
              <a:rPr lang="zh-CN" altLang="en-US" sz="3200" b="1" dirty="0">
                <a:solidFill>
                  <a:srgbClr val="FF0000"/>
                </a:solidFill>
                <a:latin typeface="Calibri" panose="020F0502020204030204" pitchFamily="34" charset="0"/>
                <a:ea typeface="黑体" panose="02010609060101010101" pitchFamily="49" charset="-122"/>
              </a:rPr>
              <a:t>（</a:t>
            </a:r>
            <a:r>
              <a:rPr lang="en-US" altLang="zh-CN" sz="3200" b="1" kern="100" dirty="0" err="1">
                <a:solidFill>
                  <a:srgbClr val="FF0000"/>
                </a:solidFill>
                <a:latin typeface="Calibri" panose="020F0502020204030204" pitchFamily="34" charset="0"/>
                <a:ea typeface="黑体" panose="02010609060101010101" pitchFamily="49" charset="-122"/>
              </a:rPr>
              <a:t>CAPSiM</a:t>
            </a:r>
            <a:r>
              <a:rPr lang="zh-CN" altLang="en-US" sz="3200" b="1" kern="100" dirty="0">
                <a:solidFill>
                  <a:srgbClr val="FF0000"/>
                </a:solidFill>
                <a:latin typeface="Calibri" panose="020F0502020204030204" pitchFamily="34" charset="0"/>
                <a:ea typeface="黑体" panose="02010609060101010101" pitchFamily="49" charset="-122"/>
              </a:rPr>
              <a:t>）</a:t>
            </a:r>
            <a:endParaRPr lang="zh-CN" altLang="en-US" sz="3600" b="1" dirty="0">
              <a:solidFill>
                <a:srgbClr val="FF0000"/>
              </a:solidFill>
              <a:latin typeface="Calibri" panose="020F0502020204030204" pitchFamily="34" charset="0"/>
              <a:ea typeface="黑体" panose="02010609060101010101" pitchFamily="49" charset="-122"/>
            </a:endParaRPr>
          </a:p>
        </p:txBody>
      </p:sp>
      <p:sp>
        <p:nvSpPr>
          <p:cNvPr id="4" name="矩形 3"/>
          <p:cNvSpPr/>
          <p:nvPr/>
        </p:nvSpPr>
        <p:spPr>
          <a:xfrm>
            <a:off x="4013521" y="2125265"/>
            <a:ext cx="4875836" cy="369331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57175" indent="-257175" algn="just">
              <a:buFont typeface="Arial" panose="020B0604020202020204" pitchFamily="34" charset="0"/>
              <a:buChar char="•"/>
            </a:pPr>
            <a:r>
              <a:rPr lang="en-US" altLang="zh-CN" kern="100" dirty="0" err="1">
                <a:solidFill>
                  <a:prstClr val="black"/>
                </a:solidFill>
                <a:latin typeface="Times New Roman" panose="02020603050405020304" pitchFamily="18" charset="0"/>
                <a:ea typeface="黑体" panose="02010609060101010101" pitchFamily="49" charset="-122"/>
              </a:rPr>
              <a:t>CAPSiM</a:t>
            </a:r>
            <a:r>
              <a:rPr lang="zh-CN" altLang="zh-CN" kern="1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的生产模型中包括的农作物产品有水稻、小麦、玉米、红薯、土豆、其它粗粮、大豆、棉花、油料作物、糖料作物、蔬菜、水果、瓜果和其它作物等</a:t>
            </a:r>
            <a:r>
              <a:rPr lang="en-US" altLang="zh-CN" kern="100" dirty="0">
                <a:solidFill>
                  <a:srgbClr val="FF0000"/>
                </a:solidFill>
                <a:latin typeface="Times New Roman" panose="02020603050405020304" pitchFamily="18" charset="0"/>
                <a:ea typeface="黑体" panose="02010609060101010101" pitchFamily="49" charset="-122"/>
              </a:rPr>
              <a:t>14</a:t>
            </a:r>
            <a:r>
              <a:rPr lang="zh-CN" altLang="zh-CN"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种类农作物产品</a:t>
            </a:r>
            <a:r>
              <a:rPr lang="zh-CN" altLang="zh-CN" kern="1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；猪肉、牛肉、羊肉、家禽、蛋类、奶类、鱼、虾和其它水产品</a:t>
            </a:r>
            <a:r>
              <a:rPr lang="zh-CN" altLang="en-US" kern="1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等</a:t>
            </a:r>
            <a:r>
              <a:rPr lang="en-US" altLang="zh-CN" kern="100" dirty="0">
                <a:solidFill>
                  <a:srgbClr val="FF0000"/>
                </a:solidFill>
                <a:latin typeface="Times New Roman" panose="02020603050405020304" pitchFamily="18" charset="0"/>
                <a:ea typeface="黑体" panose="02010609060101010101" pitchFamily="49" charset="-122"/>
              </a:rPr>
              <a:t>9</a:t>
            </a:r>
            <a:r>
              <a:rPr lang="zh-CN" altLang="zh-CN"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类畜产品和水产品</a:t>
            </a:r>
            <a:r>
              <a:rPr lang="zh-CN" altLang="zh-CN" kern="1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。在需求系统中，消费品分成</a:t>
            </a:r>
            <a:r>
              <a:rPr lang="en-US" altLang="zh-CN" kern="100" dirty="0">
                <a:solidFill>
                  <a:prstClr val="black"/>
                </a:solidFill>
                <a:latin typeface="Times New Roman" panose="02020603050405020304" pitchFamily="18" charset="0"/>
                <a:ea typeface="黑体" panose="02010609060101010101" pitchFamily="49" charset="-122"/>
              </a:rPr>
              <a:t>23</a:t>
            </a:r>
            <a:r>
              <a:rPr lang="zh-CN" altLang="zh-CN" kern="1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类，它们分别为大米、小麦、玉米、红薯、土豆、其它粗粮、大豆、食用油、食糖、蔬菜、水果、瓜果、猪肉、牛肉、羊肉、家禽、蛋类、奶类、鱼、虾、其它水产品、其它食品和所有非食品。</a:t>
            </a:r>
            <a:endParaRPr lang="en-US" altLang="zh-CN" kern="1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a:p>
            <a:pPr marL="257175" indent="-257175" algn="just">
              <a:buFont typeface="Arial" panose="020B0604020202020204" pitchFamily="34" charset="0"/>
              <a:buChar char="•"/>
            </a:pPr>
            <a:r>
              <a:rPr lang="zh-CN" altLang="zh-CN" kern="1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最新的</a:t>
            </a:r>
            <a:r>
              <a:rPr lang="en-US" altLang="zh-CN" kern="100" dirty="0" err="1">
                <a:solidFill>
                  <a:prstClr val="black"/>
                </a:solidFill>
                <a:latin typeface="Times New Roman" panose="02020603050405020304" pitchFamily="18" charset="0"/>
                <a:ea typeface="黑体" panose="02010609060101010101" pitchFamily="49" charset="-122"/>
              </a:rPr>
              <a:t>CAPSiM</a:t>
            </a:r>
            <a:r>
              <a:rPr lang="zh-CN" altLang="zh-CN" kern="1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模型数据库已经更新到</a:t>
            </a:r>
            <a:r>
              <a:rPr lang="en-US" altLang="zh-CN" kern="100" dirty="0">
                <a:solidFill>
                  <a:prstClr val="black"/>
                </a:solidFill>
                <a:latin typeface="Times New Roman" panose="02020603050405020304" pitchFamily="18" charset="0"/>
                <a:ea typeface="黑体" panose="02010609060101010101" pitchFamily="49" charset="-122"/>
              </a:rPr>
              <a:t>2015</a:t>
            </a:r>
            <a:r>
              <a:rPr lang="zh-CN" altLang="zh-CN" kern="1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年。</a:t>
            </a:r>
            <a:endParaRPr lang="zh-CN" altLang="en-US" dirty="0">
              <a:solidFill>
                <a:prstClr val="black"/>
              </a:solidFill>
              <a:ea typeface="黑体" panose="02010609060101010101" pitchFamily="49" charset="-122"/>
            </a:endParaRPr>
          </a:p>
        </p:txBody>
      </p:sp>
      <p:pic>
        <p:nvPicPr>
          <p:cNvPr id="5" name="图片 21"/>
          <p:cNvPicPr>
            <a:picLocks noChangeAspect="1" noChangeArrowheads="1"/>
          </p:cNvPicPr>
          <p:nvPr/>
        </p:nvPicPr>
        <p:blipFill>
          <a:blip r:embed="rId2" cstate="print"/>
          <a:srcRect l="24719" t="27501" r="20992" b="12991"/>
          <a:stretch>
            <a:fillRect/>
          </a:stretch>
        </p:blipFill>
        <p:spPr bwMode="auto">
          <a:xfrm>
            <a:off x="60767" y="2125266"/>
            <a:ext cx="3952754" cy="3540814"/>
          </a:xfrm>
          <a:prstGeom prst="rect">
            <a:avLst/>
          </a:prstGeom>
          <a:noFill/>
          <a:ln w="9525">
            <a:noFill/>
            <a:miter lim="800000"/>
            <a:headEnd/>
            <a:tailEnd/>
          </a:ln>
        </p:spPr>
      </p:pic>
    </p:spTree>
    <p:extLst>
      <p:ext uri="{BB962C8B-B14F-4D97-AF65-F5344CB8AC3E}">
        <p14:creationId xmlns:p14="http://schemas.microsoft.com/office/powerpoint/2010/main" val="3327380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5650" y="116632"/>
            <a:ext cx="8260707" cy="750516"/>
          </a:xfrm>
        </p:spPr>
        <p:txBody>
          <a:bodyPr>
            <a:noAutofit/>
          </a:bodyPr>
          <a:lstStyle/>
          <a:p>
            <a:r>
              <a:rPr lang="zh-CN" altLang="en-US" sz="2800" b="1" dirty="0">
                <a:solidFill>
                  <a:srgbClr val="FF0000"/>
                </a:solidFill>
                <a:latin typeface="Calibri" panose="020F0502020204030204" pitchFamily="34" charset="0"/>
              </a:rPr>
              <a:t>中国农业政策分析与预测模型</a:t>
            </a:r>
            <a:r>
              <a:rPr lang="en-US" altLang="zh-CN" sz="2800" b="1" dirty="0">
                <a:solidFill>
                  <a:srgbClr val="FF0000"/>
                </a:solidFill>
                <a:latin typeface="Calibri" panose="020F0502020204030204" pitchFamily="34" charset="0"/>
              </a:rPr>
              <a:t> </a:t>
            </a:r>
            <a:r>
              <a:rPr lang="zh-CN" altLang="en-US" sz="2800" b="1" dirty="0">
                <a:solidFill>
                  <a:srgbClr val="FF0000"/>
                </a:solidFill>
                <a:latin typeface="Calibri" panose="020F0502020204030204" pitchFamily="34" charset="0"/>
              </a:rPr>
              <a:t>（</a:t>
            </a:r>
            <a:r>
              <a:rPr lang="en-US" altLang="zh-CN" sz="2800" b="1" kern="100" dirty="0" err="1">
                <a:solidFill>
                  <a:srgbClr val="FF0000"/>
                </a:solidFill>
                <a:latin typeface="Calibri" panose="020F0502020204030204" pitchFamily="34" charset="0"/>
              </a:rPr>
              <a:t>CAPSiM</a:t>
            </a:r>
            <a:r>
              <a:rPr lang="zh-CN" altLang="en-US" sz="2800" b="1" kern="100" dirty="0">
                <a:solidFill>
                  <a:srgbClr val="FF0000"/>
                </a:solidFill>
                <a:latin typeface="Calibri" panose="020F0502020204030204" pitchFamily="34" charset="0"/>
              </a:rPr>
              <a:t>）</a:t>
            </a:r>
            <a:endParaRPr lang="zh-CN" altLang="en-US" sz="2800" b="1" dirty="0">
              <a:solidFill>
                <a:srgbClr val="FF0000"/>
              </a:solidFill>
              <a:latin typeface="Calibri" panose="020F0502020204030204" pitchFamily="34" charset="0"/>
            </a:endParaRPr>
          </a:p>
        </p:txBody>
      </p:sp>
      <p:pic>
        <p:nvPicPr>
          <p:cNvPr id="5" name="图片 21"/>
          <p:cNvPicPr>
            <a:picLocks noChangeAspect="1" noChangeArrowheads="1"/>
          </p:cNvPicPr>
          <p:nvPr/>
        </p:nvPicPr>
        <p:blipFill>
          <a:blip r:embed="rId2" cstate="print"/>
          <a:srcRect l="24719" t="27501" r="20992" b="12991"/>
          <a:stretch>
            <a:fillRect/>
          </a:stretch>
        </p:blipFill>
        <p:spPr bwMode="auto">
          <a:xfrm>
            <a:off x="1043608" y="1124744"/>
            <a:ext cx="6804792" cy="5688632"/>
          </a:xfrm>
          <a:prstGeom prst="rect">
            <a:avLst/>
          </a:prstGeom>
          <a:noFill/>
          <a:ln w="9525">
            <a:noFill/>
            <a:miter lim="800000"/>
            <a:headEnd/>
            <a:tailEnd/>
          </a:ln>
        </p:spPr>
      </p:pic>
    </p:spTree>
    <p:extLst>
      <p:ext uri="{BB962C8B-B14F-4D97-AF65-F5344CB8AC3E}">
        <p14:creationId xmlns:p14="http://schemas.microsoft.com/office/powerpoint/2010/main" val="3325305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 </a:t>
            </a:r>
            <a:r>
              <a:rPr lang="zh-CN" altLang="en-US" sz="3600" dirty="0">
                <a:solidFill>
                  <a:srgbClr val="FF0000"/>
                </a:solidFill>
                <a:latin typeface="黑体" panose="02010609060101010101" pitchFamily="49" charset="-122"/>
                <a:ea typeface="黑体" panose="02010609060101010101" pitchFamily="49" charset="-122"/>
              </a:rPr>
              <a:t>部门均衡模型使用的前提条件</a:t>
            </a:r>
          </a:p>
        </p:txBody>
      </p:sp>
      <p:sp>
        <p:nvSpPr>
          <p:cNvPr id="3" name="内容占位符 2"/>
          <p:cNvSpPr>
            <a:spLocks noGrp="1"/>
          </p:cNvSpPr>
          <p:nvPr>
            <p:ph idx="1"/>
          </p:nvPr>
        </p:nvSpPr>
        <p:spPr/>
        <p:txBody>
          <a:bodyPr/>
          <a:lstStyle/>
          <a:p>
            <a:pPr marL="0" indent="0">
              <a:buNone/>
            </a:pPr>
            <a:r>
              <a:rPr lang="zh-CN" altLang="en-US" dirty="0">
                <a:solidFill>
                  <a:srgbClr val="FF0000"/>
                </a:solidFill>
                <a:latin typeface="黑体" panose="02010609060101010101" pitchFamily="49" charset="-122"/>
                <a:ea typeface="黑体" panose="02010609060101010101" pitchFamily="49" charset="-122"/>
              </a:rPr>
              <a:t>产业部门很小</a:t>
            </a:r>
            <a:endParaRPr lang="en-US" altLang="zh-CN" dirty="0">
              <a:solidFill>
                <a:srgbClr val="FF0000"/>
              </a:solidFill>
              <a:latin typeface="黑体" panose="02010609060101010101" pitchFamily="49" charset="-122"/>
              <a:ea typeface="黑体" panose="02010609060101010101" pitchFamily="49" charset="-122"/>
            </a:endParaRPr>
          </a:p>
          <a:p>
            <a:pPr>
              <a:lnSpc>
                <a:spcPct val="150000"/>
              </a:lnSpc>
              <a:spcBef>
                <a:spcPts val="1200"/>
              </a:spcBef>
            </a:pPr>
            <a:r>
              <a:rPr lang="zh-CN" altLang="en-US" b="1" dirty="0">
                <a:solidFill>
                  <a:srgbClr val="000099"/>
                </a:solidFill>
                <a:latin typeface="黑体" panose="02010609060101010101" pitchFamily="49" charset="-122"/>
                <a:ea typeface="黑体" panose="02010609060101010101" pitchFamily="49" charset="-122"/>
              </a:rPr>
              <a:t>产出变化对其他产品市场价格影响很小</a:t>
            </a:r>
            <a:endParaRPr lang="en-US" altLang="zh-CN" b="1" dirty="0">
              <a:solidFill>
                <a:srgbClr val="000099"/>
              </a:solidFill>
              <a:latin typeface="黑体" panose="02010609060101010101" pitchFamily="49" charset="-122"/>
              <a:ea typeface="黑体" panose="02010609060101010101" pitchFamily="49" charset="-122"/>
            </a:endParaRPr>
          </a:p>
          <a:p>
            <a:pPr>
              <a:lnSpc>
                <a:spcPct val="150000"/>
              </a:lnSpc>
              <a:spcBef>
                <a:spcPts val="1200"/>
              </a:spcBef>
            </a:pPr>
            <a:r>
              <a:rPr lang="zh-CN" altLang="en-US" b="1" dirty="0">
                <a:solidFill>
                  <a:srgbClr val="000099"/>
                </a:solidFill>
                <a:latin typeface="黑体" panose="02010609060101010101" pitchFamily="49" charset="-122"/>
                <a:ea typeface="黑体" panose="02010609060101010101" pitchFamily="49" charset="-122"/>
              </a:rPr>
              <a:t>产出变化对中间投入价格影响很小</a:t>
            </a:r>
            <a:endParaRPr lang="en-US" altLang="zh-CN" b="1" dirty="0">
              <a:solidFill>
                <a:srgbClr val="000099"/>
              </a:solidFill>
              <a:latin typeface="黑体" panose="02010609060101010101" pitchFamily="49" charset="-122"/>
              <a:ea typeface="黑体" panose="02010609060101010101" pitchFamily="49" charset="-122"/>
            </a:endParaRPr>
          </a:p>
          <a:p>
            <a:pPr>
              <a:lnSpc>
                <a:spcPct val="150000"/>
              </a:lnSpc>
              <a:spcBef>
                <a:spcPts val="1200"/>
              </a:spcBef>
            </a:pPr>
            <a:r>
              <a:rPr lang="zh-CN" altLang="en-US" b="1" dirty="0">
                <a:solidFill>
                  <a:srgbClr val="000099"/>
                </a:solidFill>
                <a:latin typeface="黑体" panose="02010609060101010101" pitchFamily="49" charset="-122"/>
                <a:ea typeface="黑体" panose="02010609060101010101" pitchFamily="49" charset="-122"/>
              </a:rPr>
              <a:t>产出变化对要素需求影响很小</a:t>
            </a:r>
          </a:p>
        </p:txBody>
      </p:sp>
      <p:sp>
        <p:nvSpPr>
          <p:cNvPr id="4" name="日期占位符 3"/>
          <p:cNvSpPr>
            <a:spLocks noGrp="1"/>
          </p:cNvSpPr>
          <p:nvPr>
            <p:ph type="dt" sz="half" idx="10"/>
          </p:nvPr>
        </p:nvSpPr>
        <p:spPr/>
        <p:txBody>
          <a:bodyPr/>
          <a:lstStyle/>
          <a:p>
            <a:fld id="{440E9A9E-B02D-4BED-8290-11D0C89DD625}" type="datetime1">
              <a:rPr lang="zh-CN" altLang="en-US" smtClean="0"/>
              <a:t>2021/5/27</a:t>
            </a:fld>
            <a:endParaRPr lang="zh-CN" altLang="en-US"/>
          </a:p>
        </p:txBody>
      </p:sp>
      <p:sp>
        <p:nvSpPr>
          <p:cNvPr id="5" name="灯片编号占位符 4"/>
          <p:cNvSpPr>
            <a:spLocks noGrp="1"/>
          </p:cNvSpPr>
          <p:nvPr>
            <p:ph type="sldNum" sz="quarter" idx="12"/>
          </p:nvPr>
        </p:nvSpPr>
        <p:spPr/>
        <p:txBody>
          <a:bodyPr/>
          <a:lstStyle/>
          <a:p>
            <a:fld id="{C8D0647B-24A2-46AB-A27A-847EF503E68C}" type="slidenum">
              <a:rPr lang="zh-CN" altLang="en-US" smtClean="0"/>
              <a:pPr/>
              <a:t>17</a:t>
            </a:fld>
            <a:endParaRPr lang="zh-CN" altLang="en-US"/>
          </a:p>
        </p:txBody>
      </p:sp>
    </p:spTree>
    <p:extLst>
      <p:ext uri="{BB962C8B-B14F-4D97-AF65-F5344CB8AC3E}">
        <p14:creationId xmlns:p14="http://schemas.microsoft.com/office/powerpoint/2010/main" val="35224899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solidFill>
                  <a:srgbClr val="FF0000"/>
                </a:solidFill>
                <a:latin typeface="黑体" panose="02010609060101010101" pitchFamily="49" charset="-122"/>
                <a:ea typeface="黑体" panose="02010609060101010101" pitchFamily="49" charset="-122"/>
              </a:rPr>
              <a:t>报告主要内容</a:t>
            </a:r>
          </a:p>
        </p:txBody>
      </p:sp>
      <p:sp>
        <p:nvSpPr>
          <p:cNvPr id="3" name="内容占位符 2"/>
          <p:cNvSpPr>
            <a:spLocks noGrp="1"/>
          </p:cNvSpPr>
          <p:nvPr>
            <p:ph idx="1"/>
          </p:nvPr>
        </p:nvSpPr>
        <p:spPr>
          <a:xfrm>
            <a:off x="457200" y="1417638"/>
            <a:ext cx="8229600" cy="4708525"/>
          </a:xfrm>
        </p:spPr>
        <p:txBody>
          <a:bodyPr>
            <a:normAutofit fontScale="92500" lnSpcReduction="10000"/>
          </a:bodyPr>
          <a:lstStyle/>
          <a:p>
            <a:pPr marL="514350" indent="-514350">
              <a:buFont typeface="+mj-lt"/>
              <a:buAutoNum type="arabicPeriod"/>
            </a:pPr>
            <a:r>
              <a:rPr lang="zh-CN" altLang="en-US" dirty="0">
                <a:solidFill>
                  <a:schemeClr val="bg1">
                    <a:lumMod val="95000"/>
                  </a:schemeClr>
                </a:solidFill>
                <a:latin typeface="Calibri" panose="020F0502020204030204" pitchFamily="34" charset="0"/>
                <a:ea typeface="黑体" panose="02010609060101010101" pitchFamily="49" charset="-122"/>
              </a:rPr>
              <a:t>均衡模型的简要理论介绍</a:t>
            </a:r>
            <a:endParaRPr lang="en-US" altLang="zh-CN" dirty="0">
              <a:solidFill>
                <a:schemeClr val="bg1">
                  <a:lumMod val="95000"/>
                </a:schemeClr>
              </a:solidFill>
              <a:latin typeface="Calibri" panose="020F0502020204030204" pitchFamily="34" charset="0"/>
              <a:ea typeface="黑体" panose="02010609060101010101" pitchFamily="49" charset="-122"/>
            </a:endParaRPr>
          </a:p>
          <a:p>
            <a:pPr marL="914400" lvl="1" indent="-514350">
              <a:buFont typeface="Wingdings" panose="05000000000000000000" pitchFamily="2" charset="2"/>
              <a:buChar char="l"/>
            </a:pPr>
            <a:r>
              <a:rPr lang="zh-CN" altLang="en-US" dirty="0">
                <a:solidFill>
                  <a:schemeClr val="bg1">
                    <a:lumMod val="95000"/>
                  </a:schemeClr>
                </a:solidFill>
                <a:latin typeface="Calibri" panose="020F0502020204030204" pitchFamily="34" charset="0"/>
                <a:ea typeface="黑体" panose="02010609060101010101" pitchFamily="49" charset="-122"/>
              </a:rPr>
              <a:t>一般均衡模型</a:t>
            </a:r>
            <a:endParaRPr lang="en-US" altLang="zh-CN" dirty="0">
              <a:solidFill>
                <a:schemeClr val="bg1">
                  <a:lumMod val="95000"/>
                </a:schemeClr>
              </a:solidFill>
              <a:latin typeface="Calibri" panose="020F0502020204030204" pitchFamily="34" charset="0"/>
              <a:ea typeface="黑体" panose="02010609060101010101" pitchFamily="49" charset="-122"/>
            </a:endParaRPr>
          </a:p>
          <a:p>
            <a:pPr marL="914400" lvl="1" indent="-514350">
              <a:buFont typeface="Wingdings" panose="05000000000000000000" pitchFamily="2" charset="2"/>
              <a:buChar char="l"/>
            </a:pPr>
            <a:r>
              <a:rPr lang="zh-CN" altLang="en-US" dirty="0">
                <a:solidFill>
                  <a:schemeClr val="bg1">
                    <a:lumMod val="95000"/>
                  </a:schemeClr>
                </a:solidFill>
                <a:latin typeface="Calibri" panose="020F0502020204030204" pitchFamily="34" charset="0"/>
                <a:ea typeface="黑体" panose="02010609060101010101" pitchFamily="49" charset="-122"/>
              </a:rPr>
              <a:t>部门均衡模型</a:t>
            </a:r>
            <a:endParaRPr lang="en-US" altLang="zh-CN" dirty="0">
              <a:solidFill>
                <a:schemeClr val="bg1">
                  <a:lumMod val="95000"/>
                </a:schemeClr>
              </a:solidFill>
              <a:latin typeface="Calibri" panose="020F0502020204030204" pitchFamily="34" charset="0"/>
              <a:ea typeface="黑体" panose="02010609060101010101" pitchFamily="49" charset="-122"/>
            </a:endParaRPr>
          </a:p>
          <a:p>
            <a:pPr marL="514350" indent="-514350">
              <a:buFont typeface="+mj-lt"/>
              <a:buAutoNum type="arabicPeriod"/>
            </a:pPr>
            <a:r>
              <a:rPr lang="zh-CN" altLang="en-US" dirty="0">
                <a:solidFill>
                  <a:srgbClr val="FF0000"/>
                </a:solidFill>
                <a:latin typeface="Calibri" panose="020F0502020204030204" pitchFamily="34" charset="0"/>
                <a:ea typeface="黑体" panose="02010609060101010101" pitchFamily="49" charset="-122"/>
              </a:rPr>
              <a:t>均衡模型具体构建中的部分关键问题</a:t>
            </a:r>
            <a:endParaRPr lang="en-US" altLang="zh-CN" dirty="0">
              <a:solidFill>
                <a:srgbClr val="FF0000"/>
              </a:solidFill>
              <a:latin typeface="Calibri" panose="020F0502020204030204" pitchFamily="34" charset="0"/>
              <a:ea typeface="黑体" panose="02010609060101010101" pitchFamily="49" charset="-122"/>
            </a:endParaRPr>
          </a:p>
          <a:p>
            <a:pPr marL="914400" lvl="1" indent="-514350">
              <a:buFont typeface="Wingdings" panose="05000000000000000000" pitchFamily="2" charset="2"/>
              <a:buChar char="l"/>
            </a:pPr>
            <a:r>
              <a:rPr lang="zh-CN" altLang="en-US" dirty="0">
                <a:latin typeface="Calibri" panose="020F0502020204030204" pitchFamily="34" charset="0"/>
                <a:ea typeface="黑体" panose="02010609060101010101" pitchFamily="49" charset="-122"/>
              </a:rPr>
              <a:t>供需模块构建（标准模型）</a:t>
            </a:r>
            <a:endParaRPr lang="en-US" altLang="zh-CN" dirty="0">
              <a:latin typeface="Calibri" panose="020F0502020204030204" pitchFamily="34" charset="0"/>
              <a:ea typeface="黑体" panose="02010609060101010101" pitchFamily="49" charset="-122"/>
            </a:endParaRPr>
          </a:p>
          <a:p>
            <a:pPr marL="914400" lvl="1" indent="-514350">
              <a:buFont typeface="Wingdings" panose="05000000000000000000" pitchFamily="2" charset="2"/>
              <a:buChar char="l"/>
            </a:pPr>
            <a:r>
              <a:rPr lang="zh-CN" altLang="en-US" dirty="0">
                <a:latin typeface="Calibri" panose="020F0502020204030204" pitchFamily="34" charset="0"/>
                <a:ea typeface="黑体" panose="02010609060101010101" pitchFamily="49" charset="-122"/>
              </a:rPr>
              <a:t>静态和动态模型</a:t>
            </a:r>
            <a:endParaRPr lang="en-US" altLang="zh-CN" dirty="0">
              <a:latin typeface="Calibri" panose="020F0502020204030204" pitchFamily="34" charset="0"/>
              <a:ea typeface="黑体" panose="02010609060101010101" pitchFamily="49" charset="-122"/>
            </a:endParaRPr>
          </a:p>
          <a:p>
            <a:pPr marL="514350" indent="-514350">
              <a:buFont typeface="+mj-lt"/>
              <a:buAutoNum type="arabicPeriod"/>
            </a:pPr>
            <a:r>
              <a:rPr lang="zh-CN" altLang="en-US" dirty="0">
                <a:solidFill>
                  <a:schemeClr val="bg1">
                    <a:lumMod val="85000"/>
                  </a:schemeClr>
                </a:solidFill>
                <a:latin typeface="Calibri" panose="020F0502020204030204" pitchFamily="34" charset="0"/>
                <a:ea typeface="黑体" panose="02010609060101010101" pitchFamily="49" charset="-122"/>
              </a:rPr>
              <a:t>应用案例</a:t>
            </a:r>
            <a:endParaRPr lang="en-US" altLang="zh-CN" dirty="0">
              <a:solidFill>
                <a:schemeClr val="bg1">
                  <a:lumMod val="85000"/>
                </a:schemeClr>
              </a:solidFill>
              <a:latin typeface="Calibri" panose="020F0502020204030204" pitchFamily="34" charset="0"/>
              <a:ea typeface="黑体" panose="02010609060101010101" pitchFamily="49" charset="-122"/>
            </a:endParaRPr>
          </a:p>
          <a:p>
            <a:pPr marL="914400" lvl="1" indent="-514350">
              <a:buFont typeface="Wingdings" panose="05000000000000000000" pitchFamily="2" charset="2"/>
              <a:buChar char="l"/>
            </a:pPr>
            <a:r>
              <a:rPr lang="zh-CN" altLang="en-US" dirty="0">
                <a:solidFill>
                  <a:schemeClr val="bg1">
                    <a:lumMod val="85000"/>
                  </a:schemeClr>
                </a:solidFill>
                <a:latin typeface="Calibri" panose="020F0502020204030204" pitchFamily="34" charset="0"/>
                <a:ea typeface="黑体" panose="02010609060101010101" pitchFamily="49" charset="-122"/>
              </a:rPr>
              <a:t>多哈贸易自由化谈判对农业生产和贫困影响</a:t>
            </a:r>
            <a:endParaRPr lang="en-US" altLang="zh-CN" dirty="0">
              <a:solidFill>
                <a:schemeClr val="bg1">
                  <a:lumMod val="85000"/>
                </a:schemeClr>
              </a:solidFill>
              <a:latin typeface="Calibri" panose="020F0502020204030204" pitchFamily="34" charset="0"/>
              <a:ea typeface="黑体" panose="02010609060101010101" pitchFamily="49" charset="-122"/>
            </a:endParaRPr>
          </a:p>
          <a:p>
            <a:pPr marL="914400" lvl="1" indent="-514350">
              <a:buFont typeface="Wingdings" panose="05000000000000000000" pitchFamily="2" charset="2"/>
              <a:buChar char="l"/>
            </a:pPr>
            <a:r>
              <a:rPr lang="zh-CN" altLang="en-US" dirty="0">
                <a:solidFill>
                  <a:schemeClr val="bg1">
                    <a:lumMod val="85000"/>
                  </a:schemeClr>
                </a:solidFill>
                <a:latin typeface="Calibri" panose="020F0502020204030204" pitchFamily="34" charset="0"/>
                <a:ea typeface="黑体" panose="02010609060101010101" pitchFamily="49" charset="-122"/>
              </a:rPr>
              <a:t>基于</a:t>
            </a:r>
            <a:r>
              <a:rPr lang="en-US" altLang="zh-CN" dirty="0" err="1">
                <a:solidFill>
                  <a:schemeClr val="bg1">
                    <a:lumMod val="85000"/>
                  </a:schemeClr>
                </a:solidFill>
                <a:latin typeface="Calibri" panose="020F0502020204030204" pitchFamily="34" charset="0"/>
                <a:ea typeface="黑体" panose="02010609060101010101" pitchFamily="49" charset="-122"/>
              </a:rPr>
              <a:t>CAPSiM</a:t>
            </a:r>
            <a:r>
              <a:rPr lang="zh-CN" altLang="en-US" dirty="0">
                <a:solidFill>
                  <a:schemeClr val="bg1">
                    <a:lumMod val="85000"/>
                  </a:schemeClr>
                </a:solidFill>
                <a:latin typeface="Calibri" panose="020F0502020204030204" pitchFamily="34" charset="0"/>
                <a:ea typeface="黑体" panose="02010609060101010101" pitchFamily="49" charset="-122"/>
              </a:rPr>
              <a:t>模型对未来我国农业供需预测分析</a:t>
            </a:r>
            <a:endParaRPr lang="en-US" altLang="zh-CN" dirty="0">
              <a:solidFill>
                <a:schemeClr val="bg1">
                  <a:lumMod val="85000"/>
                </a:schemeClr>
              </a:solidFill>
              <a:latin typeface="Calibri" panose="020F0502020204030204" pitchFamily="34" charset="0"/>
              <a:ea typeface="黑体" panose="02010609060101010101" pitchFamily="49" charset="-122"/>
            </a:endParaRPr>
          </a:p>
          <a:p>
            <a:pPr marL="914400" lvl="1" indent="-514350">
              <a:buFont typeface="Wingdings" panose="05000000000000000000" pitchFamily="2" charset="2"/>
              <a:buChar char="l"/>
            </a:pPr>
            <a:r>
              <a:rPr lang="zh-CN" altLang="en-US" dirty="0">
                <a:solidFill>
                  <a:schemeClr val="bg1">
                    <a:lumMod val="85000"/>
                  </a:schemeClr>
                </a:solidFill>
                <a:latin typeface="Calibri" panose="020F0502020204030204" pitchFamily="34" charset="0"/>
                <a:ea typeface="黑体" panose="02010609060101010101" pitchFamily="49" charset="-122"/>
              </a:rPr>
              <a:t>生物能源发展对农业生产和贫困影响</a:t>
            </a:r>
          </a:p>
          <a:p>
            <a:pPr marL="0" indent="0">
              <a:buNone/>
            </a:pPr>
            <a:endParaRPr lang="zh-CN" altLang="en-US" b="1" dirty="0">
              <a:solidFill>
                <a:schemeClr val="accent2"/>
              </a:solidFill>
            </a:endParaRPr>
          </a:p>
          <a:p>
            <a:pPr marL="0" indent="0">
              <a:buNone/>
            </a:pPr>
            <a:endParaRPr lang="en-US" altLang="zh-CN" dirty="0">
              <a:latin typeface="黑体" panose="02010609060101010101" pitchFamily="49" charset="-122"/>
              <a:ea typeface="黑体" panose="02010609060101010101" pitchFamily="49" charset="-122"/>
            </a:endParaRPr>
          </a:p>
          <a:p>
            <a:pPr marL="0" indent="0">
              <a:buNone/>
            </a:pPr>
            <a:endParaRPr lang="en-US" altLang="zh-CN" dirty="0">
              <a:latin typeface="黑体" panose="02010609060101010101" pitchFamily="49" charset="-122"/>
              <a:ea typeface="黑体" panose="02010609060101010101" pitchFamily="49" charset="-122"/>
            </a:endParaRPr>
          </a:p>
          <a:p>
            <a:pPr marL="514350" indent="-514350">
              <a:buFont typeface="+mj-lt"/>
              <a:buAutoNum type="arabicPeriod"/>
            </a:pPr>
            <a:endParaRPr lang="en-US" altLang="zh-CN" dirty="0">
              <a:latin typeface="黑体" panose="02010609060101010101" pitchFamily="49" charset="-122"/>
              <a:ea typeface="黑体" panose="02010609060101010101" pitchFamily="49" charset="-122"/>
            </a:endParaRPr>
          </a:p>
          <a:p>
            <a:endParaRPr lang="zh-CN" altLang="en-US" dirty="0">
              <a:latin typeface="黑体" panose="02010609060101010101" pitchFamily="49" charset="-122"/>
              <a:ea typeface="黑体" panose="02010609060101010101" pitchFamily="49" charset="-122"/>
            </a:endParaRPr>
          </a:p>
        </p:txBody>
      </p:sp>
      <p:sp>
        <p:nvSpPr>
          <p:cNvPr id="4" name="日期占位符 3"/>
          <p:cNvSpPr>
            <a:spLocks noGrp="1"/>
          </p:cNvSpPr>
          <p:nvPr>
            <p:ph type="dt" sz="half" idx="10"/>
          </p:nvPr>
        </p:nvSpPr>
        <p:spPr/>
        <p:txBody>
          <a:bodyPr/>
          <a:lstStyle/>
          <a:p>
            <a:fld id="{32E8C72D-371D-46C3-B39E-84A140A43767}" type="datetime1">
              <a:rPr lang="zh-CN" altLang="en-US" smtClean="0"/>
              <a:t>2021/5/27</a:t>
            </a:fld>
            <a:endParaRPr lang="zh-CN" altLang="en-US"/>
          </a:p>
        </p:txBody>
      </p:sp>
      <p:sp>
        <p:nvSpPr>
          <p:cNvPr id="5" name="灯片编号占位符 4"/>
          <p:cNvSpPr>
            <a:spLocks noGrp="1"/>
          </p:cNvSpPr>
          <p:nvPr>
            <p:ph type="sldNum" sz="quarter" idx="12"/>
          </p:nvPr>
        </p:nvSpPr>
        <p:spPr/>
        <p:txBody>
          <a:bodyPr/>
          <a:lstStyle/>
          <a:p>
            <a:fld id="{C8D0647B-24A2-46AB-A27A-847EF503E68C}" type="slidenum">
              <a:rPr lang="zh-CN" altLang="en-US" smtClean="0"/>
              <a:pPr/>
              <a:t>18</a:t>
            </a:fld>
            <a:endParaRPr lang="zh-CN" altLang="en-US"/>
          </a:p>
        </p:txBody>
      </p:sp>
    </p:spTree>
    <p:extLst>
      <p:ext uri="{BB962C8B-B14F-4D97-AF65-F5344CB8AC3E}">
        <p14:creationId xmlns:p14="http://schemas.microsoft.com/office/powerpoint/2010/main" val="15454811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2"/>
          <p:cNvGraphicFramePr>
            <a:graphicFrameLocks noChangeAspect="1"/>
          </p:cNvGraphicFramePr>
          <p:nvPr/>
        </p:nvGraphicFramePr>
        <p:xfrm>
          <a:off x="-285784" y="860750"/>
          <a:ext cx="9644130" cy="5854398"/>
        </p:xfrm>
        <a:graphic>
          <a:graphicData uri="http://schemas.openxmlformats.org/presentationml/2006/ole">
            <mc:AlternateContent xmlns:mc="http://schemas.openxmlformats.org/markup-compatibility/2006">
              <mc:Choice xmlns:v="urn:schemas-microsoft-com:vml" Requires="v">
                <p:oleObj name="Visio" r:id="rId2" imgW="7251233" imgH="5155704" progId="Visio.Drawing.11">
                  <p:embed/>
                </p:oleObj>
              </mc:Choice>
              <mc:Fallback>
                <p:oleObj name="Visio" r:id="rId2" imgW="7251233" imgH="5155704" progId="Visio.Drawing.11">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84" y="860750"/>
                        <a:ext cx="9644130" cy="58543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3" name="Rectangle 3"/>
          <p:cNvSpPr>
            <a:spLocks noGrp="1" noChangeArrowheads="1"/>
          </p:cNvSpPr>
          <p:nvPr>
            <p:ph type="title"/>
          </p:nvPr>
        </p:nvSpPr>
        <p:spPr>
          <a:xfrm>
            <a:off x="457200" y="260350"/>
            <a:ext cx="8229600" cy="633413"/>
          </a:xfrm>
        </p:spPr>
        <p:txBody>
          <a:bodyPr>
            <a:normAutofit fontScale="90000"/>
          </a:bodyPr>
          <a:lstStyle/>
          <a:p>
            <a:pPr eaLnBrk="1" hangingPunct="1"/>
            <a:r>
              <a:rPr lang="zh-CN" altLang="en-US" b="1" dirty="0">
                <a:solidFill>
                  <a:srgbClr val="0000FF"/>
                </a:solidFill>
                <a:ea typeface="黑体" pitchFamily="49" charset="-122"/>
              </a:rPr>
              <a:t>生产模块</a:t>
            </a:r>
          </a:p>
        </p:txBody>
      </p:sp>
      <p:sp>
        <p:nvSpPr>
          <p:cNvPr id="4" name="TextBox 3"/>
          <p:cNvSpPr txBox="1"/>
          <p:nvPr/>
        </p:nvSpPr>
        <p:spPr>
          <a:xfrm>
            <a:off x="7286644" y="3714752"/>
            <a:ext cx="1643074" cy="369332"/>
          </a:xfrm>
          <a:prstGeom prst="rect">
            <a:avLst/>
          </a:prstGeom>
          <a:noFill/>
        </p:spPr>
        <p:txBody>
          <a:bodyPr wrap="square" rtlCol="0">
            <a:spAutoFit/>
          </a:bodyPr>
          <a:lstStyle/>
          <a:p>
            <a:pPr algn="ctr"/>
            <a:r>
              <a:rPr lang="zh-CN" altLang="en-US" dirty="0">
                <a:solidFill>
                  <a:srgbClr val="0000FF"/>
                </a:solidFill>
                <a:latin typeface="黑体" pitchFamily="49" charset="-122"/>
                <a:ea typeface="黑体" pitchFamily="49" charset="-122"/>
              </a:rPr>
              <a:t>阿明顿假设</a:t>
            </a:r>
          </a:p>
        </p:txBody>
      </p:sp>
      <p:cxnSp>
        <p:nvCxnSpPr>
          <p:cNvPr id="6" name="直接箭头连接符 5"/>
          <p:cNvCxnSpPr/>
          <p:nvPr/>
        </p:nvCxnSpPr>
        <p:spPr>
          <a:xfrm>
            <a:off x="9501222" y="4357694"/>
            <a:ext cx="914400"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643702" y="5345684"/>
            <a:ext cx="1643074" cy="369332"/>
          </a:xfrm>
          <a:prstGeom prst="rect">
            <a:avLst/>
          </a:prstGeom>
          <a:noFill/>
        </p:spPr>
        <p:txBody>
          <a:bodyPr wrap="square" rtlCol="0">
            <a:spAutoFit/>
          </a:bodyPr>
          <a:lstStyle/>
          <a:p>
            <a:pPr algn="ctr"/>
            <a:r>
              <a:rPr lang="zh-CN" altLang="en-US" dirty="0">
                <a:solidFill>
                  <a:srgbClr val="0000FF"/>
                </a:solidFill>
                <a:latin typeface="黑体" pitchFamily="49" charset="-122"/>
                <a:ea typeface="黑体" pitchFamily="49" charset="-122"/>
              </a:rPr>
              <a:t>阿明顿假设</a:t>
            </a:r>
          </a:p>
        </p:txBody>
      </p:sp>
      <p:sp>
        <p:nvSpPr>
          <p:cNvPr id="11" name="右箭头 10"/>
          <p:cNvSpPr/>
          <p:nvPr/>
        </p:nvSpPr>
        <p:spPr>
          <a:xfrm rot="10800000">
            <a:off x="6715141" y="3838578"/>
            <a:ext cx="714380" cy="214314"/>
          </a:xfrm>
          <a:prstGeom prst="right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12" name="右箭头 11"/>
          <p:cNvSpPr/>
          <p:nvPr/>
        </p:nvSpPr>
        <p:spPr>
          <a:xfrm rot="10800000">
            <a:off x="6143636" y="5429263"/>
            <a:ext cx="714380" cy="214314"/>
          </a:xfrm>
          <a:prstGeom prst="right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305800" cy="914400"/>
          </a:xfrm>
        </p:spPr>
        <p:txBody>
          <a:bodyPr/>
          <a:lstStyle/>
          <a:p>
            <a:pPr eaLnBrk="1" hangingPunct="1"/>
            <a:r>
              <a:rPr lang="en-US" altLang="zh-CN" b="1" dirty="0">
                <a:solidFill>
                  <a:schemeClr val="accent2"/>
                </a:solidFill>
                <a:ea typeface="黑体" pitchFamily="49" charset="-122"/>
              </a:rPr>
              <a:t>GTAP</a:t>
            </a:r>
            <a:r>
              <a:rPr lang="zh-CN" altLang="en-US" b="1" dirty="0">
                <a:solidFill>
                  <a:schemeClr val="accent2"/>
                </a:solidFill>
                <a:ea typeface="黑体" pitchFamily="49" charset="-122"/>
              </a:rPr>
              <a:t>能源模型</a:t>
            </a:r>
            <a:r>
              <a:rPr lang="en-US" altLang="zh-TW" b="1" dirty="0">
                <a:solidFill>
                  <a:schemeClr val="accent2"/>
                </a:solidFill>
                <a:ea typeface="黑体" pitchFamily="49" charset="-122"/>
              </a:rPr>
              <a:t>: GTAP-E</a:t>
            </a:r>
          </a:p>
        </p:txBody>
      </p:sp>
      <p:sp>
        <p:nvSpPr>
          <p:cNvPr id="20483" name="Rectangle 3"/>
          <p:cNvSpPr>
            <a:spLocks noGrp="1" noChangeArrowheads="1"/>
          </p:cNvSpPr>
          <p:nvPr>
            <p:ph type="body" idx="1"/>
          </p:nvPr>
        </p:nvSpPr>
        <p:spPr>
          <a:xfrm>
            <a:off x="381000" y="1066800"/>
            <a:ext cx="8458200" cy="533400"/>
          </a:xfrm>
          <a:noFill/>
          <a:ln>
            <a:solidFill>
              <a:srgbClr val="990000"/>
            </a:solidFill>
          </a:ln>
        </p:spPr>
        <p:txBody>
          <a:bodyPr lIns="92075" tIns="46038" rIns="92075" bIns="46038">
            <a:normAutofit fontScale="92500"/>
          </a:bodyPr>
          <a:lstStyle/>
          <a:p>
            <a:pPr algn="ctr" eaLnBrk="1" hangingPunct="1">
              <a:buFontTx/>
              <a:buNone/>
            </a:pPr>
            <a:r>
              <a:rPr lang="en-US" altLang="zh-TW" sz="2400" dirty="0">
                <a:solidFill>
                  <a:srgbClr val="008000"/>
                </a:solidFill>
                <a:latin typeface="Times New Roman" pitchFamily="18" charset="0"/>
                <a:ea typeface="黑体" pitchFamily="49" charset="-122"/>
              </a:rPr>
              <a:t> GTAP</a:t>
            </a:r>
            <a:r>
              <a:rPr lang="zh-CN" altLang="en-US" sz="2400" dirty="0">
                <a:solidFill>
                  <a:srgbClr val="008000"/>
                </a:solidFill>
                <a:latin typeface="Times New Roman" pitchFamily="18" charset="0"/>
                <a:ea typeface="黑体" pitchFamily="49" charset="-122"/>
              </a:rPr>
              <a:t>标准生产模块</a:t>
            </a:r>
            <a:r>
              <a:rPr lang="en-US" altLang="zh-TW" sz="2400" dirty="0">
                <a:solidFill>
                  <a:srgbClr val="008000"/>
                </a:solidFill>
                <a:latin typeface="Times New Roman" pitchFamily="18" charset="0"/>
                <a:ea typeface="黑体" pitchFamily="49" charset="-122"/>
              </a:rPr>
              <a:t> + energy substitution  (inter-KE and inter-fuel)</a:t>
            </a:r>
            <a:endParaRPr lang="zh-TW" altLang="en-US" sz="2400" dirty="0">
              <a:solidFill>
                <a:srgbClr val="008000"/>
              </a:solidFill>
              <a:latin typeface="Times New Roman" pitchFamily="18" charset="0"/>
              <a:ea typeface="黑体" pitchFamily="49" charset="-122"/>
            </a:endParaRPr>
          </a:p>
        </p:txBody>
      </p:sp>
      <p:grpSp>
        <p:nvGrpSpPr>
          <p:cNvPr id="2" name="Group 4"/>
          <p:cNvGrpSpPr>
            <a:grpSpLocks/>
          </p:cNvGrpSpPr>
          <p:nvPr/>
        </p:nvGrpSpPr>
        <p:grpSpPr bwMode="auto">
          <a:xfrm>
            <a:off x="0" y="1828800"/>
            <a:ext cx="4572000" cy="3657600"/>
            <a:chOff x="0" y="1152"/>
            <a:chExt cx="2880" cy="2304"/>
          </a:xfrm>
        </p:grpSpPr>
        <p:sp>
          <p:nvSpPr>
            <p:cNvPr id="20529" name="Rectangle 5"/>
            <p:cNvSpPr>
              <a:spLocks noChangeArrowheads="1"/>
            </p:cNvSpPr>
            <p:nvPr/>
          </p:nvSpPr>
          <p:spPr bwMode="auto">
            <a:xfrm>
              <a:off x="49" y="1152"/>
              <a:ext cx="2783" cy="2304"/>
            </a:xfrm>
            <a:prstGeom prst="rect">
              <a:avLst/>
            </a:prstGeom>
            <a:noFill/>
            <a:ln w="12700" cap="sq">
              <a:solidFill>
                <a:schemeClr val="tx1"/>
              </a:solidFill>
              <a:miter lim="800000"/>
              <a:headEnd type="none" w="sm" len="sm"/>
              <a:tailEnd type="none" w="sm" len="sm"/>
            </a:ln>
          </p:spPr>
          <p:txBody>
            <a:bodyPr wrap="none" anchor="ctr"/>
            <a:lstStyle/>
            <a:p>
              <a:endParaRPr lang="zh-CN" altLang="en-US"/>
            </a:p>
          </p:txBody>
        </p:sp>
        <p:sp>
          <p:nvSpPr>
            <p:cNvPr id="20530" name="Text Box 6"/>
            <p:cNvSpPr txBox="1">
              <a:spLocks noChangeArrowheads="1"/>
            </p:cNvSpPr>
            <p:nvPr/>
          </p:nvSpPr>
          <p:spPr bwMode="auto">
            <a:xfrm>
              <a:off x="976" y="1204"/>
              <a:ext cx="1075" cy="453"/>
            </a:xfrm>
            <a:prstGeom prst="rect">
              <a:avLst/>
            </a:prstGeom>
            <a:noFill/>
            <a:ln w="38100">
              <a:noFill/>
              <a:miter lim="800000"/>
              <a:headEnd/>
              <a:tailEnd/>
            </a:ln>
          </p:spPr>
          <p:txBody>
            <a:bodyPr/>
            <a:lstStyle/>
            <a:p>
              <a:pPr algn="ctr" eaLnBrk="0" hangingPunct="0">
                <a:spcBef>
                  <a:spcPts val="600"/>
                </a:spcBef>
              </a:pPr>
              <a:r>
                <a:rPr lang="zh-CN" altLang="en-US" sz="2400" b="1" dirty="0">
                  <a:solidFill>
                    <a:srgbClr val="0000FF"/>
                  </a:solidFill>
                  <a:latin typeface="黑体" pitchFamily="49" charset="-122"/>
                  <a:ea typeface="黑体" pitchFamily="49" charset="-122"/>
                </a:rPr>
                <a:t>产出</a:t>
              </a:r>
              <a:endParaRPr lang="en-US" altLang="zh-TW" sz="1100" dirty="0">
                <a:solidFill>
                  <a:srgbClr val="0000FF"/>
                </a:solidFill>
                <a:latin typeface="黑体" pitchFamily="49" charset="-122"/>
                <a:ea typeface="黑体" pitchFamily="49" charset="-122"/>
              </a:endParaRPr>
            </a:p>
          </p:txBody>
        </p:sp>
        <p:sp>
          <p:nvSpPr>
            <p:cNvPr id="20531" name="Text Box 7"/>
            <p:cNvSpPr txBox="1">
              <a:spLocks noChangeArrowheads="1"/>
            </p:cNvSpPr>
            <p:nvPr/>
          </p:nvSpPr>
          <p:spPr bwMode="auto">
            <a:xfrm>
              <a:off x="97" y="1728"/>
              <a:ext cx="1319" cy="314"/>
            </a:xfrm>
            <a:prstGeom prst="rect">
              <a:avLst/>
            </a:prstGeom>
            <a:noFill/>
            <a:ln w="38100">
              <a:noFill/>
              <a:miter lim="800000"/>
              <a:headEnd/>
              <a:tailEnd/>
            </a:ln>
          </p:spPr>
          <p:txBody>
            <a:bodyPr/>
            <a:lstStyle/>
            <a:p>
              <a:pPr algn="ctr" eaLnBrk="0" hangingPunct="0">
                <a:spcBef>
                  <a:spcPts val="600"/>
                </a:spcBef>
              </a:pPr>
              <a:r>
                <a:rPr lang="en-US" altLang="zh-TW" b="1" dirty="0">
                  <a:latin typeface="Times New Roman" pitchFamily="18" charset="0"/>
                  <a:ea typeface="PMingLiU" pitchFamily="18" charset="-120"/>
                </a:rPr>
                <a:t>Value Added</a:t>
              </a:r>
              <a:br>
                <a:rPr lang="en-US" altLang="zh-TW" sz="1600" b="1" dirty="0">
                  <a:latin typeface="Times New Roman" pitchFamily="18" charset="0"/>
                  <a:ea typeface="PMingLiU" pitchFamily="18" charset="-120"/>
                </a:rPr>
              </a:br>
              <a:endParaRPr lang="en-US" altLang="zh-TW" sz="1600" b="1" dirty="0">
                <a:latin typeface="Times New Roman" pitchFamily="18" charset="0"/>
                <a:ea typeface="PMingLiU" pitchFamily="18" charset="-120"/>
              </a:endParaRPr>
            </a:p>
          </p:txBody>
        </p:sp>
        <p:sp>
          <p:nvSpPr>
            <p:cNvPr id="20532" name="Text Box 8"/>
            <p:cNvSpPr txBox="1">
              <a:spLocks noChangeArrowheads="1"/>
            </p:cNvSpPr>
            <p:nvPr/>
          </p:nvSpPr>
          <p:spPr bwMode="auto">
            <a:xfrm>
              <a:off x="1215" y="1728"/>
              <a:ext cx="1665" cy="419"/>
            </a:xfrm>
            <a:prstGeom prst="rect">
              <a:avLst/>
            </a:prstGeom>
            <a:noFill/>
            <a:ln w="38100">
              <a:noFill/>
              <a:miter lim="800000"/>
              <a:headEnd/>
              <a:tailEnd/>
            </a:ln>
          </p:spPr>
          <p:txBody>
            <a:bodyPr/>
            <a:lstStyle/>
            <a:p>
              <a:pPr algn="ctr" eaLnBrk="0" hangingPunct="0">
                <a:spcBef>
                  <a:spcPts val="600"/>
                </a:spcBef>
              </a:pPr>
              <a:r>
                <a:rPr lang="zh-CN" altLang="en-US" b="1" dirty="0">
                  <a:latin typeface="Times New Roman" pitchFamily="18" charset="0"/>
                  <a:ea typeface="PMingLiU" pitchFamily="18" charset="-120"/>
                </a:rPr>
                <a:t>中间投入</a:t>
              </a:r>
              <a:br>
                <a:rPr lang="en-US" altLang="zh-TW" b="1" dirty="0">
                  <a:latin typeface="Times New Roman" pitchFamily="18" charset="0"/>
                  <a:ea typeface="PMingLiU" pitchFamily="18" charset="-120"/>
                </a:rPr>
              </a:br>
              <a:r>
                <a:rPr lang="en-US" altLang="zh-TW" sz="2000" b="1" dirty="0">
                  <a:solidFill>
                    <a:srgbClr val="FF0000"/>
                  </a:solidFill>
                  <a:latin typeface="黑体" pitchFamily="49" charset="-122"/>
                  <a:ea typeface="黑体" pitchFamily="49" charset="-122"/>
                </a:rPr>
                <a:t>(</a:t>
              </a:r>
              <a:r>
                <a:rPr lang="zh-CN" altLang="en-US" sz="1600" b="1" dirty="0">
                  <a:solidFill>
                    <a:srgbClr val="FF0000"/>
                  </a:solidFill>
                  <a:latin typeface="黑体" pitchFamily="49" charset="-122"/>
                  <a:ea typeface="黑体" pitchFamily="49" charset="-122"/>
                </a:rPr>
                <a:t>能源产品，非能源产品）</a:t>
              </a:r>
              <a:endParaRPr lang="en-US" altLang="zh-TW" b="1" baseline="-25000" dirty="0">
                <a:solidFill>
                  <a:srgbClr val="FF0000"/>
                </a:solidFill>
                <a:latin typeface="黑体" pitchFamily="49" charset="-122"/>
                <a:ea typeface="黑体" pitchFamily="49" charset="-122"/>
              </a:endParaRPr>
            </a:p>
          </p:txBody>
        </p:sp>
        <p:sp>
          <p:nvSpPr>
            <p:cNvPr id="3081" name="Text Box 9"/>
            <p:cNvSpPr txBox="1">
              <a:spLocks noChangeArrowheads="1"/>
            </p:cNvSpPr>
            <p:nvPr/>
          </p:nvSpPr>
          <p:spPr bwMode="auto">
            <a:xfrm>
              <a:off x="1056" y="2592"/>
              <a:ext cx="582" cy="262"/>
            </a:xfrm>
            <a:prstGeom prst="rect">
              <a:avLst/>
            </a:prstGeom>
            <a:noFill/>
            <a:ln w="38100">
              <a:noFill/>
              <a:miter lim="800000"/>
              <a:headEnd/>
              <a:tailEnd/>
            </a:ln>
          </p:spPr>
          <p:txBody>
            <a:bodyPr/>
            <a:lstStyle/>
            <a:p>
              <a:pPr algn="ctr" eaLnBrk="0" hangingPunct="0">
                <a:spcBef>
                  <a:spcPts val="600"/>
                </a:spcBef>
                <a:defRPr/>
              </a:pPr>
              <a:r>
                <a:rPr lang="en-US" altLang="zh-TW" sz="1600" b="1">
                  <a:effectLst>
                    <a:outerShdw blurRad="38100" dist="38100" dir="2700000" algn="tl">
                      <a:srgbClr val="C0C0C0"/>
                    </a:outerShdw>
                  </a:effectLst>
                  <a:latin typeface="Times New Roman" pitchFamily="18" charset="0"/>
                  <a:ea typeface="PMingLiU" pitchFamily="18" charset="-120"/>
                </a:rPr>
                <a:t>Capital</a:t>
              </a:r>
              <a:endParaRPr lang="en-US" altLang="zh-TW" sz="1600" b="1" baseline="-25000">
                <a:effectLst>
                  <a:outerShdw blurRad="38100" dist="38100" dir="2700000" algn="tl">
                    <a:srgbClr val="C0C0C0"/>
                  </a:outerShdw>
                </a:effectLst>
                <a:latin typeface="Times New Roman" pitchFamily="18" charset="0"/>
                <a:ea typeface="PMingLiU" pitchFamily="18" charset="-120"/>
              </a:endParaRPr>
            </a:p>
          </p:txBody>
        </p:sp>
        <p:sp>
          <p:nvSpPr>
            <p:cNvPr id="20534" name="Text Box 10"/>
            <p:cNvSpPr txBox="1">
              <a:spLocks noChangeArrowheads="1"/>
            </p:cNvSpPr>
            <p:nvPr/>
          </p:nvSpPr>
          <p:spPr bwMode="auto">
            <a:xfrm>
              <a:off x="432" y="2592"/>
              <a:ext cx="720" cy="262"/>
            </a:xfrm>
            <a:prstGeom prst="rect">
              <a:avLst/>
            </a:prstGeom>
            <a:noFill/>
            <a:ln w="38100">
              <a:noFill/>
              <a:miter lim="800000"/>
              <a:headEnd/>
              <a:tailEnd/>
            </a:ln>
          </p:spPr>
          <p:txBody>
            <a:bodyPr/>
            <a:lstStyle/>
            <a:p>
              <a:pPr algn="ctr" eaLnBrk="0" hangingPunct="0">
                <a:spcBef>
                  <a:spcPts val="600"/>
                </a:spcBef>
              </a:pPr>
              <a:r>
                <a:rPr lang="en-US" altLang="zh-TW" sz="1600" b="1">
                  <a:latin typeface="Times New Roman" pitchFamily="18" charset="0"/>
                  <a:ea typeface="PMingLiU" pitchFamily="18" charset="-120"/>
                </a:rPr>
                <a:t>Unskilled Lab.</a:t>
              </a:r>
              <a:endParaRPr lang="en-US" altLang="zh-TW" sz="1600" b="1" baseline="-25000">
                <a:latin typeface="Times New Roman" pitchFamily="18" charset="0"/>
                <a:ea typeface="PMingLiU" pitchFamily="18" charset="-120"/>
              </a:endParaRPr>
            </a:p>
          </p:txBody>
        </p:sp>
        <p:sp>
          <p:nvSpPr>
            <p:cNvPr id="20535" name="Text Box 11"/>
            <p:cNvSpPr txBox="1">
              <a:spLocks noChangeArrowheads="1"/>
            </p:cNvSpPr>
            <p:nvPr/>
          </p:nvSpPr>
          <p:spPr bwMode="auto">
            <a:xfrm>
              <a:off x="0" y="2592"/>
              <a:ext cx="576" cy="262"/>
            </a:xfrm>
            <a:prstGeom prst="rect">
              <a:avLst/>
            </a:prstGeom>
            <a:noFill/>
            <a:ln w="38100">
              <a:noFill/>
              <a:miter lim="800000"/>
              <a:headEnd/>
              <a:tailEnd/>
            </a:ln>
          </p:spPr>
          <p:txBody>
            <a:bodyPr/>
            <a:lstStyle/>
            <a:p>
              <a:pPr algn="ctr" eaLnBrk="0" hangingPunct="0">
                <a:spcBef>
                  <a:spcPts val="600"/>
                </a:spcBef>
              </a:pPr>
              <a:r>
                <a:rPr lang="en-US" altLang="zh-TW" sz="1600" b="1" dirty="0">
                  <a:latin typeface="Times New Roman" pitchFamily="18" charset="0"/>
                  <a:ea typeface="PMingLiU" pitchFamily="18" charset="-120"/>
                </a:rPr>
                <a:t>Skilled Lab.</a:t>
              </a:r>
              <a:endParaRPr lang="en-US" altLang="zh-TW" sz="1600" b="1" baseline="-25000" dirty="0">
                <a:latin typeface="Times New Roman" pitchFamily="18" charset="0"/>
                <a:ea typeface="PMingLiU" pitchFamily="18" charset="-120"/>
              </a:endParaRPr>
            </a:p>
          </p:txBody>
        </p:sp>
        <p:sp>
          <p:nvSpPr>
            <p:cNvPr id="20536" name="Text Box 12"/>
            <p:cNvSpPr txBox="1">
              <a:spLocks noChangeArrowheads="1"/>
            </p:cNvSpPr>
            <p:nvPr/>
          </p:nvSpPr>
          <p:spPr bwMode="auto">
            <a:xfrm>
              <a:off x="1968" y="2592"/>
              <a:ext cx="759" cy="415"/>
            </a:xfrm>
            <a:prstGeom prst="rect">
              <a:avLst/>
            </a:prstGeom>
            <a:noFill/>
            <a:ln w="38100">
              <a:noFill/>
              <a:miter lim="800000"/>
              <a:headEnd/>
              <a:tailEnd/>
            </a:ln>
          </p:spPr>
          <p:txBody>
            <a:bodyPr/>
            <a:lstStyle/>
            <a:p>
              <a:pPr algn="ctr" eaLnBrk="0" hangingPunct="0">
                <a:spcBef>
                  <a:spcPts val="600"/>
                </a:spcBef>
              </a:pPr>
              <a:r>
                <a:rPr lang="en-US" altLang="zh-TW" sz="1600" b="1">
                  <a:latin typeface="Times New Roman" pitchFamily="18" charset="0"/>
                  <a:ea typeface="PMingLiU" pitchFamily="18" charset="-120"/>
                </a:rPr>
                <a:t>Nat. Resources</a:t>
              </a:r>
              <a:endParaRPr lang="en-US" altLang="zh-TW" sz="1600" b="1" baseline="-25000">
                <a:latin typeface="Times New Roman" pitchFamily="18" charset="0"/>
                <a:ea typeface="PMingLiU" pitchFamily="18" charset="-120"/>
              </a:endParaRPr>
            </a:p>
          </p:txBody>
        </p:sp>
        <p:sp>
          <p:nvSpPr>
            <p:cNvPr id="20537" name="Text Box 13"/>
            <p:cNvSpPr txBox="1">
              <a:spLocks noChangeArrowheads="1"/>
            </p:cNvSpPr>
            <p:nvPr/>
          </p:nvSpPr>
          <p:spPr bwMode="auto">
            <a:xfrm>
              <a:off x="1575" y="2592"/>
              <a:ext cx="537" cy="262"/>
            </a:xfrm>
            <a:prstGeom prst="rect">
              <a:avLst/>
            </a:prstGeom>
            <a:noFill/>
            <a:ln w="38100">
              <a:noFill/>
              <a:miter lim="800000"/>
              <a:headEnd/>
              <a:tailEnd/>
            </a:ln>
          </p:spPr>
          <p:txBody>
            <a:bodyPr/>
            <a:lstStyle/>
            <a:p>
              <a:pPr algn="ctr" eaLnBrk="0" hangingPunct="0">
                <a:spcBef>
                  <a:spcPts val="600"/>
                </a:spcBef>
              </a:pPr>
              <a:r>
                <a:rPr lang="en-US" altLang="zh-TW" sz="1600" b="1">
                  <a:latin typeface="Times New Roman" pitchFamily="18" charset="0"/>
                  <a:ea typeface="PMingLiU" pitchFamily="18" charset="-120"/>
                </a:rPr>
                <a:t>Land</a:t>
              </a:r>
              <a:endParaRPr lang="en-US" altLang="zh-TW" sz="1600" b="1" baseline="-25000">
                <a:latin typeface="Times New Roman" pitchFamily="18" charset="0"/>
                <a:ea typeface="PMingLiU" pitchFamily="18" charset="-120"/>
              </a:endParaRPr>
            </a:p>
          </p:txBody>
        </p:sp>
        <p:sp>
          <p:nvSpPr>
            <p:cNvPr id="20538" name="Freeform 14"/>
            <p:cNvSpPr>
              <a:spLocks/>
            </p:cNvSpPr>
            <p:nvPr/>
          </p:nvSpPr>
          <p:spPr bwMode="auto">
            <a:xfrm>
              <a:off x="799" y="1968"/>
              <a:ext cx="1017" cy="656"/>
            </a:xfrm>
            <a:custGeom>
              <a:avLst/>
              <a:gdLst>
                <a:gd name="T0" fmla="*/ 0 w 1017"/>
                <a:gd name="T1" fmla="*/ 0 h 656"/>
                <a:gd name="T2" fmla="*/ 1017 w 1017"/>
                <a:gd name="T3" fmla="*/ 656 h 656"/>
                <a:gd name="T4" fmla="*/ 0 60000 65536"/>
                <a:gd name="T5" fmla="*/ 0 60000 65536"/>
                <a:gd name="T6" fmla="*/ 0 w 1017"/>
                <a:gd name="T7" fmla="*/ 0 h 656"/>
                <a:gd name="T8" fmla="*/ 1017 w 1017"/>
                <a:gd name="T9" fmla="*/ 656 h 656"/>
              </a:gdLst>
              <a:ahLst/>
              <a:cxnLst>
                <a:cxn ang="T4">
                  <a:pos x="T0" y="T1"/>
                </a:cxn>
                <a:cxn ang="T5">
                  <a:pos x="T2" y="T3"/>
                </a:cxn>
              </a:cxnLst>
              <a:rect l="T6" t="T7" r="T8" b="T9"/>
              <a:pathLst>
                <a:path w="1017" h="656">
                  <a:moveTo>
                    <a:pt x="0" y="0"/>
                  </a:moveTo>
                  <a:lnTo>
                    <a:pt x="1017" y="656"/>
                  </a:lnTo>
                </a:path>
              </a:pathLst>
            </a:custGeom>
            <a:noFill/>
            <a:ln w="12700" cap="sq">
              <a:solidFill>
                <a:schemeClr val="tx1"/>
              </a:solidFill>
              <a:round/>
              <a:headEnd type="none" w="sm" len="sm"/>
              <a:tailEnd type="none" w="sm" len="sm"/>
            </a:ln>
          </p:spPr>
          <p:txBody>
            <a:bodyPr wrap="none" anchor="ctr"/>
            <a:lstStyle/>
            <a:p>
              <a:endParaRPr lang="zh-CN" altLang="en-US"/>
            </a:p>
          </p:txBody>
        </p:sp>
        <p:sp>
          <p:nvSpPr>
            <p:cNvPr id="20539" name="Freeform 15"/>
            <p:cNvSpPr>
              <a:spLocks/>
            </p:cNvSpPr>
            <p:nvPr/>
          </p:nvSpPr>
          <p:spPr bwMode="auto">
            <a:xfrm>
              <a:off x="799" y="1968"/>
              <a:ext cx="1425" cy="648"/>
            </a:xfrm>
            <a:custGeom>
              <a:avLst/>
              <a:gdLst>
                <a:gd name="T0" fmla="*/ 0 w 1425"/>
                <a:gd name="T1" fmla="*/ 0 h 648"/>
                <a:gd name="T2" fmla="*/ 1425 w 1425"/>
                <a:gd name="T3" fmla="*/ 648 h 648"/>
                <a:gd name="T4" fmla="*/ 0 60000 65536"/>
                <a:gd name="T5" fmla="*/ 0 60000 65536"/>
                <a:gd name="T6" fmla="*/ 0 w 1425"/>
                <a:gd name="T7" fmla="*/ 0 h 648"/>
                <a:gd name="T8" fmla="*/ 1425 w 1425"/>
                <a:gd name="T9" fmla="*/ 648 h 648"/>
              </a:gdLst>
              <a:ahLst/>
              <a:cxnLst>
                <a:cxn ang="T4">
                  <a:pos x="T0" y="T1"/>
                </a:cxn>
                <a:cxn ang="T5">
                  <a:pos x="T2" y="T3"/>
                </a:cxn>
              </a:cxnLst>
              <a:rect l="T6" t="T7" r="T8" b="T9"/>
              <a:pathLst>
                <a:path w="1425" h="648">
                  <a:moveTo>
                    <a:pt x="0" y="0"/>
                  </a:moveTo>
                  <a:lnTo>
                    <a:pt x="1425" y="648"/>
                  </a:lnTo>
                </a:path>
              </a:pathLst>
            </a:custGeom>
            <a:noFill/>
            <a:ln w="12700" cap="sq">
              <a:solidFill>
                <a:schemeClr val="tx1"/>
              </a:solidFill>
              <a:round/>
              <a:headEnd type="none" w="sm" len="sm"/>
              <a:tailEnd type="none" w="sm" len="sm"/>
            </a:ln>
          </p:spPr>
          <p:txBody>
            <a:bodyPr wrap="none" anchor="ctr"/>
            <a:lstStyle/>
            <a:p>
              <a:endParaRPr lang="zh-CN" altLang="en-US"/>
            </a:p>
          </p:txBody>
        </p:sp>
        <p:sp>
          <p:nvSpPr>
            <p:cNvPr id="20540" name="Freeform 16"/>
            <p:cNvSpPr>
              <a:spLocks/>
            </p:cNvSpPr>
            <p:nvPr/>
          </p:nvSpPr>
          <p:spPr bwMode="auto">
            <a:xfrm>
              <a:off x="248" y="1968"/>
              <a:ext cx="552" cy="648"/>
            </a:xfrm>
            <a:custGeom>
              <a:avLst/>
              <a:gdLst>
                <a:gd name="T0" fmla="*/ 552 w 552"/>
                <a:gd name="T1" fmla="*/ 0 h 648"/>
                <a:gd name="T2" fmla="*/ 0 w 552"/>
                <a:gd name="T3" fmla="*/ 648 h 648"/>
                <a:gd name="T4" fmla="*/ 0 60000 65536"/>
                <a:gd name="T5" fmla="*/ 0 60000 65536"/>
                <a:gd name="T6" fmla="*/ 0 w 552"/>
                <a:gd name="T7" fmla="*/ 0 h 648"/>
                <a:gd name="T8" fmla="*/ 552 w 552"/>
                <a:gd name="T9" fmla="*/ 648 h 648"/>
              </a:gdLst>
              <a:ahLst/>
              <a:cxnLst>
                <a:cxn ang="T4">
                  <a:pos x="T0" y="T1"/>
                </a:cxn>
                <a:cxn ang="T5">
                  <a:pos x="T2" y="T3"/>
                </a:cxn>
              </a:cxnLst>
              <a:rect l="T6" t="T7" r="T8" b="T9"/>
              <a:pathLst>
                <a:path w="552" h="648">
                  <a:moveTo>
                    <a:pt x="552" y="0"/>
                  </a:moveTo>
                  <a:lnTo>
                    <a:pt x="0" y="648"/>
                  </a:lnTo>
                </a:path>
              </a:pathLst>
            </a:custGeom>
            <a:noFill/>
            <a:ln w="12700" cap="sq">
              <a:solidFill>
                <a:schemeClr val="tx1"/>
              </a:solidFill>
              <a:round/>
              <a:headEnd type="none" w="sm" len="sm"/>
              <a:tailEnd type="none" w="sm" len="sm"/>
            </a:ln>
          </p:spPr>
          <p:txBody>
            <a:bodyPr wrap="none" anchor="ctr"/>
            <a:lstStyle/>
            <a:p>
              <a:endParaRPr lang="zh-CN" altLang="en-US"/>
            </a:p>
          </p:txBody>
        </p:sp>
        <p:sp>
          <p:nvSpPr>
            <p:cNvPr id="20541" name="Freeform 17"/>
            <p:cNvSpPr>
              <a:spLocks/>
            </p:cNvSpPr>
            <p:nvPr/>
          </p:nvSpPr>
          <p:spPr bwMode="auto">
            <a:xfrm>
              <a:off x="799" y="1968"/>
              <a:ext cx="513" cy="656"/>
            </a:xfrm>
            <a:custGeom>
              <a:avLst/>
              <a:gdLst>
                <a:gd name="T0" fmla="*/ 0 w 513"/>
                <a:gd name="T1" fmla="*/ 0 h 656"/>
                <a:gd name="T2" fmla="*/ 513 w 513"/>
                <a:gd name="T3" fmla="*/ 656 h 656"/>
                <a:gd name="T4" fmla="*/ 0 60000 65536"/>
                <a:gd name="T5" fmla="*/ 0 60000 65536"/>
                <a:gd name="T6" fmla="*/ 0 w 513"/>
                <a:gd name="T7" fmla="*/ 0 h 656"/>
                <a:gd name="T8" fmla="*/ 513 w 513"/>
                <a:gd name="T9" fmla="*/ 656 h 656"/>
              </a:gdLst>
              <a:ahLst/>
              <a:cxnLst>
                <a:cxn ang="T4">
                  <a:pos x="T0" y="T1"/>
                </a:cxn>
                <a:cxn ang="T5">
                  <a:pos x="T2" y="T3"/>
                </a:cxn>
              </a:cxnLst>
              <a:rect l="T6" t="T7" r="T8" b="T9"/>
              <a:pathLst>
                <a:path w="513" h="656">
                  <a:moveTo>
                    <a:pt x="0" y="0"/>
                  </a:moveTo>
                  <a:lnTo>
                    <a:pt x="513" y="656"/>
                  </a:lnTo>
                </a:path>
              </a:pathLst>
            </a:custGeom>
            <a:noFill/>
            <a:ln w="12700" cap="sq">
              <a:solidFill>
                <a:schemeClr val="tx1"/>
              </a:solidFill>
              <a:round/>
              <a:headEnd type="none" w="sm" len="sm"/>
              <a:tailEnd type="none" w="sm" len="sm"/>
            </a:ln>
          </p:spPr>
          <p:txBody>
            <a:bodyPr wrap="none" anchor="ctr"/>
            <a:lstStyle/>
            <a:p>
              <a:endParaRPr lang="zh-CN" altLang="en-US"/>
            </a:p>
          </p:txBody>
        </p:sp>
        <p:sp>
          <p:nvSpPr>
            <p:cNvPr id="20542" name="Freeform 18"/>
            <p:cNvSpPr>
              <a:spLocks/>
            </p:cNvSpPr>
            <p:nvPr/>
          </p:nvSpPr>
          <p:spPr bwMode="auto">
            <a:xfrm>
              <a:off x="752" y="1968"/>
              <a:ext cx="47" cy="656"/>
            </a:xfrm>
            <a:custGeom>
              <a:avLst/>
              <a:gdLst>
                <a:gd name="T0" fmla="*/ 47 w 47"/>
                <a:gd name="T1" fmla="*/ 0 h 656"/>
                <a:gd name="T2" fmla="*/ 0 w 47"/>
                <a:gd name="T3" fmla="*/ 656 h 656"/>
                <a:gd name="T4" fmla="*/ 0 60000 65536"/>
                <a:gd name="T5" fmla="*/ 0 60000 65536"/>
                <a:gd name="T6" fmla="*/ 0 w 47"/>
                <a:gd name="T7" fmla="*/ 0 h 656"/>
                <a:gd name="T8" fmla="*/ 47 w 47"/>
                <a:gd name="T9" fmla="*/ 656 h 656"/>
              </a:gdLst>
              <a:ahLst/>
              <a:cxnLst>
                <a:cxn ang="T4">
                  <a:pos x="T0" y="T1"/>
                </a:cxn>
                <a:cxn ang="T5">
                  <a:pos x="T2" y="T3"/>
                </a:cxn>
              </a:cxnLst>
              <a:rect l="T6" t="T7" r="T8" b="T9"/>
              <a:pathLst>
                <a:path w="47" h="656">
                  <a:moveTo>
                    <a:pt x="47" y="0"/>
                  </a:moveTo>
                  <a:lnTo>
                    <a:pt x="0" y="656"/>
                  </a:lnTo>
                </a:path>
              </a:pathLst>
            </a:custGeom>
            <a:noFill/>
            <a:ln w="12700" cap="sq">
              <a:solidFill>
                <a:schemeClr val="tx1"/>
              </a:solidFill>
              <a:round/>
              <a:headEnd type="none" w="sm" len="sm"/>
              <a:tailEnd type="none" w="sm" len="sm"/>
            </a:ln>
          </p:spPr>
          <p:txBody>
            <a:bodyPr wrap="none" anchor="ctr"/>
            <a:lstStyle/>
            <a:p>
              <a:endParaRPr lang="zh-CN" altLang="en-US"/>
            </a:p>
          </p:txBody>
        </p:sp>
        <p:sp>
          <p:nvSpPr>
            <p:cNvPr id="20543" name="Freeform 19"/>
            <p:cNvSpPr>
              <a:spLocks/>
            </p:cNvSpPr>
            <p:nvPr/>
          </p:nvSpPr>
          <p:spPr bwMode="auto">
            <a:xfrm>
              <a:off x="781" y="1568"/>
              <a:ext cx="1859" cy="3"/>
            </a:xfrm>
            <a:custGeom>
              <a:avLst/>
              <a:gdLst>
                <a:gd name="T0" fmla="*/ 0 w 1859"/>
                <a:gd name="T1" fmla="*/ 3 h 3"/>
                <a:gd name="T2" fmla="*/ 1859 w 1859"/>
                <a:gd name="T3" fmla="*/ 0 h 3"/>
                <a:gd name="T4" fmla="*/ 0 60000 65536"/>
                <a:gd name="T5" fmla="*/ 0 60000 65536"/>
                <a:gd name="T6" fmla="*/ 0 w 1859"/>
                <a:gd name="T7" fmla="*/ 0 h 3"/>
                <a:gd name="T8" fmla="*/ 1859 w 1859"/>
                <a:gd name="T9" fmla="*/ 3 h 3"/>
              </a:gdLst>
              <a:ahLst/>
              <a:cxnLst>
                <a:cxn ang="T4">
                  <a:pos x="T0" y="T1"/>
                </a:cxn>
                <a:cxn ang="T5">
                  <a:pos x="T2" y="T3"/>
                </a:cxn>
              </a:cxnLst>
              <a:rect l="T6" t="T7" r="T8" b="T9"/>
              <a:pathLst>
                <a:path w="1859" h="3">
                  <a:moveTo>
                    <a:pt x="0" y="3"/>
                  </a:moveTo>
                  <a:lnTo>
                    <a:pt x="1859" y="0"/>
                  </a:lnTo>
                </a:path>
              </a:pathLst>
            </a:custGeom>
            <a:noFill/>
            <a:ln w="12700" cap="sq">
              <a:solidFill>
                <a:schemeClr val="tx1"/>
              </a:solidFill>
              <a:round/>
              <a:headEnd type="none" w="sm" len="sm"/>
              <a:tailEnd type="none" w="sm" len="sm"/>
            </a:ln>
          </p:spPr>
          <p:txBody>
            <a:bodyPr wrap="none" anchor="ctr"/>
            <a:lstStyle/>
            <a:p>
              <a:endParaRPr lang="zh-CN" altLang="en-US"/>
            </a:p>
          </p:txBody>
        </p:sp>
        <p:sp>
          <p:nvSpPr>
            <p:cNvPr id="20544" name="Line 20"/>
            <p:cNvSpPr>
              <a:spLocks noChangeShapeType="1"/>
            </p:cNvSpPr>
            <p:nvPr/>
          </p:nvSpPr>
          <p:spPr bwMode="auto">
            <a:xfrm>
              <a:off x="2640" y="1571"/>
              <a:ext cx="0" cy="157"/>
            </a:xfrm>
            <a:prstGeom prst="line">
              <a:avLst/>
            </a:prstGeom>
            <a:noFill/>
            <a:ln w="12700" cap="sq">
              <a:solidFill>
                <a:schemeClr val="tx1"/>
              </a:solidFill>
              <a:round/>
              <a:headEnd type="none" w="sm" len="sm"/>
              <a:tailEnd type="none" w="sm" len="sm"/>
            </a:ln>
          </p:spPr>
          <p:txBody>
            <a:bodyPr wrap="none" anchor="ctr"/>
            <a:lstStyle/>
            <a:p>
              <a:endParaRPr lang="zh-CN" altLang="en-US"/>
            </a:p>
          </p:txBody>
        </p:sp>
        <p:sp>
          <p:nvSpPr>
            <p:cNvPr id="20545" name="Line 21"/>
            <p:cNvSpPr>
              <a:spLocks noChangeShapeType="1"/>
            </p:cNvSpPr>
            <p:nvPr/>
          </p:nvSpPr>
          <p:spPr bwMode="auto">
            <a:xfrm>
              <a:off x="781" y="1571"/>
              <a:ext cx="0" cy="157"/>
            </a:xfrm>
            <a:prstGeom prst="line">
              <a:avLst/>
            </a:prstGeom>
            <a:noFill/>
            <a:ln w="12700" cap="sq">
              <a:solidFill>
                <a:schemeClr val="tx1"/>
              </a:solidFill>
              <a:round/>
              <a:headEnd type="none" w="sm" len="sm"/>
              <a:tailEnd type="none" w="sm" len="sm"/>
            </a:ln>
          </p:spPr>
          <p:txBody>
            <a:bodyPr wrap="none" anchor="ctr"/>
            <a:lstStyle/>
            <a:p>
              <a:endParaRPr lang="zh-CN" altLang="en-US"/>
            </a:p>
          </p:txBody>
        </p:sp>
        <p:sp>
          <p:nvSpPr>
            <p:cNvPr id="20546" name="Line 22"/>
            <p:cNvSpPr>
              <a:spLocks noChangeShapeType="1"/>
            </p:cNvSpPr>
            <p:nvPr/>
          </p:nvSpPr>
          <p:spPr bwMode="auto">
            <a:xfrm>
              <a:off x="2103" y="1571"/>
              <a:ext cx="0" cy="157"/>
            </a:xfrm>
            <a:prstGeom prst="line">
              <a:avLst/>
            </a:prstGeom>
            <a:noFill/>
            <a:ln w="12700" cap="sq">
              <a:solidFill>
                <a:schemeClr val="tx1"/>
              </a:solidFill>
              <a:round/>
              <a:headEnd type="none" w="sm" len="sm"/>
              <a:tailEnd type="none" w="sm" len="sm"/>
            </a:ln>
          </p:spPr>
          <p:txBody>
            <a:bodyPr wrap="none" anchor="ctr"/>
            <a:lstStyle/>
            <a:p>
              <a:endParaRPr lang="zh-CN" altLang="en-US"/>
            </a:p>
          </p:txBody>
        </p:sp>
        <p:sp>
          <p:nvSpPr>
            <p:cNvPr id="20547" name="Line 23"/>
            <p:cNvSpPr>
              <a:spLocks noChangeShapeType="1"/>
            </p:cNvSpPr>
            <p:nvPr/>
          </p:nvSpPr>
          <p:spPr bwMode="auto">
            <a:xfrm>
              <a:off x="2492" y="1571"/>
              <a:ext cx="0" cy="157"/>
            </a:xfrm>
            <a:prstGeom prst="line">
              <a:avLst/>
            </a:prstGeom>
            <a:noFill/>
            <a:ln w="12700" cap="sq">
              <a:solidFill>
                <a:schemeClr val="tx1"/>
              </a:solidFill>
              <a:round/>
              <a:headEnd type="none" w="sm" len="sm"/>
              <a:tailEnd type="none" w="sm" len="sm"/>
            </a:ln>
          </p:spPr>
          <p:txBody>
            <a:bodyPr wrap="none" anchor="ctr"/>
            <a:lstStyle/>
            <a:p>
              <a:endParaRPr lang="zh-CN" altLang="en-US"/>
            </a:p>
          </p:txBody>
        </p:sp>
        <p:sp>
          <p:nvSpPr>
            <p:cNvPr id="20548" name="Line 24"/>
            <p:cNvSpPr>
              <a:spLocks noChangeShapeType="1"/>
            </p:cNvSpPr>
            <p:nvPr/>
          </p:nvSpPr>
          <p:spPr bwMode="auto">
            <a:xfrm>
              <a:off x="1465" y="1466"/>
              <a:ext cx="0" cy="105"/>
            </a:xfrm>
            <a:prstGeom prst="line">
              <a:avLst/>
            </a:prstGeom>
            <a:noFill/>
            <a:ln w="12700" cap="sq">
              <a:solidFill>
                <a:schemeClr val="tx1"/>
              </a:solidFill>
              <a:round/>
              <a:headEnd type="none" w="sm" len="sm"/>
              <a:tailEnd type="none" w="sm" len="sm"/>
            </a:ln>
          </p:spPr>
          <p:txBody>
            <a:bodyPr wrap="none" anchor="ctr"/>
            <a:lstStyle/>
            <a:p>
              <a:endParaRPr lang="zh-CN" altLang="en-US"/>
            </a:p>
          </p:txBody>
        </p:sp>
        <p:sp>
          <p:nvSpPr>
            <p:cNvPr id="20549" name="Text Box 25"/>
            <p:cNvSpPr txBox="1">
              <a:spLocks noChangeArrowheads="1"/>
            </p:cNvSpPr>
            <p:nvPr/>
          </p:nvSpPr>
          <p:spPr bwMode="auto">
            <a:xfrm>
              <a:off x="240" y="3168"/>
              <a:ext cx="960" cy="288"/>
            </a:xfrm>
            <a:prstGeom prst="rect">
              <a:avLst/>
            </a:prstGeom>
            <a:noFill/>
            <a:ln w="12700" cap="sq">
              <a:noFill/>
              <a:miter lim="800000"/>
              <a:headEnd type="none" w="sm" len="sm"/>
              <a:tailEnd type="none" w="sm" len="sm"/>
            </a:ln>
          </p:spPr>
          <p:txBody>
            <a:bodyPr>
              <a:spAutoFit/>
            </a:bodyPr>
            <a:lstStyle/>
            <a:p>
              <a:pPr algn="ctr" eaLnBrk="0" hangingPunct="0">
                <a:spcBef>
                  <a:spcPct val="50000"/>
                </a:spcBef>
              </a:pPr>
              <a:endParaRPr lang="zh-TW" altLang="en-US" sz="2400" b="1">
                <a:solidFill>
                  <a:schemeClr val="bg1"/>
                </a:solidFill>
                <a:latin typeface="Times New Roman" pitchFamily="18" charset="0"/>
                <a:ea typeface="PMingLiU" pitchFamily="18" charset="-120"/>
              </a:endParaRPr>
            </a:p>
          </p:txBody>
        </p:sp>
        <p:sp>
          <p:nvSpPr>
            <p:cNvPr id="20550" name="Text Box 26"/>
            <p:cNvSpPr txBox="1">
              <a:spLocks noChangeArrowheads="1"/>
            </p:cNvSpPr>
            <p:nvPr/>
          </p:nvSpPr>
          <p:spPr bwMode="auto">
            <a:xfrm>
              <a:off x="48" y="3160"/>
              <a:ext cx="960" cy="296"/>
            </a:xfrm>
            <a:prstGeom prst="rect">
              <a:avLst/>
            </a:prstGeom>
            <a:ln>
              <a:headEnd type="none" w="sm" len="sm"/>
              <a:tailEnd type="none" w="sm" len="sm"/>
            </a:ln>
          </p:spPr>
          <p:style>
            <a:lnRef idx="3">
              <a:schemeClr val="lt1"/>
            </a:lnRef>
            <a:fillRef idx="1">
              <a:schemeClr val="accent2"/>
            </a:fillRef>
            <a:effectRef idx="1">
              <a:schemeClr val="accent2"/>
            </a:effectRef>
            <a:fontRef idx="minor">
              <a:schemeClr val="lt1"/>
            </a:fontRef>
          </p:style>
          <p:txBody>
            <a:bodyPr>
              <a:spAutoFit/>
            </a:bodyPr>
            <a:lstStyle/>
            <a:p>
              <a:pPr algn="ctr" eaLnBrk="0" hangingPunct="0">
                <a:spcBef>
                  <a:spcPct val="50000"/>
                </a:spcBef>
              </a:pPr>
              <a:r>
                <a:rPr lang="en-US" altLang="zh-TW" sz="2400" b="1">
                  <a:latin typeface="Times New Roman" pitchFamily="18" charset="0"/>
                  <a:ea typeface="PMingLiU" pitchFamily="18" charset="-120"/>
                </a:rPr>
                <a:t>GTAP</a:t>
              </a:r>
            </a:p>
          </p:txBody>
        </p:sp>
      </p:grpSp>
      <p:grpSp>
        <p:nvGrpSpPr>
          <p:cNvPr id="3" name="Group 27"/>
          <p:cNvGrpSpPr>
            <a:grpSpLocks/>
          </p:cNvGrpSpPr>
          <p:nvPr/>
        </p:nvGrpSpPr>
        <p:grpSpPr bwMode="auto">
          <a:xfrm>
            <a:off x="4572000" y="1828800"/>
            <a:ext cx="4572000" cy="4648200"/>
            <a:chOff x="2880" y="1152"/>
            <a:chExt cx="2880" cy="2928"/>
          </a:xfrm>
        </p:grpSpPr>
        <p:sp>
          <p:nvSpPr>
            <p:cNvPr id="20486" name="Rectangle 28"/>
            <p:cNvSpPr>
              <a:spLocks noChangeArrowheads="1"/>
            </p:cNvSpPr>
            <p:nvPr/>
          </p:nvSpPr>
          <p:spPr bwMode="auto">
            <a:xfrm>
              <a:off x="2880" y="1152"/>
              <a:ext cx="2784" cy="2928"/>
            </a:xfrm>
            <a:prstGeom prst="rect">
              <a:avLst/>
            </a:prstGeom>
            <a:noFill/>
            <a:ln w="12700" cap="sq">
              <a:solidFill>
                <a:srgbClr val="008000"/>
              </a:solidFill>
              <a:miter lim="800000"/>
              <a:headEnd type="none" w="sm" len="sm"/>
              <a:tailEnd type="none" w="sm" len="sm"/>
            </a:ln>
          </p:spPr>
          <p:txBody>
            <a:bodyPr wrap="none" anchor="ctr"/>
            <a:lstStyle/>
            <a:p>
              <a:endParaRPr lang="zh-CN" altLang="en-US"/>
            </a:p>
          </p:txBody>
        </p:sp>
        <p:sp>
          <p:nvSpPr>
            <p:cNvPr id="20487" name="Text Box 29"/>
            <p:cNvSpPr txBox="1">
              <a:spLocks noChangeArrowheads="1"/>
            </p:cNvSpPr>
            <p:nvPr/>
          </p:nvSpPr>
          <p:spPr bwMode="auto">
            <a:xfrm>
              <a:off x="2880" y="3785"/>
              <a:ext cx="960" cy="295"/>
            </a:xfrm>
            <a:prstGeom prst="rect">
              <a:avLst/>
            </a:prstGeom>
            <a:ln>
              <a:headEnd type="none" w="sm" len="sm"/>
              <a:tailEnd type="none" w="sm" len="sm"/>
            </a:ln>
          </p:spPr>
          <p:style>
            <a:lnRef idx="3">
              <a:schemeClr val="lt1"/>
            </a:lnRef>
            <a:fillRef idx="1">
              <a:schemeClr val="accent1"/>
            </a:fillRef>
            <a:effectRef idx="1">
              <a:schemeClr val="accent1"/>
            </a:effectRef>
            <a:fontRef idx="minor">
              <a:schemeClr val="lt1"/>
            </a:fontRef>
          </p:style>
          <p:txBody>
            <a:bodyPr>
              <a:spAutoFit/>
            </a:bodyPr>
            <a:lstStyle/>
            <a:p>
              <a:pPr eaLnBrk="0" hangingPunct="0">
                <a:spcBef>
                  <a:spcPct val="50000"/>
                </a:spcBef>
              </a:pPr>
              <a:r>
                <a:rPr lang="en-US" altLang="zh-TW" sz="2400" b="1" dirty="0">
                  <a:solidFill>
                    <a:schemeClr val="bg1"/>
                  </a:solidFill>
                  <a:latin typeface="Times New Roman" pitchFamily="18" charset="0"/>
                  <a:ea typeface="PMingLiU" pitchFamily="18" charset="-120"/>
                </a:rPr>
                <a:t>GTAP-E</a:t>
              </a:r>
            </a:p>
          </p:txBody>
        </p:sp>
        <p:sp>
          <p:nvSpPr>
            <p:cNvPr id="20488" name="Text Box 30"/>
            <p:cNvSpPr txBox="1">
              <a:spLocks noChangeArrowheads="1"/>
            </p:cNvSpPr>
            <p:nvPr/>
          </p:nvSpPr>
          <p:spPr bwMode="auto">
            <a:xfrm>
              <a:off x="3856" y="1202"/>
              <a:ext cx="1075" cy="477"/>
            </a:xfrm>
            <a:prstGeom prst="rect">
              <a:avLst/>
            </a:prstGeom>
            <a:noFill/>
            <a:ln w="38100">
              <a:noFill/>
              <a:miter lim="800000"/>
              <a:headEnd/>
              <a:tailEnd/>
            </a:ln>
          </p:spPr>
          <p:txBody>
            <a:bodyPr/>
            <a:lstStyle/>
            <a:p>
              <a:pPr algn="ctr" eaLnBrk="0" hangingPunct="0">
                <a:spcBef>
                  <a:spcPts val="600"/>
                </a:spcBef>
              </a:pPr>
              <a:r>
                <a:rPr lang="zh-CN" altLang="en-US" sz="2400" b="1" dirty="0">
                  <a:solidFill>
                    <a:srgbClr val="0000FF"/>
                  </a:solidFill>
                  <a:latin typeface="黑体" pitchFamily="49" charset="-122"/>
                  <a:ea typeface="黑体" pitchFamily="49" charset="-122"/>
                </a:rPr>
                <a:t>产出</a:t>
              </a:r>
              <a:endParaRPr lang="en-US" altLang="zh-TW" sz="1100" dirty="0">
                <a:solidFill>
                  <a:srgbClr val="0000FF"/>
                </a:solidFill>
                <a:latin typeface="黑体" pitchFamily="49" charset="-122"/>
                <a:ea typeface="黑体" pitchFamily="49" charset="-122"/>
              </a:endParaRPr>
            </a:p>
          </p:txBody>
        </p:sp>
        <p:sp>
          <p:nvSpPr>
            <p:cNvPr id="20489" name="Text Box 31"/>
            <p:cNvSpPr txBox="1">
              <a:spLocks noChangeArrowheads="1"/>
            </p:cNvSpPr>
            <p:nvPr/>
          </p:nvSpPr>
          <p:spPr bwMode="auto">
            <a:xfrm>
              <a:off x="2977" y="1753"/>
              <a:ext cx="1319" cy="331"/>
            </a:xfrm>
            <a:prstGeom prst="rect">
              <a:avLst/>
            </a:prstGeom>
            <a:noFill/>
            <a:ln w="38100">
              <a:noFill/>
              <a:miter lim="800000"/>
              <a:headEnd/>
              <a:tailEnd/>
            </a:ln>
          </p:spPr>
          <p:txBody>
            <a:bodyPr/>
            <a:lstStyle/>
            <a:p>
              <a:pPr algn="ctr" eaLnBrk="0" hangingPunct="0">
                <a:spcBef>
                  <a:spcPts val="600"/>
                </a:spcBef>
              </a:pPr>
              <a:r>
                <a:rPr lang="en-US" altLang="zh-TW" b="1">
                  <a:latin typeface="Times New Roman" pitchFamily="18" charset="0"/>
                  <a:ea typeface="PMingLiU" pitchFamily="18" charset="-120"/>
                </a:rPr>
                <a:t>Value Added</a:t>
              </a:r>
              <a:br>
                <a:rPr lang="en-US" altLang="zh-TW" sz="1600" b="1">
                  <a:latin typeface="Times New Roman" pitchFamily="18" charset="0"/>
                  <a:ea typeface="PMingLiU" pitchFamily="18" charset="-120"/>
                </a:rPr>
              </a:br>
              <a:endParaRPr lang="en-US" altLang="zh-TW" sz="1600" b="1">
                <a:latin typeface="Times New Roman" pitchFamily="18" charset="0"/>
                <a:ea typeface="PMingLiU" pitchFamily="18" charset="-120"/>
              </a:endParaRPr>
            </a:p>
          </p:txBody>
        </p:sp>
        <p:sp>
          <p:nvSpPr>
            <p:cNvPr id="20490" name="Text Box 32"/>
            <p:cNvSpPr txBox="1">
              <a:spLocks noChangeArrowheads="1"/>
            </p:cNvSpPr>
            <p:nvPr/>
          </p:nvSpPr>
          <p:spPr bwMode="auto">
            <a:xfrm>
              <a:off x="4293" y="1753"/>
              <a:ext cx="1467" cy="441"/>
            </a:xfrm>
            <a:prstGeom prst="rect">
              <a:avLst/>
            </a:prstGeom>
            <a:noFill/>
            <a:ln w="38100">
              <a:noFill/>
              <a:miter lim="800000"/>
              <a:headEnd/>
              <a:tailEnd/>
            </a:ln>
          </p:spPr>
          <p:txBody>
            <a:bodyPr/>
            <a:lstStyle/>
            <a:p>
              <a:pPr algn="ctr" eaLnBrk="0" hangingPunct="0">
                <a:spcBef>
                  <a:spcPts val="600"/>
                </a:spcBef>
              </a:pPr>
              <a:r>
                <a:rPr lang="zh-CN" altLang="en-US" b="1" dirty="0">
                  <a:latin typeface="Times New Roman" pitchFamily="18" charset="0"/>
                  <a:ea typeface="PMingLiU" pitchFamily="18" charset="-120"/>
                </a:rPr>
                <a:t>中间投入</a:t>
              </a:r>
              <a:br>
                <a:rPr lang="en-US" altLang="zh-TW" b="1" dirty="0">
                  <a:latin typeface="Times New Roman" pitchFamily="18" charset="0"/>
                  <a:ea typeface="PMingLiU" pitchFamily="18" charset="-120"/>
                </a:rPr>
              </a:br>
              <a:r>
                <a:rPr lang="en-US" altLang="zh-TW" b="1" dirty="0">
                  <a:latin typeface="Times New Roman" pitchFamily="18" charset="0"/>
                  <a:ea typeface="PMingLiU" pitchFamily="18" charset="-120"/>
                </a:rPr>
                <a:t>(</a:t>
              </a:r>
              <a:r>
                <a:rPr lang="zh-CN" altLang="en-US" b="1" dirty="0">
                  <a:solidFill>
                    <a:srgbClr val="FF0000"/>
                  </a:solidFill>
                  <a:latin typeface="黑体" pitchFamily="49" charset="-122"/>
                  <a:ea typeface="黑体" pitchFamily="49" charset="-122"/>
                </a:rPr>
                <a:t>非能源产品</a:t>
              </a:r>
              <a:r>
                <a:rPr lang="en-US" altLang="zh-TW" b="1" dirty="0">
                  <a:latin typeface="Times New Roman" pitchFamily="18" charset="0"/>
                  <a:ea typeface="PMingLiU" pitchFamily="18" charset="-120"/>
                </a:rPr>
                <a:t>)</a:t>
              </a:r>
              <a:endParaRPr lang="en-US" altLang="zh-TW" b="1" baseline="-25000" dirty="0">
                <a:latin typeface="Times New Roman" pitchFamily="18" charset="0"/>
                <a:ea typeface="PMingLiU" pitchFamily="18" charset="-120"/>
              </a:endParaRPr>
            </a:p>
          </p:txBody>
        </p:sp>
        <p:sp>
          <p:nvSpPr>
            <p:cNvPr id="20491" name="Text Box 33"/>
            <p:cNvSpPr txBox="1">
              <a:spLocks noChangeArrowheads="1"/>
            </p:cNvSpPr>
            <p:nvPr/>
          </p:nvSpPr>
          <p:spPr bwMode="auto">
            <a:xfrm>
              <a:off x="3198" y="2403"/>
              <a:ext cx="530" cy="103"/>
            </a:xfrm>
            <a:prstGeom prst="rect">
              <a:avLst/>
            </a:prstGeom>
            <a:noFill/>
            <a:ln w="38100">
              <a:noFill/>
              <a:miter lim="800000"/>
              <a:headEnd/>
              <a:tailEnd/>
            </a:ln>
          </p:spPr>
          <p:txBody>
            <a:bodyPr/>
            <a:lstStyle/>
            <a:p>
              <a:pPr algn="ctr" eaLnBrk="0" hangingPunct="0">
                <a:spcBef>
                  <a:spcPts val="600"/>
                </a:spcBef>
              </a:pPr>
              <a:r>
                <a:rPr lang="en-US" altLang="zh-TW" sz="1200" b="1">
                  <a:latin typeface="Times New Roman" pitchFamily="18" charset="0"/>
                  <a:ea typeface="PMingLiU" pitchFamily="18" charset="-120"/>
                </a:rPr>
                <a:t>Unskilled Lab.</a:t>
              </a:r>
              <a:endParaRPr lang="en-US" altLang="zh-TW" sz="1200" b="1" baseline="-25000">
                <a:latin typeface="Times New Roman" pitchFamily="18" charset="0"/>
                <a:ea typeface="PMingLiU" pitchFamily="18" charset="-120"/>
              </a:endParaRPr>
            </a:p>
          </p:txBody>
        </p:sp>
        <p:sp>
          <p:nvSpPr>
            <p:cNvPr id="20492" name="Text Box 34"/>
            <p:cNvSpPr txBox="1">
              <a:spLocks noChangeArrowheads="1"/>
            </p:cNvSpPr>
            <p:nvPr/>
          </p:nvSpPr>
          <p:spPr bwMode="auto">
            <a:xfrm>
              <a:off x="2880" y="2403"/>
              <a:ext cx="424" cy="103"/>
            </a:xfrm>
            <a:prstGeom prst="rect">
              <a:avLst/>
            </a:prstGeom>
            <a:noFill/>
            <a:ln w="38100">
              <a:noFill/>
              <a:miter lim="800000"/>
              <a:headEnd/>
              <a:tailEnd/>
            </a:ln>
          </p:spPr>
          <p:txBody>
            <a:bodyPr/>
            <a:lstStyle/>
            <a:p>
              <a:pPr algn="ctr" eaLnBrk="0" hangingPunct="0">
                <a:spcBef>
                  <a:spcPts val="600"/>
                </a:spcBef>
              </a:pPr>
              <a:r>
                <a:rPr lang="en-US" altLang="zh-TW" sz="1200" b="1">
                  <a:latin typeface="Times New Roman" pitchFamily="18" charset="0"/>
                  <a:ea typeface="PMingLiU" pitchFamily="18" charset="-120"/>
                </a:rPr>
                <a:t>Skilled Lab.</a:t>
              </a:r>
              <a:endParaRPr lang="en-US" altLang="zh-TW" sz="1200" b="1" baseline="-25000">
                <a:latin typeface="Times New Roman" pitchFamily="18" charset="0"/>
                <a:ea typeface="PMingLiU" pitchFamily="18" charset="-120"/>
              </a:endParaRPr>
            </a:p>
          </p:txBody>
        </p:sp>
        <p:sp>
          <p:nvSpPr>
            <p:cNvPr id="20493" name="Text Box 35"/>
            <p:cNvSpPr txBox="1">
              <a:spLocks noChangeArrowheads="1"/>
            </p:cNvSpPr>
            <p:nvPr/>
          </p:nvSpPr>
          <p:spPr bwMode="auto">
            <a:xfrm>
              <a:off x="4722" y="2403"/>
              <a:ext cx="558" cy="163"/>
            </a:xfrm>
            <a:prstGeom prst="rect">
              <a:avLst/>
            </a:prstGeom>
            <a:noFill/>
            <a:ln w="38100">
              <a:noFill/>
              <a:miter lim="800000"/>
              <a:headEnd/>
              <a:tailEnd/>
            </a:ln>
          </p:spPr>
          <p:txBody>
            <a:bodyPr/>
            <a:lstStyle/>
            <a:p>
              <a:pPr algn="ctr" eaLnBrk="0" hangingPunct="0">
                <a:spcBef>
                  <a:spcPts val="600"/>
                </a:spcBef>
              </a:pPr>
              <a:r>
                <a:rPr lang="en-US" altLang="zh-TW" sz="1200" b="1">
                  <a:latin typeface="Times New Roman" pitchFamily="18" charset="0"/>
                  <a:ea typeface="PMingLiU" pitchFamily="18" charset="-120"/>
                </a:rPr>
                <a:t>Nat. Resources</a:t>
              </a:r>
              <a:endParaRPr lang="en-US" altLang="zh-TW" sz="1200" b="1" baseline="-25000">
                <a:latin typeface="Times New Roman" pitchFamily="18" charset="0"/>
                <a:ea typeface="PMingLiU" pitchFamily="18" charset="-120"/>
              </a:endParaRPr>
            </a:p>
          </p:txBody>
        </p:sp>
        <p:sp>
          <p:nvSpPr>
            <p:cNvPr id="20494" name="Text Box 36"/>
            <p:cNvSpPr txBox="1">
              <a:spLocks noChangeArrowheads="1"/>
            </p:cNvSpPr>
            <p:nvPr/>
          </p:nvSpPr>
          <p:spPr bwMode="auto">
            <a:xfrm>
              <a:off x="4441" y="2403"/>
              <a:ext cx="395" cy="103"/>
            </a:xfrm>
            <a:prstGeom prst="rect">
              <a:avLst/>
            </a:prstGeom>
            <a:noFill/>
            <a:ln w="38100">
              <a:noFill/>
              <a:miter lim="800000"/>
              <a:headEnd/>
              <a:tailEnd/>
            </a:ln>
          </p:spPr>
          <p:txBody>
            <a:bodyPr/>
            <a:lstStyle/>
            <a:p>
              <a:pPr algn="ctr" eaLnBrk="0" hangingPunct="0">
                <a:spcBef>
                  <a:spcPts val="600"/>
                </a:spcBef>
              </a:pPr>
              <a:r>
                <a:rPr lang="en-US" altLang="zh-TW" sz="1200" b="1">
                  <a:latin typeface="Times New Roman" pitchFamily="18" charset="0"/>
                  <a:ea typeface="PMingLiU" pitchFamily="18" charset="-120"/>
                </a:rPr>
                <a:t>Land</a:t>
              </a:r>
              <a:endParaRPr lang="en-US" altLang="zh-TW" sz="1200" b="1" baseline="-25000">
                <a:latin typeface="Times New Roman" pitchFamily="18" charset="0"/>
                <a:ea typeface="PMingLiU" pitchFamily="18" charset="-120"/>
              </a:endParaRPr>
            </a:p>
          </p:txBody>
        </p:sp>
        <p:sp>
          <p:nvSpPr>
            <p:cNvPr id="20495" name="Freeform 37"/>
            <p:cNvSpPr>
              <a:spLocks/>
            </p:cNvSpPr>
            <p:nvPr/>
          </p:nvSpPr>
          <p:spPr bwMode="auto">
            <a:xfrm>
              <a:off x="3468" y="2006"/>
              <a:ext cx="1132" cy="434"/>
            </a:xfrm>
            <a:custGeom>
              <a:avLst/>
              <a:gdLst>
                <a:gd name="T0" fmla="*/ 0 w 1132"/>
                <a:gd name="T1" fmla="*/ 0 h 412"/>
                <a:gd name="T2" fmla="*/ 1132 w 1132"/>
                <a:gd name="T3" fmla="*/ 412 h 412"/>
                <a:gd name="T4" fmla="*/ 0 60000 65536"/>
                <a:gd name="T5" fmla="*/ 0 60000 65536"/>
                <a:gd name="T6" fmla="*/ 0 w 1132"/>
                <a:gd name="T7" fmla="*/ 0 h 412"/>
                <a:gd name="T8" fmla="*/ 1132 w 1132"/>
                <a:gd name="T9" fmla="*/ 412 h 412"/>
              </a:gdLst>
              <a:ahLst/>
              <a:cxnLst>
                <a:cxn ang="T4">
                  <a:pos x="T0" y="T1"/>
                </a:cxn>
                <a:cxn ang="T5">
                  <a:pos x="T2" y="T3"/>
                </a:cxn>
              </a:cxnLst>
              <a:rect l="T6" t="T7" r="T8" b="T9"/>
              <a:pathLst>
                <a:path w="1132" h="412">
                  <a:moveTo>
                    <a:pt x="0" y="0"/>
                  </a:moveTo>
                  <a:lnTo>
                    <a:pt x="1132" y="412"/>
                  </a:lnTo>
                </a:path>
              </a:pathLst>
            </a:custGeom>
            <a:noFill/>
            <a:ln w="12700" cap="sq">
              <a:solidFill>
                <a:schemeClr val="tx1"/>
              </a:solidFill>
              <a:round/>
              <a:headEnd type="none" w="sm" len="sm"/>
              <a:tailEnd type="none" w="sm" len="sm"/>
            </a:ln>
          </p:spPr>
          <p:txBody>
            <a:bodyPr wrap="none" anchor="ctr"/>
            <a:lstStyle/>
            <a:p>
              <a:endParaRPr lang="zh-CN" altLang="en-US"/>
            </a:p>
          </p:txBody>
        </p:sp>
        <p:sp>
          <p:nvSpPr>
            <p:cNvPr id="20496" name="Freeform 38"/>
            <p:cNvSpPr>
              <a:spLocks/>
            </p:cNvSpPr>
            <p:nvPr/>
          </p:nvSpPr>
          <p:spPr bwMode="auto">
            <a:xfrm>
              <a:off x="3468" y="2006"/>
              <a:ext cx="1508" cy="416"/>
            </a:xfrm>
            <a:custGeom>
              <a:avLst/>
              <a:gdLst>
                <a:gd name="T0" fmla="*/ 0 w 1508"/>
                <a:gd name="T1" fmla="*/ 0 h 396"/>
                <a:gd name="T2" fmla="*/ 1508 w 1508"/>
                <a:gd name="T3" fmla="*/ 396 h 396"/>
                <a:gd name="T4" fmla="*/ 0 60000 65536"/>
                <a:gd name="T5" fmla="*/ 0 60000 65536"/>
                <a:gd name="T6" fmla="*/ 0 w 1508"/>
                <a:gd name="T7" fmla="*/ 0 h 396"/>
                <a:gd name="T8" fmla="*/ 1508 w 1508"/>
                <a:gd name="T9" fmla="*/ 396 h 396"/>
              </a:gdLst>
              <a:ahLst/>
              <a:cxnLst>
                <a:cxn ang="T4">
                  <a:pos x="T0" y="T1"/>
                </a:cxn>
                <a:cxn ang="T5">
                  <a:pos x="T2" y="T3"/>
                </a:cxn>
              </a:cxnLst>
              <a:rect l="T6" t="T7" r="T8" b="T9"/>
              <a:pathLst>
                <a:path w="1508" h="396">
                  <a:moveTo>
                    <a:pt x="0" y="0"/>
                  </a:moveTo>
                  <a:lnTo>
                    <a:pt x="1508" y="396"/>
                  </a:lnTo>
                </a:path>
              </a:pathLst>
            </a:custGeom>
            <a:noFill/>
            <a:ln w="12700" cap="sq">
              <a:solidFill>
                <a:schemeClr val="tx1"/>
              </a:solidFill>
              <a:round/>
              <a:headEnd type="none" w="sm" len="sm"/>
              <a:tailEnd type="none" w="sm" len="sm"/>
            </a:ln>
          </p:spPr>
          <p:txBody>
            <a:bodyPr wrap="none" anchor="ctr"/>
            <a:lstStyle/>
            <a:p>
              <a:endParaRPr lang="zh-CN" altLang="en-US"/>
            </a:p>
          </p:txBody>
        </p:sp>
        <p:sp>
          <p:nvSpPr>
            <p:cNvPr id="20497" name="Freeform 39"/>
            <p:cNvSpPr>
              <a:spLocks/>
            </p:cNvSpPr>
            <p:nvPr/>
          </p:nvSpPr>
          <p:spPr bwMode="auto">
            <a:xfrm>
              <a:off x="3056" y="2006"/>
              <a:ext cx="413" cy="391"/>
            </a:xfrm>
            <a:custGeom>
              <a:avLst/>
              <a:gdLst>
                <a:gd name="T0" fmla="*/ 413 w 413"/>
                <a:gd name="T1" fmla="*/ 0 h 372"/>
                <a:gd name="T2" fmla="*/ 0 w 413"/>
                <a:gd name="T3" fmla="*/ 372 h 372"/>
                <a:gd name="T4" fmla="*/ 0 60000 65536"/>
                <a:gd name="T5" fmla="*/ 0 60000 65536"/>
                <a:gd name="T6" fmla="*/ 0 w 413"/>
                <a:gd name="T7" fmla="*/ 0 h 372"/>
                <a:gd name="T8" fmla="*/ 413 w 413"/>
                <a:gd name="T9" fmla="*/ 372 h 372"/>
              </a:gdLst>
              <a:ahLst/>
              <a:cxnLst>
                <a:cxn ang="T4">
                  <a:pos x="T0" y="T1"/>
                </a:cxn>
                <a:cxn ang="T5">
                  <a:pos x="T2" y="T3"/>
                </a:cxn>
              </a:cxnLst>
              <a:rect l="T6" t="T7" r="T8" b="T9"/>
              <a:pathLst>
                <a:path w="413" h="372">
                  <a:moveTo>
                    <a:pt x="413" y="0"/>
                  </a:moveTo>
                  <a:lnTo>
                    <a:pt x="0" y="372"/>
                  </a:lnTo>
                </a:path>
              </a:pathLst>
            </a:custGeom>
            <a:noFill/>
            <a:ln w="12700" cap="sq">
              <a:solidFill>
                <a:schemeClr val="tx1"/>
              </a:solidFill>
              <a:round/>
              <a:headEnd type="none" w="sm" len="sm"/>
              <a:tailEnd type="none" w="sm" len="sm"/>
            </a:ln>
          </p:spPr>
          <p:txBody>
            <a:bodyPr wrap="none" anchor="ctr"/>
            <a:lstStyle/>
            <a:p>
              <a:endParaRPr lang="zh-CN" altLang="en-US"/>
            </a:p>
          </p:txBody>
        </p:sp>
        <p:sp>
          <p:nvSpPr>
            <p:cNvPr id="20498" name="Freeform 40"/>
            <p:cNvSpPr>
              <a:spLocks/>
            </p:cNvSpPr>
            <p:nvPr/>
          </p:nvSpPr>
          <p:spPr bwMode="auto">
            <a:xfrm>
              <a:off x="3468" y="2006"/>
              <a:ext cx="524" cy="425"/>
            </a:xfrm>
            <a:custGeom>
              <a:avLst/>
              <a:gdLst>
                <a:gd name="T0" fmla="*/ 0 w 524"/>
                <a:gd name="T1" fmla="*/ 0 h 404"/>
                <a:gd name="T2" fmla="*/ 524 w 524"/>
                <a:gd name="T3" fmla="*/ 404 h 404"/>
                <a:gd name="T4" fmla="*/ 0 60000 65536"/>
                <a:gd name="T5" fmla="*/ 0 60000 65536"/>
                <a:gd name="T6" fmla="*/ 0 w 524"/>
                <a:gd name="T7" fmla="*/ 0 h 404"/>
                <a:gd name="T8" fmla="*/ 524 w 524"/>
                <a:gd name="T9" fmla="*/ 404 h 404"/>
              </a:gdLst>
              <a:ahLst/>
              <a:cxnLst>
                <a:cxn ang="T4">
                  <a:pos x="T0" y="T1"/>
                </a:cxn>
                <a:cxn ang="T5">
                  <a:pos x="T2" y="T3"/>
                </a:cxn>
              </a:cxnLst>
              <a:rect l="T6" t="T7" r="T8" b="T9"/>
              <a:pathLst>
                <a:path w="524" h="404">
                  <a:moveTo>
                    <a:pt x="0" y="0"/>
                  </a:moveTo>
                  <a:lnTo>
                    <a:pt x="524" y="404"/>
                  </a:lnTo>
                </a:path>
              </a:pathLst>
            </a:custGeom>
            <a:noFill/>
            <a:ln w="12700" cap="sq">
              <a:solidFill>
                <a:schemeClr val="tx1"/>
              </a:solidFill>
              <a:round/>
              <a:headEnd type="none" w="sm" len="sm"/>
              <a:tailEnd type="none" w="sm" len="sm"/>
            </a:ln>
          </p:spPr>
          <p:txBody>
            <a:bodyPr wrap="none" anchor="ctr"/>
            <a:lstStyle/>
            <a:p>
              <a:endParaRPr lang="zh-CN" altLang="en-US"/>
            </a:p>
          </p:txBody>
        </p:sp>
        <p:sp>
          <p:nvSpPr>
            <p:cNvPr id="20499" name="Freeform 41"/>
            <p:cNvSpPr>
              <a:spLocks/>
            </p:cNvSpPr>
            <p:nvPr/>
          </p:nvSpPr>
          <p:spPr bwMode="auto">
            <a:xfrm>
              <a:off x="3432" y="2006"/>
              <a:ext cx="36" cy="408"/>
            </a:xfrm>
            <a:custGeom>
              <a:avLst/>
              <a:gdLst>
                <a:gd name="T0" fmla="*/ 36 w 36"/>
                <a:gd name="T1" fmla="*/ 0 h 388"/>
                <a:gd name="T2" fmla="*/ 0 w 36"/>
                <a:gd name="T3" fmla="*/ 388 h 388"/>
                <a:gd name="T4" fmla="*/ 0 60000 65536"/>
                <a:gd name="T5" fmla="*/ 0 60000 65536"/>
                <a:gd name="T6" fmla="*/ 0 w 36"/>
                <a:gd name="T7" fmla="*/ 0 h 388"/>
                <a:gd name="T8" fmla="*/ 36 w 36"/>
                <a:gd name="T9" fmla="*/ 388 h 388"/>
              </a:gdLst>
              <a:ahLst/>
              <a:cxnLst>
                <a:cxn ang="T4">
                  <a:pos x="T0" y="T1"/>
                </a:cxn>
                <a:cxn ang="T5">
                  <a:pos x="T2" y="T3"/>
                </a:cxn>
              </a:cxnLst>
              <a:rect l="T6" t="T7" r="T8" b="T9"/>
              <a:pathLst>
                <a:path w="36" h="388">
                  <a:moveTo>
                    <a:pt x="36" y="0"/>
                  </a:moveTo>
                  <a:lnTo>
                    <a:pt x="0" y="388"/>
                  </a:lnTo>
                </a:path>
              </a:pathLst>
            </a:custGeom>
            <a:noFill/>
            <a:ln w="12700" cap="sq">
              <a:solidFill>
                <a:schemeClr val="tx1"/>
              </a:solidFill>
              <a:round/>
              <a:headEnd type="none" w="sm" len="sm"/>
              <a:tailEnd type="none" w="sm" len="sm"/>
            </a:ln>
          </p:spPr>
          <p:txBody>
            <a:bodyPr wrap="none" anchor="ctr"/>
            <a:lstStyle/>
            <a:p>
              <a:endParaRPr lang="zh-CN" altLang="en-US"/>
            </a:p>
          </p:txBody>
        </p:sp>
        <p:sp>
          <p:nvSpPr>
            <p:cNvPr id="20500" name="Freeform 42"/>
            <p:cNvSpPr>
              <a:spLocks/>
            </p:cNvSpPr>
            <p:nvPr/>
          </p:nvSpPr>
          <p:spPr bwMode="auto">
            <a:xfrm>
              <a:off x="3661" y="1586"/>
              <a:ext cx="1859" cy="3"/>
            </a:xfrm>
            <a:custGeom>
              <a:avLst/>
              <a:gdLst>
                <a:gd name="T0" fmla="*/ 0 w 1859"/>
                <a:gd name="T1" fmla="*/ 3 h 3"/>
                <a:gd name="T2" fmla="*/ 1859 w 1859"/>
                <a:gd name="T3" fmla="*/ 0 h 3"/>
                <a:gd name="T4" fmla="*/ 0 60000 65536"/>
                <a:gd name="T5" fmla="*/ 0 60000 65536"/>
                <a:gd name="T6" fmla="*/ 0 w 1859"/>
                <a:gd name="T7" fmla="*/ 0 h 3"/>
                <a:gd name="T8" fmla="*/ 1859 w 1859"/>
                <a:gd name="T9" fmla="*/ 3 h 3"/>
              </a:gdLst>
              <a:ahLst/>
              <a:cxnLst>
                <a:cxn ang="T4">
                  <a:pos x="T0" y="T1"/>
                </a:cxn>
                <a:cxn ang="T5">
                  <a:pos x="T2" y="T3"/>
                </a:cxn>
              </a:cxnLst>
              <a:rect l="T6" t="T7" r="T8" b="T9"/>
              <a:pathLst>
                <a:path w="1859" h="3">
                  <a:moveTo>
                    <a:pt x="0" y="3"/>
                  </a:moveTo>
                  <a:lnTo>
                    <a:pt x="1859" y="0"/>
                  </a:lnTo>
                </a:path>
              </a:pathLst>
            </a:custGeom>
            <a:noFill/>
            <a:ln w="12700" cap="sq">
              <a:solidFill>
                <a:schemeClr val="tx1"/>
              </a:solidFill>
              <a:round/>
              <a:headEnd type="none" w="sm" len="sm"/>
              <a:tailEnd type="none" w="sm" len="sm"/>
            </a:ln>
          </p:spPr>
          <p:txBody>
            <a:bodyPr wrap="none" anchor="ctr"/>
            <a:lstStyle/>
            <a:p>
              <a:endParaRPr lang="zh-CN" altLang="en-US"/>
            </a:p>
          </p:txBody>
        </p:sp>
        <p:sp>
          <p:nvSpPr>
            <p:cNvPr id="20501" name="Line 43"/>
            <p:cNvSpPr>
              <a:spLocks noChangeShapeType="1"/>
            </p:cNvSpPr>
            <p:nvPr/>
          </p:nvSpPr>
          <p:spPr bwMode="auto">
            <a:xfrm>
              <a:off x="5520" y="1589"/>
              <a:ext cx="0" cy="164"/>
            </a:xfrm>
            <a:prstGeom prst="line">
              <a:avLst/>
            </a:prstGeom>
            <a:noFill/>
            <a:ln w="12700" cap="sq">
              <a:solidFill>
                <a:schemeClr val="tx1"/>
              </a:solidFill>
              <a:round/>
              <a:headEnd type="none" w="sm" len="sm"/>
              <a:tailEnd type="none" w="sm" len="sm"/>
            </a:ln>
          </p:spPr>
          <p:txBody>
            <a:bodyPr wrap="none" anchor="ctr"/>
            <a:lstStyle/>
            <a:p>
              <a:endParaRPr lang="zh-CN" altLang="en-US"/>
            </a:p>
          </p:txBody>
        </p:sp>
        <p:sp>
          <p:nvSpPr>
            <p:cNvPr id="20502" name="Line 44"/>
            <p:cNvSpPr>
              <a:spLocks noChangeShapeType="1"/>
            </p:cNvSpPr>
            <p:nvPr/>
          </p:nvSpPr>
          <p:spPr bwMode="auto">
            <a:xfrm>
              <a:off x="3661" y="1589"/>
              <a:ext cx="0" cy="164"/>
            </a:xfrm>
            <a:prstGeom prst="line">
              <a:avLst/>
            </a:prstGeom>
            <a:noFill/>
            <a:ln w="12700" cap="sq">
              <a:solidFill>
                <a:schemeClr val="tx1"/>
              </a:solidFill>
              <a:round/>
              <a:headEnd type="none" w="sm" len="sm"/>
              <a:tailEnd type="none" w="sm" len="sm"/>
            </a:ln>
          </p:spPr>
          <p:txBody>
            <a:bodyPr wrap="none" anchor="ctr"/>
            <a:lstStyle/>
            <a:p>
              <a:endParaRPr lang="zh-CN" altLang="en-US"/>
            </a:p>
          </p:txBody>
        </p:sp>
        <p:sp>
          <p:nvSpPr>
            <p:cNvPr id="20503" name="Line 45"/>
            <p:cNvSpPr>
              <a:spLocks noChangeShapeType="1"/>
            </p:cNvSpPr>
            <p:nvPr/>
          </p:nvSpPr>
          <p:spPr bwMode="auto">
            <a:xfrm>
              <a:off x="4983" y="1589"/>
              <a:ext cx="0" cy="164"/>
            </a:xfrm>
            <a:prstGeom prst="line">
              <a:avLst/>
            </a:prstGeom>
            <a:noFill/>
            <a:ln w="12700" cap="sq">
              <a:solidFill>
                <a:schemeClr val="tx1"/>
              </a:solidFill>
              <a:round/>
              <a:headEnd type="none" w="sm" len="sm"/>
              <a:tailEnd type="none" w="sm" len="sm"/>
            </a:ln>
          </p:spPr>
          <p:txBody>
            <a:bodyPr wrap="none" anchor="ctr"/>
            <a:lstStyle/>
            <a:p>
              <a:endParaRPr lang="zh-CN" altLang="en-US"/>
            </a:p>
          </p:txBody>
        </p:sp>
        <p:sp>
          <p:nvSpPr>
            <p:cNvPr id="20504" name="Line 46"/>
            <p:cNvSpPr>
              <a:spLocks noChangeShapeType="1"/>
            </p:cNvSpPr>
            <p:nvPr/>
          </p:nvSpPr>
          <p:spPr bwMode="auto">
            <a:xfrm>
              <a:off x="5276" y="1589"/>
              <a:ext cx="0" cy="164"/>
            </a:xfrm>
            <a:prstGeom prst="line">
              <a:avLst/>
            </a:prstGeom>
            <a:noFill/>
            <a:ln w="12700" cap="sq">
              <a:solidFill>
                <a:schemeClr val="tx1"/>
              </a:solidFill>
              <a:round/>
              <a:headEnd type="none" w="sm" len="sm"/>
              <a:tailEnd type="none" w="sm" len="sm"/>
            </a:ln>
          </p:spPr>
          <p:txBody>
            <a:bodyPr wrap="none" anchor="ctr"/>
            <a:lstStyle/>
            <a:p>
              <a:endParaRPr lang="zh-CN" altLang="en-US"/>
            </a:p>
          </p:txBody>
        </p:sp>
        <p:sp>
          <p:nvSpPr>
            <p:cNvPr id="20505" name="Line 47"/>
            <p:cNvSpPr>
              <a:spLocks noChangeShapeType="1"/>
            </p:cNvSpPr>
            <p:nvPr/>
          </p:nvSpPr>
          <p:spPr bwMode="auto">
            <a:xfrm>
              <a:off x="4345" y="1478"/>
              <a:ext cx="0" cy="111"/>
            </a:xfrm>
            <a:prstGeom prst="line">
              <a:avLst/>
            </a:prstGeom>
            <a:noFill/>
            <a:ln w="12700" cap="sq">
              <a:solidFill>
                <a:schemeClr val="tx1"/>
              </a:solidFill>
              <a:round/>
              <a:headEnd type="none" w="sm" len="sm"/>
              <a:tailEnd type="none" w="sm" len="sm"/>
            </a:ln>
          </p:spPr>
          <p:txBody>
            <a:bodyPr wrap="none" anchor="ctr"/>
            <a:lstStyle/>
            <a:p>
              <a:endParaRPr lang="zh-CN" altLang="en-US"/>
            </a:p>
          </p:txBody>
        </p:sp>
        <p:sp>
          <p:nvSpPr>
            <p:cNvPr id="20506" name="Text Box 48"/>
            <p:cNvSpPr txBox="1">
              <a:spLocks noChangeArrowheads="1"/>
            </p:cNvSpPr>
            <p:nvPr/>
          </p:nvSpPr>
          <p:spPr bwMode="auto">
            <a:xfrm>
              <a:off x="3606" y="2403"/>
              <a:ext cx="956" cy="213"/>
            </a:xfrm>
            <a:prstGeom prst="rect">
              <a:avLst/>
            </a:prstGeom>
            <a:noFill/>
            <a:ln w="38100">
              <a:noFill/>
              <a:miter lim="800000"/>
              <a:headEnd/>
              <a:tailEnd/>
            </a:ln>
          </p:spPr>
          <p:txBody>
            <a:bodyPr/>
            <a:lstStyle/>
            <a:p>
              <a:pPr algn="ctr" eaLnBrk="0" hangingPunct="0">
                <a:spcBef>
                  <a:spcPts val="600"/>
                </a:spcBef>
              </a:pPr>
              <a:r>
                <a:rPr lang="en-US" altLang="zh-TW" sz="1400" b="1">
                  <a:solidFill>
                    <a:srgbClr val="FF0000"/>
                  </a:solidFill>
                  <a:latin typeface="Times New Roman" pitchFamily="18" charset="0"/>
                  <a:ea typeface="PMingLiU" pitchFamily="18" charset="-120"/>
                </a:rPr>
                <a:t>Capital-Energy</a:t>
              </a:r>
              <a:endParaRPr lang="en-US" altLang="zh-TW" sz="1400" b="1" baseline="-25000">
                <a:solidFill>
                  <a:srgbClr val="FF0000"/>
                </a:solidFill>
                <a:latin typeface="Times New Roman" pitchFamily="18" charset="0"/>
                <a:ea typeface="PMingLiU" pitchFamily="18" charset="-120"/>
              </a:endParaRPr>
            </a:p>
          </p:txBody>
        </p:sp>
        <p:sp>
          <p:nvSpPr>
            <p:cNvPr id="20507" name="Text Box 49"/>
            <p:cNvSpPr txBox="1">
              <a:spLocks noChangeArrowheads="1"/>
            </p:cNvSpPr>
            <p:nvPr/>
          </p:nvSpPr>
          <p:spPr bwMode="auto">
            <a:xfrm>
              <a:off x="4706" y="3649"/>
              <a:ext cx="384" cy="179"/>
            </a:xfrm>
            <a:prstGeom prst="rect">
              <a:avLst/>
            </a:prstGeom>
            <a:noFill/>
            <a:ln w="38100" algn="ctr">
              <a:noFill/>
              <a:miter lim="800000"/>
              <a:headEnd/>
              <a:tailEnd/>
            </a:ln>
          </p:spPr>
          <p:txBody>
            <a:bodyPr/>
            <a:lstStyle/>
            <a:p>
              <a:pPr algn="ctr" eaLnBrk="0" hangingPunct="0">
                <a:spcBef>
                  <a:spcPts val="600"/>
                </a:spcBef>
              </a:pPr>
              <a:r>
                <a:rPr lang="en-US" altLang="zh-TW" sz="1400" b="1">
                  <a:solidFill>
                    <a:srgbClr val="FF0000"/>
                  </a:solidFill>
                  <a:latin typeface="Times New Roman" pitchFamily="18" charset="0"/>
                  <a:ea typeface="PMingLiU" pitchFamily="18" charset="-120"/>
                </a:rPr>
                <a:t>Gas</a:t>
              </a:r>
            </a:p>
          </p:txBody>
        </p:sp>
        <p:sp>
          <p:nvSpPr>
            <p:cNvPr id="20508" name="Text Box 50"/>
            <p:cNvSpPr txBox="1">
              <a:spLocks noChangeArrowheads="1"/>
            </p:cNvSpPr>
            <p:nvPr/>
          </p:nvSpPr>
          <p:spPr bwMode="auto">
            <a:xfrm>
              <a:off x="4466" y="3649"/>
              <a:ext cx="432" cy="179"/>
            </a:xfrm>
            <a:prstGeom prst="rect">
              <a:avLst/>
            </a:prstGeom>
            <a:noFill/>
            <a:ln w="38100" algn="ctr">
              <a:noFill/>
              <a:miter lim="800000"/>
              <a:headEnd/>
              <a:tailEnd/>
            </a:ln>
          </p:spPr>
          <p:txBody>
            <a:bodyPr/>
            <a:lstStyle/>
            <a:p>
              <a:pPr algn="ctr" eaLnBrk="0" hangingPunct="0">
                <a:spcBef>
                  <a:spcPts val="600"/>
                </a:spcBef>
              </a:pPr>
              <a:r>
                <a:rPr lang="en-US" altLang="zh-TW" sz="1400" b="1">
                  <a:solidFill>
                    <a:srgbClr val="FF0000"/>
                  </a:solidFill>
                  <a:latin typeface="Times New Roman" pitchFamily="18" charset="0"/>
                  <a:ea typeface="PMingLiU" pitchFamily="18" charset="-120"/>
                </a:rPr>
                <a:t>Oil</a:t>
              </a:r>
            </a:p>
          </p:txBody>
        </p:sp>
        <p:sp>
          <p:nvSpPr>
            <p:cNvPr id="20509" name="Freeform 51"/>
            <p:cNvSpPr>
              <a:spLocks/>
            </p:cNvSpPr>
            <p:nvPr/>
          </p:nvSpPr>
          <p:spPr bwMode="auto">
            <a:xfrm>
              <a:off x="4938" y="3523"/>
              <a:ext cx="30" cy="162"/>
            </a:xfrm>
            <a:custGeom>
              <a:avLst/>
              <a:gdLst>
                <a:gd name="T0" fmla="*/ 30 w 30"/>
                <a:gd name="T1" fmla="*/ 0 h 154"/>
                <a:gd name="T2" fmla="*/ 0 w 30"/>
                <a:gd name="T3" fmla="*/ 154 h 154"/>
                <a:gd name="T4" fmla="*/ 0 60000 65536"/>
                <a:gd name="T5" fmla="*/ 0 60000 65536"/>
                <a:gd name="T6" fmla="*/ 0 w 30"/>
                <a:gd name="T7" fmla="*/ 0 h 154"/>
                <a:gd name="T8" fmla="*/ 30 w 30"/>
                <a:gd name="T9" fmla="*/ 154 h 154"/>
              </a:gdLst>
              <a:ahLst/>
              <a:cxnLst>
                <a:cxn ang="T4">
                  <a:pos x="T0" y="T1"/>
                </a:cxn>
                <a:cxn ang="T5">
                  <a:pos x="T2" y="T3"/>
                </a:cxn>
              </a:cxnLst>
              <a:rect l="T6" t="T7" r="T8" b="T9"/>
              <a:pathLst>
                <a:path w="30" h="154">
                  <a:moveTo>
                    <a:pt x="30" y="0"/>
                  </a:moveTo>
                  <a:lnTo>
                    <a:pt x="0" y="154"/>
                  </a:lnTo>
                </a:path>
              </a:pathLst>
            </a:custGeom>
            <a:noFill/>
            <a:ln w="12700" cap="sq">
              <a:solidFill>
                <a:srgbClr val="006600"/>
              </a:solidFill>
              <a:round/>
              <a:headEnd type="none" w="sm" len="sm"/>
              <a:tailEnd type="none" w="sm" len="sm"/>
            </a:ln>
          </p:spPr>
          <p:txBody>
            <a:bodyPr wrap="none" anchor="ctr"/>
            <a:lstStyle/>
            <a:p>
              <a:endParaRPr lang="zh-CN" altLang="en-US"/>
            </a:p>
          </p:txBody>
        </p:sp>
        <p:sp>
          <p:nvSpPr>
            <p:cNvPr id="20510" name="Text Box 52"/>
            <p:cNvSpPr txBox="1">
              <a:spLocks noChangeArrowheads="1"/>
            </p:cNvSpPr>
            <p:nvPr/>
          </p:nvSpPr>
          <p:spPr bwMode="auto">
            <a:xfrm>
              <a:off x="4994" y="3649"/>
              <a:ext cx="670" cy="229"/>
            </a:xfrm>
            <a:prstGeom prst="rect">
              <a:avLst/>
            </a:prstGeom>
            <a:noFill/>
            <a:ln w="38100" algn="ctr">
              <a:noFill/>
              <a:miter lim="800000"/>
              <a:headEnd/>
              <a:tailEnd/>
            </a:ln>
          </p:spPr>
          <p:txBody>
            <a:bodyPr/>
            <a:lstStyle/>
            <a:p>
              <a:pPr algn="ctr" eaLnBrk="0" hangingPunct="0">
                <a:spcBef>
                  <a:spcPts val="600"/>
                </a:spcBef>
              </a:pPr>
              <a:r>
                <a:rPr lang="en-US" altLang="zh-TW" sz="1400" b="1">
                  <a:solidFill>
                    <a:srgbClr val="FF0000"/>
                  </a:solidFill>
                  <a:latin typeface="Times New Roman" pitchFamily="18" charset="0"/>
                  <a:ea typeface="PMingLiU" pitchFamily="18" charset="-120"/>
                </a:rPr>
                <a:t>Petroleum prods</a:t>
              </a:r>
            </a:p>
          </p:txBody>
        </p:sp>
        <p:sp>
          <p:nvSpPr>
            <p:cNvPr id="20511" name="Freeform 53"/>
            <p:cNvSpPr>
              <a:spLocks/>
            </p:cNvSpPr>
            <p:nvPr/>
          </p:nvSpPr>
          <p:spPr bwMode="auto">
            <a:xfrm>
              <a:off x="4730" y="3523"/>
              <a:ext cx="238" cy="145"/>
            </a:xfrm>
            <a:custGeom>
              <a:avLst/>
              <a:gdLst>
                <a:gd name="T0" fmla="*/ 238 w 238"/>
                <a:gd name="T1" fmla="*/ 0 h 138"/>
                <a:gd name="T2" fmla="*/ 0 w 238"/>
                <a:gd name="T3" fmla="*/ 138 h 138"/>
                <a:gd name="T4" fmla="*/ 0 60000 65536"/>
                <a:gd name="T5" fmla="*/ 0 60000 65536"/>
                <a:gd name="T6" fmla="*/ 0 w 238"/>
                <a:gd name="T7" fmla="*/ 0 h 138"/>
                <a:gd name="T8" fmla="*/ 238 w 238"/>
                <a:gd name="T9" fmla="*/ 138 h 138"/>
              </a:gdLst>
              <a:ahLst/>
              <a:cxnLst>
                <a:cxn ang="T4">
                  <a:pos x="T0" y="T1"/>
                </a:cxn>
                <a:cxn ang="T5">
                  <a:pos x="T2" y="T3"/>
                </a:cxn>
              </a:cxnLst>
              <a:rect l="T6" t="T7" r="T8" b="T9"/>
              <a:pathLst>
                <a:path w="238" h="138">
                  <a:moveTo>
                    <a:pt x="238" y="0"/>
                  </a:moveTo>
                  <a:lnTo>
                    <a:pt x="0" y="138"/>
                  </a:lnTo>
                </a:path>
              </a:pathLst>
            </a:custGeom>
            <a:noFill/>
            <a:ln w="12700" cap="sq">
              <a:solidFill>
                <a:srgbClr val="006600"/>
              </a:solidFill>
              <a:round/>
              <a:headEnd type="none" w="sm" len="sm"/>
              <a:tailEnd type="none" w="sm" len="sm"/>
            </a:ln>
          </p:spPr>
          <p:txBody>
            <a:bodyPr wrap="none" anchor="ctr"/>
            <a:lstStyle/>
            <a:p>
              <a:endParaRPr lang="zh-CN" altLang="en-US"/>
            </a:p>
          </p:txBody>
        </p:sp>
        <p:sp>
          <p:nvSpPr>
            <p:cNvPr id="20512" name="Freeform 54"/>
            <p:cNvSpPr>
              <a:spLocks/>
            </p:cNvSpPr>
            <p:nvPr/>
          </p:nvSpPr>
          <p:spPr bwMode="auto">
            <a:xfrm>
              <a:off x="4968" y="3523"/>
              <a:ext cx="250" cy="145"/>
            </a:xfrm>
            <a:custGeom>
              <a:avLst/>
              <a:gdLst>
                <a:gd name="T0" fmla="*/ 0 w 250"/>
                <a:gd name="T1" fmla="*/ 0 h 138"/>
                <a:gd name="T2" fmla="*/ 250 w 250"/>
                <a:gd name="T3" fmla="*/ 138 h 138"/>
                <a:gd name="T4" fmla="*/ 0 60000 65536"/>
                <a:gd name="T5" fmla="*/ 0 60000 65536"/>
                <a:gd name="T6" fmla="*/ 0 w 250"/>
                <a:gd name="T7" fmla="*/ 0 h 138"/>
                <a:gd name="T8" fmla="*/ 250 w 250"/>
                <a:gd name="T9" fmla="*/ 138 h 138"/>
              </a:gdLst>
              <a:ahLst/>
              <a:cxnLst>
                <a:cxn ang="T4">
                  <a:pos x="T0" y="T1"/>
                </a:cxn>
                <a:cxn ang="T5">
                  <a:pos x="T2" y="T3"/>
                </a:cxn>
              </a:cxnLst>
              <a:rect l="T6" t="T7" r="T8" b="T9"/>
              <a:pathLst>
                <a:path w="250" h="138">
                  <a:moveTo>
                    <a:pt x="0" y="0"/>
                  </a:moveTo>
                  <a:lnTo>
                    <a:pt x="250" y="138"/>
                  </a:lnTo>
                </a:path>
              </a:pathLst>
            </a:custGeom>
            <a:noFill/>
            <a:ln w="12700" cap="sq">
              <a:solidFill>
                <a:srgbClr val="006600"/>
              </a:solidFill>
              <a:round/>
              <a:headEnd type="none" w="sm" len="sm"/>
              <a:tailEnd type="none" w="sm" len="sm"/>
            </a:ln>
          </p:spPr>
          <p:txBody>
            <a:bodyPr wrap="none" anchor="ctr"/>
            <a:lstStyle/>
            <a:p>
              <a:endParaRPr lang="zh-CN" altLang="en-US"/>
            </a:p>
          </p:txBody>
        </p:sp>
        <p:sp>
          <p:nvSpPr>
            <p:cNvPr id="20513" name="Line 55"/>
            <p:cNvSpPr>
              <a:spLocks noChangeShapeType="1"/>
            </p:cNvSpPr>
            <p:nvPr/>
          </p:nvSpPr>
          <p:spPr bwMode="auto">
            <a:xfrm flipH="1">
              <a:off x="3864" y="2594"/>
              <a:ext cx="132" cy="225"/>
            </a:xfrm>
            <a:prstGeom prst="line">
              <a:avLst/>
            </a:prstGeom>
            <a:noFill/>
            <a:ln w="12700" cap="sq">
              <a:solidFill>
                <a:srgbClr val="006600"/>
              </a:solidFill>
              <a:round/>
              <a:headEnd type="none" w="sm" len="sm"/>
              <a:tailEnd type="none" w="sm" len="sm"/>
            </a:ln>
          </p:spPr>
          <p:txBody>
            <a:bodyPr wrap="none" anchor="ctr"/>
            <a:lstStyle/>
            <a:p>
              <a:endParaRPr lang="zh-CN" altLang="en-US"/>
            </a:p>
          </p:txBody>
        </p:sp>
        <p:sp>
          <p:nvSpPr>
            <p:cNvPr id="20514" name="Line 56"/>
            <p:cNvSpPr>
              <a:spLocks noChangeShapeType="1"/>
            </p:cNvSpPr>
            <p:nvPr/>
          </p:nvSpPr>
          <p:spPr bwMode="auto">
            <a:xfrm>
              <a:off x="3996" y="2594"/>
              <a:ext cx="199" cy="225"/>
            </a:xfrm>
            <a:prstGeom prst="line">
              <a:avLst/>
            </a:prstGeom>
            <a:noFill/>
            <a:ln w="12700" cap="sq">
              <a:solidFill>
                <a:srgbClr val="006600"/>
              </a:solidFill>
              <a:round/>
              <a:headEnd type="none" w="sm" len="sm"/>
              <a:tailEnd type="none" w="sm" len="sm"/>
            </a:ln>
          </p:spPr>
          <p:txBody>
            <a:bodyPr wrap="none" anchor="ctr"/>
            <a:lstStyle/>
            <a:p>
              <a:endParaRPr lang="zh-CN" altLang="en-US"/>
            </a:p>
          </p:txBody>
        </p:sp>
        <p:sp>
          <p:nvSpPr>
            <p:cNvPr id="20515" name="Text Box 57"/>
            <p:cNvSpPr txBox="1">
              <a:spLocks noChangeArrowheads="1"/>
            </p:cNvSpPr>
            <p:nvPr/>
          </p:nvSpPr>
          <p:spPr bwMode="auto">
            <a:xfrm>
              <a:off x="3927" y="2767"/>
              <a:ext cx="727" cy="224"/>
            </a:xfrm>
            <a:prstGeom prst="rect">
              <a:avLst/>
            </a:prstGeom>
            <a:noFill/>
            <a:ln w="38100">
              <a:noFill/>
              <a:miter lim="800000"/>
              <a:headEnd/>
              <a:tailEnd/>
            </a:ln>
          </p:spPr>
          <p:txBody>
            <a:bodyPr/>
            <a:lstStyle/>
            <a:p>
              <a:pPr algn="ctr" eaLnBrk="0" hangingPunct="0">
                <a:spcBef>
                  <a:spcPts val="600"/>
                </a:spcBef>
              </a:pPr>
              <a:r>
                <a:rPr lang="en-US" altLang="zh-TW" sz="1400" b="1">
                  <a:solidFill>
                    <a:srgbClr val="FF0000"/>
                  </a:solidFill>
                  <a:latin typeface="Times New Roman" pitchFamily="18" charset="0"/>
                  <a:ea typeface="PMingLiU" pitchFamily="18" charset="-120"/>
                </a:rPr>
                <a:t>Energy</a:t>
              </a:r>
              <a:endParaRPr lang="en-US" altLang="zh-TW" sz="1400" b="1" baseline="-25000">
                <a:solidFill>
                  <a:srgbClr val="FF0000"/>
                </a:solidFill>
                <a:latin typeface="Times New Roman" pitchFamily="18" charset="0"/>
                <a:ea typeface="PMingLiU" pitchFamily="18" charset="-120"/>
              </a:endParaRPr>
            </a:p>
          </p:txBody>
        </p:sp>
        <p:sp>
          <p:nvSpPr>
            <p:cNvPr id="20516" name="Text Box 58"/>
            <p:cNvSpPr txBox="1">
              <a:spLocks noChangeArrowheads="1"/>
            </p:cNvSpPr>
            <p:nvPr/>
          </p:nvSpPr>
          <p:spPr bwMode="auto">
            <a:xfrm>
              <a:off x="3504" y="2780"/>
              <a:ext cx="558" cy="224"/>
            </a:xfrm>
            <a:prstGeom prst="rect">
              <a:avLst/>
            </a:prstGeom>
            <a:noFill/>
            <a:ln w="38100">
              <a:noFill/>
              <a:miter lim="800000"/>
              <a:headEnd/>
              <a:tailEnd/>
            </a:ln>
          </p:spPr>
          <p:txBody>
            <a:bodyPr/>
            <a:lstStyle/>
            <a:p>
              <a:pPr algn="ctr" eaLnBrk="0" hangingPunct="0">
                <a:spcBef>
                  <a:spcPts val="600"/>
                </a:spcBef>
              </a:pPr>
              <a:r>
                <a:rPr lang="en-US" altLang="zh-TW" sz="1400" b="1">
                  <a:solidFill>
                    <a:srgbClr val="FF0000"/>
                  </a:solidFill>
                  <a:latin typeface="Times New Roman" pitchFamily="18" charset="0"/>
                  <a:ea typeface="PMingLiU" pitchFamily="18" charset="-120"/>
                </a:rPr>
                <a:t>Capital</a:t>
              </a:r>
            </a:p>
          </p:txBody>
        </p:sp>
        <p:sp>
          <p:nvSpPr>
            <p:cNvPr id="20517" name="Line 59"/>
            <p:cNvSpPr>
              <a:spLocks noChangeShapeType="1"/>
            </p:cNvSpPr>
            <p:nvPr/>
          </p:nvSpPr>
          <p:spPr bwMode="auto">
            <a:xfrm flipH="1">
              <a:off x="4026" y="2944"/>
              <a:ext cx="198" cy="134"/>
            </a:xfrm>
            <a:prstGeom prst="line">
              <a:avLst/>
            </a:prstGeom>
            <a:noFill/>
            <a:ln w="12700" cap="sq">
              <a:solidFill>
                <a:srgbClr val="006600"/>
              </a:solidFill>
              <a:round/>
              <a:headEnd type="none" w="sm" len="sm"/>
              <a:tailEnd type="none" w="sm" len="sm"/>
            </a:ln>
          </p:spPr>
          <p:txBody>
            <a:bodyPr wrap="none" anchor="ctr"/>
            <a:lstStyle/>
            <a:p>
              <a:endParaRPr lang="zh-CN" altLang="en-US"/>
            </a:p>
          </p:txBody>
        </p:sp>
        <p:sp>
          <p:nvSpPr>
            <p:cNvPr id="20518" name="Line 60"/>
            <p:cNvSpPr>
              <a:spLocks noChangeShapeType="1"/>
            </p:cNvSpPr>
            <p:nvPr/>
          </p:nvSpPr>
          <p:spPr bwMode="auto">
            <a:xfrm>
              <a:off x="4224" y="2944"/>
              <a:ext cx="265" cy="134"/>
            </a:xfrm>
            <a:prstGeom prst="line">
              <a:avLst/>
            </a:prstGeom>
            <a:noFill/>
            <a:ln w="12700" cap="sq">
              <a:solidFill>
                <a:srgbClr val="006600"/>
              </a:solidFill>
              <a:round/>
              <a:headEnd type="none" w="sm" len="sm"/>
              <a:tailEnd type="none" w="sm" len="sm"/>
            </a:ln>
          </p:spPr>
          <p:txBody>
            <a:bodyPr wrap="none" anchor="ctr"/>
            <a:lstStyle/>
            <a:p>
              <a:endParaRPr lang="zh-CN" altLang="en-US"/>
            </a:p>
          </p:txBody>
        </p:sp>
        <p:sp>
          <p:nvSpPr>
            <p:cNvPr id="20519" name="Text Box 61"/>
            <p:cNvSpPr txBox="1">
              <a:spLocks noChangeArrowheads="1"/>
            </p:cNvSpPr>
            <p:nvPr/>
          </p:nvSpPr>
          <p:spPr bwMode="auto">
            <a:xfrm>
              <a:off x="3600" y="3050"/>
              <a:ext cx="624" cy="223"/>
            </a:xfrm>
            <a:prstGeom prst="rect">
              <a:avLst/>
            </a:prstGeom>
            <a:noFill/>
            <a:ln w="38100">
              <a:noFill/>
              <a:miter lim="800000"/>
              <a:headEnd/>
              <a:tailEnd/>
            </a:ln>
          </p:spPr>
          <p:txBody>
            <a:bodyPr/>
            <a:lstStyle/>
            <a:p>
              <a:pPr algn="ctr" eaLnBrk="0" hangingPunct="0">
                <a:spcBef>
                  <a:spcPts val="600"/>
                </a:spcBef>
              </a:pPr>
              <a:r>
                <a:rPr lang="en-US" altLang="zh-TW" sz="1400" b="1">
                  <a:solidFill>
                    <a:srgbClr val="FF0000"/>
                  </a:solidFill>
                  <a:latin typeface="Times New Roman" pitchFamily="18" charset="0"/>
                  <a:ea typeface="PMingLiU" pitchFamily="18" charset="-120"/>
                </a:rPr>
                <a:t>Electricity</a:t>
              </a:r>
              <a:endParaRPr lang="en-US" altLang="zh-TW" sz="1400" b="1" baseline="-25000">
                <a:solidFill>
                  <a:srgbClr val="FF0000"/>
                </a:solidFill>
                <a:latin typeface="Times New Roman" pitchFamily="18" charset="0"/>
                <a:ea typeface="PMingLiU" pitchFamily="18" charset="-120"/>
              </a:endParaRPr>
            </a:p>
          </p:txBody>
        </p:sp>
        <p:sp>
          <p:nvSpPr>
            <p:cNvPr id="20520" name="Text Box 62"/>
            <p:cNvSpPr txBox="1">
              <a:spLocks noChangeArrowheads="1"/>
            </p:cNvSpPr>
            <p:nvPr/>
          </p:nvSpPr>
          <p:spPr bwMode="auto">
            <a:xfrm>
              <a:off x="4472" y="3346"/>
              <a:ext cx="1057" cy="230"/>
            </a:xfrm>
            <a:prstGeom prst="rect">
              <a:avLst/>
            </a:prstGeom>
            <a:noFill/>
            <a:ln w="38100" algn="ctr">
              <a:noFill/>
              <a:miter lim="800000"/>
              <a:headEnd/>
              <a:tailEnd/>
            </a:ln>
          </p:spPr>
          <p:txBody>
            <a:bodyPr/>
            <a:lstStyle/>
            <a:p>
              <a:pPr algn="ctr" eaLnBrk="0" hangingPunct="0">
                <a:spcBef>
                  <a:spcPts val="600"/>
                </a:spcBef>
              </a:pPr>
              <a:r>
                <a:rPr lang="en-US" altLang="zh-TW" sz="1400" b="1">
                  <a:solidFill>
                    <a:srgbClr val="FF0000"/>
                  </a:solidFill>
                  <a:latin typeface="Times New Roman" pitchFamily="18" charset="0"/>
                  <a:ea typeface="PMingLiU" pitchFamily="18" charset="-120"/>
                </a:rPr>
                <a:t>Non-Coal</a:t>
              </a:r>
            </a:p>
          </p:txBody>
        </p:sp>
        <p:sp>
          <p:nvSpPr>
            <p:cNvPr id="20521" name="Text Box 63"/>
            <p:cNvSpPr txBox="1">
              <a:spLocks noChangeArrowheads="1"/>
            </p:cNvSpPr>
            <p:nvPr/>
          </p:nvSpPr>
          <p:spPr bwMode="auto">
            <a:xfrm>
              <a:off x="4224" y="3043"/>
              <a:ext cx="866" cy="230"/>
            </a:xfrm>
            <a:prstGeom prst="rect">
              <a:avLst/>
            </a:prstGeom>
            <a:noFill/>
            <a:ln w="38100" algn="ctr">
              <a:noFill/>
              <a:miter lim="800000"/>
              <a:headEnd/>
              <a:tailEnd/>
            </a:ln>
          </p:spPr>
          <p:txBody>
            <a:bodyPr/>
            <a:lstStyle/>
            <a:p>
              <a:pPr algn="ctr" eaLnBrk="0" hangingPunct="0">
                <a:spcBef>
                  <a:spcPts val="600"/>
                </a:spcBef>
              </a:pPr>
              <a:r>
                <a:rPr lang="en-US" altLang="zh-TW" sz="1400" b="1">
                  <a:solidFill>
                    <a:srgbClr val="FF0000"/>
                  </a:solidFill>
                  <a:latin typeface="Times New Roman" pitchFamily="18" charset="0"/>
                  <a:ea typeface="PMingLiU" pitchFamily="18" charset="-120"/>
                </a:rPr>
                <a:t>Non-Electricity</a:t>
              </a:r>
            </a:p>
          </p:txBody>
        </p:sp>
        <p:sp>
          <p:nvSpPr>
            <p:cNvPr id="20522" name="Line 64"/>
            <p:cNvSpPr>
              <a:spLocks noChangeShapeType="1"/>
            </p:cNvSpPr>
            <p:nvPr/>
          </p:nvSpPr>
          <p:spPr bwMode="auto">
            <a:xfrm flipH="1">
              <a:off x="4183" y="3244"/>
              <a:ext cx="363" cy="138"/>
            </a:xfrm>
            <a:prstGeom prst="line">
              <a:avLst/>
            </a:prstGeom>
            <a:noFill/>
            <a:ln w="12700" cap="sq">
              <a:solidFill>
                <a:srgbClr val="006600"/>
              </a:solidFill>
              <a:round/>
              <a:headEnd type="none" w="sm" len="sm"/>
              <a:tailEnd type="none" w="sm" len="sm"/>
            </a:ln>
          </p:spPr>
          <p:txBody>
            <a:bodyPr wrap="none" anchor="ctr"/>
            <a:lstStyle/>
            <a:p>
              <a:endParaRPr lang="zh-CN" altLang="en-US"/>
            </a:p>
          </p:txBody>
        </p:sp>
        <p:sp>
          <p:nvSpPr>
            <p:cNvPr id="20523" name="Text Box 65"/>
            <p:cNvSpPr txBox="1">
              <a:spLocks noChangeArrowheads="1"/>
            </p:cNvSpPr>
            <p:nvPr/>
          </p:nvSpPr>
          <p:spPr bwMode="auto">
            <a:xfrm>
              <a:off x="3842" y="3346"/>
              <a:ext cx="727" cy="230"/>
            </a:xfrm>
            <a:prstGeom prst="rect">
              <a:avLst/>
            </a:prstGeom>
            <a:noFill/>
            <a:ln w="38100" algn="ctr">
              <a:noFill/>
              <a:miter lim="800000"/>
              <a:headEnd/>
              <a:tailEnd/>
            </a:ln>
          </p:spPr>
          <p:txBody>
            <a:bodyPr/>
            <a:lstStyle/>
            <a:p>
              <a:pPr algn="ctr" eaLnBrk="0" hangingPunct="0">
                <a:spcBef>
                  <a:spcPts val="600"/>
                </a:spcBef>
              </a:pPr>
              <a:r>
                <a:rPr lang="en-US" altLang="zh-TW" sz="1400" b="1">
                  <a:solidFill>
                    <a:srgbClr val="FF0000"/>
                  </a:solidFill>
                  <a:latin typeface="Times New Roman" pitchFamily="18" charset="0"/>
                  <a:ea typeface="PMingLiU" pitchFamily="18" charset="-120"/>
                </a:rPr>
                <a:t>Coal</a:t>
              </a:r>
            </a:p>
          </p:txBody>
        </p:sp>
        <p:sp>
          <p:nvSpPr>
            <p:cNvPr id="20524" name="Freeform 66"/>
            <p:cNvSpPr>
              <a:spLocks/>
            </p:cNvSpPr>
            <p:nvPr/>
          </p:nvSpPr>
          <p:spPr bwMode="auto">
            <a:xfrm>
              <a:off x="4552" y="3237"/>
              <a:ext cx="369" cy="133"/>
            </a:xfrm>
            <a:custGeom>
              <a:avLst/>
              <a:gdLst>
                <a:gd name="T0" fmla="*/ 0 w 268"/>
                <a:gd name="T1" fmla="*/ 0 h 154"/>
                <a:gd name="T2" fmla="*/ 268 w 268"/>
                <a:gd name="T3" fmla="*/ 154 h 154"/>
                <a:gd name="T4" fmla="*/ 0 60000 65536"/>
                <a:gd name="T5" fmla="*/ 0 60000 65536"/>
                <a:gd name="T6" fmla="*/ 0 w 268"/>
                <a:gd name="T7" fmla="*/ 0 h 154"/>
                <a:gd name="T8" fmla="*/ 268 w 268"/>
                <a:gd name="T9" fmla="*/ 154 h 154"/>
              </a:gdLst>
              <a:ahLst/>
              <a:cxnLst>
                <a:cxn ang="T4">
                  <a:pos x="T0" y="T1"/>
                </a:cxn>
                <a:cxn ang="T5">
                  <a:pos x="T2" y="T3"/>
                </a:cxn>
              </a:cxnLst>
              <a:rect l="T6" t="T7" r="T8" b="T9"/>
              <a:pathLst>
                <a:path w="268" h="154">
                  <a:moveTo>
                    <a:pt x="0" y="0"/>
                  </a:moveTo>
                  <a:lnTo>
                    <a:pt x="268" y="154"/>
                  </a:lnTo>
                </a:path>
              </a:pathLst>
            </a:custGeom>
            <a:noFill/>
            <a:ln w="12700" cap="sq">
              <a:solidFill>
                <a:srgbClr val="006600"/>
              </a:solidFill>
              <a:round/>
              <a:headEnd type="none" w="sm" len="sm"/>
              <a:tailEnd type="none" w="sm" len="sm"/>
            </a:ln>
          </p:spPr>
          <p:txBody>
            <a:bodyPr wrap="none" anchor="ctr"/>
            <a:lstStyle/>
            <a:p>
              <a:endParaRPr lang="zh-CN" altLang="en-US"/>
            </a:p>
          </p:txBody>
        </p:sp>
        <p:sp>
          <p:nvSpPr>
            <p:cNvPr id="20525" name="Arc 67"/>
            <p:cNvSpPr>
              <a:spLocks/>
            </p:cNvSpPr>
            <p:nvPr/>
          </p:nvSpPr>
          <p:spPr bwMode="auto">
            <a:xfrm rot="8689525">
              <a:off x="3761" y="2251"/>
              <a:ext cx="945" cy="397"/>
            </a:xfrm>
            <a:custGeom>
              <a:avLst/>
              <a:gdLst>
                <a:gd name="T0" fmla="*/ 641 w 20622"/>
                <a:gd name="T1" fmla="*/ 0 h 16466"/>
                <a:gd name="T2" fmla="*/ 945 w 20622"/>
                <a:gd name="T3" fmla="*/ 242 h 16466"/>
                <a:gd name="T4" fmla="*/ 0 w 20622"/>
                <a:gd name="T5" fmla="*/ 397 h 16466"/>
                <a:gd name="T6" fmla="*/ 0 60000 65536"/>
                <a:gd name="T7" fmla="*/ 0 60000 65536"/>
                <a:gd name="T8" fmla="*/ 0 60000 65536"/>
                <a:gd name="T9" fmla="*/ 0 w 20622"/>
                <a:gd name="T10" fmla="*/ 0 h 16466"/>
                <a:gd name="T11" fmla="*/ 20622 w 20622"/>
                <a:gd name="T12" fmla="*/ 16466 h 16466"/>
              </a:gdLst>
              <a:ahLst/>
              <a:cxnLst>
                <a:cxn ang="T6">
                  <a:pos x="T0" y="T1"/>
                </a:cxn>
                <a:cxn ang="T7">
                  <a:pos x="T2" y="T3"/>
                </a:cxn>
                <a:cxn ang="T8">
                  <a:pos x="T4" y="T5"/>
                </a:cxn>
              </a:cxnLst>
              <a:rect l="T9" t="T10" r="T11" b="T12"/>
              <a:pathLst>
                <a:path w="20622" h="16466" fill="none" extrusionOk="0">
                  <a:moveTo>
                    <a:pt x="13979" y="0"/>
                  </a:moveTo>
                  <a:cubicBezTo>
                    <a:pt x="17100" y="2649"/>
                    <a:pt x="19403" y="6131"/>
                    <a:pt x="20621" y="10039"/>
                  </a:cubicBezTo>
                </a:path>
                <a:path w="20622" h="16466" stroke="0" extrusionOk="0">
                  <a:moveTo>
                    <a:pt x="13979" y="0"/>
                  </a:moveTo>
                  <a:cubicBezTo>
                    <a:pt x="17100" y="2649"/>
                    <a:pt x="19403" y="6131"/>
                    <a:pt x="20621" y="10039"/>
                  </a:cubicBezTo>
                  <a:lnTo>
                    <a:pt x="0" y="16466"/>
                  </a:lnTo>
                  <a:close/>
                </a:path>
              </a:pathLst>
            </a:custGeom>
            <a:noFill/>
            <a:ln w="9525">
              <a:solidFill>
                <a:srgbClr val="006600"/>
              </a:solidFill>
              <a:round/>
              <a:headEnd/>
              <a:tailEnd/>
            </a:ln>
          </p:spPr>
          <p:txBody>
            <a:bodyPr wrap="none" lIns="92075" tIns="46038" rIns="92075" bIns="46038" anchor="ctr"/>
            <a:lstStyle/>
            <a:p>
              <a:endParaRPr lang="zh-CN" altLang="en-US"/>
            </a:p>
          </p:txBody>
        </p:sp>
        <p:sp>
          <p:nvSpPr>
            <p:cNvPr id="20526" name="Arc 68"/>
            <p:cNvSpPr>
              <a:spLocks/>
            </p:cNvSpPr>
            <p:nvPr/>
          </p:nvSpPr>
          <p:spPr bwMode="auto">
            <a:xfrm rot="8689525">
              <a:off x="3979" y="2531"/>
              <a:ext cx="945" cy="397"/>
            </a:xfrm>
            <a:custGeom>
              <a:avLst/>
              <a:gdLst>
                <a:gd name="T0" fmla="*/ 641 w 20622"/>
                <a:gd name="T1" fmla="*/ 0 h 16466"/>
                <a:gd name="T2" fmla="*/ 945 w 20622"/>
                <a:gd name="T3" fmla="*/ 242 h 16466"/>
                <a:gd name="T4" fmla="*/ 0 w 20622"/>
                <a:gd name="T5" fmla="*/ 397 h 16466"/>
                <a:gd name="T6" fmla="*/ 0 60000 65536"/>
                <a:gd name="T7" fmla="*/ 0 60000 65536"/>
                <a:gd name="T8" fmla="*/ 0 60000 65536"/>
                <a:gd name="T9" fmla="*/ 0 w 20622"/>
                <a:gd name="T10" fmla="*/ 0 h 16466"/>
                <a:gd name="T11" fmla="*/ 20622 w 20622"/>
                <a:gd name="T12" fmla="*/ 16466 h 16466"/>
              </a:gdLst>
              <a:ahLst/>
              <a:cxnLst>
                <a:cxn ang="T6">
                  <a:pos x="T0" y="T1"/>
                </a:cxn>
                <a:cxn ang="T7">
                  <a:pos x="T2" y="T3"/>
                </a:cxn>
                <a:cxn ang="T8">
                  <a:pos x="T4" y="T5"/>
                </a:cxn>
              </a:cxnLst>
              <a:rect l="T9" t="T10" r="T11" b="T12"/>
              <a:pathLst>
                <a:path w="20622" h="16466" fill="none" extrusionOk="0">
                  <a:moveTo>
                    <a:pt x="13979" y="0"/>
                  </a:moveTo>
                  <a:cubicBezTo>
                    <a:pt x="17100" y="2649"/>
                    <a:pt x="19403" y="6131"/>
                    <a:pt x="20621" y="10039"/>
                  </a:cubicBezTo>
                </a:path>
                <a:path w="20622" h="16466" stroke="0" extrusionOk="0">
                  <a:moveTo>
                    <a:pt x="13979" y="0"/>
                  </a:moveTo>
                  <a:cubicBezTo>
                    <a:pt x="17100" y="2649"/>
                    <a:pt x="19403" y="6131"/>
                    <a:pt x="20621" y="10039"/>
                  </a:cubicBezTo>
                  <a:lnTo>
                    <a:pt x="0" y="16466"/>
                  </a:lnTo>
                  <a:close/>
                </a:path>
              </a:pathLst>
            </a:custGeom>
            <a:noFill/>
            <a:ln w="9525">
              <a:solidFill>
                <a:srgbClr val="006600"/>
              </a:solidFill>
              <a:round/>
              <a:headEnd/>
              <a:tailEnd/>
            </a:ln>
          </p:spPr>
          <p:txBody>
            <a:bodyPr wrap="none" lIns="92075" tIns="46038" rIns="92075" bIns="46038" anchor="ctr"/>
            <a:lstStyle/>
            <a:p>
              <a:endParaRPr lang="zh-CN" altLang="en-US"/>
            </a:p>
          </p:txBody>
        </p:sp>
        <p:sp>
          <p:nvSpPr>
            <p:cNvPr id="20527" name="Arc 69"/>
            <p:cNvSpPr>
              <a:spLocks/>
            </p:cNvSpPr>
            <p:nvPr/>
          </p:nvSpPr>
          <p:spPr bwMode="auto">
            <a:xfrm rot="8934662">
              <a:off x="4245" y="2867"/>
              <a:ext cx="945" cy="464"/>
            </a:xfrm>
            <a:custGeom>
              <a:avLst/>
              <a:gdLst>
                <a:gd name="T0" fmla="*/ 442 w 20622"/>
                <a:gd name="T1" fmla="*/ 0 h 19327"/>
                <a:gd name="T2" fmla="*/ 945 w 20622"/>
                <a:gd name="T3" fmla="*/ 310 h 19327"/>
                <a:gd name="T4" fmla="*/ 0 w 20622"/>
                <a:gd name="T5" fmla="*/ 464 h 19327"/>
                <a:gd name="T6" fmla="*/ 0 60000 65536"/>
                <a:gd name="T7" fmla="*/ 0 60000 65536"/>
                <a:gd name="T8" fmla="*/ 0 60000 65536"/>
                <a:gd name="T9" fmla="*/ 0 w 20622"/>
                <a:gd name="T10" fmla="*/ 0 h 19327"/>
                <a:gd name="T11" fmla="*/ 20622 w 20622"/>
                <a:gd name="T12" fmla="*/ 19327 h 19327"/>
              </a:gdLst>
              <a:ahLst/>
              <a:cxnLst>
                <a:cxn ang="T6">
                  <a:pos x="T0" y="T1"/>
                </a:cxn>
                <a:cxn ang="T7">
                  <a:pos x="T2" y="T3"/>
                </a:cxn>
                <a:cxn ang="T8">
                  <a:pos x="T4" y="T5"/>
                </a:cxn>
              </a:cxnLst>
              <a:rect l="T9" t="T10" r="T11" b="T12"/>
              <a:pathLst>
                <a:path w="20622" h="19327" fill="none" extrusionOk="0">
                  <a:moveTo>
                    <a:pt x="9645" y="-1"/>
                  </a:moveTo>
                  <a:cubicBezTo>
                    <a:pt x="14907" y="2626"/>
                    <a:pt x="18871" y="7284"/>
                    <a:pt x="20621" y="12900"/>
                  </a:cubicBezTo>
                </a:path>
                <a:path w="20622" h="19327" stroke="0" extrusionOk="0">
                  <a:moveTo>
                    <a:pt x="9645" y="-1"/>
                  </a:moveTo>
                  <a:cubicBezTo>
                    <a:pt x="14907" y="2626"/>
                    <a:pt x="18871" y="7284"/>
                    <a:pt x="20621" y="12900"/>
                  </a:cubicBezTo>
                  <a:lnTo>
                    <a:pt x="0" y="19327"/>
                  </a:lnTo>
                  <a:close/>
                </a:path>
              </a:pathLst>
            </a:custGeom>
            <a:noFill/>
            <a:ln w="9525">
              <a:solidFill>
                <a:srgbClr val="006600"/>
              </a:solidFill>
              <a:round/>
              <a:headEnd/>
              <a:tailEnd/>
            </a:ln>
          </p:spPr>
          <p:txBody>
            <a:bodyPr wrap="none" lIns="92075" tIns="46038" rIns="92075" bIns="46038" anchor="ctr"/>
            <a:lstStyle/>
            <a:p>
              <a:endParaRPr lang="zh-CN" altLang="en-US"/>
            </a:p>
          </p:txBody>
        </p:sp>
        <p:sp>
          <p:nvSpPr>
            <p:cNvPr id="20528" name="Arc 70"/>
            <p:cNvSpPr>
              <a:spLocks/>
            </p:cNvSpPr>
            <p:nvPr/>
          </p:nvSpPr>
          <p:spPr bwMode="auto">
            <a:xfrm rot="9060954">
              <a:off x="4718" y="3121"/>
              <a:ext cx="948" cy="450"/>
            </a:xfrm>
            <a:custGeom>
              <a:avLst/>
              <a:gdLst>
                <a:gd name="T0" fmla="*/ 610 w 19643"/>
                <a:gd name="T1" fmla="*/ 0 h 17515"/>
                <a:gd name="T2" fmla="*/ 948 w 19643"/>
                <a:gd name="T3" fmla="*/ 219 h 17515"/>
                <a:gd name="T4" fmla="*/ 0 w 19643"/>
                <a:gd name="T5" fmla="*/ 450 h 17515"/>
                <a:gd name="T6" fmla="*/ 0 60000 65536"/>
                <a:gd name="T7" fmla="*/ 0 60000 65536"/>
                <a:gd name="T8" fmla="*/ 0 60000 65536"/>
                <a:gd name="T9" fmla="*/ 0 w 19643"/>
                <a:gd name="T10" fmla="*/ 0 h 17515"/>
                <a:gd name="T11" fmla="*/ 19643 w 19643"/>
                <a:gd name="T12" fmla="*/ 17515 h 17515"/>
              </a:gdLst>
              <a:ahLst/>
              <a:cxnLst>
                <a:cxn ang="T6">
                  <a:pos x="T0" y="T1"/>
                </a:cxn>
                <a:cxn ang="T7">
                  <a:pos x="T2" y="T3"/>
                </a:cxn>
                <a:cxn ang="T8">
                  <a:pos x="T4" y="T5"/>
                </a:cxn>
              </a:cxnLst>
              <a:rect l="T9" t="T10" r="T11" b="T12"/>
              <a:pathLst>
                <a:path w="19643" h="17515" fill="none" extrusionOk="0">
                  <a:moveTo>
                    <a:pt x="12640" y="0"/>
                  </a:moveTo>
                  <a:cubicBezTo>
                    <a:pt x="15674" y="2189"/>
                    <a:pt x="18087" y="5129"/>
                    <a:pt x="19643" y="8530"/>
                  </a:cubicBezTo>
                </a:path>
                <a:path w="19643" h="17515" stroke="0" extrusionOk="0">
                  <a:moveTo>
                    <a:pt x="12640" y="0"/>
                  </a:moveTo>
                  <a:cubicBezTo>
                    <a:pt x="15674" y="2189"/>
                    <a:pt x="18087" y="5129"/>
                    <a:pt x="19643" y="8530"/>
                  </a:cubicBezTo>
                  <a:lnTo>
                    <a:pt x="0" y="17515"/>
                  </a:lnTo>
                  <a:close/>
                </a:path>
              </a:pathLst>
            </a:custGeom>
            <a:noFill/>
            <a:ln w="9525">
              <a:solidFill>
                <a:srgbClr val="006600"/>
              </a:solidFill>
              <a:round/>
              <a:headEnd/>
              <a:tailEnd/>
            </a:ln>
          </p:spPr>
          <p:txBody>
            <a:bodyPr wrap="none" lIns="92075" tIns="46038" rIns="92075" bIns="46038"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500" fill="hold"/>
                                        <p:tgtEl>
                                          <p:spTgt spid="2"/>
                                        </p:tgtEl>
                                      </p:cBhvr>
                                      <p:by x="103000" y="103000"/>
                                    </p:animScale>
                                  </p:childTnLst>
                                </p:cTn>
                              </p:par>
                              <p:par>
                                <p:cTn id="7" presetID="6" presetClass="emph" presetSubtype="0" fill="hold" nodeType="withEffect">
                                  <p:stCondLst>
                                    <p:cond delay="0"/>
                                  </p:stCondLst>
                                  <p:childTnLst>
                                    <p:animScale>
                                      <p:cBhvr>
                                        <p:cTn id="8" dur="2000" fill="hold"/>
                                        <p:tgtEl>
                                          <p:spTgt spid="3"/>
                                        </p:tgtEl>
                                      </p:cBhvr>
                                      <p:by x="50000" y="50000"/>
                                    </p:animScale>
                                  </p:childTnLst>
                                </p:cTn>
                              </p:par>
                              <p:par>
                                <p:cTn id="9" presetID="9" presetClass="emph" presetSubtype="0" nodeType="withEffect">
                                  <p:stCondLst>
                                    <p:cond delay="0"/>
                                  </p:stCondLst>
                                  <p:childTnLst>
                                    <p:set>
                                      <p:cBhvr rctx="PPT">
                                        <p:cTn id="10" dur="indefinite"/>
                                        <p:tgtEl>
                                          <p:spTgt spid="3"/>
                                        </p:tgtEl>
                                        <p:attrNameLst>
                                          <p:attrName>style.opacity</p:attrName>
                                        </p:attrNameLst>
                                      </p:cBhvr>
                                      <p:to>
                                        <p:strVal val="0.5"/>
                                      </p:to>
                                    </p:set>
                                    <p:animEffect filter="image" prLst="opacity: 0.5">
                                      <p:cBhvr rctx="IE">
                                        <p:cTn id="11" dur="indefinite"/>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6" presetClass="emph" presetSubtype="0" fill="hold" nodeType="clickEffect">
                                  <p:stCondLst>
                                    <p:cond delay="0"/>
                                  </p:stCondLst>
                                  <p:childTnLst>
                                    <p:animScale>
                                      <p:cBhvr>
                                        <p:cTn id="15" dur="2000" fill="hold"/>
                                        <p:tgtEl>
                                          <p:spTgt spid="3"/>
                                        </p:tgtEl>
                                      </p:cBhvr>
                                      <p:by x="200000" y="200000"/>
                                    </p:animScale>
                                  </p:childTnLst>
                                </p:cTn>
                              </p:par>
                              <p:par>
                                <p:cTn id="16" presetID="9" presetClass="emph" presetSubtype="0" nodeType="withEffect">
                                  <p:stCondLst>
                                    <p:cond delay="0"/>
                                  </p:stCondLst>
                                  <p:childTnLst>
                                    <p:set>
                                      <p:cBhvr rctx="PPT">
                                        <p:cTn id="17" dur="indefinite"/>
                                        <p:tgtEl>
                                          <p:spTgt spid="3"/>
                                        </p:tgtEl>
                                        <p:attrNameLst>
                                          <p:attrName>style.opacity</p:attrName>
                                        </p:attrNameLst>
                                      </p:cBhvr>
                                      <p:to>
                                        <p:strVal val="0.98"/>
                                      </p:to>
                                    </p:set>
                                    <p:animEffect filter="image" prLst="opacity: 0.98">
                                      <p:cBhvr rctx="IE">
                                        <p:cTn id="18" dur="indefinite"/>
                                        <p:tgtEl>
                                          <p:spTgt spid="3"/>
                                        </p:tgtEl>
                                      </p:cBhvr>
                                    </p:animEffect>
                                  </p:childTnLst>
                                </p:cTn>
                              </p:par>
                              <p:par>
                                <p:cTn id="19" presetID="6" presetClass="emph" presetSubtype="0" fill="hold" nodeType="withEffect">
                                  <p:stCondLst>
                                    <p:cond delay="0"/>
                                  </p:stCondLst>
                                  <p:childTnLst>
                                    <p:animScale>
                                      <p:cBhvr>
                                        <p:cTn id="20" dur="2000" fill="hold"/>
                                        <p:tgtEl>
                                          <p:spTgt spid="2"/>
                                        </p:tgtEl>
                                      </p:cBhvr>
                                      <p:by x="50000" y="50000"/>
                                    </p:animScale>
                                  </p:childTnLst>
                                </p:cTn>
                              </p:par>
                              <p:par>
                                <p:cTn id="21" presetID="9" presetClass="emph" presetSubtype="0" nodeType="withEffect">
                                  <p:stCondLst>
                                    <p:cond delay="0"/>
                                  </p:stCondLst>
                                  <p:childTnLst>
                                    <p:set>
                                      <p:cBhvr rctx="PPT">
                                        <p:cTn id="22" dur="indefinite"/>
                                        <p:tgtEl>
                                          <p:spTgt spid="2"/>
                                        </p:tgtEl>
                                        <p:attrNameLst>
                                          <p:attrName>style.opacity</p:attrName>
                                        </p:attrNameLst>
                                      </p:cBhvr>
                                      <p:to>
                                        <p:strVal val="0.5"/>
                                      </p:to>
                                    </p:set>
                                    <p:animEffect filter="image" prLst="opacity: 0.5">
                                      <p:cBhvr rctx="IE">
                                        <p:cTn id="23" dur="indefinite"/>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7158" y="142852"/>
            <a:ext cx="8229600" cy="939784"/>
          </a:xfrm>
        </p:spPr>
        <p:txBody>
          <a:bodyPr>
            <a:normAutofit fontScale="90000"/>
          </a:bodyPr>
          <a:lstStyle/>
          <a:p>
            <a:r>
              <a:rPr lang="zh-CN" altLang="en-US" sz="4000" b="1" dirty="0">
                <a:solidFill>
                  <a:srgbClr val="FF0000"/>
                </a:solidFill>
                <a:latin typeface="黑体" pitchFamily="49" charset="-122"/>
                <a:ea typeface="黑体" pitchFamily="49" charset="-122"/>
              </a:rPr>
              <a:t>多投入</a:t>
            </a:r>
            <a:r>
              <a:rPr lang="en-US" altLang="zh-CN" sz="4000" b="1" dirty="0">
                <a:solidFill>
                  <a:srgbClr val="FF0000"/>
                </a:solidFill>
                <a:latin typeface="黑体" pitchFamily="49" charset="-122"/>
                <a:ea typeface="黑体" pitchFamily="49" charset="-122"/>
              </a:rPr>
              <a:t>-</a:t>
            </a:r>
            <a:r>
              <a:rPr lang="zh-CN" altLang="en-US" sz="4000" b="1" dirty="0">
                <a:solidFill>
                  <a:srgbClr val="FF0000"/>
                </a:solidFill>
                <a:latin typeface="黑体" pitchFamily="49" charset="-122"/>
                <a:ea typeface="黑体" pitchFamily="49" charset="-122"/>
              </a:rPr>
              <a:t>多产出模型</a:t>
            </a:r>
            <a:br>
              <a:rPr lang="en-US" altLang="zh-CN" sz="4000" b="1" dirty="0">
                <a:solidFill>
                  <a:srgbClr val="FF0000"/>
                </a:solidFill>
                <a:latin typeface="黑体" pitchFamily="49" charset="-122"/>
                <a:ea typeface="黑体" pitchFamily="49" charset="-122"/>
              </a:rPr>
            </a:br>
            <a:r>
              <a:rPr lang="en-US" altLang="zh-CN" sz="3100" b="1" dirty="0" err="1">
                <a:solidFill>
                  <a:srgbClr val="FF0000"/>
                </a:solidFill>
                <a:latin typeface="Times New Roman" pitchFamily="18" charset="0"/>
                <a:ea typeface="黑体" pitchFamily="49" charset="-122"/>
                <a:cs typeface="Times New Roman" pitchFamily="18" charset="0"/>
              </a:rPr>
              <a:t>Muti</a:t>
            </a:r>
            <a:r>
              <a:rPr lang="en-US" altLang="zh-CN" sz="3100" b="1" dirty="0">
                <a:solidFill>
                  <a:srgbClr val="FF0000"/>
                </a:solidFill>
                <a:latin typeface="Times New Roman" pitchFamily="18" charset="0"/>
                <a:ea typeface="黑体" pitchFamily="49" charset="-122"/>
                <a:cs typeface="Times New Roman" pitchFamily="18" charset="0"/>
              </a:rPr>
              <a:t> outputs and </a:t>
            </a:r>
            <a:r>
              <a:rPr lang="en-US" altLang="zh-CN" sz="3100" b="1" dirty="0" err="1">
                <a:solidFill>
                  <a:srgbClr val="FF0000"/>
                </a:solidFill>
                <a:latin typeface="Times New Roman" pitchFamily="18" charset="0"/>
                <a:ea typeface="黑体" pitchFamily="49" charset="-122"/>
                <a:cs typeface="Times New Roman" pitchFamily="18" charset="0"/>
              </a:rPr>
              <a:t>muti</a:t>
            </a:r>
            <a:r>
              <a:rPr lang="en-US" altLang="zh-CN" sz="3100" b="1" dirty="0">
                <a:solidFill>
                  <a:srgbClr val="FF0000"/>
                </a:solidFill>
                <a:latin typeface="Times New Roman" pitchFamily="18" charset="0"/>
                <a:ea typeface="黑体" pitchFamily="49" charset="-122"/>
                <a:cs typeface="Times New Roman" pitchFamily="18" charset="0"/>
              </a:rPr>
              <a:t> inputs model</a:t>
            </a:r>
            <a:endParaRPr lang="zh-CN" altLang="en-US" sz="4000" b="1" dirty="0">
              <a:solidFill>
                <a:srgbClr val="FF0000"/>
              </a:solidFill>
              <a:latin typeface="Times New Roman" pitchFamily="18" charset="0"/>
              <a:ea typeface="黑体" pitchFamily="49" charset="-122"/>
              <a:cs typeface="Times New Roman" pitchFamily="18" charset="0"/>
            </a:endParaRPr>
          </a:p>
        </p:txBody>
      </p:sp>
      <p:sp>
        <p:nvSpPr>
          <p:cNvPr id="4" name="日期占位符 3"/>
          <p:cNvSpPr>
            <a:spLocks noGrp="1"/>
          </p:cNvSpPr>
          <p:nvPr>
            <p:ph type="dt" sz="half" idx="10"/>
          </p:nvPr>
        </p:nvSpPr>
        <p:spPr/>
        <p:txBody>
          <a:bodyPr/>
          <a:lstStyle/>
          <a:p>
            <a:fld id="{C6B8F2EF-5256-419E-9E16-E117EA0624FC}" type="datetimeFigureOut">
              <a:rPr lang="zh-CN" altLang="en-US" smtClean="0"/>
              <a:pPr/>
              <a:t>2021/5/27</a:t>
            </a:fld>
            <a:endParaRPr lang="zh-CN" altLang="en-US"/>
          </a:p>
        </p:txBody>
      </p:sp>
      <p:sp>
        <p:nvSpPr>
          <p:cNvPr id="5" name="灯片编号占位符 4"/>
          <p:cNvSpPr>
            <a:spLocks noGrp="1"/>
          </p:cNvSpPr>
          <p:nvPr>
            <p:ph type="sldNum" sz="quarter" idx="12"/>
          </p:nvPr>
        </p:nvSpPr>
        <p:spPr/>
        <p:txBody>
          <a:bodyPr/>
          <a:lstStyle/>
          <a:p>
            <a:fld id="{C8D0647B-24A2-46AB-A27A-847EF503E68C}" type="slidenum">
              <a:rPr lang="zh-CN" altLang="en-US" smtClean="0"/>
              <a:pPr/>
              <a:t>21</a:t>
            </a:fld>
            <a:endParaRPr lang="zh-CN" altLang="en-US"/>
          </a:p>
        </p:txBody>
      </p:sp>
      <p:graphicFrame>
        <p:nvGraphicFramePr>
          <p:cNvPr id="113667" name="Object 3"/>
          <p:cNvGraphicFramePr>
            <a:graphicFrameLocks noChangeAspect="1"/>
          </p:cNvGraphicFramePr>
          <p:nvPr/>
        </p:nvGraphicFramePr>
        <p:xfrm>
          <a:off x="571472" y="1462702"/>
          <a:ext cx="7786742" cy="4895256"/>
        </p:xfrm>
        <a:graphic>
          <a:graphicData uri="http://schemas.openxmlformats.org/presentationml/2006/ole">
            <mc:AlternateContent xmlns:mc="http://schemas.openxmlformats.org/markup-compatibility/2006">
              <mc:Choice xmlns:v="urn:schemas-microsoft-com:vml" Requires="v">
                <p:oleObj name="Visio" r:id="rId2" imgW="6082745" imgH="4210704" progId="Visio.Drawing.11">
                  <p:embed/>
                </p:oleObj>
              </mc:Choice>
              <mc:Fallback>
                <p:oleObj name="Visio" r:id="rId2" imgW="6082745" imgH="4210704" progId="Visio.Drawing.11">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472" y="1462702"/>
                        <a:ext cx="7786742" cy="4895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6" name="Object 2"/>
          <p:cNvGraphicFramePr>
            <a:graphicFrameLocks noChangeAspect="1"/>
          </p:cNvGraphicFramePr>
          <p:nvPr/>
        </p:nvGraphicFramePr>
        <p:xfrm>
          <a:off x="-214346" y="785794"/>
          <a:ext cx="9454122" cy="5829320"/>
        </p:xfrm>
        <a:graphic>
          <a:graphicData uri="http://schemas.openxmlformats.org/presentationml/2006/ole">
            <mc:AlternateContent xmlns:mc="http://schemas.openxmlformats.org/markup-compatibility/2006">
              <mc:Choice xmlns:v="urn:schemas-microsoft-com:vml" Requires="v">
                <p:oleObj name="Visio" r:id="rId2" imgW="7841635" imgH="5308200" progId="Visio.Drawing.11">
                  <p:embed/>
                </p:oleObj>
              </mc:Choice>
              <mc:Fallback>
                <p:oleObj name="Visio" r:id="rId2" imgW="7841635" imgH="5308200" progId="Visio.Drawing.11">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46" y="785794"/>
                        <a:ext cx="9454122" cy="58293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7" name="Rectangle 3"/>
          <p:cNvSpPr>
            <a:spLocks noChangeArrowheads="1"/>
          </p:cNvSpPr>
          <p:nvPr/>
        </p:nvSpPr>
        <p:spPr bwMode="auto">
          <a:xfrm>
            <a:off x="179388" y="115888"/>
            <a:ext cx="8686800" cy="647700"/>
          </a:xfrm>
          <a:prstGeom prst="rect">
            <a:avLst/>
          </a:prstGeom>
          <a:noFill/>
          <a:ln w="9525">
            <a:noFill/>
            <a:miter lim="800000"/>
            <a:headEnd/>
            <a:tailEnd/>
          </a:ln>
        </p:spPr>
        <p:txBody>
          <a:bodyPr anchor="ctr"/>
          <a:lstStyle/>
          <a:p>
            <a:pPr algn="ctr"/>
            <a:r>
              <a:rPr lang="zh-CN" altLang="en-US" sz="4000" b="1" dirty="0">
                <a:solidFill>
                  <a:srgbClr val="0000FF"/>
                </a:solidFill>
                <a:ea typeface="黑体" pitchFamily="49" charset="-122"/>
              </a:rPr>
              <a:t>需求（</a:t>
            </a:r>
            <a:r>
              <a:rPr lang="en-US" altLang="zh-CN" sz="4000" b="1" dirty="0">
                <a:solidFill>
                  <a:srgbClr val="0000FF"/>
                </a:solidFill>
                <a:ea typeface="黑体" pitchFamily="49" charset="-122"/>
              </a:rPr>
              <a:t> GTAP</a:t>
            </a:r>
            <a:r>
              <a:rPr lang="zh-CN" altLang="en-US" sz="4000" b="1" dirty="0">
                <a:solidFill>
                  <a:srgbClr val="0000FF"/>
                </a:solidFill>
                <a:ea typeface="黑体" pitchFamily="49" charset="-122"/>
              </a:rPr>
              <a:t>）模块</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ChangeArrowheads="1"/>
          </p:cNvSpPr>
          <p:nvPr/>
        </p:nvSpPr>
        <p:spPr bwMode="auto">
          <a:xfrm>
            <a:off x="684213" y="2349500"/>
            <a:ext cx="7848600" cy="403225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algn="ctr"/>
            <a:endParaRPr lang="zh-TW" altLang="zh-TW" b="1">
              <a:latin typeface="黑体" pitchFamily="49" charset="-122"/>
              <a:ea typeface="黑体" pitchFamily="49" charset="-122"/>
            </a:endParaRPr>
          </a:p>
        </p:txBody>
      </p:sp>
      <p:sp>
        <p:nvSpPr>
          <p:cNvPr id="82947" name="Rectangle 3"/>
          <p:cNvSpPr>
            <a:spLocks noChangeArrowheads="1"/>
          </p:cNvSpPr>
          <p:nvPr/>
        </p:nvSpPr>
        <p:spPr bwMode="auto">
          <a:xfrm>
            <a:off x="684213" y="333375"/>
            <a:ext cx="7848600" cy="1943100"/>
          </a:xfrm>
          <a:prstGeom prst="rect">
            <a:avLst/>
          </a:prstGeom>
          <a:solidFill>
            <a:srgbClr val="CCFFFF"/>
          </a:solidFill>
          <a:ln w="9525">
            <a:solidFill>
              <a:schemeClr val="tx1"/>
            </a:solidFill>
            <a:miter lim="800000"/>
            <a:headEnd/>
            <a:tailEnd/>
          </a:ln>
          <a:effectLst/>
        </p:spPr>
        <p:txBody>
          <a:bodyPr wrap="none" anchor="ctr"/>
          <a:lstStyle/>
          <a:p>
            <a:pPr algn="ctr"/>
            <a:endParaRPr lang="zh-TW" altLang="zh-TW" b="1">
              <a:latin typeface="黑体" pitchFamily="49" charset="-122"/>
              <a:ea typeface="黑体" pitchFamily="49" charset="-122"/>
            </a:endParaRPr>
          </a:p>
        </p:txBody>
      </p:sp>
      <p:sp>
        <p:nvSpPr>
          <p:cNvPr id="82948" name="Rectangle 4"/>
          <p:cNvSpPr>
            <a:spLocks noChangeArrowheads="1"/>
          </p:cNvSpPr>
          <p:nvPr/>
        </p:nvSpPr>
        <p:spPr bwMode="auto">
          <a:xfrm>
            <a:off x="1042988" y="5949950"/>
            <a:ext cx="720725" cy="358775"/>
          </a:xfrm>
          <a:prstGeom prst="rect">
            <a:avLst/>
          </a:prstGeom>
          <a:solidFill>
            <a:schemeClr val="accent1"/>
          </a:solidFill>
          <a:ln w="9525">
            <a:solidFill>
              <a:schemeClr val="tx1"/>
            </a:solidFill>
            <a:miter lim="800000"/>
            <a:headEnd/>
            <a:tailEnd/>
          </a:ln>
          <a:effectLst/>
        </p:spPr>
        <p:txBody>
          <a:bodyPr wrap="none" anchor="ctr"/>
          <a:lstStyle/>
          <a:p>
            <a:pPr algn="ctr"/>
            <a:r>
              <a:rPr lang="zh-TW" altLang="en-US" b="1" dirty="0">
                <a:solidFill>
                  <a:srgbClr val="FFFF00"/>
                </a:solidFill>
                <a:latin typeface="黑体" pitchFamily="49" charset="-122"/>
                <a:ea typeface="黑体" pitchFamily="49" charset="-122"/>
              </a:rPr>
              <a:t>劳动</a:t>
            </a:r>
          </a:p>
        </p:txBody>
      </p:sp>
      <p:sp>
        <p:nvSpPr>
          <p:cNvPr id="82949" name="Rectangle 5"/>
          <p:cNvSpPr>
            <a:spLocks noChangeArrowheads="1"/>
          </p:cNvSpPr>
          <p:nvPr/>
        </p:nvSpPr>
        <p:spPr bwMode="auto">
          <a:xfrm>
            <a:off x="2124075" y="5949950"/>
            <a:ext cx="720725" cy="358775"/>
          </a:xfrm>
          <a:prstGeom prst="rect">
            <a:avLst/>
          </a:prstGeom>
          <a:solidFill>
            <a:schemeClr val="accent1"/>
          </a:solidFill>
          <a:ln w="9525">
            <a:solidFill>
              <a:schemeClr val="tx1"/>
            </a:solidFill>
            <a:miter lim="800000"/>
            <a:headEnd/>
            <a:tailEnd/>
          </a:ln>
          <a:effectLst/>
        </p:spPr>
        <p:txBody>
          <a:bodyPr wrap="none" anchor="ctr"/>
          <a:lstStyle/>
          <a:p>
            <a:pPr algn="ctr"/>
            <a:r>
              <a:rPr lang="zh-TW" altLang="en-US" b="1">
                <a:solidFill>
                  <a:srgbClr val="FFFF00"/>
                </a:solidFill>
                <a:latin typeface="黑体" pitchFamily="49" charset="-122"/>
                <a:ea typeface="黑体" pitchFamily="49" charset="-122"/>
              </a:rPr>
              <a:t>资本</a:t>
            </a:r>
          </a:p>
        </p:txBody>
      </p:sp>
      <p:sp>
        <p:nvSpPr>
          <p:cNvPr id="82950" name="Rectangle 6"/>
          <p:cNvSpPr>
            <a:spLocks noChangeArrowheads="1"/>
          </p:cNvSpPr>
          <p:nvPr/>
        </p:nvSpPr>
        <p:spPr bwMode="auto">
          <a:xfrm>
            <a:off x="1214414" y="5157788"/>
            <a:ext cx="1270024" cy="431800"/>
          </a:xfrm>
          <a:prstGeom prst="rect">
            <a:avLst/>
          </a:prstGeom>
          <a:solidFill>
            <a:srgbClr val="CCFFCC"/>
          </a:solidFill>
          <a:ln w="9525">
            <a:solidFill>
              <a:schemeClr val="tx1"/>
            </a:solidFill>
            <a:miter lim="800000"/>
            <a:headEnd/>
            <a:tailEnd/>
          </a:ln>
          <a:effectLst/>
        </p:spPr>
        <p:txBody>
          <a:bodyPr wrap="none" anchor="ctr"/>
          <a:lstStyle/>
          <a:p>
            <a:pPr algn="ctr"/>
            <a:r>
              <a:rPr lang="zh-CN" altLang="en-US" b="1" dirty="0">
                <a:latin typeface="黑体" pitchFamily="49" charset="-122"/>
                <a:ea typeface="黑体" pitchFamily="49" charset="-122"/>
              </a:rPr>
              <a:t>增加值部分</a:t>
            </a:r>
            <a:endParaRPr lang="en-US" altLang="zh-TW" b="1" dirty="0">
              <a:latin typeface="黑体" pitchFamily="49" charset="-122"/>
              <a:ea typeface="黑体" pitchFamily="49" charset="-122"/>
            </a:endParaRPr>
          </a:p>
        </p:txBody>
      </p:sp>
      <p:sp>
        <p:nvSpPr>
          <p:cNvPr id="82951" name="Line 7"/>
          <p:cNvSpPr>
            <a:spLocks noChangeShapeType="1"/>
          </p:cNvSpPr>
          <p:nvPr/>
        </p:nvSpPr>
        <p:spPr bwMode="auto">
          <a:xfrm flipH="1">
            <a:off x="1403350" y="5589588"/>
            <a:ext cx="504825" cy="360362"/>
          </a:xfrm>
          <a:prstGeom prst="line">
            <a:avLst/>
          </a:prstGeom>
          <a:noFill/>
          <a:ln w="28575">
            <a:solidFill>
              <a:srgbClr val="006600"/>
            </a:solidFill>
            <a:round/>
            <a:headEnd/>
            <a:tailEnd/>
          </a:ln>
          <a:effectLst/>
        </p:spPr>
        <p:txBody>
          <a:bodyPr/>
          <a:lstStyle/>
          <a:p>
            <a:endParaRPr lang="zh-TW" altLang="en-US" b="1">
              <a:latin typeface="黑体" pitchFamily="49" charset="-122"/>
              <a:ea typeface="黑体" pitchFamily="49" charset="-122"/>
            </a:endParaRPr>
          </a:p>
        </p:txBody>
      </p:sp>
      <p:sp>
        <p:nvSpPr>
          <p:cNvPr id="82952" name="Line 8"/>
          <p:cNvSpPr>
            <a:spLocks noChangeShapeType="1"/>
          </p:cNvSpPr>
          <p:nvPr/>
        </p:nvSpPr>
        <p:spPr bwMode="auto">
          <a:xfrm>
            <a:off x="1908175" y="5589588"/>
            <a:ext cx="576263" cy="360362"/>
          </a:xfrm>
          <a:prstGeom prst="line">
            <a:avLst/>
          </a:prstGeom>
          <a:noFill/>
          <a:ln w="28575">
            <a:solidFill>
              <a:srgbClr val="006600"/>
            </a:solidFill>
            <a:round/>
            <a:headEnd/>
            <a:tailEnd/>
          </a:ln>
          <a:effectLst/>
        </p:spPr>
        <p:txBody>
          <a:bodyPr/>
          <a:lstStyle/>
          <a:p>
            <a:endParaRPr lang="zh-TW" altLang="en-US" b="1">
              <a:latin typeface="黑体" pitchFamily="49" charset="-122"/>
              <a:ea typeface="黑体" pitchFamily="49" charset="-122"/>
            </a:endParaRPr>
          </a:p>
        </p:txBody>
      </p:sp>
      <p:sp>
        <p:nvSpPr>
          <p:cNvPr id="82953" name="Rectangle 9"/>
          <p:cNvSpPr>
            <a:spLocks noChangeArrowheads="1"/>
          </p:cNvSpPr>
          <p:nvPr/>
        </p:nvSpPr>
        <p:spPr bwMode="auto">
          <a:xfrm>
            <a:off x="6300788" y="5157788"/>
            <a:ext cx="1081087" cy="431800"/>
          </a:xfrm>
          <a:prstGeom prst="rect">
            <a:avLst/>
          </a:prstGeom>
          <a:solidFill>
            <a:srgbClr val="CCFFCC"/>
          </a:solidFill>
          <a:ln w="9525">
            <a:solidFill>
              <a:schemeClr val="tx1"/>
            </a:solidFill>
            <a:miter lim="800000"/>
            <a:headEnd/>
            <a:tailEnd/>
          </a:ln>
          <a:effectLst/>
        </p:spPr>
        <p:txBody>
          <a:bodyPr wrap="none" anchor="ctr"/>
          <a:lstStyle/>
          <a:p>
            <a:pPr algn="ctr"/>
            <a:r>
              <a:rPr lang="en-US" altLang="zh-TW" b="1">
                <a:latin typeface="Times New Roman" pitchFamily="18" charset="0"/>
                <a:ea typeface="黑体" pitchFamily="49" charset="-122"/>
                <a:cs typeface="Times New Roman" pitchFamily="18" charset="0"/>
              </a:rPr>
              <a:t>X</a:t>
            </a:r>
            <a:r>
              <a:rPr lang="en-US" altLang="zh-TW" b="1" baseline="-25000">
                <a:latin typeface="Times New Roman" pitchFamily="18" charset="0"/>
                <a:ea typeface="黑体" pitchFamily="49" charset="-122"/>
                <a:cs typeface="Times New Roman" pitchFamily="18" charset="0"/>
              </a:rPr>
              <a:t>nint</a:t>
            </a:r>
          </a:p>
        </p:txBody>
      </p:sp>
      <p:sp>
        <p:nvSpPr>
          <p:cNvPr id="82954" name="Rectangle 10"/>
          <p:cNvSpPr>
            <a:spLocks noChangeArrowheads="1"/>
          </p:cNvSpPr>
          <p:nvPr/>
        </p:nvSpPr>
        <p:spPr bwMode="auto">
          <a:xfrm>
            <a:off x="4067175" y="5157788"/>
            <a:ext cx="1081088" cy="431800"/>
          </a:xfrm>
          <a:prstGeom prst="rect">
            <a:avLst/>
          </a:prstGeom>
          <a:solidFill>
            <a:srgbClr val="CCFFCC"/>
          </a:solidFill>
          <a:ln w="9525">
            <a:solidFill>
              <a:schemeClr val="tx1"/>
            </a:solidFill>
            <a:miter lim="800000"/>
            <a:headEnd/>
            <a:tailEnd/>
          </a:ln>
          <a:effectLst/>
        </p:spPr>
        <p:txBody>
          <a:bodyPr wrap="none" anchor="ctr"/>
          <a:lstStyle/>
          <a:p>
            <a:pPr algn="ctr"/>
            <a:r>
              <a:rPr lang="en-US" altLang="zh-TW" b="1">
                <a:latin typeface="Times New Roman" pitchFamily="18" charset="0"/>
                <a:ea typeface="黑体" pitchFamily="49" charset="-122"/>
                <a:cs typeface="Times New Roman" pitchFamily="18" charset="0"/>
              </a:rPr>
              <a:t>X</a:t>
            </a:r>
            <a:r>
              <a:rPr lang="en-US" altLang="zh-TW" b="1" baseline="-25000">
                <a:latin typeface="Times New Roman" pitchFamily="18" charset="0"/>
                <a:ea typeface="黑体" pitchFamily="49" charset="-122"/>
                <a:cs typeface="Times New Roman" pitchFamily="18" charset="0"/>
              </a:rPr>
              <a:t>2int</a:t>
            </a:r>
          </a:p>
        </p:txBody>
      </p:sp>
      <p:sp>
        <p:nvSpPr>
          <p:cNvPr id="82955" name="Rectangle 11"/>
          <p:cNvSpPr>
            <a:spLocks noChangeArrowheads="1"/>
          </p:cNvSpPr>
          <p:nvPr/>
        </p:nvSpPr>
        <p:spPr bwMode="auto">
          <a:xfrm>
            <a:off x="2771775" y="5157788"/>
            <a:ext cx="1081088" cy="431800"/>
          </a:xfrm>
          <a:prstGeom prst="rect">
            <a:avLst/>
          </a:prstGeom>
          <a:solidFill>
            <a:srgbClr val="CCFFCC"/>
          </a:solidFill>
          <a:ln w="9525">
            <a:solidFill>
              <a:schemeClr val="tx1"/>
            </a:solidFill>
            <a:miter lim="800000"/>
            <a:headEnd/>
            <a:tailEnd/>
          </a:ln>
          <a:effectLst/>
        </p:spPr>
        <p:txBody>
          <a:bodyPr wrap="none" anchor="ctr"/>
          <a:lstStyle/>
          <a:p>
            <a:pPr algn="ctr"/>
            <a:r>
              <a:rPr lang="en-US" altLang="zh-TW" b="1" dirty="0">
                <a:latin typeface="Times New Roman" pitchFamily="18" charset="0"/>
                <a:ea typeface="黑体" pitchFamily="49" charset="-122"/>
                <a:cs typeface="Times New Roman" pitchFamily="18" charset="0"/>
              </a:rPr>
              <a:t>X</a:t>
            </a:r>
            <a:r>
              <a:rPr lang="en-US" altLang="zh-TW" b="1" baseline="-25000" dirty="0">
                <a:latin typeface="Times New Roman" pitchFamily="18" charset="0"/>
                <a:ea typeface="黑体" pitchFamily="49" charset="-122"/>
                <a:cs typeface="Times New Roman" pitchFamily="18" charset="0"/>
              </a:rPr>
              <a:t>1int</a:t>
            </a:r>
            <a:endParaRPr lang="en-US" altLang="zh-TW" b="1" dirty="0">
              <a:latin typeface="Times New Roman" pitchFamily="18" charset="0"/>
              <a:ea typeface="黑体" pitchFamily="49" charset="-122"/>
              <a:cs typeface="Times New Roman" pitchFamily="18" charset="0"/>
            </a:endParaRPr>
          </a:p>
        </p:txBody>
      </p:sp>
      <p:sp>
        <p:nvSpPr>
          <p:cNvPr id="82956" name="Text Box 12"/>
          <p:cNvSpPr txBox="1">
            <a:spLocks noChangeArrowheads="1"/>
          </p:cNvSpPr>
          <p:nvPr/>
        </p:nvSpPr>
        <p:spPr bwMode="auto">
          <a:xfrm>
            <a:off x="5364163" y="5084763"/>
            <a:ext cx="720725" cy="366712"/>
          </a:xfrm>
          <a:prstGeom prst="rect">
            <a:avLst/>
          </a:prstGeom>
          <a:noFill/>
          <a:ln w="9525">
            <a:noFill/>
            <a:miter lim="800000"/>
            <a:headEnd/>
            <a:tailEnd/>
          </a:ln>
          <a:effectLst/>
        </p:spPr>
        <p:txBody>
          <a:bodyPr>
            <a:spAutoFit/>
          </a:bodyPr>
          <a:lstStyle/>
          <a:p>
            <a:pPr>
              <a:spcBef>
                <a:spcPct val="50000"/>
              </a:spcBef>
            </a:pPr>
            <a:r>
              <a:rPr lang="en-US" altLang="zh-TW" b="1">
                <a:latin typeface="黑体" pitchFamily="49" charset="-122"/>
                <a:ea typeface="黑体" pitchFamily="49" charset="-122"/>
              </a:rPr>
              <a:t>……</a:t>
            </a:r>
          </a:p>
        </p:txBody>
      </p:sp>
      <p:sp>
        <p:nvSpPr>
          <p:cNvPr id="82957" name="Text Box 13"/>
          <p:cNvSpPr txBox="1">
            <a:spLocks noChangeArrowheads="1"/>
          </p:cNvSpPr>
          <p:nvPr/>
        </p:nvSpPr>
        <p:spPr bwMode="auto">
          <a:xfrm>
            <a:off x="4624388" y="5756275"/>
            <a:ext cx="1114408" cy="369332"/>
          </a:xfrm>
          <a:prstGeom prst="rect">
            <a:avLst/>
          </a:prstGeom>
          <a:noFill/>
          <a:ln w="9525">
            <a:noFill/>
            <a:miter lim="800000"/>
            <a:headEnd/>
            <a:tailEnd/>
          </a:ln>
          <a:effectLst/>
        </p:spPr>
        <p:txBody>
          <a:bodyPr wrap="none">
            <a:spAutoFit/>
          </a:bodyPr>
          <a:lstStyle/>
          <a:p>
            <a:r>
              <a:rPr lang="zh-TW" altLang="en-US" b="1">
                <a:latin typeface="黑体" pitchFamily="49" charset="-122"/>
                <a:ea typeface="黑体" pitchFamily="49" charset="-122"/>
              </a:rPr>
              <a:t>中间投入</a:t>
            </a:r>
          </a:p>
        </p:txBody>
      </p:sp>
      <p:sp>
        <p:nvSpPr>
          <p:cNvPr id="82958" name="Oval 14"/>
          <p:cNvSpPr>
            <a:spLocks noChangeArrowheads="1"/>
          </p:cNvSpPr>
          <p:nvPr/>
        </p:nvSpPr>
        <p:spPr bwMode="auto">
          <a:xfrm>
            <a:off x="3708400" y="4221163"/>
            <a:ext cx="1511300" cy="503237"/>
          </a:xfrm>
          <a:prstGeom prst="ellipse">
            <a:avLst/>
          </a:prstGeom>
          <a:solidFill>
            <a:srgbClr val="FF0000"/>
          </a:solidFill>
          <a:ln>
            <a:solidFill>
              <a:srgbClr val="FF0000"/>
            </a:solidFill>
            <a:headEnd/>
            <a:tailEnd/>
          </a:ln>
        </p:spPr>
        <p:style>
          <a:lnRef idx="0">
            <a:schemeClr val="accent2"/>
          </a:lnRef>
          <a:fillRef idx="3">
            <a:schemeClr val="accent2"/>
          </a:fillRef>
          <a:effectRef idx="3">
            <a:schemeClr val="accent2"/>
          </a:effectRef>
          <a:fontRef idx="minor">
            <a:schemeClr val="lt1"/>
          </a:fontRef>
        </p:style>
        <p:txBody>
          <a:bodyPr wrap="none" anchor="ctr"/>
          <a:lstStyle/>
          <a:p>
            <a:pPr algn="ctr"/>
            <a:r>
              <a:rPr lang="zh-CN" altLang="en-US" b="1" dirty="0">
                <a:latin typeface="黑体" pitchFamily="49" charset="-122"/>
                <a:ea typeface="黑体" pitchFamily="49" charset="-122"/>
              </a:rPr>
              <a:t>国内总产出</a:t>
            </a:r>
            <a:endParaRPr lang="en-US" altLang="zh-TW" b="1" dirty="0">
              <a:latin typeface="黑体" pitchFamily="49" charset="-122"/>
              <a:ea typeface="黑体" pitchFamily="49" charset="-122"/>
            </a:endParaRPr>
          </a:p>
        </p:txBody>
      </p:sp>
      <p:sp>
        <p:nvSpPr>
          <p:cNvPr id="82960" name="Line 16"/>
          <p:cNvSpPr>
            <a:spLocks noChangeShapeType="1"/>
          </p:cNvSpPr>
          <p:nvPr/>
        </p:nvSpPr>
        <p:spPr bwMode="auto">
          <a:xfrm flipV="1">
            <a:off x="1979613" y="4724400"/>
            <a:ext cx="2520950" cy="433388"/>
          </a:xfrm>
          <a:prstGeom prst="line">
            <a:avLst/>
          </a:prstGeom>
          <a:noFill/>
          <a:ln w="28575">
            <a:solidFill>
              <a:srgbClr val="006600"/>
            </a:solidFill>
            <a:round/>
            <a:headEnd/>
            <a:tailEnd/>
          </a:ln>
          <a:effectLst/>
        </p:spPr>
        <p:txBody>
          <a:bodyPr/>
          <a:lstStyle/>
          <a:p>
            <a:endParaRPr lang="zh-TW" altLang="en-US" b="1">
              <a:latin typeface="黑体" pitchFamily="49" charset="-122"/>
              <a:ea typeface="黑体" pitchFamily="49" charset="-122"/>
            </a:endParaRPr>
          </a:p>
        </p:txBody>
      </p:sp>
      <p:sp>
        <p:nvSpPr>
          <p:cNvPr id="82961" name="Line 17"/>
          <p:cNvSpPr>
            <a:spLocks noChangeShapeType="1"/>
          </p:cNvSpPr>
          <p:nvPr/>
        </p:nvSpPr>
        <p:spPr bwMode="auto">
          <a:xfrm flipV="1">
            <a:off x="3348038" y="4724400"/>
            <a:ext cx="1152525" cy="433388"/>
          </a:xfrm>
          <a:prstGeom prst="line">
            <a:avLst/>
          </a:prstGeom>
          <a:noFill/>
          <a:ln w="28575">
            <a:solidFill>
              <a:srgbClr val="006600"/>
            </a:solidFill>
            <a:round/>
            <a:headEnd/>
            <a:tailEnd/>
          </a:ln>
          <a:effectLst/>
        </p:spPr>
        <p:txBody>
          <a:bodyPr/>
          <a:lstStyle/>
          <a:p>
            <a:endParaRPr lang="zh-TW" altLang="en-US" b="1">
              <a:latin typeface="黑体" pitchFamily="49" charset="-122"/>
              <a:ea typeface="黑体" pitchFamily="49" charset="-122"/>
            </a:endParaRPr>
          </a:p>
        </p:txBody>
      </p:sp>
      <p:sp>
        <p:nvSpPr>
          <p:cNvPr id="82962" name="Line 18"/>
          <p:cNvSpPr>
            <a:spLocks noChangeShapeType="1"/>
          </p:cNvSpPr>
          <p:nvPr/>
        </p:nvSpPr>
        <p:spPr bwMode="auto">
          <a:xfrm flipV="1">
            <a:off x="4500563" y="4724400"/>
            <a:ext cx="0" cy="433388"/>
          </a:xfrm>
          <a:prstGeom prst="line">
            <a:avLst/>
          </a:prstGeom>
          <a:noFill/>
          <a:ln w="28575">
            <a:solidFill>
              <a:srgbClr val="006600"/>
            </a:solidFill>
            <a:round/>
            <a:headEnd/>
            <a:tailEnd/>
          </a:ln>
          <a:effectLst/>
        </p:spPr>
        <p:txBody>
          <a:bodyPr/>
          <a:lstStyle/>
          <a:p>
            <a:endParaRPr lang="zh-TW" altLang="en-US" b="1">
              <a:latin typeface="黑体" pitchFamily="49" charset="-122"/>
              <a:ea typeface="黑体" pitchFamily="49" charset="-122"/>
            </a:endParaRPr>
          </a:p>
        </p:txBody>
      </p:sp>
      <p:sp>
        <p:nvSpPr>
          <p:cNvPr id="82963" name="Line 19"/>
          <p:cNvSpPr>
            <a:spLocks noChangeShapeType="1"/>
          </p:cNvSpPr>
          <p:nvPr/>
        </p:nvSpPr>
        <p:spPr bwMode="auto">
          <a:xfrm>
            <a:off x="4500563" y="4724400"/>
            <a:ext cx="2447925" cy="433388"/>
          </a:xfrm>
          <a:prstGeom prst="line">
            <a:avLst/>
          </a:prstGeom>
          <a:noFill/>
          <a:ln w="28575">
            <a:solidFill>
              <a:srgbClr val="006600"/>
            </a:solidFill>
            <a:round/>
            <a:headEnd/>
            <a:tailEnd/>
          </a:ln>
          <a:effectLst/>
        </p:spPr>
        <p:txBody>
          <a:bodyPr/>
          <a:lstStyle/>
          <a:p>
            <a:endParaRPr lang="zh-TW" altLang="en-US" b="1">
              <a:latin typeface="黑体" pitchFamily="49" charset="-122"/>
              <a:ea typeface="黑体" pitchFamily="49" charset="-122"/>
            </a:endParaRPr>
          </a:p>
        </p:txBody>
      </p:sp>
      <p:sp>
        <p:nvSpPr>
          <p:cNvPr id="82964" name="Rectangle 20"/>
          <p:cNvSpPr>
            <a:spLocks noChangeArrowheads="1"/>
          </p:cNvSpPr>
          <p:nvPr/>
        </p:nvSpPr>
        <p:spPr bwMode="auto">
          <a:xfrm>
            <a:off x="3132138" y="3500438"/>
            <a:ext cx="863600" cy="360362"/>
          </a:xfrm>
          <a:prstGeom prst="rect">
            <a:avLst/>
          </a:prstGeom>
          <a:ln>
            <a:headEnd/>
            <a:tailEnd/>
          </a:ln>
        </p:spPr>
        <p:style>
          <a:lnRef idx="0">
            <a:schemeClr val="accent4"/>
          </a:lnRef>
          <a:fillRef idx="3">
            <a:schemeClr val="accent4"/>
          </a:fillRef>
          <a:effectRef idx="3">
            <a:schemeClr val="accent4"/>
          </a:effectRef>
          <a:fontRef idx="minor">
            <a:schemeClr val="lt1"/>
          </a:fontRef>
        </p:style>
        <p:txBody>
          <a:bodyPr wrap="none" anchor="ctr"/>
          <a:lstStyle/>
          <a:p>
            <a:pPr algn="ctr"/>
            <a:r>
              <a:rPr lang="zh-TW" altLang="en-US" b="1">
                <a:latin typeface="黑体" pitchFamily="49" charset="-122"/>
                <a:ea typeface="黑体" pitchFamily="49" charset="-122"/>
              </a:rPr>
              <a:t>内销</a:t>
            </a:r>
          </a:p>
        </p:txBody>
      </p:sp>
      <p:sp>
        <p:nvSpPr>
          <p:cNvPr id="82965" name="Rectangle 21"/>
          <p:cNvSpPr>
            <a:spLocks noChangeArrowheads="1"/>
          </p:cNvSpPr>
          <p:nvPr/>
        </p:nvSpPr>
        <p:spPr bwMode="auto">
          <a:xfrm>
            <a:off x="4860925" y="3500438"/>
            <a:ext cx="863600" cy="360362"/>
          </a:xfrm>
          <a:prstGeom prst="rect">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algn="ctr"/>
            <a:r>
              <a:rPr lang="zh-TW" altLang="en-US" b="1" dirty="0">
                <a:latin typeface="黑体" pitchFamily="49" charset="-122"/>
                <a:ea typeface="黑体" pitchFamily="49" charset="-122"/>
              </a:rPr>
              <a:t>出口</a:t>
            </a:r>
          </a:p>
        </p:txBody>
      </p:sp>
      <p:sp>
        <p:nvSpPr>
          <p:cNvPr id="82966" name="Line 22"/>
          <p:cNvSpPr>
            <a:spLocks noChangeShapeType="1"/>
          </p:cNvSpPr>
          <p:nvPr/>
        </p:nvSpPr>
        <p:spPr bwMode="auto">
          <a:xfrm flipV="1">
            <a:off x="4427538" y="3860800"/>
            <a:ext cx="865187" cy="360363"/>
          </a:xfrm>
          <a:prstGeom prst="line">
            <a:avLst/>
          </a:prstGeom>
          <a:noFill/>
          <a:ln w="28575">
            <a:solidFill>
              <a:srgbClr val="006600"/>
            </a:solidFill>
            <a:round/>
            <a:headEnd/>
            <a:tailEnd/>
          </a:ln>
          <a:effectLst/>
        </p:spPr>
        <p:txBody>
          <a:bodyPr/>
          <a:lstStyle/>
          <a:p>
            <a:endParaRPr lang="zh-TW" altLang="en-US" b="1">
              <a:latin typeface="黑体" pitchFamily="49" charset="-122"/>
              <a:ea typeface="黑体" pitchFamily="49" charset="-122"/>
            </a:endParaRPr>
          </a:p>
        </p:txBody>
      </p:sp>
      <p:sp>
        <p:nvSpPr>
          <p:cNvPr id="82967" name="Line 23"/>
          <p:cNvSpPr>
            <a:spLocks noChangeShapeType="1"/>
          </p:cNvSpPr>
          <p:nvPr/>
        </p:nvSpPr>
        <p:spPr bwMode="auto">
          <a:xfrm flipH="1" flipV="1">
            <a:off x="3563938" y="3860800"/>
            <a:ext cx="863600" cy="360363"/>
          </a:xfrm>
          <a:prstGeom prst="line">
            <a:avLst/>
          </a:prstGeom>
          <a:noFill/>
          <a:ln w="28575">
            <a:solidFill>
              <a:srgbClr val="006600"/>
            </a:solidFill>
            <a:round/>
            <a:headEnd/>
            <a:tailEnd/>
          </a:ln>
          <a:effectLst/>
        </p:spPr>
        <p:txBody>
          <a:bodyPr/>
          <a:lstStyle/>
          <a:p>
            <a:endParaRPr lang="zh-TW" altLang="en-US" b="1">
              <a:latin typeface="黑体" pitchFamily="49" charset="-122"/>
              <a:ea typeface="黑体" pitchFamily="49" charset="-122"/>
            </a:endParaRPr>
          </a:p>
        </p:txBody>
      </p:sp>
      <p:sp>
        <p:nvSpPr>
          <p:cNvPr id="82968" name="Rectangle 24"/>
          <p:cNvSpPr>
            <a:spLocks noChangeArrowheads="1"/>
          </p:cNvSpPr>
          <p:nvPr/>
        </p:nvSpPr>
        <p:spPr bwMode="auto">
          <a:xfrm>
            <a:off x="1620838" y="3500438"/>
            <a:ext cx="863600" cy="360362"/>
          </a:xfrm>
          <a:prstGeom prst="rect">
            <a:avLst/>
          </a:prstGeom>
          <a:ln>
            <a:headEnd/>
            <a:tailEnd/>
          </a:ln>
        </p:spPr>
        <p:style>
          <a:lnRef idx="0">
            <a:schemeClr val="accent4"/>
          </a:lnRef>
          <a:fillRef idx="3">
            <a:schemeClr val="accent4"/>
          </a:fillRef>
          <a:effectRef idx="3">
            <a:schemeClr val="accent4"/>
          </a:effectRef>
          <a:fontRef idx="minor">
            <a:schemeClr val="lt1"/>
          </a:fontRef>
        </p:style>
        <p:txBody>
          <a:bodyPr wrap="none" anchor="ctr"/>
          <a:lstStyle/>
          <a:p>
            <a:pPr algn="ctr"/>
            <a:r>
              <a:rPr lang="zh-TW" altLang="en-US" b="1">
                <a:latin typeface="黑体" pitchFamily="49" charset="-122"/>
                <a:ea typeface="黑体" pitchFamily="49" charset="-122"/>
              </a:rPr>
              <a:t>进口</a:t>
            </a:r>
          </a:p>
        </p:txBody>
      </p:sp>
      <p:sp>
        <p:nvSpPr>
          <p:cNvPr id="82969" name="Oval 25"/>
          <p:cNvSpPr>
            <a:spLocks noChangeArrowheads="1"/>
          </p:cNvSpPr>
          <p:nvPr/>
        </p:nvSpPr>
        <p:spPr bwMode="auto">
          <a:xfrm>
            <a:off x="2060568" y="2478088"/>
            <a:ext cx="1511300" cy="574675"/>
          </a:xfrm>
          <a:prstGeom prst="ellipse">
            <a:avLst/>
          </a:prstGeom>
          <a:solidFill>
            <a:srgbClr val="0000FF"/>
          </a:solidFill>
          <a:ln>
            <a:headEnd/>
            <a:tailEnd/>
          </a:ln>
        </p:spPr>
        <p:style>
          <a:lnRef idx="0">
            <a:schemeClr val="accent1"/>
          </a:lnRef>
          <a:fillRef idx="3">
            <a:schemeClr val="accent1"/>
          </a:fillRef>
          <a:effectRef idx="3">
            <a:schemeClr val="accent1"/>
          </a:effectRef>
          <a:fontRef idx="minor">
            <a:schemeClr val="lt1"/>
          </a:fontRef>
        </p:style>
        <p:txBody>
          <a:bodyPr wrap="none" anchor="ctr"/>
          <a:lstStyle/>
          <a:p>
            <a:r>
              <a:rPr lang="zh-CN" altLang="en-US" b="1" dirty="0">
                <a:solidFill>
                  <a:schemeClr val="bg1"/>
                </a:solidFill>
                <a:latin typeface="黑体" pitchFamily="49" charset="-122"/>
                <a:ea typeface="黑体" pitchFamily="49" charset="-122"/>
              </a:rPr>
              <a:t>复合产品</a:t>
            </a:r>
            <a:endParaRPr lang="en-US" altLang="zh-TW" b="1" dirty="0">
              <a:solidFill>
                <a:schemeClr val="bg1"/>
              </a:solidFill>
              <a:latin typeface="黑体" pitchFamily="49" charset="-122"/>
              <a:ea typeface="黑体" pitchFamily="49" charset="-122"/>
            </a:endParaRPr>
          </a:p>
        </p:txBody>
      </p:sp>
      <p:sp>
        <p:nvSpPr>
          <p:cNvPr id="82971" name="Line 27"/>
          <p:cNvSpPr>
            <a:spLocks noChangeShapeType="1"/>
          </p:cNvSpPr>
          <p:nvPr/>
        </p:nvSpPr>
        <p:spPr bwMode="auto">
          <a:xfrm flipH="1">
            <a:off x="2051050" y="3054350"/>
            <a:ext cx="669925" cy="446088"/>
          </a:xfrm>
          <a:prstGeom prst="line">
            <a:avLst/>
          </a:prstGeom>
          <a:noFill/>
          <a:ln w="28575">
            <a:solidFill>
              <a:srgbClr val="006600"/>
            </a:solidFill>
            <a:round/>
            <a:headEnd/>
            <a:tailEnd/>
          </a:ln>
          <a:effectLst/>
        </p:spPr>
        <p:txBody>
          <a:bodyPr/>
          <a:lstStyle/>
          <a:p>
            <a:endParaRPr lang="zh-TW" altLang="en-US" b="1">
              <a:latin typeface="黑体" pitchFamily="49" charset="-122"/>
              <a:ea typeface="黑体" pitchFamily="49" charset="-122"/>
            </a:endParaRPr>
          </a:p>
        </p:txBody>
      </p:sp>
      <p:sp>
        <p:nvSpPr>
          <p:cNvPr id="82972" name="Line 28"/>
          <p:cNvSpPr>
            <a:spLocks noChangeShapeType="1"/>
          </p:cNvSpPr>
          <p:nvPr/>
        </p:nvSpPr>
        <p:spPr bwMode="auto">
          <a:xfrm>
            <a:off x="2720975" y="3054350"/>
            <a:ext cx="842963" cy="446088"/>
          </a:xfrm>
          <a:prstGeom prst="line">
            <a:avLst/>
          </a:prstGeom>
          <a:noFill/>
          <a:ln w="28575">
            <a:solidFill>
              <a:srgbClr val="006600"/>
            </a:solidFill>
            <a:round/>
            <a:headEnd/>
            <a:tailEnd/>
          </a:ln>
          <a:effectLst/>
        </p:spPr>
        <p:txBody>
          <a:bodyPr/>
          <a:lstStyle/>
          <a:p>
            <a:endParaRPr lang="zh-TW" altLang="en-US" b="1">
              <a:latin typeface="黑体" pitchFamily="49" charset="-122"/>
              <a:ea typeface="黑体" pitchFamily="49" charset="-122"/>
            </a:endParaRPr>
          </a:p>
        </p:txBody>
      </p:sp>
      <p:sp>
        <p:nvSpPr>
          <p:cNvPr id="82973" name="Rectangle 29"/>
          <p:cNvSpPr>
            <a:spLocks noChangeArrowheads="1"/>
          </p:cNvSpPr>
          <p:nvPr/>
        </p:nvSpPr>
        <p:spPr bwMode="auto">
          <a:xfrm>
            <a:off x="1042988" y="1268413"/>
            <a:ext cx="863600" cy="576262"/>
          </a:xfrm>
          <a:prstGeom prst="rect">
            <a:avLst/>
          </a:prstGeom>
          <a:solidFill>
            <a:srgbClr val="FFCC99"/>
          </a:solidFill>
          <a:ln w="9525">
            <a:solidFill>
              <a:schemeClr val="tx1"/>
            </a:solidFill>
            <a:miter lim="800000"/>
            <a:headEnd/>
            <a:tailEnd/>
          </a:ln>
          <a:effectLst/>
        </p:spPr>
        <p:txBody>
          <a:bodyPr wrap="none" anchor="ctr"/>
          <a:lstStyle/>
          <a:p>
            <a:pPr algn="ctr"/>
            <a:r>
              <a:rPr lang="zh-TW" altLang="en-US" b="1" dirty="0">
                <a:latin typeface="黑体" pitchFamily="49" charset="-122"/>
                <a:ea typeface="黑体" pitchFamily="49" charset="-122"/>
              </a:rPr>
              <a:t>消费</a:t>
            </a:r>
          </a:p>
          <a:p>
            <a:pPr algn="ctr"/>
            <a:r>
              <a:rPr lang="en-US" altLang="zh-TW" b="1" dirty="0">
                <a:solidFill>
                  <a:srgbClr val="FF0000"/>
                </a:solidFill>
                <a:latin typeface="黑体" pitchFamily="49" charset="-122"/>
                <a:ea typeface="黑体" pitchFamily="49" charset="-122"/>
              </a:rPr>
              <a:t>C</a:t>
            </a:r>
          </a:p>
        </p:txBody>
      </p:sp>
      <p:sp>
        <p:nvSpPr>
          <p:cNvPr id="82974" name="Rectangle 30"/>
          <p:cNvSpPr>
            <a:spLocks noChangeArrowheads="1"/>
          </p:cNvSpPr>
          <p:nvPr/>
        </p:nvSpPr>
        <p:spPr bwMode="auto">
          <a:xfrm>
            <a:off x="2195513" y="1268413"/>
            <a:ext cx="863600" cy="576262"/>
          </a:xfrm>
          <a:prstGeom prst="rect">
            <a:avLst/>
          </a:prstGeom>
          <a:solidFill>
            <a:srgbClr val="FFCC99"/>
          </a:solidFill>
          <a:ln w="9525">
            <a:solidFill>
              <a:schemeClr val="tx1"/>
            </a:solidFill>
            <a:miter lim="800000"/>
            <a:headEnd/>
            <a:tailEnd/>
          </a:ln>
          <a:effectLst/>
        </p:spPr>
        <p:txBody>
          <a:bodyPr wrap="none" anchor="ctr"/>
          <a:lstStyle/>
          <a:p>
            <a:pPr algn="ctr"/>
            <a:r>
              <a:rPr lang="zh-TW" altLang="en-US" b="1" dirty="0">
                <a:latin typeface="黑体" pitchFamily="49" charset="-122"/>
                <a:ea typeface="黑体" pitchFamily="49" charset="-122"/>
              </a:rPr>
              <a:t>投资</a:t>
            </a:r>
          </a:p>
          <a:p>
            <a:pPr algn="ctr"/>
            <a:r>
              <a:rPr lang="en-US" altLang="zh-TW" b="1" dirty="0">
                <a:solidFill>
                  <a:srgbClr val="FF0000"/>
                </a:solidFill>
                <a:latin typeface="黑体" pitchFamily="49" charset="-122"/>
                <a:ea typeface="黑体" pitchFamily="49" charset="-122"/>
              </a:rPr>
              <a:t>I</a:t>
            </a:r>
          </a:p>
        </p:txBody>
      </p:sp>
      <p:sp>
        <p:nvSpPr>
          <p:cNvPr id="82975" name="Rectangle 31"/>
          <p:cNvSpPr>
            <a:spLocks noChangeArrowheads="1"/>
          </p:cNvSpPr>
          <p:nvPr/>
        </p:nvSpPr>
        <p:spPr bwMode="auto">
          <a:xfrm>
            <a:off x="3348038" y="1268413"/>
            <a:ext cx="863600" cy="576262"/>
          </a:xfrm>
          <a:prstGeom prst="rect">
            <a:avLst/>
          </a:prstGeom>
          <a:solidFill>
            <a:srgbClr val="FFCC99"/>
          </a:solidFill>
          <a:ln w="9525">
            <a:solidFill>
              <a:schemeClr val="tx1"/>
            </a:solidFill>
            <a:miter lim="800000"/>
            <a:headEnd/>
            <a:tailEnd/>
          </a:ln>
          <a:effectLst/>
        </p:spPr>
        <p:txBody>
          <a:bodyPr wrap="none" anchor="ctr"/>
          <a:lstStyle/>
          <a:p>
            <a:pPr algn="ctr"/>
            <a:r>
              <a:rPr lang="zh-TW" altLang="en-US" b="1" dirty="0">
                <a:latin typeface="黑体" pitchFamily="49" charset="-122"/>
                <a:ea typeface="黑体" pitchFamily="49" charset="-122"/>
              </a:rPr>
              <a:t>政府</a:t>
            </a:r>
          </a:p>
          <a:p>
            <a:pPr algn="ctr"/>
            <a:r>
              <a:rPr lang="en-US" altLang="zh-TW" b="1" dirty="0">
                <a:solidFill>
                  <a:srgbClr val="FF0000"/>
                </a:solidFill>
                <a:latin typeface="黑体" pitchFamily="49" charset="-122"/>
                <a:ea typeface="黑体" pitchFamily="49" charset="-122"/>
              </a:rPr>
              <a:t>G</a:t>
            </a:r>
          </a:p>
        </p:txBody>
      </p:sp>
      <p:sp>
        <p:nvSpPr>
          <p:cNvPr id="82976" name="Rectangle 32"/>
          <p:cNvSpPr>
            <a:spLocks noChangeArrowheads="1"/>
          </p:cNvSpPr>
          <p:nvPr/>
        </p:nvSpPr>
        <p:spPr bwMode="auto">
          <a:xfrm>
            <a:off x="4500563" y="1268413"/>
            <a:ext cx="863600" cy="576262"/>
          </a:xfrm>
          <a:prstGeom prst="rect">
            <a:avLst/>
          </a:prstGeom>
          <a:solidFill>
            <a:srgbClr val="FFCC99"/>
          </a:solidFill>
          <a:ln w="9525">
            <a:solidFill>
              <a:schemeClr val="tx1"/>
            </a:solidFill>
            <a:miter lim="800000"/>
            <a:headEnd/>
            <a:tailEnd/>
          </a:ln>
          <a:effectLst/>
        </p:spPr>
        <p:txBody>
          <a:bodyPr wrap="none" anchor="ctr"/>
          <a:lstStyle/>
          <a:p>
            <a:pPr algn="ctr"/>
            <a:r>
              <a:rPr lang="zh-TW" altLang="en-US" b="1" dirty="0">
                <a:latin typeface="黑体" pitchFamily="49" charset="-122"/>
                <a:ea typeface="黑体" pitchFamily="49" charset="-122"/>
              </a:rPr>
              <a:t>存货</a:t>
            </a:r>
          </a:p>
          <a:p>
            <a:pPr algn="ctr"/>
            <a:r>
              <a:rPr lang="en-US" altLang="zh-TW" b="1" dirty="0">
                <a:solidFill>
                  <a:srgbClr val="FF0000"/>
                </a:solidFill>
                <a:latin typeface="黑体" pitchFamily="49" charset="-122"/>
                <a:ea typeface="黑体" pitchFamily="49" charset="-122"/>
              </a:rPr>
              <a:t>INV</a:t>
            </a:r>
          </a:p>
        </p:txBody>
      </p:sp>
      <p:sp>
        <p:nvSpPr>
          <p:cNvPr id="82977" name="Rectangle 33"/>
          <p:cNvSpPr>
            <a:spLocks noChangeArrowheads="1"/>
          </p:cNvSpPr>
          <p:nvPr/>
        </p:nvSpPr>
        <p:spPr bwMode="auto">
          <a:xfrm>
            <a:off x="7092950" y="1268413"/>
            <a:ext cx="1079500" cy="576262"/>
          </a:xfrm>
          <a:prstGeom prst="rect">
            <a:avLst/>
          </a:prstGeom>
          <a:solidFill>
            <a:srgbClr val="FFCC99"/>
          </a:solidFill>
          <a:ln w="9525">
            <a:solidFill>
              <a:schemeClr val="tx1"/>
            </a:solidFill>
            <a:miter lim="800000"/>
            <a:headEnd/>
            <a:tailEnd/>
          </a:ln>
          <a:effectLst/>
        </p:spPr>
        <p:txBody>
          <a:bodyPr wrap="none" anchor="ctr"/>
          <a:lstStyle/>
          <a:p>
            <a:pPr algn="ctr"/>
            <a:r>
              <a:rPr lang="zh-TW" altLang="en-US" b="1" dirty="0">
                <a:latin typeface="黑体" pitchFamily="49" charset="-122"/>
                <a:ea typeface="黑体" pitchFamily="49" charset="-122"/>
              </a:rPr>
              <a:t>中间需求</a:t>
            </a:r>
          </a:p>
          <a:p>
            <a:pPr algn="ctr"/>
            <a:r>
              <a:rPr lang="en-US" altLang="zh-TW" b="1" dirty="0">
                <a:solidFill>
                  <a:srgbClr val="FF0000"/>
                </a:solidFill>
                <a:latin typeface="黑体" pitchFamily="49" charset="-122"/>
                <a:ea typeface="黑体" pitchFamily="49" charset="-122"/>
              </a:rPr>
              <a:t>INT</a:t>
            </a:r>
          </a:p>
        </p:txBody>
      </p:sp>
      <p:sp>
        <p:nvSpPr>
          <p:cNvPr id="82978" name="Text Box 34"/>
          <p:cNvSpPr txBox="1">
            <a:spLocks noChangeArrowheads="1"/>
          </p:cNvSpPr>
          <p:nvPr/>
        </p:nvSpPr>
        <p:spPr bwMode="auto">
          <a:xfrm>
            <a:off x="6011863" y="1484313"/>
            <a:ext cx="720725" cy="366712"/>
          </a:xfrm>
          <a:prstGeom prst="rect">
            <a:avLst/>
          </a:prstGeom>
          <a:noFill/>
          <a:ln w="9525">
            <a:noFill/>
            <a:miter lim="800000"/>
            <a:headEnd/>
            <a:tailEnd/>
          </a:ln>
          <a:effectLst/>
        </p:spPr>
        <p:txBody>
          <a:bodyPr>
            <a:spAutoFit/>
          </a:bodyPr>
          <a:lstStyle/>
          <a:p>
            <a:pPr>
              <a:spcBef>
                <a:spcPct val="50000"/>
              </a:spcBef>
            </a:pPr>
            <a:r>
              <a:rPr lang="en-US" altLang="zh-TW" b="1">
                <a:latin typeface="黑体" pitchFamily="49" charset="-122"/>
                <a:ea typeface="黑体" pitchFamily="49" charset="-122"/>
              </a:rPr>
              <a:t>……</a:t>
            </a:r>
          </a:p>
        </p:txBody>
      </p:sp>
      <p:sp>
        <p:nvSpPr>
          <p:cNvPr id="82979" name="Freeform 35"/>
          <p:cNvSpPr>
            <a:spLocks/>
          </p:cNvSpPr>
          <p:nvPr/>
        </p:nvSpPr>
        <p:spPr bwMode="auto">
          <a:xfrm>
            <a:off x="1476375" y="1844675"/>
            <a:ext cx="6119813" cy="215900"/>
          </a:xfrm>
          <a:custGeom>
            <a:avLst/>
            <a:gdLst/>
            <a:ahLst/>
            <a:cxnLst>
              <a:cxn ang="0">
                <a:pos x="0" y="0"/>
              </a:cxn>
              <a:cxn ang="0">
                <a:pos x="0" y="136"/>
              </a:cxn>
              <a:cxn ang="0">
                <a:pos x="3991" y="136"/>
              </a:cxn>
              <a:cxn ang="0">
                <a:pos x="3991" y="0"/>
              </a:cxn>
            </a:cxnLst>
            <a:rect l="0" t="0" r="r" b="b"/>
            <a:pathLst>
              <a:path w="3991" h="136">
                <a:moveTo>
                  <a:pt x="0" y="0"/>
                </a:moveTo>
                <a:lnTo>
                  <a:pt x="0" y="136"/>
                </a:lnTo>
                <a:lnTo>
                  <a:pt x="3991" y="136"/>
                </a:lnTo>
                <a:lnTo>
                  <a:pt x="3991" y="0"/>
                </a:lnTo>
              </a:path>
            </a:pathLst>
          </a:custGeom>
          <a:noFill/>
          <a:ln w="28575" cmpd="sng">
            <a:solidFill>
              <a:srgbClr val="CC0099"/>
            </a:solidFill>
            <a:round/>
            <a:headEnd/>
            <a:tailEnd/>
          </a:ln>
          <a:effectLst/>
        </p:spPr>
        <p:txBody>
          <a:bodyPr/>
          <a:lstStyle/>
          <a:p>
            <a:endParaRPr lang="zh-TW" altLang="en-US" b="1">
              <a:latin typeface="黑体" pitchFamily="49" charset="-122"/>
              <a:ea typeface="黑体" pitchFamily="49" charset="-122"/>
            </a:endParaRPr>
          </a:p>
        </p:txBody>
      </p:sp>
      <p:sp>
        <p:nvSpPr>
          <p:cNvPr id="82980" name="Line 36"/>
          <p:cNvSpPr>
            <a:spLocks noChangeShapeType="1"/>
          </p:cNvSpPr>
          <p:nvPr/>
        </p:nvSpPr>
        <p:spPr bwMode="auto">
          <a:xfrm>
            <a:off x="2627313" y="1844675"/>
            <a:ext cx="0" cy="215900"/>
          </a:xfrm>
          <a:prstGeom prst="line">
            <a:avLst/>
          </a:prstGeom>
          <a:noFill/>
          <a:ln w="28575">
            <a:solidFill>
              <a:srgbClr val="CC0099"/>
            </a:solidFill>
            <a:round/>
            <a:headEnd/>
            <a:tailEnd/>
          </a:ln>
          <a:effectLst/>
        </p:spPr>
        <p:txBody>
          <a:bodyPr/>
          <a:lstStyle/>
          <a:p>
            <a:endParaRPr lang="zh-TW" altLang="en-US" b="1">
              <a:latin typeface="黑体" pitchFamily="49" charset="-122"/>
              <a:ea typeface="黑体" pitchFamily="49" charset="-122"/>
            </a:endParaRPr>
          </a:p>
        </p:txBody>
      </p:sp>
      <p:sp>
        <p:nvSpPr>
          <p:cNvPr id="82981" name="Line 37"/>
          <p:cNvSpPr>
            <a:spLocks noChangeShapeType="1"/>
          </p:cNvSpPr>
          <p:nvPr/>
        </p:nvSpPr>
        <p:spPr bwMode="auto">
          <a:xfrm>
            <a:off x="4932363" y="1844675"/>
            <a:ext cx="0" cy="215900"/>
          </a:xfrm>
          <a:prstGeom prst="line">
            <a:avLst/>
          </a:prstGeom>
          <a:noFill/>
          <a:ln w="28575">
            <a:solidFill>
              <a:srgbClr val="CC0099"/>
            </a:solidFill>
            <a:round/>
            <a:headEnd/>
            <a:tailEnd/>
          </a:ln>
          <a:effectLst/>
        </p:spPr>
        <p:txBody>
          <a:bodyPr/>
          <a:lstStyle/>
          <a:p>
            <a:endParaRPr lang="zh-TW" altLang="en-US" b="1">
              <a:latin typeface="黑体" pitchFamily="49" charset="-122"/>
              <a:ea typeface="黑体" pitchFamily="49" charset="-122"/>
            </a:endParaRPr>
          </a:p>
        </p:txBody>
      </p:sp>
      <p:sp>
        <p:nvSpPr>
          <p:cNvPr id="82982" name="Line 38"/>
          <p:cNvSpPr>
            <a:spLocks noChangeShapeType="1"/>
          </p:cNvSpPr>
          <p:nvPr/>
        </p:nvSpPr>
        <p:spPr bwMode="auto">
          <a:xfrm>
            <a:off x="3779838" y="1844675"/>
            <a:ext cx="0" cy="215900"/>
          </a:xfrm>
          <a:prstGeom prst="line">
            <a:avLst/>
          </a:prstGeom>
          <a:noFill/>
          <a:ln w="28575">
            <a:solidFill>
              <a:srgbClr val="CC0099"/>
            </a:solidFill>
            <a:round/>
            <a:headEnd/>
            <a:tailEnd/>
          </a:ln>
          <a:effectLst/>
        </p:spPr>
        <p:txBody>
          <a:bodyPr/>
          <a:lstStyle/>
          <a:p>
            <a:endParaRPr lang="zh-TW" altLang="en-US" b="1">
              <a:latin typeface="黑体" pitchFamily="49" charset="-122"/>
              <a:ea typeface="黑体" pitchFamily="49" charset="-122"/>
            </a:endParaRPr>
          </a:p>
        </p:txBody>
      </p:sp>
      <p:sp>
        <p:nvSpPr>
          <p:cNvPr id="82983" name="Line 39"/>
          <p:cNvSpPr>
            <a:spLocks noChangeShapeType="1"/>
          </p:cNvSpPr>
          <p:nvPr/>
        </p:nvSpPr>
        <p:spPr bwMode="auto">
          <a:xfrm flipV="1">
            <a:off x="2771775" y="2060575"/>
            <a:ext cx="0" cy="431800"/>
          </a:xfrm>
          <a:prstGeom prst="line">
            <a:avLst/>
          </a:prstGeom>
          <a:noFill/>
          <a:ln w="28575">
            <a:solidFill>
              <a:srgbClr val="CC0099"/>
            </a:solidFill>
            <a:round/>
            <a:headEnd/>
            <a:tailEnd/>
          </a:ln>
          <a:effectLst/>
        </p:spPr>
        <p:txBody>
          <a:bodyPr/>
          <a:lstStyle/>
          <a:p>
            <a:endParaRPr lang="zh-TW" altLang="en-US" b="1">
              <a:latin typeface="黑体" pitchFamily="49" charset="-122"/>
              <a:ea typeface="黑体" pitchFamily="49" charset="-122"/>
            </a:endParaRPr>
          </a:p>
        </p:txBody>
      </p:sp>
      <p:sp>
        <p:nvSpPr>
          <p:cNvPr id="82984" name="Rectangle 40"/>
          <p:cNvSpPr>
            <a:spLocks noChangeArrowheads="1"/>
          </p:cNvSpPr>
          <p:nvPr/>
        </p:nvSpPr>
        <p:spPr bwMode="auto">
          <a:xfrm>
            <a:off x="900113" y="476250"/>
            <a:ext cx="1081087" cy="431800"/>
          </a:xfrm>
          <a:prstGeom prst="rect">
            <a:avLst/>
          </a:prstGeom>
          <a:solidFill>
            <a:srgbClr val="CCFFCC"/>
          </a:solidFill>
          <a:ln w="9525">
            <a:solidFill>
              <a:schemeClr val="tx1"/>
            </a:solidFill>
            <a:miter lim="800000"/>
            <a:headEnd/>
            <a:tailEnd/>
          </a:ln>
          <a:effectLst/>
        </p:spPr>
        <p:txBody>
          <a:bodyPr wrap="none" anchor="ctr"/>
          <a:lstStyle/>
          <a:p>
            <a:pPr algn="ctr"/>
            <a:r>
              <a:rPr lang="zh-TW" altLang="en-US" b="1" dirty="0">
                <a:solidFill>
                  <a:srgbClr val="FF0000"/>
                </a:solidFill>
                <a:latin typeface="黑体" pitchFamily="49" charset="-122"/>
                <a:ea typeface="黑体" pitchFamily="49" charset="-122"/>
              </a:rPr>
              <a:t>效用</a:t>
            </a:r>
          </a:p>
        </p:txBody>
      </p:sp>
      <p:sp>
        <p:nvSpPr>
          <p:cNvPr id="82985" name="Line 41"/>
          <p:cNvSpPr>
            <a:spLocks noChangeShapeType="1"/>
          </p:cNvSpPr>
          <p:nvPr/>
        </p:nvSpPr>
        <p:spPr bwMode="auto">
          <a:xfrm flipV="1">
            <a:off x="1476375" y="908050"/>
            <a:ext cx="0" cy="360363"/>
          </a:xfrm>
          <a:prstGeom prst="line">
            <a:avLst/>
          </a:prstGeom>
          <a:noFill/>
          <a:ln w="28575">
            <a:solidFill>
              <a:srgbClr val="006600"/>
            </a:solidFill>
            <a:round/>
            <a:headEnd/>
            <a:tailEnd/>
          </a:ln>
          <a:effectLst/>
        </p:spPr>
        <p:txBody>
          <a:bodyPr/>
          <a:lstStyle/>
          <a:p>
            <a:endParaRPr lang="zh-TW" altLang="en-US" b="1">
              <a:latin typeface="黑体" pitchFamily="49" charset="-122"/>
              <a:ea typeface="黑体" pitchFamily="49" charset="-122"/>
            </a:endParaRPr>
          </a:p>
        </p:txBody>
      </p:sp>
      <p:graphicFrame>
        <p:nvGraphicFramePr>
          <p:cNvPr id="82986" name="Object 42"/>
          <p:cNvGraphicFramePr>
            <a:graphicFrameLocks noChangeAspect="1"/>
          </p:cNvGraphicFramePr>
          <p:nvPr/>
        </p:nvGraphicFramePr>
        <p:xfrm>
          <a:off x="2268538" y="476250"/>
          <a:ext cx="3946536" cy="452420"/>
        </p:xfrm>
        <a:graphic>
          <a:graphicData uri="http://schemas.openxmlformats.org/presentationml/2006/ole">
            <mc:AlternateContent xmlns:mc="http://schemas.openxmlformats.org/markup-compatibility/2006">
              <mc:Choice xmlns:v="urn:schemas-microsoft-com:vml" Requires="v">
                <p:oleObj name="Equation" r:id="rId2" imgW="1549080" imgH="228600" progId="Equation.DSMT4">
                  <p:embed/>
                </p:oleObj>
              </mc:Choice>
              <mc:Fallback>
                <p:oleObj name="Equation" r:id="rId2" imgW="1549080" imgH="22860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538" y="476250"/>
                        <a:ext cx="3946536" cy="4524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987" name="Freeform 43"/>
          <p:cNvSpPr>
            <a:spLocks/>
          </p:cNvSpPr>
          <p:nvPr/>
        </p:nvSpPr>
        <p:spPr bwMode="auto">
          <a:xfrm>
            <a:off x="7524750" y="1844675"/>
            <a:ext cx="503238" cy="3529013"/>
          </a:xfrm>
          <a:custGeom>
            <a:avLst/>
            <a:gdLst/>
            <a:ahLst/>
            <a:cxnLst>
              <a:cxn ang="0">
                <a:pos x="317" y="0"/>
              </a:cxn>
              <a:cxn ang="0">
                <a:pos x="317" y="1996"/>
              </a:cxn>
              <a:cxn ang="0">
                <a:pos x="0" y="1996"/>
              </a:cxn>
            </a:cxnLst>
            <a:rect l="0" t="0" r="r" b="b"/>
            <a:pathLst>
              <a:path w="317" h="1996">
                <a:moveTo>
                  <a:pt x="317" y="0"/>
                </a:moveTo>
                <a:lnTo>
                  <a:pt x="317" y="1996"/>
                </a:lnTo>
                <a:lnTo>
                  <a:pt x="0" y="1996"/>
                </a:lnTo>
              </a:path>
            </a:pathLst>
          </a:custGeom>
          <a:noFill/>
          <a:ln w="28575" cmpd="sng">
            <a:solidFill>
              <a:srgbClr val="0000FF"/>
            </a:solidFill>
            <a:round/>
            <a:headEnd type="none" w="med" len="med"/>
            <a:tailEnd type="triangle" w="med" len="med"/>
          </a:ln>
          <a:effectLst/>
        </p:spPr>
        <p:txBody>
          <a:bodyPr/>
          <a:lstStyle/>
          <a:p>
            <a:endParaRPr lang="zh-TW" altLang="en-US" b="1">
              <a:latin typeface="黑体" pitchFamily="49" charset="-122"/>
              <a:ea typeface="黑体" pitchFamily="49" charset="-122"/>
            </a:endParaRPr>
          </a:p>
        </p:txBody>
      </p:sp>
      <p:sp>
        <p:nvSpPr>
          <p:cNvPr id="82988" name="Rectangle 44"/>
          <p:cNvSpPr>
            <a:spLocks noChangeArrowheads="1"/>
          </p:cNvSpPr>
          <p:nvPr/>
        </p:nvSpPr>
        <p:spPr bwMode="auto">
          <a:xfrm>
            <a:off x="2700338" y="5084763"/>
            <a:ext cx="4751387" cy="576262"/>
          </a:xfrm>
          <a:prstGeom prst="rect">
            <a:avLst/>
          </a:prstGeom>
          <a:noFill/>
          <a:ln w="28575">
            <a:solidFill>
              <a:srgbClr val="0000FF"/>
            </a:solidFill>
            <a:miter lim="800000"/>
            <a:headEnd/>
            <a:tailEnd/>
          </a:ln>
          <a:effectLst/>
        </p:spPr>
        <p:txBody>
          <a:bodyPr wrap="none" anchor="ctr"/>
          <a:lstStyle/>
          <a:p>
            <a:endParaRPr lang="zh-TW" altLang="en-US" b="1">
              <a:latin typeface="黑体" pitchFamily="49" charset="-122"/>
              <a:ea typeface="黑体" pitchFamily="49" charset="-122"/>
            </a:endParaRPr>
          </a:p>
        </p:txBody>
      </p:sp>
      <p:sp>
        <p:nvSpPr>
          <p:cNvPr id="82989" name="AutoShape 45"/>
          <p:cNvSpPr>
            <a:spLocks noChangeArrowheads="1"/>
          </p:cNvSpPr>
          <p:nvPr/>
        </p:nvSpPr>
        <p:spPr bwMode="auto">
          <a:xfrm>
            <a:off x="1547813" y="5661025"/>
            <a:ext cx="1008062" cy="215900"/>
          </a:xfrm>
          <a:prstGeom prst="curvedUpArrow">
            <a:avLst>
              <a:gd name="adj1" fmla="val 93382"/>
              <a:gd name="adj2" fmla="val 186765"/>
              <a:gd name="adj3" fmla="val 33333"/>
            </a:avLst>
          </a:prstGeom>
          <a:solidFill>
            <a:srgbClr val="FFCC00"/>
          </a:solidFill>
          <a:ln w="9525">
            <a:solidFill>
              <a:schemeClr val="tx1"/>
            </a:solidFill>
            <a:miter lim="800000"/>
            <a:headEnd/>
            <a:tailEnd/>
          </a:ln>
          <a:effectLst/>
        </p:spPr>
        <p:txBody>
          <a:bodyPr wrap="none" anchor="ctr"/>
          <a:lstStyle/>
          <a:p>
            <a:endParaRPr lang="zh-TW" altLang="en-US" b="1">
              <a:latin typeface="黑体" pitchFamily="49" charset="-122"/>
              <a:ea typeface="黑体" pitchFamily="49" charset="-122"/>
            </a:endParaRPr>
          </a:p>
        </p:txBody>
      </p:sp>
      <p:sp>
        <p:nvSpPr>
          <p:cNvPr id="82990" name="AutoShape 46"/>
          <p:cNvSpPr>
            <a:spLocks noChangeArrowheads="1"/>
          </p:cNvSpPr>
          <p:nvPr/>
        </p:nvSpPr>
        <p:spPr bwMode="auto">
          <a:xfrm>
            <a:off x="3635375" y="4724400"/>
            <a:ext cx="2016125" cy="288925"/>
          </a:xfrm>
          <a:prstGeom prst="curvedUpArrow">
            <a:avLst>
              <a:gd name="adj1" fmla="val 139560"/>
              <a:gd name="adj2" fmla="val 279121"/>
              <a:gd name="adj3" fmla="val 33088"/>
            </a:avLst>
          </a:prstGeom>
          <a:solidFill>
            <a:srgbClr val="FFCC00"/>
          </a:solidFill>
          <a:ln w="9525">
            <a:solidFill>
              <a:schemeClr val="tx1"/>
            </a:solidFill>
            <a:miter lim="800000"/>
            <a:headEnd/>
            <a:tailEnd/>
          </a:ln>
          <a:effectLst/>
        </p:spPr>
        <p:txBody>
          <a:bodyPr wrap="none" anchor="ctr"/>
          <a:lstStyle/>
          <a:p>
            <a:endParaRPr lang="zh-TW" altLang="en-US" b="1">
              <a:latin typeface="黑体" pitchFamily="49" charset="-122"/>
              <a:ea typeface="黑体" pitchFamily="49" charset="-122"/>
            </a:endParaRPr>
          </a:p>
        </p:txBody>
      </p:sp>
      <p:sp>
        <p:nvSpPr>
          <p:cNvPr id="82991" name="AutoShape 47"/>
          <p:cNvSpPr>
            <a:spLocks noChangeArrowheads="1"/>
          </p:cNvSpPr>
          <p:nvPr/>
        </p:nvSpPr>
        <p:spPr bwMode="auto">
          <a:xfrm>
            <a:off x="2195513" y="3141663"/>
            <a:ext cx="1512887" cy="287337"/>
          </a:xfrm>
          <a:prstGeom prst="curvedUpArrow">
            <a:avLst>
              <a:gd name="adj1" fmla="val 105304"/>
              <a:gd name="adj2" fmla="val 210608"/>
              <a:gd name="adj3" fmla="val 33333"/>
            </a:avLst>
          </a:prstGeom>
          <a:solidFill>
            <a:srgbClr val="FFCC00"/>
          </a:solidFill>
          <a:ln w="9525">
            <a:solidFill>
              <a:schemeClr val="tx1"/>
            </a:solidFill>
            <a:miter lim="800000"/>
            <a:headEnd/>
            <a:tailEnd/>
          </a:ln>
          <a:effectLst/>
        </p:spPr>
        <p:txBody>
          <a:bodyPr wrap="none" anchor="ctr"/>
          <a:lstStyle/>
          <a:p>
            <a:endParaRPr lang="zh-TW" altLang="en-US" b="1">
              <a:latin typeface="黑体" pitchFamily="49" charset="-122"/>
              <a:ea typeface="黑体" pitchFamily="49" charset="-122"/>
            </a:endParaRPr>
          </a:p>
        </p:txBody>
      </p:sp>
      <p:sp>
        <p:nvSpPr>
          <p:cNvPr id="82992" name="Text Box 48"/>
          <p:cNvSpPr txBox="1">
            <a:spLocks noChangeArrowheads="1"/>
          </p:cNvSpPr>
          <p:nvPr/>
        </p:nvSpPr>
        <p:spPr bwMode="auto">
          <a:xfrm>
            <a:off x="3687763" y="2940050"/>
            <a:ext cx="1338828" cy="369332"/>
          </a:xfrm>
          <a:prstGeom prst="rect">
            <a:avLst/>
          </a:prstGeom>
          <a:noFill/>
          <a:ln w="9525">
            <a:noFill/>
            <a:miter lim="800000"/>
            <a:headEnd/>
            <a:tailEnd/>
          </a:ln>
          <a:effectLst/>
        </p:spPr>
        <p:txBody>
          <a:bodyPr wrap="none">
            <a:spAutoFit/>
          </a:bodyPr>
          <a:lstStyle/>
          <a:p>
            <a:r>
              <a:rPr lang="zh-CN" altLang="en-US" b="1" dirty="0">
                <a:solidFill>
                  <a:srgbClr val="0000FF"/>
                </a:solidFill>
                <a:latin typeface="黑体" pitchFamily="49" charset="-122"/>
                <a:ea typeface="黑体" pitchFamily="49" charset="-122"/>
              </a:rPr>
              <a:t>阿明顿假设</a:t>
            </a:r>
            <a:endParaRPr lang="en-US" altLang="zh-TW" b="1" dirty="0">
              <a:solidFill>
                <a:srgbClr val="0000FF"/>
              </a:solidFill>
              <a:latin typeface="黑体" pitchFamily="49" charset="-122"/>
              <a:ea typeface="黑体" pitchFamily="49" charset="-122"/>
            </a:endParaRPr>
          </a:p>
        </p:txBody>
      </p:sp>
      <p:sp>
        <p:nvSpPr>
          <p:cNvPr id="82993" name="Text Box 49"/>
          <p:cNvSpPr txBox="1">
            <a:spLocks noChangeArrowheads="1"/>
          </p:cNvSpPr>
          <p:nvPr/>
        </p:nvSpPr>
        <p:spPr bwMode="auto">
          <a:xfrm>
            <a:off x="1547813" y="2997200"/>
            <a:ext cx="849312" cy="366713"/>
          </a:xfrm>
          <a:prstGeom prst="rect">
            <a:avLst/>
          </a:prstGeom>
          <a:noFill/>
          <a:ln w="9525">
            <a:noFill/>
            <a:miter lim="800000"/>
            <a:headEnd/>
            <a:tailEnd/>
          </a:ln>
          <a:effectLst/>
        </p:spPr>
        <p:txBody>
          <a:bodyPr>
            <a:spAutoFit/>
          </a:bodyPr>
          <a:lstStyle/>
          <a:p>
            <a:pPr>
              <a:spcBef>
                <a:spcPct val="50000"/>
              </a:spcBef>
            </a:pPr>
            <a:r>
              <a:rPr lang="en-US" altLang="zh-TW" b="1" dirty="0">
                <a:solidFill>
                  <a:srgbClr val="CC0099"/>
                </a:solidFill>
                <a:latin typeface="Times New Roman" pitchFamily="18" charset="0"/>
                <a:ea typeface="黑体" pitchFamily="49" charset="-122"/>
                <a:cs typeface="Times New Roman" pitchFamily="18" charset="0"/>
              </a:rPr>
              <a:t>CES</a:t>
            </a:r>
          </a:p>
        </p:txBody>
      </p:sp>
      <p:sp>
        <p:nvSpPr>
          <p:cNvPr id="82994" name="Text Box 50"/>
          <p:cNvSpPr txBox="1">
            <a:spLocks noChangeArrowheads="1"/>
          </p:cNvSpPr>
          <p:nvPr/>
        </p:nvSpPr>
        <p:spPr bwMode="auto">
          <a:xfrm>
            <a:off x="642910" y="5562618"/>
            <a:ext cx="849312" cy="366712"/>
          </a:xfrm>
          <a:prstGeom prst="rect">
            <a:avLst/>
          </a:prstGeom>
          <a:noFill/>
          <a:ln w="9525">
            <a:noFill/>
            <a:miter lim="800000"/>
            <a:headEnd/>
            <a:tailEnd/>
          </a:ln>
          <a:effectLst/>
        </p:spPr>
        <p:txBody>
          <a:bodyPr>
            <a:spAutoFit/>
          </a:bodyPr>
          <a:lstStyle/>
          <a:p>
            <a:pPr>
              <a:spcBef>
                <a:spcPct val="50000"/>
              </a:spcBef>
            </a:pPr>
            <a:r>
              <a:rPr lang="en-US" altLang="zh-TW" b="1" dirty="0">
                <a:solidFill>
                  <a:srgbClr val="CC0099"/>
                </a:solidFill>
                <a:latin typeface="Times New Roman" pitchFamily="18" charset="0"/>
                <a:ea typeface="黑体" pitchFamily="49" charset="-122"/>
                <a:cs typeface="Times New Roman" pitchFamily="18" charset="0"/>
              </a:rPr>
              <a:t>CES</a:t>
            </a:r>
          </a:p>
        </p:txBody>
      </p:sp>
      <p:sp>
        <p:nvSpPr>
          <p:cNvPr id="82995" name="Text Box 51"/>
          <p:cNvSpPr txBox="1">
            <a:spLocks noChangeArrowheads="1"/>
          </p:cNvSpPr>
          <p:nvPr/>
        </p:nvSpPr>
        <p:spPr bwMode="auto">
          <a:xfrm>
            <a:off x="5200650" y="4379913"/>
            <a:ext cx="1120820" cy="369332"/>
          </a:xfrm>
          <a:prstGeom prst="rect">
            <a:avLst/>
          </a:prstGeom>
          <a:noFill/>
          <a:ln w="9525">
            <a:noFill/>
            <a:miter lim="800000"/>
            <a:headEnd/>
            <a:tailEnd/>
          </a:ln>
          <a:effectLst/>
        </p:spPr>
        <p:txBody>
          <a:bodyPr wrap="none">
            <a:spAutoFit/>
          </a:bodyPr>
          <a:lstStyle/>
          <a:p>
            <a:r>
              <a:rPr lang="en-US" altLang="zh-TW" b="1" dirty="0">
                <a:solidFill>
                  <a:srgbClr val="CC0099"/>
                </a:solidFill>
                <a:latin typeface="黑体" pitchFamily="49" charset="-122"/>
                <a:ea typeface="黑体" pitchFamily="49" charset="-122"/>
              </a:rPr>
              <a:t>Leontief</a:t>
            </a:r>
          </a:p>
        </p:txBody>
      </p:sp>
      <p:sp>
        <p:nvSpPr>
          <p:cNvPr id="82996" name="AutoShape 52"/>
          <p:cNvSpPr>
            <a:spLocks noChangeArrowheads="1"/>
          </p:cNvSpPr>
          <p:nvPr/>
        </p:nvSpPr>
        <p:spPr bwMode="auto">
          <a:xfrm>
            <a:off x="3779838" y="3933825"/>
            <a:ext cx="1584325" cy="215900"/>
          </a:xfrm>
          <a:prstGeom prst="curvedDownArrow">
            <a:avLst>
              <a:gd name="adj1" fmla="val 146765"/>
              <a:gd name="adj2" fmla="val 293529"/>
              <a:gd name="adj3" fmla="val 33333"/>
            </a:avLst>
          </a:prstGeom>
          <a:solidFill>
            <a:schemeClr val="accent1"/>
          </a:solidFill>
          <a:ln w="9525">
            <a:solidFill>
              <a:schemeClr val="tx1"/>
            </a:solidFill>
            <a:miter lim="800000"/>
            <a:headEnd/>
            <a:tailEnd/>
          </a:ln>
          <a:effectLst/>
        </p:spPr>
        <p:txBody>
          <a:bodyPr wrap="none" anchor="ctr"/>
          <a:lstStyle/>
          <a:p>
            <a:endParaRPr lang="zh-TW" altLang="en-US" b="1">
              <a:latin typeface="黑体" pitchFamily="49" charset="-122"/>
              <a:ea typeface="黑体" pitchFamily="49" charset="-122"/>
            </a:endParaRPr>
          </a:p>
        </p:txBody>
      </p:sp>
      <p:sp>
        <p:nvSpPr>
          <p:cNvPr id="82997" name="Text Box 53"/>
          <p:cNvSpPr txBox="1">
            <a:spLocks noChangeArrowheads="1"/>
          </p:cNvSpPr>
          <p:nvPr/>
        </p:nvSpPr>
        <p:spPr bwMode="auto">
          <a:xfrm>
            <a:off x="5272088" y="3876675"/>
            <a:ext cx="1805302" cy="369332"/>
          </a:xfrm>
          <a:prstGeom prst="rect">
            <a:avLst/>
          </a:prstGeom>
          <a:noFill/>
          <a:ln w="9525">
            <a:noFill/>
            <a:miter lim="800000"/>
            <a:headEnd/>
            <a:tailEnd/>
          </a:ln>
          <a:effectLst/>
        </p:spPr>
        <p:txBody>
          <a:bodyPr wrap="none">
            <a:spAutoFit/>
          </a:bodyPr>
          <a:lstStyle/>
          <a:p>
            <a:r>
              <a:rPr lang="zh-CN" altLang="en-US" b="1" dirty="0">
                <a:latin typeface="黑体" pitchFamily="49" charset="-122"/>
                <a:ea typeface="黑体" pitchFamily="49" charset="-122"/>
              </a:rPr>
              <a:t>转换函数</a:t>
            </a:r>
            <a:r>
              <a:rPr lang="en-US" altLang="zh-TW" b="1" dirty="0">
                <a:latin typeface="黑体" pitchFamily="49" charset="-122"/>
                <a:ea typeface="黑体" pitchFamily="49" charset="-122"/>
              </a:rPr>
              <a:t> (</a:t>
            </a:r>
            <a:r>
              <a:rPr lang="en-US" altLang="zh-TW" b="1" dirty="0">
                <a:solidFill>
                  <a:srgbClr val="CC0099"/>
                </a:solidFill>
                <a:latin typeface="黑体" pitchFamily="49" charset="-122"/>
                <a:ea typeface="黑体" pitchFamily="49" charset="-122"/>
              </a:rPr>
              <a:t>CET</a:t>
            </a:r>
            <a:r>
              <a:rPr lang="en-US" altLang="zh-TW" b="1" dirty="0">
                <a:latin typeface="黑体" pitchFamily="49" charset="-122"/>
                <a:ea typeface="黑体" pitchFamily="49" charset="-122"/>
              </a:rPr>
              <a:t>)</a:t>
            </a:r>
          </a:p>
        </p:txBody>
      </p:sp>
      <p:sp>
        <p:nvSpPr>
          <p:cNvPr id="82998" name="Rectangle 54"/>
          <p:cNvSpPr>
            <a:spLocks noChangeArrowheads="1"/>
          </p:cNvSpPr>
          <p:nvPr/>
        </p:nvSpPr>
        <p:spPr bwMode="auto">
          <a:xfrm>
            <a:off x="971550" y="1196975"/>
            <a:ext cx="4464050" cy="719138"/>
          </a:xfrm>
          <a:prstGeom prst="rect">
            <a:avLst/>
          </a:prstGeom>
          <a:noFill/>
          <a:ln w="28575">
            <a:solidFill>
              <a:srgbClr val="FF0000"/>
            </a:solidFill>
            <a:miter lim="800000"/>
            <a:headEnd/>
            <a:tailEnd/>
          </a:ln>
          <a:effectLst/>
        </p:spPr>
        <p:txBody>
          <a:bodyPr wrap="none" anchor="ctr"/>
          <a:lstStyle/>
          <a:p>
            <a:endParaRPr lang="zh-TW" altLang="en-US" b="1">
              <a:latin typeface="黑体" pitchFamily="49" charset="-122"/>
              <a:ea typeface="黑体" pitchFamily="49" charset="-122"/>
            </a:endParaRPr>
          </a:p>
        </p:txBody>
      </p:sp>
      <p:sp>
        <p:nvSpPr>
          <p:cNvPr id="82999" name="Text Box 55"/>
          <p:cNvSpPr txBox="1">
            <a:spLocks noChangeArrowheads="1"/>
          </p:cNvSpPr>
          <p:nvPr/>
        </p:nvSpPr>
        <p:spPr bwMode="auto">
          <a:xfrm>
            <a:off x="5508625" y="1125538"/>
            <a:ext cx="1114408" cy="369332"/>
          </a:xfrm>
          <a:prstGeom prst="rect">
            <a:avLst/>
          </a:prstGeom>
          <a:noFill/>
          <a:ln w="9525">
            <a:noFill/>
            <a:miter lim="800000"/>
            <a:headEnd/>
            <a:tailEnd/>
          </a:ln>
          <a:effectLst/>
        </p:spPr>
        <p:txBody>
          <a:bodyPr wrap="none">
            <a:spAutoFit/>
          </a:bodyPr>
          <a:lstStyle/>
          <a:p>
            <a:r>
              <a:rPr lang="zh-TW" altLang="en-US" b="1" dirty="0">
                <a:solidFill>
                  <a:srgbClr val="FF0000"/>
                </a:solidFill>
                <a:latin typeface="黑体" pitchFamily="49" charset="-122"/>
                <a:ea typeface="黑体" pitchFamily="49" charset="-122"/>
              </a:rPr>
              <a:t>最终需求</a:t>
            </a:r>
          </a:p>
        </p:txBody>
      </p:sp>
      <p:sp>
        <p:nvSpPr>
          <p:cNvPr id="83000" name="Text Box 56"/>
          <p:cNvSpPr txBox="1">
            <a:spLocks noChangeArrowheads="1"/>
          </p:cNvSpPr>
          <p:nvPr/>
        </p:nvSpPr>
        <p:spPr bwMode="auto">
          <a:xfrm>
            <a:off x="2967038" y="5900738"/>
            <a:ext cx="1114408" cy="369332"/>
          </a:xfrm>
          <a:prstGeom prst="rect">
            <a:avLst/>
          </a:prstGeom>
          <a:noFill/>
          <a:ln w="9525">
            <a:noFill/>
            <a:miter lim="800000"/>
            <a:headEnd/>
            <a:tailEnd/>
          </a:ln>
          <a:effectLst/>
        </p:spPr>
        <p:txBody>
          <a:bodyPr wrap="none">
            <a:spAutoFit/>
          </a:bodyPr>
          <a:lstStyle/>
          <a:p>
            <a:r>
              <a:rPr lang="zh-TW" altLang="en-US" b="1">
                <a:latin typeface="黑体" pitchFamily="49" charset="-122"/>
                <a:ea typeface="黑体" pitchFamily="49" charset="-122"/>
              </a:rPr>
              <a:t>初级要素</a:t>
            </a:r>
          </a:p>
        </p:txBody>
      </p:sp>
    </p:spTree>
    <p:extLst>
      <p:ext uri="{BB962C8B-B14F-4D97-AF65-F5344CB8AC3E}">
        <p14:creationId xmlns:p14="http://schemas.microsoft.com/office/powerpoint/2010/main" val="3617515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2948"/>
                                        </p:tgtEl>
                                        <p:attrNameLst>
                                          <p:attrName>style.visibility</p:attrName>
                                        </p:attrNameLst>
                                      </p:cBhvr>
                                      <p:to>
                                        <p:strVal val="visible"/>
                                      </p:to>
                                    </p:set>
                                    <p:animEffect transition="in" filter="box(in)">
                                      <p:cBhvr>
                                        <p:cTn id="7" dur="500"/>
                                        <p:tgtEl>
                                          <p:spTgt spid="8294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2949"/>
                                        </p:tgtEl>
                                        <p:attrNameLst>
                                          <p:attrName>style.visibility</p:attrName>
                                        </p:attrNameLst>
                                      </p:cBhvr>
                                      <p:to>
                                        <p:strVal val="visible"/>
                                      </p:to>
                                    </p:set>
                                    <p:animEffect transition="in" filter="box(in)">
                                      <p:cBhvr>
                                        <p:cTn id="12" dur="500"/>
                                        <p:tgtEl>
                                          <p:spTgt spid="8294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3000"/>
                                        </p:tgtEl>
                                        <p:attrNameLst>
                                          <p:attrName>style.visibility</p:attrName>
                                        </p:attrNameLst>
                                      </p:cBhvr>
                                      <p:to>
                                        <p:strVal val="visible"/>
                                      </p:to>
                                    </p:set>
                                    <p:animEffect transition="in" filter="box(in)">
                                      <p:cBhvr>
                                        <p:cTn id="17" dur="500"/>
                                        <p:tgtEl>
                                          <p:spTgt spid="83000"/>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82952"/>
                                        </p:tgtEl>
                                        <p:attrNameLst>
                                          <p:attrName>style.visibility</p:attrName>
                                        </p:attrNameLst>
                                      </p:cBhvr>
                                      <p:to>
                                        <p:strVal val="visible"/>
                                      </p:to>
                                    </p:set>
                                    <p:animEffect transition="in" filter="box(in)">
                                      <p:cBhvr>
                                        <p:cTn id="22" dur="500"/>
                                        <p:tgtEl>
                                          <p:spTgt spid="82952"/>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82951"/>
                                        </p:tgtEl>
                                        <p:attrNameLst>
                                          <p:attrName>style.visibility</p:attrName>
                                        </p:attrNameLst>
                                      </p:cBhvr>
                                      <p:to>
                                        <p:strVal val="visible"/>
                                      </p:to>
                                    </p:set>
                                    <p:animEffect transition="in" filter="box(in)">
                                      <p:cBhvr>
                                        <p:cTn id="27" dur="500"/>
                                        <p:tgtEl>
                                          <p:spTgt spid="82951"/>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82950"/>
                                        </p:tgtEl>
                                        <p:attrNameLst>
                                          <p:attrName>style.visibility</p:attrName>
                                        </p:attrNameLst>
                                      </p:cBhvr>
                                      <p:to>
                                        <p:strVal val="visible"/>
                                      </p:to>
                                    </p:set>
                                    <p:animEffect transition="in" filter="box(in)">
                                      <p:cBhvr>
                                        <p:cTn id="32" dur="500"/>
                                        <p:tgtEl>
                                          <p:spTgt spid="82950"/>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82989"/>
                                        </p:tgtEl>
                                        <p:attrNameLst>
                                          <p:attrName>style.visibility</p:attrName>
                                        </p:attrNameLst>
                                      </p:cBhvr>
                                      <p:to>
                                        <p:strVal val="visible"/>
                                      </p:to>
                                    </p:set>
                                    <p:animEffect transition="in" filter="box(in)">
                                      <p:cBhvr>
                                        <p:cTn id="37" dur="500"/>
                                        <p:tgtEl>
                                          <p:spTgt spid="82989"/>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82994"/>
                                        </p:tgtEl>
                                        <p:attrNameLst>
                                          <p:attrName>style.visibility</p:attrName>
                                        </p:attrNameLst>
                                      </p:cBhvr>
                                      <p:to>
                                        <p:strVal val="visible"/>
                                      </p:to>
                                    </p:set>
                                    <p:animEffect transition="in" filter="box(in)">
                                      <p:cBhvr>
                                        <p:cTn id="42" dur="500"/>
                                        <p:tgtEl>
                                          <p:spTgt spid="82994"/>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82955"/>
                                        </p:tgtEl>
                                        <p:attrNameLst>
                                          <p:attrName>style.visibility</p:attrName>
                                        </p:attrNameLst>
                                      </p:cBhvr>
                                      <p:to>
                                        <p:strVal val="visible"/>
                                      </p:to>
                                    </p:set>
                                    <p:animEffect transition="in" filter="box(in)">
                                      <p:cBhvr>
                                        <p:cTn id="47" dur="500"/>
                                        <p:tgtEl>
                                          <p:spTgt spid="82955"/>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82954"/>
                                        </p:tgtEl>
                                        <p:attrNameLst>
                                          <p:attrName>style.visibility</p:attrName>
                                        </p:attrNameLst>
                                      </p:cBhvr>
                                      <p:to>
                                        <p:strVal val="visible"/>
                                      </p:to>
                                    </p:set>
                                    <p:animEffect transition="in" filter="box(in)">
                                      <p:cBhvr>
                                        <p:cTn id="52" dur="500"/>
                                        <p:tgtEl>
                                          <p:spTgt spid="82954"/>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82956"/>
                                        </p:tgtEl>
                                        <p:attrNameLst>
                                          <p:attrName>style.visibility</p:attrName>
                                        </p:attrNameLst>
                                      </p:cBhvr>
                                      <p:to>
                                        <p:strVal val="visible"/>
                                      </p:to>
                                    </p:set>
                                    <p:animEffect transition="in" filter="box(in)">
                                      <p:cBhvr>
                                        <p:cTn id="57" dur="500"/>
                                        <p:tgtEl>
                                          <p:spTgt spid="82956"/>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82953"/>
                                        </p:tgtEl>
                                        <p:attrNameLst>
                                          <p:attrName>style.visibility</p:attrName>
                                        </p:attrNameLst>
                                      </p:cBhvr>
                                      <p:to>
                                        <p:strVal val="visible"/>
                                      </p:to>
                                    </p:set>
                                    <p:animEffect transition="in" filter="box(in)">
                                      <p:cBhvr>
                                        <p:cTn id="62" dur="500"/>
                                        <p:tgtEl>
                                          <p:spTgt spid="82953"/>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16" fill="hold" grpId="0" nodeType="clickEffect">
                                  <p:stCondLst>
                                    <p:cond delay="0"/>
                                  </p:stCondLst>
                                  <p:childTnLst>
                                    <p:set>
                                      <p:cBhvr>
                                        <p:cTn id="66" dur="1" fill="hold">
                                          <p:stCondLst>
                                            <p:cond delay="0"/>
                                          </p:stCondLst>
                                        </p:cTn>
                                        <p:tgtEl>
                                          <p:spTgt spid="82988"/>
                                        </p:tgtEl>
                                        <p:attrNameLst>
                                          <p:attrName>style.visibility</p:attrName>
                                        </p:attrNameLst>
                                      </p:cBhvr>
                                      <p:to>
                                        <p:strVal val="visible"/>
                                      </p:to>
                                    </p:set>
                                    <p:animEffect transition="in" filter="box(in)">
                                      <p:cBhvr>
                                        <p:cTn id="67" dur="500"/>
                                        <p:tgtEl>
                                          <p:spTgt spid="82988"/>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82957"/>
                                        </p:tgtEl>
                                        <p:attrNameLst>
                                          <p:attrName>style.visibility</p:attrName>
                                        </p:attrNameLst>
                                      </p:cBhvr>
                                      <p:to>
                                        <p:strVal val="visible"/>
                                      </p:to>
                                    </p:set>
                                    <p:anim calcmode="lin" valueType="num">
                                      <p:cBhvr additive="base">
                                        <p:cTn id="72" dur="500" fill="hold"/>
                                        <p:tgtEl>
                                          <p:spTgt spid="82957"/>
                                        </p:tgtEl>
                                        <p:attrNameLst>
                                          <p:attrName>ppt_x</p:attrName>
                                        </p:attrNameLst>
                                      </p:cBhvr>
                                      <p:tavLst>
                                        <p:tav tm="0">
                                          <p:val>
                                            <p:strVal val="#ppt_x"/>
                                          </p:val>
                                        </p:tav>
                                        <p:tav tm="100000">
                                          <p:val>
                                            <p:strVal val="#ppt_x"/>
                                          </p:val>
                                        </p:tav>
                                      </p:tavLst>
                                    </p:anim>
                                    <p:anim calcmode="lin" valueType="num">
                                      <p:cBhvr additive="base">
                                        <p:cTn id="73" dur="500" fill="hold"/>
                                        <p:tgtEl>
                                          <p:spTgt spid="82957"/>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 presetClass="entr" presetSubtype="16" fill="hold" grpId="0" nodeType="clickEffect">
                                  <p:stCondLst>
                                    <p:cond delay="0"/>
                                  </p:stCondLst>
                                  <p:childTnLst>
                                    <p:set>
                                      <p:cBhvr>
                                        <p:cTn id="77" dur="1" fill="hold">
                                          <p:stCondLst>
                                            <p:cond delay="0"/>
                                          </p:stCondLst>
                                        </p:cTn>
                                        <p:tgtEl>
                                          <p:spTgt spid="82960"/>
                                        </p:tgtEl>
                                        <p:attrNameLst>
                                          <p:attrName>style.visibility</p:attrName>
                                        </p:attrNameLst>
                                      </p:cBhvr>
                                      <p:to>
                                        <p:strVal val="visible"/>
                                      </p:to>
                                    </p:set>
                                    <p:animEffect transition="in" filter="box(in)">
                                      <p:cBhvr>
                                        <p:cTn id="78" dur="500"/>
                                        <p:tgtEl>
                                          <p:spTgt spid="82960"/>
                                        </p:tgtEl>
                                      </p:cBhvr>
                                    </p:animEffect>
                                  </p:childTnLst>
                                </p:cTn>
                              </p:par>
                            </p:childTnLst>
                          </p:cTn>
                        </p:par>
                      </p:childTnLst>
                    </p:cTn>
                  </p:par>
                  <p:par>
                    <p:cTn id="79" fill="hold">
                      <p:stCondLst>
                        <p:cond delay="indefinite"/>
                      </p:stCondLst>
                      <p:childTnLst>
                        <p:par>
                          <p:cTn id="80" fill="hold">
                            <p:stCondLst>
                              <p:cond delay="0"/>
                            </p:stCondLst>
                            <p:childTnLst>
                              <p:par>
                                <p:cTn id="81" presetID="4" presetClass="entr" presetSubtype="16" fill="hold" grpId="0" nodeType="clickEffect">
                                  <p:stCondLst>
                                    <p:cond delay="0"/>
                                  </p:stCondLst>
                                  <p:childTnLst>
                                    <p:set>
                                      <p:cBhvr>
                                        <p:cTn id="82" dur="1" fill="hold">
                                          <p:stCondLst>
                                            <p:cond delay="0"/>
                                          </p:stCondLst>
                                        </p:cTn>
                                        <p:tgtEl>
                                          <p:spTgt spid="82961"/>
                                        </p:tgtEl>
                                        <p:attrNameLst>
                                          <p:attrName>style.visibility</p:attrName>
                                        </p:attrNameLst>
                                      </p:cBhvr>
                                      <p:to>
                                        <p:strVal val="visible"/>
                                      </p:to>
                                    </p:set>
                                    <p:animEffect transition="in" filter="box(in)">
                                      <p:cBhvr>
                                        <p:cTn id="83" dur="500"/>
                                        <p:tgtEl>
                                          <p:spTgt spid="82961"/>
                                        </p:tgtEl>
                                      </p:cBhvr>
                                    </p:animEffect>
                                  </p:childTnLst>
                                </p:cTn>
                              </p:par>
                            </p:childTnLst>
                          </p:cTn>
                        </p:par>
                      </p:childTnLst>
                    </p:cTn>
                  </p:par>
                  <p:par>
                    <p:cTn id="84" fill="hold">
                      <p:stCondLst>
                        <p:cond delay="indefinite"/>
                      </p:stCondLst>
                      <p:childTnLst>
                        <p:par>
                          <p:cTn id="85" fill="hold">
                            <p:stCondLst>
                              <p:cond delay="0"/>
                            </p:stCondLst>
                            <p:childTnLst>
                              <p:par>
                                <p:cTn id="86" presetID="4" presetClass="entr" presetSubtype="16" fill="hold" grpId="0" nodeType="clickEffect">
                                  <p:stCondLst>
                                    <p:cond delay="0"/>
                                  </p:stCondLst>
                                  <p:childTnLst>
                                    <p:set>
                                      <p:cBhvr>
                                        <p:cTn id="87" dur="1" fill="hold">
                                          <p:stCondLst>
                                            <p:cond delay="0"/>
                                          </p:stCondLst>
                                        </p:cTn>
                                        <p:tgtEl>
                                          <p:spTgt spid="82962"/>
                                        </p:tgtEl>
                                        <p:attrNameLst>
                                          <p:attrName>style.visibility</p:attrName>
                                        </p:attrNameLst>
                                      </p:cBhvr>
                                      <p:to>
                                        <p:strVal val="visible"/>
                                      </p:to>
                                    </p:set>
                                    <p:animEffect transition="in" filter="box(in)">
                                      <p:cBhvr>
                                        <p:cTn id="88" dur="500"/>
                                        <p:tgtEl>
                                          <p:spTgt spid="82962"/>
                                        </p:tgtEl>
                                      </p:cBhvr>
                                    </p:animEffect>
                                  </p:childTnLst>
                                </p:cTn>
                              </p:par>
                            </p:childTnLst>
                          </p:cTn>
                        </p:par>
                      </p:childTnLst>
                    </p:cTn>
                  </p:par>
                  <p:par>
                    <p:cTn id="89" fill="hold">
                      <p:stCondLst>
                        <p:cond delay="indefinite"/>
                      </p:stCondLst>
                      <p:childTnLst>
                        <p:par>
                          <p:cTn id="90" fill="hold">
                            <p:stCondLst>
                              <p:cond delay="0"/>
                            </p:stCondLst>
                            <p:childTnLst>
                              <p:par>
                                <p:cTn id="91" presetID="4" presetClass="entr" presetSubtype="16" fill="hold" grpId="0" nodeType="clickEffect">
                                  <p:stCondLst>
                                    <p:cond delay="0"/>
                                  </p:stCondLst>
                                  <p:childTnLst>
                                    <p:set>
                                      <p:cBhvr>
                                        <p:cTn id="92" dur="1" fill="hold">
                                          <p:stCondLst>
                                            <p:cond delay="0"/>
                                          </p:stCondLst>
                                        </p:cTn>
                                        <p:tgtEl>
                                          <p:spTgt spid="82963"/>
                                        </p:tgtEl>
                                        <p:attrNameLst>
                                          <p:attrName>style.visibility</p:attrName>
                                        </p:attrNameLst>
                                      </p:cBhvr>
                                      <p:to>
                                        <p:strVal val="visible"/>
                                      </p:to>
                                    </p:set>
                                    <p:animEffect transition="in" filter="box(in)">
                                      <p:cBhvr>
                                        <p:cTn id="93" dur="500"/>
                                        <p:tgtEl>
                                          <p:spTgt spid="82963"/>
                                        </p:tgtEl>
                                      </p:cBhvr>
                                    </p:animEffect>
                                  </p:childTnLst>
                                </p:cTn>
                              </p:par>
                            </p:childTnLst>
                          </p:cTn>
                        </p:par>
                      </p:childTnLst>
                    </p:cTn>
                  </p:par>
                  <p:par>
                    <p:cTn id="94" fill="hold">
                      <p:stCondLst>
                        <p:cond delay="indefinite"/>
                      </p:stCondLst>
                      <p:childTnLst>
                        <p:par>
                          <p:cTn id="95" fill="hold">
                            <p:stCondLst>
                              <p:cond delay="0"/>
                            </p:stCondLst>
                            <p:childTnLst>
                              <p:par>
                                <p:cTn id="96" presetID="4" presetClass="entr" presetSubtype="16" fill="hold" grpId="0" nodeType="clickEffect">
                                  <p:stCondLst>
                                    <p:cond delay="0"/>
                                  </p:stCondLst>
                                  <p:childTnLst>
                                    <p:set>
                                      <p:cBhvr>
                                        <p:cTn id="97" dur="1" fill="hold">
                                          <p:stCondLst>
                                            <p:cond delay="0"/>
                                          </p:stCondLst>
                                        </p:cTn>
                                        <p:tgtEl>
                                          <p:spTgt spid="82958"/>
                                        </p:tgtEl>
                                        <p:attrNameLst>
                                          <p:attrName>style.visibility</p:attrName>
                                        </p:attrNameLst>
                                      </p:cBhvr>
                                      <p:to>
                                        <p:strVal val="visible"/>
                                      </p:to>
                                    </p:set>
                                    <p:animEffect transition="in" filter="box(in)">
                                      <p:cBhvr>
                                        <p:cTn id="98" dur="500"/>
                                        <p:tgtEl>
                                          <p:spTgt spid="82958"/>
                                        </p:tgtEl>
                                      </p:cBhvr>
                                    </p:animEffect>
                                  </p:childTnLst>
                                </p:cTn>
                              </p:par>
                            </p:childTnLst>
                          </p:cTn>
                        </p:par>
                      </p:childTnLst>
                    </p:cTn>
                  </p:par>
                  <p:par>
                    <p:cTn id="99" fill="hold">
                      <p:stCondLst>
                        <p:cond delay="indefinite"/>
                      </p:stCondLst>
                      <p:childTnLst>
                        <p:par>
                          <p:cTn id="100" fill="hold">
                            <p:stCondLst>
                              <p:cond delay="0"/>
                            </p:stCondLst>
                            <p:childTnLst>
                              <p:par>
                                <p:cTn id="101" presetID="4" presetClass="entr" presetSubtype="16" fill="hold" grpId="0" nodeType="clickEffect">
                                  <p:stCondLst>
                                    <p:cond delay="0"/>
                                  </p:stCondLst>
                                  <p:childTnLst>
                                    <p:set>
                                      <p:cBhvr>
                                        <p:cTn id="102" dur="1" fill="hold">
                                          <p:stCondLst>
                                            <p:cond delay="0"/>
                                          </p:stCondLst>
                                        </p:cTn>
                                        <p:tgtEl>
                                          <p:spTgt spid="82990"/>
                                        </p:tgtEl>
                                        <p:attrNameLst>
                                          <p:attrName>style.visibility</p:attrName>
                                        </p:attrNameLst>
                                      </p:cBhvr>
                                      <p:to>
                                        <p:strVal val="visible"/>
                                      </p:to>
                                    </p:set>
                                    <p:animEffect transition="in" filter="box(in)">
                                      <p:cBhvr>
                                        <p:cTn id="103" dur="500"/>
                                        <p:tgtEl>
                                          <p:spTgt spid="82990"/>
                                        </p:tgtEl>
                                      </p:cBhvr>
                                    </p:animEffect>
                                  </p:childTnLst>
                                </p:cTn>
                              </p:par>
                            </p:childTnLst>
                          </p:cTn>
                        </p:par>
                      </p:childTnLst>
                    </p:cTn>
                  </p:par>
                  <p:par>
                    <p:cTn id="104" fill="hold">
                      <p:stCondLst>
                        <p:cond delay="indefinite"/>
                      </p:stCondLst>
                      <p:childTnLst>
                        <p:par>
                          <p:cTn id="105" fill="hold">
                            <p:stCondLst>
                              <p:cond delay="0"/>
                            </p:stCondLst>
                            <p:childTnLst>
                              <p:par>
                                <p:cTn id="106" presetID="4" presetClass="entr" presetSubtype="16" fill="hold" grpId="0" nodeType="clickEffect">
                                  <p:stCondLst>
                                    <p:cond delay="0"/>
                                  </p:stCondLst>
                                  <p:childTnLst>
                                    <p:set>
                                      <p:cBhvr>
                                        <p:cTn id="107" dur="1" fill="hold">
                                          <p:stCondLst>
                                            <p:cond delay="0"/>
                                          </p:stCondLst>
                                        </p:cTn>
                                        <p:tgtEl>
                                          <p:spTgt spid="82995"/>
                                        </p:tgtEl>
                                        <p:attrNameLst>
                                          <p:attrName>style.visibility</p:attrName>
                                        </p:attrNameLst>
                                      </p:cBhvr>
                                      <p:to>
                                        <p:strVal val="visible"/>
                                      </p:to>
                                    </p:set>
                                    <p:animEffect transition="in" filter="box(in)">
                                      <p:cBhvr>
                                        <p:cTn id="108" dur="500"/>
                                        <p:tgtEl>
                                          <p:spTgt spid="82995"/>
                                        </p:tgtEl>
                                      </p:cBhvr>
                                    </p:animEffect>
                                  </p:childTnLst>
                                </p:cTn>
                              </p:par>
                            </p:childTnLst>
                          </p:cTn>
                        </p:par>
                      </p:childTnLst>
                    </p:cTn>
                  </p:par>
                  <p:par>
                    <p:cTn id="109" fill="hold">
                      <p:stCondLst>
                        <p:cond delay="indefinite"/>
                      </p:stCondLst>
                      <p:childTnLst>
                        <p:par>
                          <p:cTn id="110" fill="hold">
                            <p:stCondLst>
                              <p:cond delay="0"/>
                            </p:stCondLst>
                            <p:childTnLst>
                              <p:par>
                                <p:cTn id="111" presetID="4" presetClass="entr" presetSubtype="16" fill="hold" grpId="0" nodeType="clickEffect">
                                  <p:stCondLst>
                                    <p:cond delay="0"/>
                                  </p:stCondLst>
                                  <p:childTnLst>
                                    <p:set>
                                      <p:cBhvr>
                                        <p:cTn id="112" dur="1" fill="hold">
                                          <p:stCondLst>
                                            <p:cond delay="0"/>
                                          </p:stCondLst>
                                        </p:cTn>
                                        <p:tgtEl>
                                          <p:spTgt spid="82967"/>
                                        </p:tgtEl>
                                        <p:attrNameLst>
                                          <p:attrName>style.visibility</p:attrName>
                                        </p:attrNameLst>
                                      </p:cBhvr>
                                      <p:to>
                                        <p:strVal val="visible"/>
                                      </p:to>
                                    </p:set>
                                    <p:animEffect transition="in" filter="box(in)">
                                      <p:cBhvr>
                                        <p:cTn id="113" dur="500"/>
                                        <p:tgtEl>
                                          <p:spTgt spid="82967"/>
                                        </p:tgtEl>
                                      </p:cBhvr>
                                    </p:animEffect>
                                  </p:childTnLst>
                                </p:cTn>
                              </p:par>
                            </p:childTnLst>
                          </p:cTn>
                        </p:par>
                      </p:childTnLst>
                    </p:cTn>
                  </p:par>
                  <p:par>
                    <p:cTn id="114" fill="hold">
                      <p:stCondLst>
                        <p:cond delay="indefinite"/>
                      </p:stCondLst>
                      <p:childTnLst>
                        <p:par>
                          <p:cTn id="115" fill="hold">
                            <p:stCondLst>
                              <p:cond delay="0"/>
                            </p:stCondLst>
                            <p:childTnLst>
                              <p:par>
                                <p:cTn id="116" presetID="4" presetClass="entr" presetSubtype="16" fill="hold" grpId="0" nodeType="clickEffect">
                                  <p:stCondLst>
                                    <p:cond delay="0"/>
                                  </p:stCondLst>
                                  <p:childTnLst>
                                    <p:set>
                                      <p:cBhvr>
                                        <p:cTn id="117" dur="1" fill="hold">
                                          <p:stCondLst>
                                            <p:cond delay="0"/>
                                          </p:stCondLst>
                                        </p:cTn>
                                        <p:tgtEl>
                                          <p:spTgt spid="82964"/>
                                        </p:tgtEl>
                                        <p:attrNameLst>
                                          <p:attrName>style.visibility</p:attrName>
                                        </p:attrNameLst>
                                      </p:cBhvr>
                                      <p:to>
                                        <p:strVal val="visible"/>
                                      </p:to>
                                    </p:set>
                                    <p:animEffect transition="in" filter="box(in)">
                                      <p:cBhvr>
                                        <p:cTn id="118" dur="500"/>
                                        <p:tgtEl>
                                          <p:spTgt spid="82964"/>
                                        </p:tgtEl>
                                      </p:cBhvr>
                                    </p:animEffect>
                                  </p:childTnLst>
                                </p:cTn>
                              </p:par>
                            </p:childTnLst>
                          </p:cTn>
                        </p:par>
                      </p:childTnLst>
                    </p:cTn>
                  </p:par>
                  <p:par>
                    <p:cTn id="119" fill="hold">
                      <p:stCondLst>
                        <p:cond delay="indefinite"/>
                      </p:stCondLst>
                      <p:childTnLst>
                        <p:par>
                          <p:cTn id="120" fill="hold">
                            <p:stCondLst>
                              <p:cond delay="0"/>
                            </p:stCondLst>
                            <p:childTnLst>
                              <p:par>
                                <p:cTn id="121" presetID="4" presetClass="entr" presetSubtype="16" fill="hold" grpId="0" nodeType="clickEffect">
                                  <p:stCondLst>
                                    <p:cond delay="0"/>
                                  </p:stCondLst>
                                  <p:childTnLst>
                                    <p:set>
                                      <p:cBhvr>
                                        <p:cTn id="122" dur="1" fill="hold">
                                          <p:stCondLst>
                                            <p:cond delay="0"/>
                                          </p:stCondLst>
                                        </p:cTn>
                                        <p:tgtEl>
                                          <p:spTgt spid="82966"/>
                                        </p:tgtEl>
                                        <p:attrNameLst>
                                          <p:attrName>style.visibility</p:attrName>
                                        </p:attrNameLst>
                                      </p:cBhvr>
                                      <p:to>
                                        <p:strVal val="visible"/>
                                      </p:to>
                                    </p:set>
                                    <p:animEffect transition="in" filter="box(in)">
                                      <p:cBhvr>
                                        <p:cTn id="123" dur="500"/>
                                        <p:tgtEl>
                                          <p:spTgt spid="82966"/>
                                        </p:tgtEl>
                                      </p:cBhvr>
                                    </p:animEffect>
                                  </p:childTnLst>
                                </p:cTn>
                              </p:par>
                            </p:childTnLst>
                          </p:cTn>
                        </p:par>
                      </p:childTnLst>
                    </p:cTn>
                  </p:par>
                  <p:par>
                    <p:cTn id="124" fill="hold">
                      <p:stCondLst>
                        <p:cond delay="indefinite"/>
                      </p:stCondLst>
                      <p:childTnLst>
                        <p:par>
                          <p:cTn id="125" fill="hold">
                            <p:stCondLst>
                              <p:cond delay="0"/>
                            </p:stCondLst>
                            <p:childTnLst>
                              <p:par>
                                <p:cTn id="126" presetID="4" presetClass="entr" presetSubtype="16" fill="hold" grpId="0" nodeType="clickEffect">
                                  <p:stCondLst>
                                    <p:cond delay="0"/>
                                  </p:stCondLst>
                                  <p:childTnLst>
                                    <p:set>
                                      <p:cBhvr>
                                        <p:cTn id="127" dur="1" fill="hold">
                                          <p:stCondLst>
                                            <p:cond delay="0"/>
                                          </p:stCondLst>
                                        </p:cTn>
                                        <p:tgtEl>
                                          <p:spTgt spid="82965"/>
                                        </p:tgtEl>
                                        <p:attrNameLst>
                                          <p:attrName>style.visibility</p:attrName>
                                        </p:attrNameLst>
                                      </p:cBhvr>
                                      <p:to>
                                        <p:strVal val="visible"/>
                                      </p:to>
                                    </p:set>
                                    <p:animEffect transition="in" filter="box(in)">
                                      <p:cBhvr>
                                        <p:cTn id="128" dur="500"/>
                                        <p:tgtEl>
                                          <p:spTgt spid="82965"/>
                                        </p:tgtEl>
                                      </p:cBhvr>
                                    </p:animEffect>
                                  </p:childTnLst>
                                </p:cTn>
                              </p:par>
                            </p:childTnLst>
                          </p:cTn>
                        </p:par>
                      </p:childTnLst>
                    </p:cTn>
                  </p:par>
                  <p:par>
                    <p:cTn id="129" fill="hold">
                      <p:stCondLst>
                        <p:cond delay="indefinite"/>
                      </p:stCondLst>
                      <p:childTnLst>
                        <p:par>
                          <p:cTn id="130" fill="hold">
                            <p:stCondLst>
                              <p:cond delay="0"/>
                            </p:stCondLst>
                            <p:childTnLst>
                              <p:par>
                                <p:cTn id="131" presetID="4" presetClass="entr" presetSubtype="16" fill="hold" grpId="0" nodeType="clickEffect">
                                  <p:stCondLst>
                                    <p:cond delay="0"/>
                                  </p:stCondLst>
                                  <p:childTnLst>
                                    <p:set>
                                      <p:cBhvr>
                                        <p:cTn id="132" dur="1" fill="hold">
                                          <p:stCondLst>
                                            <p:cond delay="0"/>
                                          </p:stCondLst>
                                        </p:cTn>
                                        <p:tgtEl>
                                          <p:spTgt spid="82996"/>
                                        </p:tgtEl>
                                        <p:attrNameLst>
                                          <p:attrName>style.visibility</p:attrName>
                                        </p:attrNameLst>
                                      </p:cBhvr>
                                      <p:to>
                                        <p:strVal val="visible"/>
                                      </p:to>
                                    </p:set>
                                    <p:animEffect transition="in" filter="box(in)">
                                      <p:cBhvr>
                                        <p:cTn id="133" dur="500"/>
                                        <p:tgtEl>
                                          <p:spTgt spid="82996"/>
                                        </p:tgtEl>
                                      </p:cBhvr>
                                    </p:animEffect>
                                  </p:childTnLst>
                                </p:cTn>
                              </p:par>
                            </p:childTnLst>
                          </p:cTn>
                        </p:par>
                      </p:childTnLst>
                    </p:cTn>
                  </p:par>
                  <p:par>
                    <p:cTn id="134" fill="hold">
                      <p:stCondLst>
                        <p:cond delay="indefinite"/>
                      </p:stCondLst>
                      <p:childTnLst>
                        <p:par>
                          <p:cTn id="135" fill="hold">
                            <p:stCondLst>
                              <p:cond delay="0"/>
                            </p:stCondLst>
                            <p:childTnLst>
                              <p:par>
                                <p:cTn id="136" presetID="4" presetClass="entr" presetSubtype="16" fill="hold" grpId="0" nodeType="clickEffect">
                                  <p:stCondLst>
                                    <p:cond delay="0"/>
                                  </p:stCondLst>
                                  <p:childTnLst>
                                    <p:set>
                                      <p:cBhvr>
                                        <p:cTn id="137" dur="1" fill="hold">
                                          <p:stCondLst>
                                            <p:cond delay="0"/>
                                          </p:stCondLst>
                                        </p:cTn>
                                        <p:tgtEl>
                                          <p:spTgt spid="82997"/>
                                        </p:tgtEl>
                                        <p:attrNameLst>
                                          <p:attrName>style.visibility</p:attrName>
                                        </p:attrNameLst>
                                      </p:cBhvr>
                                      <p:to>
                                        <p:strVal val="visible"/>
                                      </p:to>
                                    </p:set>
                                    <p:animEffect transition="in" filter="box(in)">
                                      <p:cBhvr>
                                        <p:cTn id="138" dur="500"/>
                                        <p:tgtEl>
                                          <p:spTgt spid="82997"/>
                                        </p:tgtEl>
                                      </p:cBhvr>
                                    </p:animEffect>
                                  </p:childTnLst>
                                </p:cTn>
                              </p:par>
                            </p:childTnLst>
                          </p:cTn>
                        </p:par>
                      </p:childTnLst>
                    </p:cTn>
                  </p:par>
                  <p:par>
                    <p:cTn id="139" fill="hold">
                      <p:stCondLst>
                        <p:cond delay="indefinite"/>
                      </p:stCondLst>
                      <p:childTnLst>
                        <p:par>
                          <p:cTn id="140" fill="hold">
                            <p:stCondLst>
                              <p:cond delay="0"/>
                            </p:stCondLst>
                            <p:childTnLst>
                              <p:par>
                                <p:cTn id="141" presetID="4" presetClass="entr" presetSubtype="16" fill="hold" grpId="0" nodeType="clickEffect">
                                  <p:stCondLst>
                                    <p:cond delay="0"/>
                                  </p:stCondLst>
                                  <p:childTnLst>
                                    <p:set>
                                      <p:cBhvr>
                                        <p:cTn id="142" dur="1" fill="hold">
                                          <p:stCondLst>
                                            <p:cond delay="0"/>
                                          </p:stCondLst>
                                        </p:cTn>
                                        <p:tgtEl>
                                          <p:spTgt spid="82968"/>
                                        </p:tgtEl>
                                        <p:attrNameLst>
                                          <p:attrName>style.visibility</p:attrName>
                                        </p:attrNameLst>
                                      </p:cBhvr>
                                      <p:to>
                                        <p:strVal val="visible"/>
                                      </p:to>
                                    </p:set>
                                    <p:animEffect transition="in" filter="box(in)">
                                      <p:cBhvr>
                                        <p:cTn id="143" dur="500"/>
                                        <p:tgtEl>
                                          <p:spTgt spid="82968"/>
                                        </p:tgtEl>
                                      </p:cBhvr>
                                    </p:animEffect>
                                  </p:childTnLst>
                                </p:cTn>
                              </p:par>
                            </p:childTnLst>
                          </p:cTn>
                        </p:par>
                      </p:childTnLst>
                    </p:cTn>
                  </p:par>
                  <p:par>
                    <p:cTn id="144" fill="hold">
                      <p:stCondLst>
                        <p:cond delay="indefinite"/>
                      </p:stCondLst>
                      <p:childTnLst>
                        <p:par>
                          <p:cTn id="145" fill="hold">
                            <p:stCondLst>
                              <p:cond delay="0"/>
                            </p:stCondLst>
                            <p:childTnLst>
                              <p:par>
                                <p:cTn id="146" presetID="4" presetClass="entr" presetSubtype="16" fill="hold" grpId="0" nodeType="clickEffect">
                                  <p:stCondLst>
                                    <p:cond delay="0"/>
                                  </p:stCondLst>
                                  <p:childTnLst>
                                    <p:set>
                                      <p:cBhvr>
                                        <p:cTn id="147" dur="1" fill="hold">
                                          <p:stCondLst>
                                            <p:cond delay="0"/>
                                          </p:stCondLst>
                                        </p:cTn>
                                        <p:tgtEl>
                                          <p:spTgt spid="82971"/>
                                        </p:tgtEl>
                                        <p:attrNameLst>
                                          <p:attrName>style.visibility</p:attrName>
                                        </p:attrNameLst>
                                      </p:cBhvr>
                                      <p:to>
                                        <p:strVal val="visible"/>
                                      </p:to>
                                    </p:set>
                                    <p:animEffect transition="in" filter="box(in)">
                                      <p:cBhvr>
                                        <p:cTn id="148" dur="500"/>
                                        <p:tgtEl>
                                          <p:spTgt spid="82971"/>
                                        </p:tgtEl>
                                      </p:cBhvr>
                                    </p:animEffect>
                                  </p:childTnLst>
                                </p:cTn>
                              </p:par>
                            </p:childTnLst>
                          </p:cTn>
                        </p:par>
                      </p:childTnLst>
                    </p:cTn>
                  </p:par>
                  <p:par>
                    <p:cTn id="149" fill="hold">
                      <p:stCondLst>
                        <p:cond delay="indefinite"/>
                      </p:stCondLst>
                      <p:childTnLst>
                        <p:par>
                          <p:cTn id="150" fill="hold">
                            <p:stCondLst>
                              <p:cond delay="0"/>
                            </p:stCondLst>
                            <p:childTnLst>
                              <p:par>
                                <p:cTn id="151" presetID="4" presetClass="entr" presetSubtype="16" fill="hold" grpId="0" nodeType="clickEffect">
                                  <p:stCondLst>
                                    <p:cond delay="0"/>
                                  </p:stCondLst>
                                  <p:childTnLst>
                                    <p:set>
                                      <p:cBhvr>
                                        <p:cTn id="152" dur="1" fill="hold">
                                          <p:stCondLst>
                                            <p:cond delay="0"/>
                                          </p:stCondLst>
                                        </p:cTn>
                                        <p:tgtEl>
                                          <p:spTgt spid="82972"/>
                                        </p:tgtEl>
                                        <p:attrNameLst>
                                          <p:attrName>style.visibility</p:attrName>
                                        </p:attrNameLst>
                                      </p:cBhvr>
                                      <p:to>
                                        <p:strVal val="visible"/>
                                      </p:to>
                                    </p:set>
                                    <p:animEffect transition="in" filter="box(in)">
                                      <p:cBhvr>
                                        <p:cTn id="153" dur="500"/>
                                        <p:tgtEl>
                                          <p:spTgt spid="82972"/>
                                        </p:tgtEl>
                                      </p:cBhvr>
                                    </p:animEffect>
                                  </p:childTnLst>
                                </p:cTn>
                              </p:par>
                            </p:childTnLst>
                          </p:cTn>
                        </p:par>
                      </p:childTnLst>
                    </p:cTn>
                  </p:par>
                  <p:par>
                    <p:cTn id="154" fill="hold">
                      <p:stCondLst>
                        <p:cond delay="indefinite"/>
                      </p:stCondLst>
                      <p:childTnLst>
                        <p:par>
                          <p:cTn id="155" fill="hold">
                            <p:stCondLst>
                              <p:cond delay="0"/>
                            </p:stCondLst>
                            <p:childTnLst>
                              <p:par>
                                <p:cTn id="156" presetID="4" presetClass="entr" presetSubtype="16" fill="hold" grpId="0" nodeType="clickEffect">
                                  <p:stCondLst>
                                    <p:cond delay="0"/>
                                  </p:stCondLst>
                                  <p:childTnLst>
                                    <p:set>
                                      <p:cBhvr>
                                        <p:cTn id="157" dur="1" fill="hold">
                                          <p:stCondLst>
                                            <p:cond delay="0"/>
                                          </p:stCondLst>
                                        </p:cTn>
                                        <p:tgtEl>
                                          <p:spTgt spid="82991"/>
                                        </p:tgtEl>
                                        <p:attrNameLst>
                                          <p:attrName>style.visibility</p:attrName>
                                        </p:attrNameLst>
                                      </p:cBhvr>
                                      <p:to>
                                        <p:strVal val="visible"/>
                                      </p:to>
                                    </p:set>
                                    <p:animEffect transition="in" filter="box(in)">
                                      <p:cBhvr>
                                        <p:cTn id="158" dur="500"/>
                                        <p:tgtEl>
                                          <p:spTgt spid="82991"/>
                                        </p:tgtEl>
                                      </p:cBhvr>
                                    </p:animEffect>
                                  </p:childTnLst>
                                </p:cTn>
                              </p:par>
                            </p:childTnLst>
                          </p:cTn>
                        </p:par>
                      </p:childTnLst>
                    </p:cTn>
                  </p:par>
                  <p:par>
                    <p:cTn id="159" fill="hold">
                      <p:stCondLst>
                        <p:cond delay="indefinite"/>
                      </p:stCondLst>
                      <p:childTnLst>
                        <p:par>
                          <p:cTn id="160" fill="hold">
                            <p:stCondLst>
                              <p:cond delay="0"/>
                            </p:stCondLst>
                            <p:childTnLst>
                              <p:par>
                                <p:cTn id="161" presetID="4" presetClass="entr" presetSubtype="16" fill="hold" grpId="0" nodeType="clickEffect">
                                  <p:stCondLst>
                                    <p:cond delay="0"/>
                                  </p:stCondLst>
                                  <p:childTnLst>
                                    <p:set>
                                      <p:cBhvr>
                                        <p:cTn id="162" dur="1" fill="hold">
                                          <p:stCondLst>
                                            <p:cond delay="0"/>
                                          </p:stCondLst>
                                        </p:cTn>
                                        <p:tgtEl>
                                          <p:spTgt spid="82993"/>
                                        </p:tgtEl>
                                        <p:attrNameLst>
                                          <p:attrName>style.visibility</p:attrName>
                                        </p:attrNameLst>
                                      </p:cBhvr>
                                      <p:to>
                                        <p:strVal val="visible"/>
                                      </p:to>
                                    </p:set>
                                    <p:animEffect transition="in" filter="box(in)">
                                      <p:cBhvr>
                                        <p:cTn id="163" dur="500"/>
                                        <p:tgtEl>
                                          <p:spTgt spid="82993"/>
                                        </p:tgtEl>
                                      </p:cBhvr>
                                    </p:animEffect>
                                  </p:childTnLst>
                                </p:cTn>
                              </p:par>
                            </p:childTnLst>
                          </p:cTn>
                        </p:par>
                      </p:childTnLst>
                    </p:cTn>
                  </p:par>
                  <p:par>
                    <p:cTn id="164" fill="hold">
                      <p:stCondLst>
                        <p:cond delay="indefinite"/>
                      </p:stCondLst>
                      <p:childTnLst>
                        <p:par>
                          <p:cTn id="165" fill="hold">
                            <p:stCondLst>
                              <p:cond delay="0"/>
                            </p:stCondLst>
                            <p:childTnLst>
                              <p:par>
                                <p:cTn id="166" presetID="4" presetClass="entr" presetSubtype="16" fill="hold" grpId="0" nodeType="clickEffect">
                                  <p:stCondLst>
                                    <p:cond delay="0"/>
                                  </p:stCondLst>
                                  <p:childTnLst>
                                    <p:set>
                                      <p:cBhvr>
                                        <p:cTn id="167" dur="1" fill="hold">
                                          <p:stCondLst>
                                            <p:cond delay="0"/>
                                          </p:stCondLst>
                                        </p:cTn>
                                        <p:tgtEl>
                                          <p:spTgt spid="82992"/>
                                        </p:tgtEl>
                                        <p:attrNameLst>
                                          <p:attrName>style.visibility</p:attrName>
                                        </p:attrNameLst>
                                      </p:cBhvr>
                                      <p:to>
                                        <p:strVal val="visible"/>
                                      </p:to>
                                    </p:set>
                                    <p:animEffect transition="in" filter="box(in)">
                                      <p:cBhvr>
                                        <p:cTn id="168" dur="500"/>
                                        <p:tgtEl>
                                          <p:spTgt spid="82992"/>
                                        </p:tgtEl>
                                      </p:cBhvr>
                                    </p:animEffect>
                                  </p:childTnLst>
                                </p:cTn>
                              </p:par>
                            </p:childTnLst>
                          </p:cTn>
                        </p:par>
                      </p:childTnLst>
                    </p:cTn>
                  </p:par>
                  <p:par>
                    <p:cTn id="169" fill="hold">
                      <p:stCondLst>
                        <p:cond delay="indefinite"/>
                      </p:stCondLst>
                      <p:childTnLst>
                        <p:par>
                          <p:cTn id="170" fill="hold">
                            <p:stCondLst>
                              <p:cond delay="0"/>
                            </p:stCondLst>
                            <p:childTnLst>
                              <p:par>
                                <p:cTn id="171" presetID="4" presetClass="entr" presetSubtype="16" fill="hold" grpId="0" nodeType="clickEffect">
                                  <p:stCondLst>
                                    <p:cond delay="0"/>
                                  </p:stCondLst>
                                  <p:childTnLst>
                                    <p:set>
                                      <p:cBhvr>
                                        <p:cTn id="172" dur="1" fill="hold">
                                          <p:stCondLst>
                                            <p:cond delay="0"/>
                                          </p:stCondLst>
                                        </p:cTn>
                                        <p:tgtEl>
                                          <p:spTgt spid="82969"/>
                                        </p:tgtEl>
                                        <p:attrNameLst>
                                          <p:attrName>style.visibility</p:attrName>
                                        </p:attrNameLst>
                                      </p:cBhvr>
                                      <p:to>
                                        <p:strVal val="visible"/>
                                      </p:to>
                                    </p:set>
                                    <p:animEffect transition="in" filter="box(in)">
                                      <p:cBhvr>
                                        <p:cTn id="173" dur="500"/>
                                        <p:tgtEl>
                                          <p:spTgt spid="82969"/>
                                        </p:tgtEl>
                                      </p:cBhvr>
                                    </p:animEffect>
                                  </p:childTnLst>
                                </p:cTn>
                              </p:par>
                            </p:childTnLst>
                          </p:cTn>
                        </p:par>
                      </p:childTnLst>
                    </p:cTn>
                  </p:par>
                  <p:par>
                    <p:cTn id="174" fill="hold">
                      <p:stCondLst>
                        <p:cond delay="indefinite"/>
                      </p:stCondLst>
                      <p:childTnLst>
                        <p:par>
                          <p:cTn id="175" fill="hold">
                            <p:stCondLst>
                              <p:cond delay="0"/>
                            </p:stCondLst>
                            <p:childTnLst>
                              <p:par>
                                <p:cTn id="176" presetID="4" presetClass="entr" presetSubtype="16" fill="hold" grpId="0" nodeType="clickEffect">
                                  <p:stCondLst>
                                    <p:cond delay="0"/>
                                  </p:stCondLst>
                                  <p:childTnLst>
                                    <p:set>
                                      <p:cBhvr>
                                        <p:cTn id="177" dur="1" fill="hold">
                                          <p:stCondLst>
                                            <p:cond delay="0"/>
                                          </p:stCondLst>
                                        </p:cTn>
                                        <p:tgtEl>
                                          <p:spTgt spid="82983"/>
                                        </p:tgtEl>
                                        <p:attrNameLst>
                                          <p:attrName>style.visibility</p:attrName>
                                        </p:attrNameLst>
                                      </p:cBhvr>
                                      <p:to>
                                        <p:strVal val="visible"/>
                                      </p:to>
                                    </p:set>
                                    <p:animEffect transition="in" filter="box(in)">
                                      <p:cBhvr>
                                        <p:cTn id="178" dur="500"/>
                                        <p:tgtEl>
                                          <p:spTgt spid="82983"/>
                                        </p:tgtEl>
                                      </p:cBhvr>
                                    </p:animEffect>
                                  </p:childTnLst>
                                </p:cTn>
                              </p:par>
                            </p:childTnLst>
                          </p:cTn>
                        </p:par>
                      </p:childTnLst>
                    </p:cTn>
                  </p:par>
                  <p:par>
                    <p:cTn id="179" fill="hold">
                      <p:stCondLst>
                        <p:cond delay="indefinite"/>
                      </p:stCondLst>
                      <p:childTnLst>
                        <p:par>
                          <p:cTn id="180" fill="hold">
                            <p:stCondLst>
                              <p:cond delay="0"/>
                            </p:stCondLst>
                            <p:childTnLst>
                              <p:par>
                                <p:cTn id="181" presetID="4" presetClass="entr" presetSubtype="16" fill="hold" grpId="0" nodeType="clickEffect">
                                  <p:stCondLst>
                                    <p:cond delay="0"/>
                                  </p:stCondLst>
                                  <p:childTnLst>
                                    <p:set>
                                      <p:cBhvr>
                                        <p:cTn id="182" dur="1" fill="hold">
                                          <p:stCondLst>
                                            <p:cond delay="0"/>
                                          </p:stCondLst>
                                        </p:cTn>
                                        <p:tgtEl>
                                          <p:spTgt spid="82977"/>
                                        </p:tgtEl>
                                        <p:attrNameLst>
                                          <p:attrName>style.visibility</p:attrName>
                                        </p:attrNameLst>
                                      </p:cBhvr>
                                      <p:to>
                                        <p:strVal val="visible"/>
                                      </p:to>
                                    </p:set>
                                    <p:animEffect transition="in" filter="box(in)">
                                      <p:cBhvr>
                                        <p:cTn id="183" dur="500"/>
                                        <p:tgtEl>
                                          <p:spTgt spid="82977"/>
                                        </p:tgtEl>
                                      </p:cBhvr>
                                    </p:animEffect>
                                  </p:childTnLst>
                                </p:cTn>
                              </p:par>
                            </p:childTnLst>
                          </p:cTn>
                        </p:par>
                      </p:childTnLst>
                    </p:cTn>
                  </p:par>
                  <p:par>
                    <p:cTn id="184" fill="hold">
                      <p:stCondLst>
                        <p:cond delay="indefinite"/>
                      </p:stCondLst>
                      <p:childTnLst>
                        <p:par>
                          <p:cTn id="185" fill="hold">
                            <p:stCondLst>
                              <p:cond delay="0"/>
                            </p:stCondLst>
                            <p:childTnLst>
                              <p:par>
                                <p:cTn id="186" presetID="4" presetClass="entr" presetSubtype="16" fill="hold" grpId="0" nodeType="clickEffect">
                                  <p:stCondLst>
                                    <p:cond delay="0"/>
                                  </p:stCondLst>
                                  <p:childTnLst>
                                    <p:set>
                                      <p:cBhvr>
                                        <p:cTn id="187" dur="1" fill="hold">
                                          <p:stCondLst>
                                            <p:cond delay="0"/>
                                          </p:stCondLst>
                                        </p:cTn>
                                        <p:tgtEl>
                                          <p:spTgt spid="82987"/>
                                        </p:tgtEl>
                                        <p:attrNameLst>
                                          <p:attrName>style.visibility</p:attrName>
                                        </p:attrNameLst>
                                      </p:cBhvr>
                                      <p:to>
                                        <p:strVal val="visible"/>
                                      </p:to>
                                    </p:set>
                                    <p:animEffect transition="in" filter="box(in)">
                                      <p:cBhvr>
                                        <p:cTn id="188" dur="500"/>
                                        <p:tgtEl>
                                          <p:spTgt spid="82987"/>
                                        </p:tgtEl>
                                      </p:cBhvr>
                                    </p:animEffect>
                                  </p:childTnLst>
                                </p:cTn>
                              </p:par>
                            </p:childTnLst>
                          </p:cTn>
                        </p:par>
                      </p:childTnLst>
                    </p:cTn>
                  </p:par>
                  <p:par>
                    <p:cTn id="189" fill="hold">
                      <p:stCondLst>
                        <p:cond delay="indefinite"/>
                      </p:stCondLst>
                      <p:childTnLst>
                        <p:par>
                          <p:cTn id="190" fill="hold">
                            <p:stCondLst>
                              <p:cond delay="0"/>
                            </p:stCondLst>
                            <p:childTnLst>
                              <p:par>
                                <p:cTn id="191" presetID="4" presetClass="entr" presetSubtype="16" fill="hold" grpId="0" nodeType="clickEffect">
                                  <p:stCondLst>
                                    <p:cond delay="0"/>
                                  </p:stCondLst>
                                  <p:childTnLst>
                                    <p:set>
                                      <p:cBhvr>
                                        <p:cTn id="192" dur="1" fill="hold">
                                          <p:stCondLst>
                                            <p:cond delay="0"/>
                                          </p:stCondLst>
                                        </p:cTn>
                                        <p:tgtEl>
                                          <p:spTgt spid="82979"/>
                                        </p:tgtEl>
                                        <p:attrNameLst>
                                          <p:attrName>style.visibility</p:attrName>
                                        </p:attrNameLst>
                                      </p:cBhvr>
                                      <p:to>
                                        <p:strVal val="visible"/>
                                      </p:to>
                                    </p:set>
                                    <p:animEffect transition="in" filter="box(in)">
                                      <p:cBhvr>
                                        <p:cTn id="193" dur="500"/>
                                        <p:tgtEl>
                                          <p:spTgt spid="82979"/>
                                        </p:tgtEl>
                                      </p:cBhvr>
                                    </p:animEffect>
                                  </p:childTnLst>
                                </p:cTn>
                              </p:par>
                            </p:childTnLst>
                          </p:cTn>
                        </p:par>
                      </p:childTnLst>
                    </p:cTn>
                  </p:par>
                  <p:par>
                    <p:cTn id="194" fill="hold">
                      <p:stCondLst>
                        <p:cond delay="indefinite"/>
                      </p:stCondLst>
                      <p:childTnLst>
                        <p:par>
                          <p:cTn id="195" fill="hold">
                            <p:stCondLst>
                              <p:cond delay="0"/>
                            </p:stCondLst>
                            <p:childTnLst>
                              <p:par>
                                <p:cTn id="196" presetID="4" presetClass="entr" presetSubtype="16" fill="hold" grpId="0" nodeType="clickEffect">
                                  <p:stCondLst>
                                    <p:cond delay="0"/>
                                  </p:stCondLst>
                                  <p:childTnLst>
                                    <p:set>
                                      <p:cBhvr>
                                        <p:cTn id="197" dur="1" fill="hold">
                                          <p:stCondLst>
                                            <p:cond delay="0"/>
                                          </p:stCondLst>
                                        </p:cTn>
                                        <p:tgtEl>
                                          <p:spTgt spid="82973"/>
                                        </p:tgtEl>
                                        <p:attrNameLst>
                                          <p:attrName>style.visibility</p:attrName>
                                        </p:attrNameLst>
                                      </p:cBhvr>
                                      <p:to>
                                        <p:strVal val="visible"/>
                                      </p:to>
                                    </p:set>
                                    <p:animEffect transition="in" filter="box(in)">
                                      <p:cBhvr>
                                        <p:cTn id="198" dur="500"/>
                                        <p:tgtEl>
                                          <p:spTgt spid="82973"/>
                                        </p:tgtEl>
                                      </p:cBhvr>
                                    </p:animEffect>
                                  </p:childTnLst>
                                </p:cTn>
                              </p:par>
                            </p:childTnLst>
                          </p:cTn>
                        </p:par>
                      </p:childTnLst>
                    </p:cTn>
                  </p:par>
                  <p:par>
                    <p:cTn id="199" fill="hold">
                      <p:stCondLst>
                        <p:cond delay="indefinite"/>
                      </p:stCondLst>
                      <p:childTnLst>
                        <p:par>
                          <p:cTn id="200" fill="hold">
                            <p:stCondLst>
                              <p:cond delay="0"/>
                            </p:stCondLst>
                            <p:childTnLst>
                              <p:par>
                                <p:cTn id="201" presetID="4" presetClass="entr" presetSubtype="16" fill="hold" grpId="0" nodeType="clickEffect">
                                  <p:stCondLst>
                                    <p:cond delay="0"/>
                                  </p:stCondLst>
                                  <p:childTnLst>
                                    <p:set>
                                      <p:cBhvr>
                                        <p:cTn id="202" dur="1" fill="hold">
                                          <p:stCondLst>
                                            <p:cond delay="0"/>
                                          </p:stCondLst>
                                        </p:cTn>
                                        <p:tgtEl>
                                          <p:spTgt spid="82980"/>
                                        </p:tgtEl>
                                        <p:attrNameLst>
                                          <p:attrName>style.visibility</p:attrName>
                                        </p:attrNameLst>
                                      </p:cBhvr>
                                      <p:to>
                                        <p:strVal val="visible"/>
                                      </p:to>
                                    </p:set>
                                    <p:animEffect transition="in" filter="box(in)">
                                      <p:cBhvr>
                                        <p:cTn id="203" dur="500"/>
                                        <p:tgtEl>
                                          <p:spTgt spid="82980"/>
                                        </p:tgtEl>
                                      </p:cBhvr>
                                    </p:animEffect>
                                  </p:childTnLst>
                                </p:cTn>
                              </p:par>
                            </p:childTnLst>
                          </p:cTn>
                        </p:par>
                      </p:childTnLst>
                    </p:cTn>
                  </p:par>
                  <p:par>
                    <p:cTn id="204" fill="hold">
                      <p:stCondLst>
                        <p:cond delay="indefinite"/>
                      </p:stCondLst>
                      <p:childTnLst>
                        <p:par>
                          <p:cTn id="205" fill="hold">
                            <p:stCondLst>
                              <p:cond delay="0"/>
                            </p:stCondLst>
                            <p:childTnLst>
                              <p:par>
                                <p:cTn id="206" presetID="4" presetClass="entr" presetSubtype="16" fill="hold" grpId="0" nodeType="clickEffect">
                                  <p:stCondLst>
                                    <p:cond delay="0"/>
                                  </p:stCondLst>
                                  <p:childTnLst>
                                    <p:set>
                                      <p:cBhvr>
                                        <p:cTn id="207" dur="1" fill="hold">
                                          <p:stCondLst>
                                            <p:cond delay="0"/>
                                          </p:stCondLst>
                                        </p:cTn>
                                        <p:tgtEl>
                                          <p:spTgt spid="82974"/>
                                        </p:tgtEl>
                                        <p:attrNameLst>
                                          <p:attrName>style.visibility</p:attrName>
                                        </p:attrNameLst>
                                      </p:cBhvr>
                                      <p:to>
                                        <p:strVal val="visible"/>
                                      </p:to>
                                    </p:set>
                                    <p:animEffect transition="in" filter="box(in)">
                                      <p:cBhvr>
                                        <p:cTn id="208" dur="500"/>
                                        <p:tgtEl>
                                          <p:spTgt spid="82974"/>
                                        </p:tgtEl>
                                      </p:cBhvr>
                                    </p:animEffect>
                                  </p:childTnLst>
                                </p:cTn>
                              </p:par>
                            </p:childTnLst>
                          </p:cTn>
                        </p:par>
                      </p:childTnLst>
                    </p:cTn>
                  </p:par>
                  <p:par>
                    <p:cTn id="209" fill="hold">
                      <p:stCondLst>
                        <p:cond delay="indefinite"/>
                      </p:stCondLst>
                      <p:childTnLst>
                        <p:par>
                          <p:cTn id="210" fill="hold">
                            <p:stCondLst>
                              <p:cond delay="0"/>
                            </p:stCondLst>
                            <p:childTnLst>
                              <p:par>
                                <p:cTn id="211" presetID="4" presetClass="entr" presetSubtype="16" fill="hold" grpId="0" nodeType="clickEffect">
                                  <p:stCondLst>
                                    <p:cond delay="0"/>
                                  </p:stCondLst>
                                  <p:childTnLst>
                                    <p:set>
                                      <p:cBhvr>
                                        <p:cTn id="212" dur="1" fill="hold">
                                          <p:stCondLst>
                                            <p:cond delay="0"/>
                                          </p:stCondLst>
                                        </p:cTn>
                                        <p:tgtEl>
                                          <p:spTgt spid="82982"/>
                                        </p:tgtEl>
                                        <p:attrNameLst>
                                          <p:attrName>style.visibility</p:attrName>
                                        </p:attrNameLst>
                                      </p:cBhvr>
                                      <p:to>
                                        <p:strVal val="visible"/>
                                      </p:to>
                                    </p:set>
                                    <p:animEffect transition="in" filter="box(in)">
                                      <p:cBhvr>
                                        <p:cTn id="213" dur="500"/>
                                        <p:tgtEl>
                                          <p:spTgt spid="82982"/>
                                        </p:tgtEl>
                                      </p:cBhvr>
                                    </p:animEffect>
                                  </p:childTnLst>
                                </p:cTn>
                              </p:par>
                            </p:childTnLst>
                          </p:cTn>
                        </p:par>
                      </p:childTnLst>
                    </p:cTn>
                  </p:par>
                  <p:par>
                    <p:cTn id="214" fill="hold">
                      <p:stCondLst>
                        <p:cond delay="indefinite"/>
                      </p:stCondLst>
                      <p:childTnLst>
                        <p:par>
                          <p:cTn id="215" fill="hold">
                            <p:stCondLst>
                              <p:cond delay="0"/>
                            </p:stCondLst>
                            <p:childTnLst>
                              <p:par>
                                <p:cTn id="216" presetID="4" presetClass="entr" presetSubtype="16" fill="hold" grpId="0" nodeType="clickEffect">
                                  <p:stCondLst>
                                    <p:cond delay="0"/>
                                  </p:stCondLst>
                                  <p:childTnLst>
                                    <p:set>
                                      <p:cBhvr>
                                        <p:cTn id="217" dur="1" fill="hold">
                                          <p:stCondLst>
                                            <p:cond delay="0"/>
                                          </p:stCondLst>
                                        </p:cTn>
                                        <p:tgtEl>
                                          <p:spTgt spid="82975"/>
                                        </p:tgtEl>
                                        <p:attrNameLst>
                                          <p:attrName>style.visibility</p:attrName>
                                        </p:attrNameLst>
                                      </p:cBhvr>
                                      <p:to>
                                        <p:strVal val="visible"/>
                                      </p:to>
                                    </p:set>
                                    <p:animEffect transition="in" filter="box(in)">
                                      <p:cBhvr>
                                        <p:cTn id="218" dur="500"/>
                                        <p:tgtEl>
                                          <p:spTgt spid="82975"/>
                                        </p:tgtEl>
                                      </p:cBhvr>
                                    </p:animEffect>
                                  </p:childTnLst>
                                </p:cTn>
                              </p:par>
                            </p:childTnLst>
                          </p:cTn>
                        </p:par>
                      </p:childTnLst>
                    </p:cTn>
                  </p:par>
                  <p:par>
                    <p:cTn id="219" fill="hold">
                      <p:stCondLst>
                        <p:cond delay="indefinite"/>
                      </p:stCondLst>
                      <p:childTnLst>
                        <p:par>
                          <p:cTn id="220" fill="hold">
                            <p:stCondLst>
                              <p:cond delay="0"/>
                            </p:stCondLst>
                            <p:childTnLst>
                              <p:par>
                                <p:cTn id="221" presetID="4" presetClass="entr" presetSubtype="16" fill="hold" grpId="0" nodeType="clickEffect">
                                  <p:stCondLst>
                                    <p:cond delay="0"/>
                                  </p:stCondLst>
                                  <p:childTnLst>
                                    <p:set>
                                      <p:cBhvr>
                                        <p:cTn id="222" dur="1" fill="hold">
                                          <p:stCondLst>
                                            <p:cond delay="0"/>
                                          </p:stCondLst>
                                        </p:cTn>
                                        <p:tgtEl>
                                          <p:spTgt spid="82981"/>
                                        </p:tgtEl>
                                        <p:attrNameLst>
                                          <p:attrName>style.visibility</p:attrName>
                                        </p:attrNameLst>
                                      </p:cBhvr>
                                      <p:to>
                                        <p:strVal val="visible"/>
                                      </p:to>
                                    </p:set>
                                    <p:animEffect transition="in" filter="box(in)">
                                      <p:cBhvr>
                                        <p:cTn id="223" dur="500"/>
                                        <p:tgtEl>
                                          <p:spTgt spid="82981"/>
                                        </p:tgtEl>
                                      </p:cBhvr>
                                    </p:animEffect>
                                  </p:childTnLst>
                                </p:cTn>
                              </p:par>
                            </p:childTnLst>
                          </p:cTn>
                        </p:par>
                      </p:childTnLst>
                    </p:cTn>
                  </p:par>
                  <p:par>
                    <p:cTn id="224" fill="hold">
                      <p:stCondLst>
                        <p:cond delay="indefinite"/>
                      </p:stCondLst>
                      <p:childTnLst>
                        <p:par>
                          <p:cTn id="225" fill="hold">
                            <p:stCondLst>
                              <p:cond delay="0"/>
                            </p:stCondLst>
                            <p:childTnLst>
                              <p:par>
                                <p:cTn id="226" presetID="4" presetClass="entr" presetSubtype="16" fill="hold" grpId="0" nodeType="clickEffect">
                                  <p:stCondLst>
                                    <p:cond delay="0"/>
                                  </p:stCondLst>
                                  <p:childTnLst>
                                    <p:set>
                                      <p:cBhvr>
                                        <p:cTn id="227" dur="1" fill="hold">
                                          <p:stCondLst>
                                            <p:cond delay="0"/>
                                          </p:stCondLst>
                                        </p:cTn>
                                        <p:tgtEl>
                                          <p:spTgt spid="82976"/>
                                        </p:tgtEl>
                                        <p:attrNameLst>
                                          <p:attrName>style.visibility</p:attrName>
                                        </p:attrNameLst>
                                      </p:cBhvr>
                                      <p:to>
                                        <p:strVal val="visible"/>
                                      </p:to>
                                    </p:set>
                                    <p:animEffect transition="in" filter="box(in)">
                                      <p:cBhvr>
                                        <p:cTn id="228" dur="500"/>
                                        <p:tgtEl>
                                          <p:spTgt spid="82976"/>
                                        </p:tgtEl>
                                      </p:cBhvr>
                                    </p:animEffect>
                                  </p:childTnLst>
                                </p:cTn>
                              </p:par>
                            </p:childTnLst>
                          </p:cTn>
                        </p:par>
                      </p:childTnLst>
                    </p:cTn>
                  </p:par>
                  <p:par>
                    <p:cTn id="229" fill="hold">
                      <p:stCondLst>
                        <p:cond delay="indefinite"/>
                      </p:stCondLst>
                      <p:childTnLst>
                        <p:par>
                          <p:cTn id="230" fill="hold">
                            <p:stCondLst>
                              <p:cond delay="0"/>
                            </p:stCondLst>
                            <p:childTnLst>
                              <p:par>
                                <p:cTn id="231" presetID="4" presetClass="entr" presetSubtype="16" fill="hold" grpId="0" nodeType="clickEffect">
                                  <p:stCondLst>
                                    <p:cond delay="0"/>
                                  </p:stCondLst>
                                  <p:childTnLst>
                                    <p:set>
                                      <p:cBhvr>
                                        <p:cTn id="232" dur="1" fill="hold">
                                          <p:stCondLst>
                                            <p:cond delay="0"/>
                                          </p:stCondLst>
                                        </p:cTn>
                                        <p:tgtEl>
                                          <p:spTgt spid="82978"/>
                                        </p:tgtEl>
                                        <p:attrNameLst>
                                          <p:attrName>style.visibility</p:attrName>
                                        </p:attrNameLst>
                                      </p:cBhvr>
                                      <p:to>
                                        <p:strVal val="visible"/>
                                      </p:to>
                                    </p:set>
                                    <p:animEffect transition="in" filter="box(in)">
                                      <p:cBhvr>
                                        <p:cTn id="233" dur="500"/>
                                        <p:tgtEl>
                                          <p:spTgt spid="82978"/>
                                        </p:tgtEl>
                                      </p:cBhvr>
                                    </p:animEffect>
                                  </p:childTnLst>
                                </p:cTn>
                              </p:par>
                            </p:childTnLst>
                          </p:cTn>
                        </p:par>
                      </p:childTnLst>
                    </p:cTn>
                  </p:par>
                  <p:par>
                    <p:cTn id="234" fill="hold">
                      <p:stCondLst>
                        <p:cond delay="indefinite"/>
                      </p:stCondLst>
                      <p:childTnLst>
                        <p:par>
                          <p:cTn id="235" fill="hold">
                            <p:stCondLst>
                              <p:cond delay="0"/>
                            </p:stCondLst>
                            <p:childTnLst>
                              <p:par>
                                <p:cTn id="236" presetID="4" presetClass="entr" presetSubtype="16" fill="hold" grpId="0" nodeType="clickEffect">
                                  <p:stCondLst>
                                    <p:cond delay="0"/>
                                  </p:stCondLst>
                                  <p:childTnLst>
                                    <p:set>
                                      <p:cBhvr>
                                        <p:cTn id="237" dur="1" fill="hold">
                                          <p:stCondLst>
                                            <p:cond delay="0"/>
                                          </p:stCondLst>
                                        </p:cTn>
                                        <p:tgtEl>
                                          <p:spTgt spid="82998"/>
                                        </p:tgtEl>
                                        <p:attrNameLst>
                                          <p:attrName>style.visibility</p:attrName>
                                        </p:attrNameLst>
                                      </p:cBhvr>
                                      <p:to>
                                        <p:strVal val="visible"/>
                                      </p:to>
                                    </p:set>
                                    <p:animEffect transition="in" filter="box(in)">
                                      <p:cBhvr>
                                        <p:cTn id="238" dur="500"/>
                                        <p:tgtEl>
                                          <p:spTgt spid="82998"/>
                                        </p:tgtEl>
                                      </p:cBhvr>
                                    </p:animEffect>
                                  </p:childTnLst>
                                </p:cTn>
                              </p:par>
                            </p:childTnLst>
                          </p:cTn>
                        </p:par>
                      </p:childTnLst>
                    </p:cTn>
                  </p:par>
                  <p:par>
                    <p:cTn id="239" fill="hold">
                      <p:stCondLst>
                        <p:cond delay="indefinite"/>
                      </p:stCondLst>
                      <p:childTnLst>
                        <p:par>
                          <p:cTn id="240" fill="hold">
                            <p:stCondLst>
                              <p:cond delay="0"/>
                            </p:stCondLst>
                            <p:childTnLst>
                              <p:par>
                                <p:cTn id="241" presetID="4" presetClass="entr" presetSubtype="16" fill="hold" grpId="0" nodeType="clickEffect">
                                  <p:stCondLst>
                                    <p:cond delay="0"/>
                                  </p:stCondLst>
                                  <p:childTnLst>
                                    <p:set>
                                      <p:cBhvr>
                                        <p:cTn id="242" dur="1" fill="hold">
                                          <p:stCondLst>
                                            <p:cond delay="0"/>
                                          </p:stCondLst>
                                        </p:cTn>
                                        <p:tgtEl>
                                          <p:spTgt spid="82999"/>
                                        </p:tgtEl>
                                        <p:attrNameLst>
                                          <p:attrName>style.visibility</p:attrName>
                                        </p:attrNameLst>
                                      </p:cBhvr>
                                      <p:to>
                                        <p:strVal val="visible"/>
                                      </p:to>
                                    </p:set>
                                    <p:animEffect transition="in" filter="box(in)">
                                      <p:cBhvr>
                                        <p:cTn id="243" dur="500"/>
                                        <p:tgtEl>
                                          <p:spTgt spid="82999"/>
                                        </p:tgtEl>
                                      </p:cBhvr>
                                    </p:animEffect>
                                  </p:childTnLst>
                                </p:cTn>
                              </p:par>
                            </p:childTnLst>
                          </p:cTn>
                        </p:par>
                      </p:childTnLst>
                    </p:cTn>
                  </p:par>
                  <p:par>
                    <p:cTn id="244" fill="hold">
                      <p:stCondLst>
                        <p:cond delay="indefinite"/>
                      </p:stCondLst>
                      <p:childTnLst>
                        <p:par>
                          <p:cTn id="245" fill="hold">
                            <p:stCondLst>
                              <p:cond delay="0"/>
                            </p:stCondLst>
                            <p:childTnLst>
                              <p:par>
                                <p:cTn id="246" presetID="4" presetClass="entr" presetSubtype="16" fill="hold" grpId="0" nodeType="clickEffect">
                                  <p:stCondLst>
                                    <p:cond delay="0"/>
                                  </p:stCondLst>
                                  <p:childTnLst>
                                    <p:set>
                                      <p:cBhvr>
                                        <p:cTn id="247" dur="1" fill="hold">
                                          <p:stCondLst>
                                            <p:cond delay="0"/>
                                          </p:stCondLst>
                                        </p:cTn>
                                        <p:tgtEl>
                                          <p:spTgt spid="82985"/>
                                        </p:tgtEl>
                                        <p:attrNameLst>
                                          <p:attrName>style.visibility</p:attrName>
                                        </p:attrNameLst>
                                      </p:cBhvr>
                                      <p:to>
                                        <p:strVal val="visible"/>
                                      </p:to>
                                    </p:set>
                                    <p:animEffect transition="in" filter="box(in)">
                                      <p:cBhvr>
                                        <p:cTn id="248" dur="500"/>
                                        <p:tgtEl>
                                          <p:spTgt spid="82985"/>
                                        </p:tgtEl>
                                      </p:cBhvr>
                                    </p:animEffect>
                                  </p:childTnLst>
                                </p:cTn>
                              </p:par>
                            </p:childTnLst>
                          </p:cTn>
                        </p:par>
                      </p:childTnLst>
                    </p:cTn>
                  </p:par>
                  <p:par>
                    <p:cTn id="249" fill="hold">
                      <p:stCondLst>
                        <p:cond delay="indefinite"/>
                      </p:stCondLst>
                      <p:childTnLst>
                        <p:par>
                          <p:cTn id="250" fill="hold">
                            <p:stCondLst>
                              <p:cond delay="0"/>
                            </p:stCondLst>
                            <p:childTnLst>
                              <p:par>
                                <p:cTn id="251" presetID="4" presetClass="entr" presetSubtype="16" fill="hold" grpId="0" nodeType="clickEffect">
                                  <p:stCondLst>
                                    <p:cond delay="0"/>
                                  </p:stCondLst>
                                  <p:childTnLst>
                                    <p:set>
                                      <p:cBhvr>
                                        <p:cTn id="252" dur="1" fill="hold">
                                          <p:stCondLst>
                                            <p:cond delay="0"/>
                                          </p:stCondLst>
                                        </p:cTn>
                                        <p:tgtEl>
                                          <p:spTgt spid="82984"/>
                                        </p:tgtEl>
                                        <p:attrNameLst>
                                          <p:attrName>style.visibility</p:attrName>
                                        </p:attrNameLst>
                                      </p:cBhvr>
                                      <p:to>
                                        <p:strVal val="visible"/>
                                      </p:to>
                                    </p:set>
                                    <p:animEffect transition="in" filter="box(in)">
                                      <p:cBhvr>
                                        <p:cTn id="253" dur="500"/>
                                        <p:tgtEl>
                                          <p:spTgt spid="82984"/>
                                        </p:tgtEl>
                                      </p:cBhvr>
                                    </p:animEffect>
                                  </p:childTnLst>
                                </p:cTn>
                              </p:par>
                            </p:childTnLst>
                          </p:cTn>
                        </p:par>
                      </p:childTnLst>
                    </p:cTn>
                  </p:par>
                  <p:par>
                    <p:cTn id="254" fill="hold">
                      <p:stCondLst>
                        <p:cond delay="indefinite"/>
                      </p:stCondLst>
                      <p:childTnLst>
                        <p:par>
                          <p:cTn id="255" fill="hold">
                            <p:stCondLst>
                              <p:cond delay="0"/>
                            </p:stCondLst>
                            <p:childTnLst>
                              <p:par>
                                <p:cTn id="256" presetID="4" presetClass="entr" presetSubtype="16" fill="hold" nodeType="clickEffect">
                                  <p:stCondLst>
                                    <p:cond delay="0"/>
                                  </p:stCondLst>
                                  <p:childTnLst>
                                    <p:set>
                                      <p:cBhvr>
                                        <p:cTn id="257" dur="1" fill="hold">
                                          <p:stCondLst>
                                            <p:cond delay="0"/>
                                          </p:stCondLst>
                                        </p:cTn>
                                        <p:tgtEl>
                                          <p:spTgt spid="82986"/>
                                        </p:tgtEl>
                                        <p:attrNameLst>
                                          <p:attrName>style.visibility</p:attrName>
                                        </p:attrNameLst>
                                      </p:cBhvr>
                                      <p:to>
                                        <p:strVal val="visible"/>
                                      </p:to>
                                    </p:set>
                                    <p:animEffect transition="in" filter="box(in)">
                                      <p:cBhvr>
                                        <p:cTn id="258" dur="500"/>
                                        <p:tgtEl>
                                          <p:spTgt spid="829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8" grpId="0" animBg="1"/>
      <p:bldP spid="82949" grpId="0" animBg="1"/>
      <p:bldP spid="82950" grpId="0" animBg="1"/>
      <p:bldP spid="82951" grpId="0" animBg="1"/>
      <p:bldP spid="82952" grpId="0" animBg="1"/>
      <p:bldP spid="82953" grpId="0" animBg="1"/>
      <p:bldP spid="82954" grpId="0" animBg="1"/>
      <p:bldP spid="82955" grpId="0" animBg="1"/>
      <p:bldP spid="82956" grpId="0"/>
      <p:bldP spid="82957" grpId="0"/>
      <p:bldP spid="82958" grpId="0" animBg="1"/>
      <p:bldP spid="82960" grpId="0" animBg="1"/>
      <p:bldP spid="82961" grpId="0" animBg="1"/>
      <p:bldP spid="82962" grpId="0" animBg="1"/>
      <p:bldP spid="82963" grpId="0" animBg="1"/>
      <p:bldP spid="82964" grpId="0" animBg="1"/>
      <p:bldP spid="82965" grpId="0" animBg="1"/>
      <p:bldP spid="82966" grpId="0" animBg="1"/>
      <p:bldP spid="82967" grpId="0" animBg="1"/>
      <p:bldP spid="82968" grpId="0" animBg="1"/>
      <p:bldP spid="82969" grpId="0" animBg="1"/>
      <p:bldP spid="82971" grpId="0" animBg="1"/>
      <p:bldP spid="82972" grpId="0" animBg="1"/>
      <p:bldP spid="82973" grpId="0" animBg="1"/>
      <p:bldP spid="82974" grpId="0" animBg="1"/>
      <p:bldP spid="82975" grpId="0" animBg="1"/>
      <p:bldP spid="82976" grpId="0" animBg="1"/>
      <p:bldP spid="82977" grpId="0" animBg="1"/>
      <p:bldP spid="82978" grpId="0"/>
      <p:bldP spid="82979" grpId="0" animBg="1"/>
      <p:bldP spid="82980" grpId="0" animBg="1"/>
      <p:bldP spid="82981" grpId="0" animBg="1"/>
      <p:bldP spid="82982" grpId="0" animBg="1"/>
      <p:bldP spid="82983" grpId="0" animBg="1"/>
      <p:bldP spid="82984" grpId="0" animBg="1"/>
      <p:bldP spid="82985" grpId="0" animBg="1"/>
      <p:bldP spid="82987" grpId="0" animBg="1"/>
      <p:bldP spid="82988" grpId="0" animBg="1"/>
      <p:bldP spid="82989" grpId="0" animBg="1"/>
      <p:bldP spid="82990" grpId="0" animBg="1"/>
      <p:bldP spid="82991" grpId="0" animBg="1"/>
      <p:bldP spid="82992" grpId="0"/>
      <p:bldP spid="82993" grpId="0"/>
      <p:bldP spid="82994" grpId="0"/>
      <p:bldP spid="82995" grpId="0"/>
      <p:bldP spid="82996" grpId="0" animBg="1"/>
      <p:bldP spid="82997" grpId="0"/>
      <p:bldP spid="82998" grpId="0" animBg="1"/>
      <p:bldP spid="82999" grpId="0"/>
      <p:bldP spid="8300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sz="3200" b="1" dirty="0">
                <a:solidFill>
                  <a:srgbClr val="0000FF"/>
                </a:solidFill>
                <a:latin typeface="黑体" pitchFamily="49" charset="-122"/>
                <a:ea typeface="黑体" pitchFamily="49" charset="-122"/>
              </a:rPr>
              <a:t>从上面模型结构，在资源和技术不变的情况下，</a:t>
            </a:r>
            <a:r>
              <a:rPr lang="zh-CN" altLang="en-US" sz="3200" b="1" dirty="0">
                <a:solidFill>
                  <a:srgbClr val="FF0000"/>
                </a:solidFill>
                <a:latin typeface="黑体" pitchFamily="49" charset="-122"/>
                <a:ea typeface="黑体" pitchFamily="49" charset="-122"/>
              </a:rPr>
              <a:t>经济运行有有以下两个特点：</a:t>
            </a:r>
          </a:p>
        </p:txBody>
      </p:sp>
      <p:sp>
        <p:nvSpPr>
          <p:cNvPr id="3" name="内容占位符 2"/>
          <p:cNvSpPr>
            <a:spLocks noGrp="1"/>
          </p:cNvSpPr>
          <p:nvPr>
            <p:ph idx="1"/>
          </p:nvPr>
        </p:nvSpPr>
        <p:spPr>
          <a:xfrm>
            <a:off x="282352" y="1495402"/>
            <a:ext cx="8579296" cy="5043510"/>
          </a:xfrm>
        </p:spPr>
        <p:txBody>
          <a:bodyPr>
            <a:normAutofit fontScale="85000" lnSpcReduction="10000"/>
          </a:bodyPr>
          <a:lstStyle/>
          <a:p>
            <a:r>
              <a:rPr lang="zh-CN" altLang="en-US" sz="3600" b="1" u="sng" dirty="0">
                <a:solidFill>
                  <a:srgbClr val="FF0000"/>
                </a:solidFill>
                <a:latin typeface="隶书" pitchFamily="49" charset="-122"/>
                <a:ea typeface="隶书" pitchFamily="49" charset="-122"/>
              </a:rPr>
              <a:t>生产资源是有限的</a:t>
            </a:r>
            <a:r>
              <a:rPr lang="zh-CN" altLang="en-US" sz="3600" dirty="0">
                <a:solidFill>
                  <a:srgbClr val="FF0000"/>
                </a:solidFill>
                <a:latin typeface="隶书" pitchFamily="49" charset="-122"/>
                <a:ea typeface="隶书" pitchFamily="49" charset="-122"/>
              </a:rPr>
              <a:t>，生产资源将配置给生产效益更好的部门：</a:t>
            </a:r>
            <a:endParaRPr lang="en-US" altLang="zh-CN" sz="3600" dirty="0">
              <a:solidFill>
                <a:srgbClr val="FF0000"/>
              </a:solidFill>
              <a:latin typeface="隶书" pitchFamily="49" charset="-122"/>
              <a:ea typeface="隶书" pitchFamily="49" charset="-122"/>
            </a:endParaRPr>
          </a:p>
          <a:p>
            <a:pPr lvl="1"/>
            <a:r>
              <a:rPr lang="zh-CN" altLang="en-US" dirty="0">
                <a:solidFill>
                  <a:srgbClr val="0000FF"/>
                </a:solidFill>
                <a:latin typeface="隶书" pitchFamily="49" charset="-122"/>
                <a:ea typeface="隶书" pitchFamily="49" charset="-122"/>
              </a:rPr>
              <a:t>即便一个部门的收益不变，但是由于其他部门收益提高，它也将间接受损</a:t>
            </a:r>
            <a:endParaRPr lang="en-US" altLang="zh-CN" dirty="0">
              <a:solidFill>
                <a:srgbClr val="0000FF"/>
              </a:solidFill>
              <a:latin typeface="隶书" pitchFamily="49" charset="-122"/>
              <a:ea typeface="隶书" pitchFamily="49" charset="-122"/>
            </a:endParaRPr>
          </a:p>
          <a:p>
            <a:pPr lvl="1"/>
            <a:r>
              <a:rPr lang="zh-CN" altLang="en-US" dirty="0">
                <a:solidFill>
                  <a:srgbClr val="0000FF"/>
                </a:solidFill>
                <a:latin typeface="隶书" pitchFamily="49" charset="-122"/>
                <a:ea typeface="隶书" pitchFamily="49" charset="-122"/>
              </a:rPr>
              <a:t>即便一个部门的收益不变，但是由于其他部门受损，它也将间接受益</a:t>
            </a:r>
            <a:endParaRPr lang="en-US" altLang="zh-CN" dirty="0">
              <a:solidFill>
                <a:srgbClr val="0000FF"/>
              </a:solidFill>
              <a:latin typeface="隶书" pitchFamily="49" charset="-122"/>
              <a:ea typeface="隶书" pitchFamily="49" charset="-122"/>
            </a:endParaRPr>
          </a:p>
          <a:p>
            <a:r>
              <a:rPr lang="zh-CN" altLang="en-US" b="1" u="sng" dirty="0">
                <a:solidFill>
                  <a:srgbClr val="FF0000"/>
                </a:solidFill>
                <a:latin typeface="隶书" pitchFamily="49" charset="-122"/>
                <a:ea typeface="隶书" pitchFamily="49" charset="-122"/>
              </a:rPr>
              <a:t>经济系统有负反馈的自我修复机制：</a:t>
            </a:r>
            <a:r>
              <a:rPr lang="zh-CN" altLang="en-US" dirty="0">
                <a:solidFill>
                  <a:srgbClr val="FF0000"/>
                </a:solidFill>
                <a:latin typeface="隶书" pitchFamily="49" charset="-122"/>
                <a:ea typeface="隶书" pitchFamily="49" charset="-122"/>
              </a:rPr>
              <a:t>当一个产品的价格上升，</a:t>
            </a:r>
            <a:endParaRPr lang="en-US" altLang="zh-CN" dirty="0">
              <a:solidFill>
                <a:srgbClr val="FF0000"/>
              </a:solidFill>
              <a:latin typeface="隶书" pitchFamily="49" charset="-122"/>
              <a:ea typeface="隶书" pitchFamily="49" charset="-122"/>
            </a:endParaRPr>
          </a:p>
          <a:p>
            <a:pPr lvl="1"/>
            <a:r>
              <a:rPr lang="zh-CN" altLang="en-US" sz="3100" dirty="0">
                <a:solidFill>
                  <a:srgbClr val="0000FF"/>
                </a:solidFill>
                <a:latin typeface="隶书" pitchFamily="49" charset="-122"/>
                <a:ea typeface="隶书" pitchFamily="49" charset="-122"/>
              </a:rPr>
              <a:t>需求将降低（负的自价格弹性，正的交叉价格弹性）；</a:t>
            </a:r>
            <a:endParaRPr lang="en-US" altLang="zh-CN" sz="3100" dirty="0">
              <a:solidFill>
                <a:srgbClr val="0000FF"/>
              </a:solidFill>
              <a:latin typeface="隶书" pitchFamily="49" charset="-122"/>
              <a:ea typeface="隶书" pitchFamily="49" charset="-122"/>
            </a:endParaRPr>
          </a:p>
          <a:p>
            <a:pPr lvl="1"/>
            <a:r>
              <a:rPr lang="zh-CN" altLang="en-US" sz="3100" dirty="0">
                <a:solidFill>
                  <a:srgbClr val="0000FF"/>
                </a:solidFill>
                <a:latin typeface="隶书" pitchFamily="49" charset="-122"/>
                <a:ea typeface="隶书" pitchFamily="49" charset="-122"/>
              </a:rPr>
              <a:t>更多供给。生产资源被配给过来，生产提高；或者进口增加，都导致供给增长。</a:t>
            </a:r>
            <a:endParaRPr lang="en-US" altLang="zh-CN" sz="3100" dirty="0">
              <a:solidFill>
                <a:srgbClr val="0000FF"/>
              </a:solidFill>
              <a:latin typeface="隶书" pitchFamily="49" charset="-122"/>
              <a:ea typeface="隶书" pitchFamily="49" charset="-122"/>
            </a:endParaRPr>
          </a:p>
          <a:p>
            <a:pPr lvl="1"/>
            <a:r>
              <a:rPr lang="zh-CN" altLang="en-US" sz="3100" dirty="0">
                <a:solidFill>
                  <a:srgbClr val="0000FF"/>
                </a:solidFill>
                <a:latin typeface="隶书" pitchFamily="49" charset="-122"/>
                <a:ea typeface="隶书" pitchFamily="49" charset="-122"/>
              </a:rPr>
              <a:t>供需再次达到新的平衡状态。</a:t>
            </a:r>
            <a:endParaRPr lang="en-US" altLang="zh-CN" dirty="0">
              <a:solidFill>
                <a:srgbClr val="0000FF"/>
              </a:solidFill>
              <a:latin typeface="隶书" pitchFamily="49" charset="-122"/>
              <a:ea typeface="隶书" pitchFamily="49" charset="-122"/>
            </a:endParaRPr>
          </a:p>
          <a:p>
            <a:endParaRPr lang="en-US" altLang="zh-CN" dirty="0">
              <a:solidFill>
                <a:srgbClr val="FF0000"/>
              </a:solidFill>
              <a:latin typeface="隶书" pitchFamily="49" charset="-122"/>
              <a:ea typeface="隶书" pitchFamily="49" charset="-122"/>
            </a:endParaRPr>
          </a:p>
          <a:p>
            <a:endParaRPr lang="zh-CN" altLang="en-US" sz="3600" dirty="0">
              <a:solidFill>
                <a:srgbClr val="FF0000"/>
              </a:solidFill>
              <a:latin typeface="隶书" pitchFamily="49" charset="-122"/>
              <a:ea typeface="隶书" pitchFamily="49" charset="-122"/>
            </a:endParaRPr>
          </a:p>
        </p:txBody>
      </p:sp>
      <p:sp>
        <p:nvSpPr>
          <p:cNvPr id="4" name="日期占位符 3"/>
          <p:cNvSpPr>
            <a:spLocks noGrp="1"/>
          </p:cNvSpPr>
          <p:nvPr>
            <p:ph type="dt" sz="half" idx="10"/>
          </p:nvPr>
        </p:nvSpPr>
        <p:spPr/>
        <p:txBody>
          <a:bodyPr/>
          <a:lstStyle/>
          <a:p>
            <a:fld id="{C6B8F2EF-5256-419E-9E16-E117EA0624FC}" type="datetimeFigureOut">
              <a:rPr lang="zh-CN" altLang="en-US" smtClean="0"/>
              <a:pPr/>
              <a:t>2021/5/27</a:t>
            </a:fld>
            <a:endParaRPr lang="zh-CN" altLang="en-US"/>
          </a:p>
        </p:txBody>
      </p:sp>
      <p:sp>
        <p:nvSpPr>
          <p:cNvPr id="5" name="灯片编号占位符 4"/>
          <p:cNvSpPr>
            <a:spLocks noGrp="1"/>
          </p:cNvSpPr>
          <p:nvPr>
            <p:ph type="sldNum" sz="quarter" idx="12"/>
          </p:nvPr>
        </p:nvSpPr>
        <p:spPr/>
        <p:txBody>
          <a:bodyPr/>
          <a:lstStyle/>
          <a:p>
            <a:fld id="{C8D0647B-24A2-46AB-A27A-847EF503E68C}" type="slidenum">
              <a:rPr lang="zh-CN" altLang="en-US" smtClean="0"/>
              <a:pPr/>
              <a:t>24</a:t>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7158" y="2000240"/>
            <a:ext cx="8229600" cy="2214578"/>
          </a:xfrm>
        </p:spPr>
        <p:txBody>
          <a:bodyPr>
            <a:normAutofit fontScale="90000"/>
          </a:bodyPr>
          <a:lstStyle/>
          <a:p>
            <a:pPr algn="l"/>
            <a:r>
              <a:rPr lang="zh-CN" altLang="en-US" sz="3600" dirty="0">
                <a:solidFill>
                  <a:srgbClr val="0000FF"/>
                </a:solidFill>
                <a:latin typeface="隶书" pitchFamily="49" charset="-122"/>
                <a:ea typeface="隶书" pitchFamily="49" charset="-122"/>
              </a:rPr>
              <a:t>上面所讲述的静态情况下的经济变化，即不考虑技术、资本和劳动力变化情况下，资源分配和经济系统的调整变化。</a:t>
            </a:r>
            <a:r>
              <a:rPr lang="zh-CN" altLang="en-US" sz="3600" dirty="0">
                <a:solidFill>
                  <a:srgbClr val="FF0000"/>
                </a:solidFill>
                <a:latin typeface="隶书" pitchFamily="49" charset="-122"/>
                <a:ea typeface="隶书" pitchFamily="49" charset="-122"/>
              </a:rPr>
              <a:t>显然，这是不够的，这就是动态经济模型所要考察的内容。</a:t>
            </a:r>
          </a:p>
        </p:txBody>
      </p:sp>
      <p:sp>
        <p:nvSpPr>
          <p:cNvPr id="4" name="日期占位符 3"/>
          <p:cNvSpPr>
            <a:spLocks noGrp="1"/>
          </p:cNvSpPr>
          <p:nvPr>
            <p:ph type="dt" sz="half" idx="10"/>
          </p:nvPr>
        </p:nvSpPr>
        <p:spPr/>
        <p:txBody>
          <a:bodyPr/>
          <a:lstStyle/>
          <a:p>
            <a:fld id="{C6B8F2EF-5256-419E-9E16-E117EA0624FC}" type="datetimeFigureOut">
              <a:rPr lang="zh-CN" altLang="en-US" smtClean="0"/>
              <a:pPr/>
              <a:t>2021/5/27</a:t>
            </a:fld>
            <a:endParaRPr lang="zh-CN" altLang="en-US"/>
          </a:p>
        </p:txBody>
      </p:sp>
      <p:sp>
        <p:nvSpPr>
          <p:cNvPr id="5" name="灯片编号占位符 4"/>
          <p:cNvSpPr>
            <a:spLocks noGrp="1"/>
          </p:cNvSpPr>
          <p:nvPr>
            <p:ph type="sldNum" sz="quarter" idx="12"/>
          </p:nvPr>
        </p:nvSpPr>
        <p:spPr/>
        <p:txBody>
          <a:bodyPr/>
          <a:lstStyle/>
          <a:p>
            <a:fld id="{C8D0647B-24A2-46AB-A27A-847EF503E68C}" type="slidenum">
              <a:rPr lang="zh-CN" altLang="en-US" smtClean="0"/>
              <a:pPr/>
              <a:t>25</a:t>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8596" y="2714620"/>
            <a:ext cx="8229600" cy="1143000"/>
          </a:xfrm>
        </p:spPr>
        <p:txBody>
          <a:bodyPr>
            <a:normAutofit/>
          </a:bodyPr>
          <a:lstStyle/>
          <a:p>
            <a:r>
              <a:rPr lang="zh-CN" altLang="en-US" sz="3600" dirty="0">
                <a:solidFill>
                  <a:srgbClr val="FF0000"/>
                </a:solidFill>
                <a:latin typeface="黑体" pitchFamily="49" charset="-122"/>
                <a:ea typeface="黑体" pitchFamily="49" charset="-122"/>
              </a:rPr>
              <a:t>资本的动态调整</a:t>
            </a:r>
          </a:p>
        </p:txBody>
      </p:sp>
      <p:sp>
        <p:nvSpPr>
          <p:cNvPr id="4" name="日期占位符 3"/>
          <p:cNvSpPr>
            <a:spLocks noGrp="1"/>
          </p:cNvSpPr>
          <p:nvPr>
            <p:ph type="dt" sz="half" idx="10"/>
          </p:nvPr>
        </p:nvSpPr>
        <p:spPr/>
        <p:txBody>
          <a:bodyPr/>
          <a:lstStyle/>
          <a:p>
            <a:fld id="{C6B8F2EF-5256-419E-9E16-E117EA0624FC}" type="datetimeFigureOut">
              <a:rPr lang="zh-CN" altLang="en-US" smtClean="0"/>
              <a:pPr/>
              <a:t>2021/5/27</a:t>
            </a:fld>
            <a:endParaRPr lang="zh-CN" altLang="en-US"/>
          </a:p>
        </p:txBody>
      </p:sp>
      <p:sp>
        <p:nvSpPr>
          <p:cNvPr id="5" name="灯片编号占位符 4"/>
          <p:cNvSpPr>
            <a:spLocks noGrp="1"/>
          </p:cNvSpPr>
          <p:nvPr>
            <p:ph type="sldNum" sz="quarter" idx="12"/>
          </p:nvPr>
        </p:nvSpPr>
        <p:spPr/>
        <p:txBody>
          <a:bodyPr/>
          <a:lstStyle/>
          <a:p>
            <a:fld id="{C8D0647B-24A2-46AB-A27A-847EF503E68C}" type="slidenum">
              <a:rPr lang="zh-CN" altLang="en-US" smtClean="0"/>
              <a:pPr/>
              <a:t>26</a:t>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72198" y="1000108"/>
            <a:ext cx="2857488" cy="3071834"/>
          </a:xfrm>
        </p:spPr>
        <p:txBody>
          <a:bodyPr>
            <a:normAutofit/>
          </a:bodyPr>
          <a:lstStyle/>
          <a:p>
            <a:pPr algn="l"/>
            <a:r>
              <a:rPr lang="zh-CN" altLang="en-US" sz="3200" b="1" dirty="0">
                <a:solidFill>
                  <a:srgbClr val="0000FF"/>
                </a:solidFill>
                <a:latin typeface="黑体" pitchFamily="49" charset="-122"/>
                <a:ea typeface="黑体" pitchFamily="49" charset="-122"/>
              </a:rPr>
              <a:t>资本收益率（</a:t>
            </a:r>
            <a:r>
              <a:rPr lang="en-US" altLang="zh-CN" sz="3200" b="1" dirty="0">
                <a:solidFill>
                  <a:srgbClr val="0000FF"/>
                </a:solidFill>
                <a:latin typeface="黑体" pitchFamily="49" charset="-122"/>
                <a:ea typeface="黑体" pitchFamily="49" charset="-122"/>
              </a:rPr>
              <a:t>RORC</a:t>
            </a:r>
            <a:r>
              <a:rPr lang="zh-CN" altLang="en-US" sz="3200" b="1" dirty="0">
                <a:solidFill>
                  <a:srgbClr val="0000FF"/>
                </a:solidFill>
                <a:latin typeface="黑体" pitchFamily="49" charset="-122"/>
                <a:ea typeface="黑体" pitchFamily="49" charset="-122"/>
              </a:rPr>
              <a:t>）变化</a:t>
            </a:r>
            <a:br>
              <a:rPr lang="en-US" altLang="zh-CN" sz="3200" dirty="0">
                <a:solidFill>
                  <a:srgbClr val="FF0000"/>
                </a:solidFill>
                <a:latin typeface="黑体" pitchFamily="49" charset="-122"/>
                <a:ea typeface="黑体" pitchFamily="49" charset="-122"/>
              </a:rPr>
            </a:br>
            <a:r>
              <a:rPr lang="en-US" altLang="zh-CN" sz="3200" dirty="0">
                <a:solidFill>
                  <a:srgbClr val="FF0000"/>
                </a:solidFill>
                <a:latin typeface="黑体" pitchFamily="49" charset="-122"/>
                <a:ea typeface="黑体" pitchFamily="49" charset="-122"/>
                <a:sym typeface="Wingdings" pitchFamily="2" charset="2"/>
              </a:rPr>
              <a:t></a:t>
            </a:r>
            <a:r>
              <a:rPr lang="zh-CN" altLang="en-US" sz="3200" dirty="0">
                <a:solidFill>
                  <a:srgbClr val="FF0000"/>
                </a:solidFill>
                <a:latin typeface="黑体" pitchFamily="49" charset="-122"/>
                <a:ea typeface="黑体" pitchFamily="49" charset="-122"/>
              </a:rPr>
              <a:t>投资变化</a:t>
            </a:r>
            <a:br>
              <a:rPr lang="en-US" altLang="zh-CN" sz="3200" dirty="0">
                <a:solidFill>
                  <a:srgbClr val="FF0000"/>
                </a:solidFill>
                <a:latin typeface="黑体" pitchFamily="49" charset="-122"/>
                <a:ea typeface="黑体" pitchFamily="49" charset="-122"/>
              </a:rPr>
            </a:br>
            <a:r>
              <a:rPr lang="en-US" altLang="zh-CN" sz="3200" dirty="0">
                <a:solidFill>
                  <a:srgbClr val="FF0000"/>
                </a:solidFill>
                <a:latin typeface="黑体" pitchFamily="49" charset="-122"/>
                <a:ea typeface="黑体" pitchFamily="49" charset="-122"/>
                <a:sym typeface="Wingdings" pitchFamily="2" charset="2"/>
              </a:rPr>
              <a:t></a:t>
            </a:r>
            <a:r>
              <a:rPr lang="zh-CN" altLang="en-US" sz="3200" dirty="0">
                <a:solidFill>
                  <a:srgbClr val="FF0000"/>
                </a:solidFill>
                <a:latin typeface="黑体" pitchFamily="49" charset="-122"/>
                <a:ea typeface="黑体" pitchFamily="49" charset="-122"/>
              </a:rPr>
              <a:t>改变资本</a:t>
            </a:r>
            <a:br>
              <a:rPr lang="en-US" altLang="zh-CN" sz="3200" dirty="0">
                <a:solidFill>
                  <a:srgbClr val="FF0000"/>
                </a:solidFill>
                <a:latin typeface="黑体" pitchFamily="49" charset="-122"/>
                <a:ea typeface="黑体" pitchFamily="49" charset="-122"/>
              </a:rPr>
            </a:br>
            <a:r>
              <a:rPr lang="en-US" altLang="zh-CN" sz="3200" dirty="0">
                <a:solidFill>
                  <a:srgbClr val="FF0000"/>
                </a:solidFill>
                <a:latin typeface="黑体" pitchFamily="49" charset="-122"/>
                <a:ea typeface="黑体" pitchFamily="49" charset="-122"/>
                <a:sym typeface="Wingdings" pitchFamily="2" charset="2"/>
              </a:rPr>
              <a:t></a:t>
            </a:r>
            <a:r>
              <a:rPr lang="zh-CN" altLang="en-US" sz="3200" dirty="0">
                <a:solidFill>
                  <a:srgbClr val="FF0000"/>
                </a:solidFill>
                <a:latin typeface="黑体" pitchFamily="49" charset="-122"/>
                <a:ea typeface="黑体" pitchFamily="49" charset="-122"/>
              </a:rPr>
              <a:t>对生产系统产生影响</a:t>
            </a:r>
          </a:p>
        </p:txBody>
      </p:sp>
      <p:sp>
        <p:nvSpPr>
          <p:cNvPr id="4" name="日期占位符 3"/>
          <p:cNvSpPr>
            <a:spLocks noGrp="1"/>
          </p:cNvSpPr>
          <p:nvPr>
            <p:ph type="dt" sz="half" idx="10"/>
          </p:nvPr>
        </p:nvSpPr>
        <p:spPr/>
        <p:txBody>
          <a:bodyPr/>
          <a:lstStyle/>
          <a:p>
            <a:fld id="{C6B8F2EF-5256-419E-9E16-E117EA0624FC}" type="datetimeFigureOut">
              <a:rPr lang="zh-CN" altLang="en-US" smtClean="0"/>
              <a:pPr/>
              <a:t>2021/5/27</a:t>
            </a:fld>
            <a:endParaRPr lang="zh-CN" altLang="en-US"/>
          </a:p>
        </p:txBody>
      </p:sp>
      <p:sp>
        <p:nvSpPr>
          <p:cNvPr id="5" name="灯片编号占位符 4"/>
          <p:cNvSpPr>
            <a:spLocks noGrp="1"/>
          </p:cNvSpPr>
          <p:nvPr>
            <p:ph type="sldNum" sz="quarter" idx="12"/>
          </p:nvPr>
        </p:nvSpPr>
        <p:spPr/>
        <p:txBody>
          <a:bodyPr/>
          <a:lstStyle/>
          <a:p>
            <a:fld id="{C8D0647B-24A2-46AB-A27A-847EF503E68C}" type="slidenum">
              <a:rPr lang="zh-CN" altLang="en-US" smtClean="0"/>
              <a:pPr/>
              <a:t>27</a:t>
            </a:fld>
            <a:endParaRPr lang="zh-CN" altLang="en-US"/>
          </a:p>
        </p:txBody>
      </p:sp>
      <p:graphicFrame>
        <p:nvGraphicFramePr>
          <p:cNvPr id="115715" name="Object 3"/>
          <p:cNvGraphicFramePr>
            <a:graphicFrameLocks noChangeAspect="1"/>
          </p:cNvGraphicFramePr>
          <p:nvPr/>
        </p:nvGraphicFramePr>
        <p:xfrm>
          <a:off x="285720" y="71716"/>
          <a:ext cx="5643602" cy="6643432"/>
        </p:xfrm>
        <a:graphic>
          <a:graphicData uri="http://schemas.openxmlformats.org/presentationml/2006/ole">
            <mc:AlternateContent xmlns:mc="http://schemas.openxmlformats.org/markup-compatibility/2006">
              <mc:Choice xmlns:v="urn:schemas-microsoft-com:vml" Requires="v">
                <p:oleObj name="Visio" r:id="rId2" imgW="4534776" imgH="5605848" progId="Visio.Drawing.11">
                  <p:embed/>
                </p:oleObj>
              </mc:Choice>
              <mc:Fallback>
                <p:oleObj name="Visio" r:id="rId2" imgW="4534776" imgH="5605848" progId="Visio.Drawing.11">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20" y="71716"/>
                        <a:ext cx="5643602" cy="6643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7" name="Title 1"/>
          <p:cNvSpPr>
            <a:spLocks noGrp="1"/>
          </p:cNvSpPr>
          <p:nvPr>
            <p:ph type="title"/>
          </p:nvPr>
        </p:nvSpPr>
        <p:spPr>
          <a:xfrm>
            <a:off x="107950" y="115888"/>
            <a:ext cx="8250264" cy="741344"/>
          </a:xfrm>
        </p:spPr>
        <p:txBody>
          <a:bodyPr>
            <a:noAutofit/>
          </a:bodyPr>
          <a:lstStyle/>
          <a:p>
            <a:r>
              <a:rPr lang="zh-CN" altLang="en-US" sz="3600" b="1" dirty="0">
                <a:solidFill>
                  <a:srgbClr val="FF0000"/>
                </a:solidFill>
                <a:latin typeface="黑体" pitchFamily="49" charset="-122"/>
                <a:ea typeface="黑体" pitchFamily="49" charset="-122"/>
              </a:rPr>
              <a:t> 投资方程</a:t>
            </a:r>
            <a:endParaRPr lang="en-AU" sz="3600" b="1" dirty="0">
              <a:solidFill>
                <a:srgbClr val="FF0000"/>
              </a:solidFill>
              <a:latin typeface="Arial Narrow" pitchFamily="34" charset="0"/>
            </a:endParaRPr>
          </a:p>
        </p:txBody>
      </p:sp>
      <p:graphicFrame>
        <p:nvGraphicFramePr>
          <p:cNvPr id="5122" name="Object 4"/>
          <p:cNvGraphicFramePr>
            <a:graphicFrameLocks noChangeAspect="1"/>
          </p:cNvGraphicFramePr>
          <p:nvPr/>
        </p:nvGraphicFramePr>
        <p:xfrm>
          <a:off x="4359275" y="4340225"/>
          <a:ext cx="3635375" cy="1181100"/>
        </p:xfrm>
        <a:graphic>
          <a:graphicData uri="http://schemas.openxmlformats.org/presentationml/2006/ole">
            <mc:AlternateContent xmlns:mc="http://schemas.openxmlformats.org/markup-compatibility/2006">
              <mc:Choice xmlns:v="urn:schemas-microsoft-com:vml" Requires="v">
                <p:oleObj name="Equation" r:id="rId2" imgW="2831760" imgH="863280" progId="Equation.DSMT4">
                  <p:embed/>
                </p:oleObj>
              </mc:Choice>
              <mc:Fallback>
                <p:oleObj name="Equation" r:id="rId2" imgW="2831760" imgH="86328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9275" y="4340225"/>
                        <a:ext cx="3635375" cy="1181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3" name="Object 7"/>
          <p:cNvGraphicFramePr>
            <a:graphicFrameLocks noChangeAspect="1"/>
          </p:cNvGraphicFramePr>
          <p:nvPr/>
        </p:nvGraphicFramePr>
        <p:xfrm>
          <a:off x="4329113" y="3243263"/>
          <a:ext cx="2628900" cy="1450975"/>
        </p:xfrm>
        <a:graphic>
          <a:graphicData uri="http://schemas.openxmlformats.org/presentationml/2006/ole">
            <mc:AlternateContent xmlns:mc="http://schemas.openxmlformats.org/markup-compatibility/2006">
              <mc:Choice xmlns:v="urn:schemas-microsoft-com:vml" Requires="v">
                <p:oleObj name="Equation" r:id="rId4" imgW="2273040" imgH="1180800" progId="Equation.DSMT4">
                  <p:embed/>
                </p:oleObj>
              </mc:Choice>
              <mc:Fallback>
                <p:oleObj name="Equation" r:id="rId4" imgW="2273040" imgH="11808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29113" y="3243263"/>
                        <a:ext cx="2628900" cy="1450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4" name="Object 6"/>
          <p:cNvGraphicFramePr>
            <a:graphicFrameLocks noChangeAspect="1"/>
          </p:cNvGraphicFramePr>
          <p:nvPr/>
        </p:nvGraphicFramePr>
        <p:xfrm>
          <a:off x="4351338" y="2487613"/>
          <a:ext cx="3848100" cy="1041400"/>
        </p:xfrm>
        <a:graphic>
          <a:graphicData uri="http://schemas.openxmlformats.org/presentationml/2006/ole">
            <mc:AlternateContent xmlns:mc="http://schemas.openxmlformats.org/markup-compatibility/2006">
              <mc:Choice xmlns:v="urn:schemas-microsoft-com:vml" Requires="v">
                <p:oleObj name="Equation" r:id="rId6" imgW="2997000" imgH="761760" progId="Equation.DSMT4">
                  <p:embed/>
                </p:oleObj>
              </mc:Choice>
              <mc:Fallback>
                <p:oleObj name="Equation" r:id="rId6" imgW="2997000" imgH="76176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51338" y="2487613"/>
                        <a:ext cx="3848100"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itle 1"/>
          <p:cNvSpPr txBox="1">
            <a:spLocks/>
          </p:cNvSpPr>
          <p:nvPr/>
        </p:nvSpPr>
        <p:spPr bwMode="auto">
          <a:xfrm>
            <a:off x="315913" y="2384425"/>
            <a:ext cx="4041775" cy="714375"/>
          </a:xfrm>
          <a:prstGeom prst="rect">
            <a:avLst/>
          </a:prstGeom>
          <a:noFill/>
          <a:ln w="9525">
            <a:noFill/>
            <a:miter lim="800000"/>
            <a:headEnd/>
            <a:tailEnd/>
          </a:ln>
        </p:spPr>
        <p:txBody>
          <a:bodyPr anchor="ctr"/>
          <a:lstStyle/>
          <a:p>
            <a:pPr eaLnBrk="0" hangingPunct="0">
              <a:defRPr/>
            </a:pPr>
            <a:r>
              <a:rPr lang="en-AU" sz="2000" b="1" kern="0" dirty="0">
                <a:solidFill>
                  <a:srgbClr val="0000FF"/>
                </a:solidFill>
                <a:latin typeface="黑体" pitchFamily="49" charset="-122"/>
                <a:ea typeface="黑体" pitchFamily="49" charset="-122"/>
                <a:cs typeface="+mj-cs"/>
              </a:rPr>
              <a:t>(E2) </a:t>
            </a:r>
            <a:r>
              <a:rPr lang="zh-CN" altLang="en-US" sz="2000" b="1" kern="0" dirty="0">
                <a:solidFill>
                  <a:srgbClr val="0000FF"/>
                </a:solidFill>
                <a:latin typeface="黑体" pitchFamily="49" charset="-122"/>
                <a:ea typeface="黑体" pitchFamily="49" charset="-122"/>
                <a:cs typeface="+mj-cs"/>
              </a:rPr>
              <a:t>资本（</a:t>
            </a:r>
            <a:r>
              <a:rPr lang="en-US" altLang="zh-CN" sz="2000" b="1" kern="0" dirty="0">
                <a:solidFill>
                  <a:srgbClr val="0000FF"/>
                </a:solidFill>
                <a:latin typeface="黑体" pitchFamily="49" charset="-122"/>
                <a:ea typeface="黑体" pitchFamily="49" charset="-122"/>
                <a:cs typeface="+mj-cs"/>
              </a:rPr>
              <a:t>t</a:t>
            </a:r>
            <a:r>
              <a:rPr lang="zh-CN" altLang="en-US" sz="2000" b="1" kern="0" dirty="0">
                <a:solidFill>
                  <a:srgbClr val="0000FF"/>
                </a:solidFill>
                <a:latin typeface="黑体" pitchFamily="49" charset="-122"/>
                <a:ea typeface="黑体" pitchFamily="49" charset="-122"/>
                <a:cs typeface="+mj-cs"/>
              </a:rPr>
              <a:t>年末）增长方程</a:t>
            </a:r>
            <a:endParaRPr lang="en-AU" sz="2000" b="1" kern="0" dirty="0">
              <a:solidFill>
                <a:srgbClr val="0000FF"/>
              </a:solidFill>
              <a:latin typeface="黑体" pitchFamily="49" charset="-122"/>
              <a:ea typeface="黑体" pitchFamily="49" charset="-122"/>
              <a:cs typeface="+mj-cs"/>
            </a:endParaRPr>
          </a:p>
        </p:txBody>
      </p:sp>
      <p:sp>
        <p:nvSpPr>
          <p:cNvPr id="9" name="Title 1"/>
          <p:cNvSpPr txBox="1">
            <a:spLocks/>
          </p:cNvSpPr>
          <p:nvPr/>
        </p:nvSpPr>
        <p:spPr bwMode="auto">
          <a:xfrm>
            <a:off x="325438" y="3297238"/>
            <a:ext cx="4043362" cy="714375"/>
          </a:xfrm>
          <a:prstGeom prst="rect">
            <a:avLst/>
          </a:prstGeom>
          <a:noFill/>
          <a:ln w="9525">
            <a:noFill/>
            <a:miter lim="800000"/>
            <a:headEnd/>
            <a:tailEnd/>
          </a:ln>
        </p:spPr>
        <p:txBody>
          <a:bodyPr anchor="ctr"/>
          <a:lstStyle/>
          <a:p>
            <a:pPr eaLnBrk="0" hangingPunct="0">
              <a:defRPr/>
            </a:pPr>
            <a:r>
              <a:rPr lang="en-AU" sz="2000" b="1" kern="0" dirty="0">
                <a:solidFill>
                  <a:srgbClr val="0000FF"/>
                </a:solidFill>
                <a:latin typeface="黑体" pitchFamily="49" charset="-122"/>
                <a:ea typeface="黑体" pitchFamily="49" charset="-122"/>
                <a:cs typeface="+mj-cs"/>
              </a:rPr>
              <a:t>(E3) </a:t>
            </a:r>
            <a:r>
              <a:rPr lang="zh-CN" altLang="en-US" sz="2000" b="1" kern="0" dirty="0">
                <a:solidFill>
                  <a:srgbClr val="0000FF"/>
                </a:solidFill>
                <a:latin typeface="黑体" pitchFamily="49" charset="-122"/>
                <a:ea typeface="黑体" pitchFamily="49" charset="-122"/>
                <a:cs typeface="+mj-cs"/>
              </a:rPr>
              <a:t>资本增长率</a:t>
            </a:r>
            <a:endParaRPr lang="en-AU" sz="2000" b="1" kern="0" dirty="0">
              <a:solidFill>
                <a:srgbClr val="0000FF"/>
              </a:solidFill>
              <a:latin typeface="黑体" pitchFamily="49" charset="-122"/>
              <a:ea typeface="黑体" pitchFamily="49" charset="-122"/>
              <a:cs typeface="+mj-cs"/>
            </a:endParaRPr>
          </a:p>
        </p:txBody>
      </p:sp>
      <p:sp>
        <p:nvSpPr>
          <p:cNvPr id="10" name="Title 1"/>
          <p:cNvSpPr txBox="1">
            <a:spLocks/>
          </p:cNvSpPr>
          <p:nvPr/>
        </p:nvSpPr>
        <p:spPr bwMode="auto">
          <a:xfrm>
            <a:off x="347663" y="4268788"/>
            <a:ext cx="4041775" cy="714375"/>
          </a:xfrm>
          <a:prstGeom prst="rect">
            <a:avLst/>
          </a:prstGeom>
          <a:noFill/>
          <a:ln w="9525">
            <a:noFill/>
            <a:miter lim="800000"/>
            <a:headEnd/>
            <a:tailEnd/>
          </a:ln>
        </p:spPr>
        <p:txBody>
          <a:bodyPr anchor="ctr"/>
          <a:lstStyle/>
          <a:p>
            <a:pPr eaLnBrk="0" hangingPunct="0">
              <a:defRPr/>
            </a:pPr>
            <a:r>
              <a:rPr lang="en-AU" sz="2000" b="1" kern="0" dirty="0">
                <a:solidFill>
                  <a:srgbClr val="0000FF"/>
                </a:solidFill>
                <a:latin typeface="黑体" pitchFamily="49" charset="-122"/>
                <a:ea typeface="黑体" pitchFamily="49" charset="-122"/>
                <a:cs typeface="+mj-cs"/>
              </a:rPr>
              <a:t>(E4) </a:t>
            </a:r>
            <a:r>
              <a:rPr lang="zh-CN" altLang="en-US" sz="2000" b="1" kern="0" dirty="0">
                <a:solidFill>
                  <a:srgbClr val="0000FF"/>
                </a:solidFill>
                <a:latin typeface="黑体" pitchFamily="49" charset="-122"/>
                <a:ea typeface="黑体" pitchFamily="49" charset="-122"/>
                <a:cs typeface="+mj-cs"/>
              </a:rPr>
              <a:t>资本供给方程</a:t>
            </a:r>
            <a:endParaRPr lang="en-AU" sz="2000" b="1" kern="0" dirty="0">
              <a:solidFill>
                <a:srgbClr val="0000FF"/>
              </a:solidFill>
              <a:latin typeface="黑体" pitchFamily="49" charset="-122"/>
              <a:ea typeface="黑体" pitchFamily="49" charset="-122"/>
              <a:cs typeface="+mj-cs"/>
            </a:endParaRPr>
          </a:p>
        </p:txBody>
      </p:sp>
      <p:sp>
        <p:nvSpPr>
          <p:cNvPr id="11" name="Title 1"/>
          <p:cNvSpPr txBox="1">
            <a:spLocks/>
          </p:cNvSpPr>
          <p:nvPr/>
        </p:nvSpPr>
        <p:spPr bwMode="auto">
          <a:xfrm>
            <a:off x="357188" y="4932363"/>
            <a:ext cx="4043362" cy="714375"/>
          </a:xfrm>
          <a:prstGeom prst="rect">
            <a:avLst/>
          </a:prstGeom>
          <a:noFill/>
          <a:ln w="9525">
            <a:noFill/>
            <a:miter lim="800000"/>
            <a:headEnd/>
            <a:tailEnd/>
          </a:ln>
        </p:spPr>
        <p:txBody>
          <a:bodyPr anchor="ctr"/>
          <a:lstStyle/>
          <a:p>
            <a:pPr eaLnBrk="0" hangingPunct="0">
              <a:defRPr/>
            </a:pPr>
            <a:r>
              <a:rPr lang="en-AU" b="1" kern="0" dirty="0">
                <a:solidFill>
                  <a:srgbClr val="0000FF"/>
                </a:solidFill>
                <a:latin typeface="黑体" pitchFamily="49" charset="-122"/>
                <a:ea typeface="黑体" pitchFamily="49" charset="-122"/>
                <a:cs typeface="+mj-cs"/>
              </a:rPr>
              <a:t>(E5) </a:t>
            </a:r>
            <a:r>
              <a:rPr lang="zh-CN" altLang="en-US" sz="2000" b="1" kern="0" dirty="0">
                <a:solidFill>
                  <a:srgbClr val="0000FF"/>
                </a:solidFill>
                <a:latin typeface="黑体" pitchFamily="49" charset="-122"/>
                <a:ea typeface="黑体" pitchFamily="49" charset="-122"/>
                <a:cs typeface="+mj-cs"/>
              </a:rPr>
              <a:t>资本</a:t>
            </a:r>
            <a:r>
              <a:rPr lang="zh-CN" altLang="en-US" b="1" kern="0" dirty="0">
                <a:solidFill>
                  <a:srgbClr val="0000FF"/>
                </a:solidFill>
                <a:latin typeface="黑体" pitchFamily="49" charset="-122"/>
                <a:ea typeface="黑体" pitchFamily="49" charset="-122"/>
                <a:cs typeface="+mj-cs"/>
              </a:rPr>
              <a:t>预期收益率</a:t>
            </a:r>
            <a:endParaRPr lang="en-AU" b="1" kern="0" dirty="0">
              <a:solidFill>
                <a:srgbClr val="0000FF"/>
              </a:solidFill>
              <a:latin typeface="黑体" pitchFamily="49" charset="-122"/>
              <a:ea typeface="黑体" pitchFamily="49" charset="-122"/>
              <a:cs typeface="+mj-cs"/>
            </a:endParaRPr>
          </a:p>
        </p:txBody>
      </p:sp>
      <p:sp>
        <p:nvSpPr>
          <p:cNvPr id="12" name="Title 1"/>
          <p:cNvSpPr txBox="1">
            <a:spLocks/>
          </p:cNvSpPr>
          <p:nvPr/>
        </p:nvSpPr>
        <p:spPr bwMode="auto">
          <a:xfrm>
            <a:off x="290513" y="1373188"/>
            <a:ext cx="4041775" cy="714375"/>
          </a:xfrm>
          <a:prstGeom prst="rect">
            <a:avLst/>
          </a:prstGeom>
          <a:noFill/>
          <a:ln w="9525">
            <a:noFill/>
            <a:miter lim="800000"/>
            <a:headEnd/>
            <a:tailEnd/>
          </a:ln>
        </p:spPr>
        <p:txBody>
          <a:bodyPr anchor="ctr"/>
          <a:lstStyle/>
          <a:p>
            <a:pPr eaLnBrk="0" hangingPunct="0">
              <a:defRPr/>
            </a:pPr>
            <a:r>
              <a:rPr lang="en-AU" sz="2000" b="1" kern="0" dirty="0">
                <a:solidFill>
                  <a:srgbClr val="0000FF"/>
                </a:solidFill>
                <a:latin typeface="黑体" pitchFamily="49" charset="-122"/>
                <a:ea typeface="黑体" pitchFamily="49" charset="-122"/>
                <a:cs typeface="+mj-cs"/>
              </a:rPr>
              <a:t>(E1)</a:t>
            </a:r>
            <a:r>
              <a:rPr lang="zh-CN" altLang="en-US" sz="2000" b="1" kern="0" dirty="0">
                <a:solidFill>
                  <a:srgbClr val="0000FF"/>
                </a:solidFill>
                <a:latin typeface="黑体" pitchFamily="49" charset="-122"/>
                <a:ea typeface="黑体" pitchFamily="49" charset="-122"/>
                <a:cs typeface="+mj-cs"/>
              </a:rPr>
              <a:t>资本（</a:t>
            </a:r>
            <a:r>
              <a:rPr lang="en-US" altLang="zh-CN" sz="2000" b="1" kern="0" dirty="0">
                <a:solidFill>
                  <a:srgbClr val="0000FF"/>
                </a:solidFill>
                <a:latin typeface="黑体" pitchFamily="49" charset="-122"/>
                <a:ea typeface="黑体" pitchFamily="49" charset="-122"/>
                <a:cs typeface="+mj-cs"/>
              </a:rPr>
              <a:t>t</a:t>
            </a:r>
            <a:r>
              <a:rPr lang="zh-CN" altLang="en-US" sz="2000" b="1" kern="0" dirty="0">
                <a:solidFill>
                  <a:srgbClr val="0000FF"/>
                </a:solidFill>
                <a:latin typeface="黑体" pitchFamily="49" charset="-122"/>
                <a:ea typeface="黑体" pitchFamily="49" charset="-122"/>
                <a:cs typeface="+mj-cs"/>
              </a:rPr>
              <a:t>年初）增长方程</a:t>
            </a:r>
            <a:endParaRPr lang="en-AU" sz="2000" b="1" kern="0" dirty="0">
              <a:solidFill>
                <a:srgbClr val="0000FF"/>
              </a:solidFill>
              <a:latin typeface="黑体" pitchFamily="49" charset="-122"/>
              <a:ea typeface="黑体" pitchFamily="49" charset="-122"/>
              <a:cs typeface="+mj-cs"/>
            </a:endParaRPr>
          </a:p>
        </p:txBody>
      </p:sp>
      <p:graphicFrame>
        <p:nvGraphicFramePr>
          <p:cNvPr id="5125" name="Object 5"/>
          <p:cNvGraphicFramePr>
            <a:graphicFrameLocks noChangeAspect="1"/>
          </p:cNvGraphicFramePr>
          <p:nvPr/>
        </p:nvGraphicFramePr>
        <p:xfrm>
          <a:off x="4397375" y="1492250"/>
          <a:ext cx="4141788" cy="1041400"/>
        </p:xfrm>
        <a:graphic>
          <a:graphicData uri="http://schemas.openxmlformats.org/presentationml/2006/ole">
            <mc:AlternateContent xmlns:mc="http://schemas.openxmlformats.org/markup-compatibility/2006">
              <mc:Choice xmlns:v="urn:schemas-microsoft-com:vml" Requires="v">
                <p:oleObj name="Equation" r:id="rId8" imgW="3225600" imgH="761760" progId="Equation.DSMT4">
                  <p:embed/>
                </p:oleObj>
              </mc:Choice>
              <mc:Fallback>
                <p:oleObj name="Equation" r:id="rId8" imgW="3225600" imgH="76176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97375" y="1492250"/>
                        <a:ext cx="4141788"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4695" name="Object 9"/>
          <p:cNvGraphicFramePr>
            <a:graphicFrameLocks noChangeAspect="1"/>
          </p:cNvGraphicFramePr>
          <p:nvPr/>
        </p:nvGraphicFramePr>
        <p:xfrm>
          <a:off x="1071538" y="5591175"/>
          <a:ext cx="7888288" cy="1266825"/>
        </p:xfrm>
        <a:graphic>
          <a:graphicData uri="http://schemas.openxmlformats.org/presentationml/2006/ole">
            <mc:AlternateContent xmlns:mc="http://schemas.openxmlformats.org/markup-compatibility/2006">
              <mc:Choice xmlns:v="urn:schemas-microsoft-com:vml" Requires="v">
                <p:oleObj name="Equation" r:id="rId10" imgW="7251480" imgH="1091880" progId="Equation.DSMT4">
                  <p:embed/>
                </p:oleObj>
              </mc:Choice>
              <mc:Fallback>
                <p:oleObj name="Equation" r:id="rId10" imgW="7251480" imgH="1091880" progId="Equation.DSMT4">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71538" y="5591175"/>
                        <a:ext cx="7888288" cy="1266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4"/>
          <p:cNvSpPr>
            <a:spLocks noGrp="1" noChangeArrowheads="1"/>
          </p:cNvSpPr>
          <p:nvPr>
            <p:ph type="title"/>
          </p:nvPr>
        </p:nvSpPr>
        <p:spPr>
          <a:xfrm>
            <a:off x="107950" y="115888"/>
            <a:ext cx="8464578" cy="1098534"/>
          </a:xfrm>
        </p:spPr>
        <p:txBody>
          <a:bodyPr>
            <a:normAutofit fontScale="90000"/>
          </a:bodyPr>
          <a:lstStyle/>
          <a:p>
            <a:r>
              <a:rPr lang="zh-CN" altLang="en-US" sz="3600" b="1" dirty="0">
                <a:solidFill>
                  <a:srgbClr val="FF0000"/>
                </a:solidFill>
                <a:latin typeface="黑体" pitchFamily="49" charset="-122"/>
                <a:ea typeface="黑体" pitchFamily="49" charset="-122"/>
              </a:rPr>
              <a:t>定义预期收益率</a:t>
            </a:r>
            <a:br>
              <a:rPr lang="en-US" altLang="zh-CN" sz="3600" b="1" dirty="0">
                <a:solidFill>
                  <a:srgbClr val="FF0000"/>
                </a:solidFill>
                <a:latin typeface="黑体" pitchFamily="49" charset="-122"/>
                <a:ea typeface="黑体" pitchFamily="49" charset="-122"/>
              </a:rPr>
            </a:br>
            <a:r>
              <a:rPr lang="zh-CN" altLang="en-US" sz="3600" b="1" dirty="0">
                <a:solidFill>
                  <a:srgbClr val="0000FF"/>
                </a:solidFill>
                <a:latin typeface="黑体" pitchFamily="49" charset="-122"/>
                <a:ea typeface="黑体" pitchFamily="49" charset="-122"/>
              </a:rPr>
              <a:t>（</a:t>
            </a:r>
            <a:r>
              <a:rPr lang="en-US" altLang="zh-CN" sz="3600" b="1" dirty="0">
                <a:solidFill>
                  <a:srgbClr val="0000FF"/>
                </a:solidFill>
                <a:latin typeface="黑体" pitchFamily="49" charset="-122"/>
                <a:ea typeface="黑体" pitchFamily="49" charset="-122"/>
              </a:rPr>
              <a:t>2</a:t>
            </a:r>
            <a:r>
              <a:rPr lang="zh-CN" altLang="en-US" sz="3600" b="1" dirty="0">
                <a:solidFill>
                  <a:srgbClr val="0000FF"/>
                </a:solidFill>
                <a:latin typeface="黑体" pitchFamily="49" charset="-122"/>
                <a:ea typeface="黑体" pitchFamily="49" charset="-122"/>
              </a:rPr>
              <a:t>代表投资部门，</a:t>
            </a:r>
            <a:r>
              <a:rPr lang="en-US" altLang="zh-CN" sz="3600" b="1" dirty="0">
                <a:solidFill>
                  <a:srgbClr val="0000FF"/>
                </a:solidFill>
                <a:latin typeface="黑体" pitchFamily="49" charset="-122"/>
                <a:ea typeface="黑体" pitchFamily="49" charset="-122"/>
              </a:rPr>
              <a:t>1</a:t>
            </a:r>
            <a:r>
              <a:rPr lang="zh-CN" altLang="en-US" sz="3600" b="1" dirty="0">
                <a:solidFill>
                  <a:srgbClr val="0000FF"/>
                </a:solidFill>
                <a:latin typeface="黑体" pitchFamily="49" charset="-122"/>
                <a:ea typeface="黑体" pitchFamily="49" charset="-122"/>
              </a:rPr>
              <a:t>代表生产部门）</a:t>
            </a:r>
            <a:endParaRPr lang="en-US" altLang="zh-CN" sz="3600" b="1" dirty="0">
              <a:solidFill>
                <a:srgbClr val="0000FF"/>
              </a:solidFill>
              <a:latin typeface="黑体" pitchFamily="49" charset="-122"/>
              <a:ea typeface="黑体" pitchFamily="49" charset="-122"/>
            </a:endParaRPr>
          </a:p>
        </p:txBody>
      </p:sp>
      <p:sp>
        <p:nvSpPr>
          <p:cNvPr id="8198" name="Rectangle 6" descr="Large checker board"/>
          <p:cNvSpPr>
            <a:spLocks noChangeArrowheads="1"/>
          </p:cNvSpPr>
          <p:nvPr/>
        </p:nvSpPr>
        <p:spPr bwMode="auto">
          <a:xfrm>
            <a:off x="0" y="2728913"/>
            <a:ext cx="9144000" cy="0"/>
          </a:xfrm>
          <a:prstGeom prst="rect">
            <a:avLst/>
          </a:prstGeom>
          <a:noFill/>
          <a:ln w="12700">
            <a:noFill/>
            <a:miter lim="800000"/>
            <a:headEnd type="none" w="sm" len="sm"/>
            <a:tailEnd type="none" w="sm" len="sm"/>
          </a:ln>
        </p:spPr>
        <p:txBody>
          <a:bodyPr wrap="none" anchor="ctr">
            <a:spAutoFit/>
          </a:bodyPr>
          <a:lstStyle/>
          <a:p>
            <a:pPr eaLnBrk="0" hangingPunct="0"/>
            <a:endParaRPr lang="en-AU"/>
          </a:p>
        </p:txBody>
      </p:sp>
      <p:graphicFrame>
        <p:nvGraphicFramePr>
          <p:cNvPr id="8194" name="Object 5"/>
          <p:cNvGraphicFramePr>
            <a:graphicFrameLocks noChangeAspect="1"/>
          </p:cNvGraphicFramePr>
          <p:nvPr/>
        </p:nvGraphicFramePr>
        <p:xfrm>
          <a:off x="528638" y="1587500"/>
          <a:ext cx="7921625" cy="784225"/>
        </p:xfrm>
        <a:graphic>
          <a:graphicData uri="http://schemas.openxmlformats.org/presentationml/2006/ole">
            <mc:AlternateContent xmlns:mc="http://schemas.openxmlformats.org/markup-compatibility/2006">
              <mc:Choice xmlns:v="urn:schemas-microsoft-com:vml" Requires="v">
                <p:oleObj name="Equation" r:id="rId2" imgW="6730920" imgH="622080" progId="Equation.DSMT4">
                  <p:embed/>
                </p:oleObj>
              </mc:Choice>
              <mc:Fallback>
                <p:oleObj name="Equation" r:id="rId2" imgW="6730920" imgH="62208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638" y="1587500"/>
                        <a:ext cx="7921625"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9" name="Rectangle 8" descr="Large checker board"/>
          <p:cNvSpPr>
            <a:spLocks noChangeArrowheads="1"/>
          </p:cNvSpPr>
          <p:nvPr/>
        </p:nvSpPr>
        <p:spPr bwMode="auto">
          <a:xfrm>
            <a:off x="0" y="3009900"/>
            <a:ext cx="9144000" cy="0"/>
          </a:xfrm>
          <a:prstGeom prst="rect">
            <a:avLst/>
          </a:prstGeom>
          <a:noFill/>
          <a:ln w="12700">
            <a:noFill/>
            <a:miter lim="800000"/>
            <a:headEnd type="none" w="sm" len="sm"/>
            <a:tailEnd type="none" w="sm" len="sm"/>
          </a:ln>
        </p:spPr>
        <p:txBody>
          <a:bodyPr wrap="none" anchor="ctr">
            <a:spAutoFit/>
          </a:bodyPr>
          <a:lstStyle/>
          <a:p>
            <a:pPr eaLnBrk="0" hangingPunct="0"/>
            <a:endParaRPr lang="en-AU"/>
          </a:p>
        </p:txBody>
      </p:sp>
      <p:graphicFrame>
        <p:nvGraphicFramePr>
          <p:cNvPr id="8195" name="Object 7"/>
          <p:cNvGraphicFramePr>
            <a:graphicFrameLocks noChangeAspect="1"/>
          </p:cNvGraphicFramePr>
          <p:nvPr/>
        </p:nvGraphicFramePr>
        <p:xfrm>
          <a:off x="552450" y="3021013"/>
          <a:ext cx="2590800" cy="1082675"/>
        </p:xfrm>
        <a:graphic>
          <a:graphicData uri="http://schemas.openxmlformats.org/presentationml/2006/ole">
            <mc:AlternateContent xmlns:mc="http://schemas.openxmlformats.org/markup-compatibility/2006">
              <mc:Choice xmlns:v="urn:schemas-microsoft-com:vml" Requires="v">
                <p:oleObj name="Equation" r:id="rId4" imgW="2273040" imgH="888840" progId="Equation.DSMT4">
                  <p:embed/>
                </p:oleObj>
              </mc:Choice>
              <mc:Fallback>
                <p:oleObj name="Equation" r:id="rId4" imgW="2273040" imgH="88884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2450" y="3021013"/>
                        <a:ext cx="2590800" cy="1082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0" name="Rectangle 10" descr="Large checker board"/>
          <p:cNvSpPr>
            <a:spLocks noChangeArrowheads="1"/>
          </p:cNvSpPr>
          <p:nvPr/>
        </p:nvSpPr>
        <p:spPr bwMode="auto">
          <a:xfrm>
            <a:off x="0" y="2433638"/>
            <a:ext cx="9144000" cy="0"/>
          </a:xfrm>
          <a:prstGeom prst="rect">
            <a:avLst/>
          </a:prstGeom>
          <a:noFill/>
          <a:ln w="12700">
            <a:noFill/>
            <a:miter lim="800000"/>
            <a:headEnd type="none" w="sm" len="sm"/>
            <a:tailEnd type="none" w="sm" len="sm"/>
          </a:ln>
        </p:spPr>
        <p:txBody>
          <a:bodyPr wrap="none" anchor="ctr">
            <a:spAutoFit/>
          </a:bodyPr>
          <a:lstStyle/>
          <a:p>
            <a:pPr eaLnBrk="0" hangingPunct="0"/>
            <a:endParaRPr lang="en-AU"/>
          </a:p>
        </p:txBody>
      </p:sp>
      <p:graphicFrame>
        <p:nvGraphicFramePr>
          <p:cNvPr id="8196" name="Object 9"/>
          <p:cNvGraphicFramePr>
            <a:graphicFrameLocks noChangeAspect="1"/>
          </p:cNvGraphicFramePr>
          <p:nvPr/>
        </p:nvGraphicFramePr>
        <p:xfrm>
          <a:off x="612775" y="4814888"/>
          <a:ext cx="7888288" cy="1266825"/>
        </p:xfrm>
        <a:graphic>
          <a:graphicData uri="http://schemas.openxmlformats.org/presentationml/2006/ole">
            <mc:AlternateContent xmlns:mc="http://schemas.openxmlformats.org/markup-compatibility/2006">
              <mc:Choice xmlns:v="urn:schemas-microsoft-com:vml" Requires="v">
                <p:oleObj name="Equation" r:id="rId6" imgW="7251480" imgH="1091880" progId="Equation.DSMT4">
                  <p:embed/>
                </p:oleObj>
              </mc:Choice>
              <mc:Fallback>
                <p:oleObj name="Equation" r:id="rId6" imgW="7251480" imgH="1091880"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2775" y="4814888"/>
                        <a:ext cx="7888288" cy="1266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2" descr="Large checker board"/>
          <p:cNvPicPr>
            <a:picLocks noChangeAspect="1" noChangeArrowheads="1"/>
          </p:cNvPicPr>
          <p:nvPr/>
        </p:nvPicPr>
        <p:blipFill>
          <a:blip r:embed="rId2"/>
          <a:srcRect/>
          <a:stretch>
            <a:fillRect/>
          </a:stretch>
        </p:blipFill>
        <p:spPr bwMode="auto">
          <a:xfrm>
            <a:off x="1571625" y="1143000"/>
            <a:ext cx="5575300" cy="5946775"/>
          </a:xfrm>
          <a:prstGeom prst="rect">
            <a:avLst/>
          </a:prstGeom>
          <a:noFill/>
          <a:ln w="12700">
            <a:noFill/>
            <a:miter lim="800000"/>
            <a:headEnd type="none" w="sm" len="sm"/>
            <a:tailEnd type="none" w="sm" len="sm"/>
          </a:ln>
        </p:spPr>
      </p:pic>
      <p:graphicFrame>
        <p:nvGraphicFramePr>
          <p:cNvPr id="7170" name="Object 3"/>
          <p:cNvGraphicFramePr>
            <a:graphicFrameLocks noChangeAspect="1"/>
          </p:cNvGraphicFramePr>
          <p:nvPr/>
        </p:nvGraphicFramePr>
        <p:xfrm>
          <a:off x="285750" y="285750"/>
          <a:ext cx="3317875" cy="558800"/>
        </p:xfrm>
        <a:graphic>
          <a:graphicData uri="http://schemas.openxmlformats.org/presentationml/2006/ole">
            <mc:AlternateContent xmlns:mc="http://schemas.openxmlformats.org/markup-compatibility/2006">
              <mc:Choice xmlns:v="urn:schemas-microsoft-com:vml" Requires="v">
                <p:oleObj name="Equation" r:id="rId3" imgW="2184120" imgH="368280" progId="Equation.DSMT4">
                  <p:embed/>
                </p:oleObj>
              </mc:Choice>
              <mc:Fallback>
                <p:oleObj name="Equation" r:id="rId3" imgW="2184120" imgH="36828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50" y="285750"/>
                        <a:ext cx="3317875" cy="5588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8596" y="1643050"/>
            <a:ext cx="8229600" cy="1143000"/>
          </a:xfrm>
        </p:spPr>
        <p:txBody>
          <a:bodyPr>
            <a:normAutofit/>
          </a:bodyPr>
          <a:lstStyle/>
          <a:p>
            <a:r>
              <a:rPr lang="zh-CN" altLang="en-US" sz="4000" dirty="0">
                <a:solidFill>
                  <a:srgbClr val="FF0000"/>
                </a:solidFill>
                <a:latin typeface="黑体" pitchFamily="49" charset="-122"/>
                <a:ea typeface="黑体" pitchFamily="49" charset="-122"/>
              </a:rPr>
              <a:t>劳动力供给变化</a:t>
            </a:r>
          </a:p>
        </p:txBody>
      </p:sp>
      <p:sp>
        <p:nvSpPr>
          <p:cNvPr id="3" name="日期占位符 2"/>
          <p:cNvSpPr>
            <a:spLocks noGrp="1"/>
          </p:cNvSpPr>
          <p:nvPr>
            <p:ph type="dt" sz="half" idx="10"/>
          </p:nvPr>
        </p:nvSpPr>
        <p:spPr/>
        <p:txBody>
          <a:bodyPr/>
          <a:lstStyle/>
          <a:p>
            <a:fld id="{C6B8F2EF-5256-419E-9E16-E117EA0624FC}" type="datetimeFigureOut">
              <a:rPr lang="zh-CN" altLang="en-US" smtClean="0"/>
              <a:pPr/>
              <a:t>2021/5/27</a:t>
            </a:fld>
            <a:endParaRPr lang="zh-CN" altLang="en-US"/>
          </a:p>
        </p:txBody>
      </p:sp>
      <p:sp>
        <p:nvSpPr>
          <p:cNvPr id="4" name="灯片编号占位符 3"/>
          <p:cNvSpPr>
            <a:spLocks noGrp="1"/>
          </p:cNvSpPr>
          <p:nvPr>
            <p:ph type="sldNum" sz="quarter" idx="12"/>
          </p:nvPr>
        </p:nvSpPr>
        <p:spPr/>
        <p:txBody>
          <a:bodyPr/>
          <a:lstStyle/>
          <a:p>
            <a:fld id="{C8D0647B-24A2-46AB-A27A-847EF503E68C}" type="slidenum">
              <a:rPr lang="zh-CN" altLang="en-US" smtClean="0"/>
              <a:pPr/>
              <a:t>31</a:t>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214282" y="285728"/>
            <a:ext cx="7772400" cy="795338"/>
          </a:xfrm>
        </p:spPr>
        <p:txBody>
          <a:bodyPr>
            <a:normAutofit/>
          </a:bodyPr>
          <a:lstStyle/>
          <a:p>
            <a:r>
              <a:rPr lang="zh-CN" altLang="en-US" sz="3200" dirty="0">
                <a:solidFill>
                  <a:srgbClr val="FF0000"/>
                </a:solidFill>
                <a:latin typeface="黑体" pitchFamily="49" charset="-122"/>
                <a:ea typeface="黑体" pitchFamily="49" charset="-122"/>
              </a:rPr>
              <a:t>工资和就业在模型分析中的设置</a:t>
            </a:r>
            <a:endParaRPr lang="en-US" altLang="zh-CN" sz="3200" dirty="0">
              <a:solidFill>
                <a:srgbClr val="FF0000"/>
              </a:solidFill>
              <a:latin typeface="黑体" pitchFamily="49" charset="-122"/>
              <a:ea typeface="黑体" pitchFamily="49" charset="-122"/>
            </a:endParaRPr>
          </a:p>
        </p:txBody>
      </p:sp>
      <p:sp>
        <p:nvSpPr>
          <p:cNvPr id="31747" name="Rectangle 3"/>
          <p:cNvSpPr>
            <a:spLocks noGrp="1" noChangeArrowheads="1"/>
          </p:cNvSpPr>
          <p:nvPr>
            <p:ph type="body" idx="1"/>
          </p:nvPr>
        </p:nvSpPr>
        <p:spPr>
          <a:xfrm>
            <a:off x="642910" y="1292225"/>
            <a:ext cx="8032778" cy="5111750"/>
          </a:xfrm>
        </p:spPr>
        <p:txBody>
          <a:bodyPr/>
          <a:lstStyle/>
          <a:p>
            <a:pPr marL="355600" indent="-355600">
              <a:buClr>
                <a:srgbClr val="10253F"/>
              </a:buClr>
              <a:buFontTx/>
              <a:buNone/>
            </a:pPr>
            <a:r>
              <a:rPr lang="en-US" altLang="zh-CN" sz="2800" dirty="0"/>
              <a:t>	</a:t>
            </a:r>
            <a:r>
              <a:rPr lang="zh-CN" altLang="en-US" sz="2800" b="1" dirty="0">
                <a:solidFill>
                  <a:srgbClr val="0000FF"/>
                </a:solidFill>
              </a:rPr>
              <a:t>长期就业情况取决于人口变化</a:t>
            </a:r>
            <a:r>
              <a:rPr lang="en-US" altLang="zh-CN" sz="2800" b="1" dirty="0">
                <a:solidFill>
                  <a:srgbClr val="0000FF"/>
                </a:solidFill>
                <a:latin typeface="Arial Narrow" pitchFamily="34" charset="0"/>
              </a:rPr>
              <a:t>.</a:t>
            </a:r>
          </a:p>
          <a:p>
            <a:pPr marL="355600" indent="-355600">
              <a:spcBef>
                <a:spcPts val="3000"/>
              </a:spcBef>
              <a:buClr>
                <a:srgbClr val="10253F"/>
              </a:buClr>
              <a:buFontTx/>
              <a:buNone/>
            </a:pPr>
            <a:r>
              <a:rPr lang="zh-CN" altLang="en-US" sz="2800" dirty="0">
                <a:solidFill>
                  <a:srgbClr val="008000"/>
                </a:solidFill>
                <a:latin typeface="Arial Narrow" pitchFamily="34" charset="0"/>
              </a:rPr>
              <a:t>静态分析</a:t>
            </a:r>
            <a:r>
              <a:rPr lang="en-US" altLang="zh-CN" sz="2800" dirty="0">
                <a:solidFill>
                  <a:srgbClr val="008000"/>
                </a:solidFill>
                <a:latin typeface="Arial Narrow" pitchFamily="34" charset="0"/>
              </a:rPr>
              <a:t>:</a:t>
            </a:r>
            <a:r>
              <a:rPr lang="en-US" altLang="zh-CN" sz="2800" dirty="0">
                <a:latin typeface="Arial Narrow" pitchFamily="34" charset="0"/>
              </a:rPr>
              <a:t> </a:t>
            </a:r>
          </a:p>
          <a:p>
            <a:pPr marL="755650" lvl="1" indent="-355600">
              <a:buClr>
                <a:srgbClr val="10253F"/>
              </a:buClr>
              <a:buFont typeface="Calisto MT" pitchFamily="18" charset="0"/>
              <a:buChar char="–"/>
            </a:pPr>
            <a:r>
              <a:rPr lang="zh-CN" altLang="en-US" sz="2400" b="1" dirty="0">
                <a:solidFill>
                  <a:srgbClr val="C00000"/>
                </a:solidFill>
                <a:latin typeface="黑体" pitchFamily="49" charset="-122"/>
                <a:ea typeface="黑体" pitchFamily="49" charset="-122"/>
              </a:rPr>
              <a:t>短期：名义工资不变，就业调整（失业）</a:t>
            </a:r>
            <a:r>
              <a:rPr lang="en-US" altLang="zh-CN" sz="2400" b="1" dirty="0">
                <a:solidFill>
                  <a:srgbClr val="C00000"/>
                </a:solidFill>
                <a:latin typeface="黑体" pitchFamily="49" charset="-122"/>
                <a:ea typeface="黑体" pitchFamily="49" charset="-122"/>
              </a:rPr>
              <a:t>. </a:t>
            </a:r>
          </a:p>
          <a:p>
            <a:pPr marL="755650" lvl="1" indent="-355600">
              <a:buClr>
                <a:srgbClr val="10253F"/>
              </a:buClr>
              <a:buFont typeface="Calisto MT" pitchFamily="18" charset="0"/>
              <a:buChar char="–"/>
            </a:pPr>
            <a:r>
              <a:rPr lang="zh-CN" altLang="en-US" sz="2400" b="1" dirty="0">
                <a:solidFill>
                  <a:srgbClr val="C00000"/>
                </a:solidFill>
                <a:latin typeface="黑体" pitchFamily="49" charset="-122"/>
                <a:ea typeface="黑体" pitchFamily="49" charset="-122"/>
              </a:rPr>
              <a:t>长期：充分就业，工资进行调整</a:t>
            </a:r>
            <a:endParaRPr lang="en-US" altLang="zh-CN" sz="2400" b="1" dirty="0">
              <a:solidFill>
                <a:srgbClr val="C00000"/>
              </a:solidFill>
              <a:latin typeface="黑体" pitchFamily="49" charset="-122"/>
              <a:ea typeface="黑体" pitchFamily="49" charset="-122"/>
            </a:endParaRPr>
          </a:p>
          <a:p>
            <a:pPr marL="355600" indent="-355600">
              <a:spcBef>
                <a:spcPts val="3000"/>
              </a:spcBef>
              <a:buClr>
                <a:srgbClr val="10253F"/>
              </a:buClr>
              <a:buFontTx/>
              <a:buNone/>
            </a:pPr>
            <a:r>
              <a:rPr lang="zh-CN" altLang="en-US" sz="2800" dirty="0">
                <a:solidFill>
                  <a:srgbClr val="008000"/>
                </a:solidFill>
                <a:latin typeface="Arial Narrow" pitchFamily="34" charset="0"/>
              </a:rPr>
              <a:t>动态分析</a:t>
            </a:r>
            <a:r>
              <a:rPr lang="en-AU" sz="2800" dirty="0">
                <a:solidFill>
                  <a:srgbClr val="008000"/>
                </a:solidFill>
                <a:latin typeface="Arial Narrow" pitchFamily="34" charset="0"/>
              </a:rPr>
              <a:t>:</a:t>
            </a:r>
            <a:endParaRPr lang="en-US" altLang="zh-CN" sz="2800" dirty="0">
              <a:solidFill>
                <a:srgbClr val="008000"/>
              </a:solidFill>
              <a:latin typeface="Arial Narrow" pitchFamily="34" charset="0"/>
            </a:endParaRPr>
          </a:p>
          <a:p>
            <a:pPr marL="755650" lvl="1" indent="-355600">
              <a:buClr>
                <a:srgbClr val="10253F"/>
              </a:buClr>
              <a:buFont typeface="Calisto MT" pitchFamily="18" charset="0"/>
              <a:buChar char="–"/>
            </a:pPr>
            <a:r>
              <a:rPr lang="zh-CN" altLang="en-US" b="1" dirty="0">
                <a:solidFill>
                  <a:srgbClr val="C00000"/>
                </a:solidFill>
                <a:latin typeface="黑体" pitchFamily="49" charset="-122"/>
                <a:ea typeface="黑体" pitchFamily="49" charset="-122"/>
              </a:rPr>
              <a:t>短期存在工资刚性，长期可以充分调整，实现充分就业。</a:t>
            </a:r>
            <a:endParaRPr lang="en-US" altLang="zh-CN" b="1" dirty="0">
              <a:solidFill>
                <a:srgbClr val="C00000"/>
              </a:solidFill>
              <a:latin typeface="黑体" pitchFamily="49" charset="-122"/>
              <a:ea typeface="黑体" pitchFamily="49"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179388" y="44450"/>
            <a:ext cx="7993062" cy="936625"/>
          </a:xfrm>
        </p:spPr>
        <p:txBody>
          <a:bodyPr>
            <a:normAutofit/>
          </a:bodyPr>
          <a:lstStyle/>
          <a:p>
            <a:r>
              <a:rPr lang="zh-CN" altLang="en-US" sz="3200" dirty="0">
                <a:solidFill>
                  <a:srgbClr val="C00000"/>
                </a:solidFill>
                <a:latin typeface="黑体" pitchFamily="49" charset="-122"/>
                <a:ea typeface="黑体" pitchFamily="49" charset="-122"/>
              </a:rPr>
              <a:t>也就是说就业在长期将回到其基期情况</a:t>
            </a:r>
            <a:endParaRPr lang="en-US" altLang="zh-CN" sz="3200" dirty="0">
              <a:solidFill>
                <a:srgbClr val="C00000"/>
              </a:solidFill>
              <a:latin typeface="黑体" pitchFamily="49" charset="-122"/>
              <a:ea typeface="黑体" pitchFamily="49" charset="-122"/>
            </a:endParaRPr>
          </a:p>
        </p:txBody>
      </p:sp>
      <p:sp>
        <p:nvSpPr>
          <p:cNvPr id="84995" name="Text Box 3"/>
          <p:cNvSpPr txBox="1">
            <a:spLocks noChangeArrowheads="1"/>
          </p:cNvSpPr>
          <p:nvPr/>
        </p:nvSpPr>
        <p:spPr bwMode="auto">
          <a:xfrm>
            <a:off x="2836863" y="5740400"/>
            <a:ext cx="704850" cy="304800"/>
          </a:xfrm>
          <a:prstGeom prst="rect">
            <a:avLst/>
          </a:prstGeom>
          <a:noFill/>
          <a:ln w="9525">
            <a:noFill/>
            <a:miter lim="800000"/>
            <a:headEnd/>
            <a:tailEnd/>
          </a:ln>
        </p:spPr>
        <p:txBody>
          <a:bodyPr>
            <a:spAutoFit/>
          </a:bodyPr>
          <a:lstStyle/>
          <a:p>
            <a:pPr eaLnBrk="0" hangingPunct="0"/>
            <a:r>
              <a:rPr lang="en-AU" sz="1400" b="1"/>
              <a:t>2007</a:t>
            </a:r>
          </a:p>
        </p:txBody>
      </p:sp>
      <p:sp>
        <p:nvSpPr>
          <p:cNvPr id="84996" name="Line 4"/>
          <p:cNvSpPr>
            <a:spLocks noChangeShapeType="1"/>
          </p:cNvSpPr>
          <p:nvPr/>
        </p:nvSpPr>
        <p:spPr bwMode="auto">
          <a:xfrm>
            <a:off x="971550" y="5589588"/>
            <a:ext cx="6913563" cy="0"/>
          </a:xfrm>
          <a:prstGeom prst="line">
            <a:avLst/>
          </a:prstGeom>
          <a:noFill/>
          <a:ln w="25400">
            <a:solidFill>
              <a:schemeClr val="tx1"/>
            </a:solidFill>
            <a:round/>
            <a:headEnd/>
            <a:tailEnd type="triangle" w="med" len="med"/>
          </a:ln>
        </p:spPr>
        <p:txBody>
          <a:bodyPr/>
          <a:lstStyle/>
          <a:p>
            <a:endParaRPr lang="zh-CN" altLang="en-US"/>
          </a:p>
        </p:txBody>
      </p:sp>
      <p:sp>
        <p:nvSpPr>
          <p:cNvPr id="84997" name="Line 5"/>
          <p:cNvSpPr>
            <a:spLocks noChangeShapeType="1"/>
          </p:cNvSpPr>
          <p:nvPr/>
        </p:nvSpPr>
        <p:spPr bwMode="auto">
          <a:xfrm flipV="1">
            <a:off x="3132138" y="1557338"/>
            <a:ext cx="0" cy="4032250"/>
          </a:xfrm>
          <a:prstGeom prst="line">
            <a:avLst/>
          </a:prstGeom>
          <a:noFill/>
          <a:ln w="25400">
            <a:solidFill>
              <a:schemeClr val="tx1"/>
            </a:solidFill>
            <a:round/>
            <a:headEnd/>
            <a:tailEnd/>
          </a:ln>
        </p:spPr>
        <p:txBody>
          <a:bodyPr/>
          <a:lstStyle/>
          <a:p>
            <a:endParaRPr lang="zh-CN" altLang="en-US"/>
          </a:p>
        </p:txBody>
      </p:sp>
      <p:sp>
        <p:nvSpPr>
          <p:cNvPr id="84998" name="Text Box 6"/>
          <p:cNvSpPr txBox="1">
            <a:spLocks noChangeArrowheads="1"/>
          </p:cNvSpPr>
          <p:nvPr/>
        </p:nvSpPr>
        <p:spPr bwMode="auto">
          <a:xfrm>
            <a:off x="2981325" y="1239838"/>
            <a:ext cx="569913" cy="366712"/>
          </a:xfrm>
          <a:prstGeom prst="rect">
            <a:avLst/>
          </a:prstGeom>
          <a:noFill/>
          <a:ln w="9525">
            <a:noFill/>
            <a:miter lim="800000"/>
            <a:headEnd/>
            <a:tailEnd/>
          </a:ln>
        </p:spPr>
        <p:txBody>
          <a:bodyPr>
            <a:spAutoFit/>
          </a:bodyPr>
          <a:lstStyle/>
          <a:p>
            <a:pPr eaLnBrk="0" hangingPunct="0">
              <a:spcBef>
                <a:spcPct val="50000"/>
              </a:spcBef>
            </a:pPr>
            <a:r>
              <a:rPr lang="en-US" altLang="zh-CN"/>
              <a:t>L</a:t>
            </a:r>
          </a:p>
        </p:txBody>
      </p:sp>
      <p:sp>
        <p:nvSpPr>
          <p:cNvPr id="84999" name="Line 11"/>
          <p:cNvSpPr>
            <a:spLocks noChangeShapeType="1"/>
          </p:cNvSpPr>
          <p:nvPr/>
        </p:nvSpPr>
        <p:spPr bwMode="auto">
          <a:xfrm flipH="1" flipV="1">
            <a:off x="4424363" y="2117725"/>
            <a:ext cx="355600" cy="819150"/>
          </a:xfrm>
          <a:prstGeom prst="line">
            <a:avLst/>
          </a:prstGeom>
          <a:noFill/>
          <a:ln w="9525">
            <a:solidFill>
              <a:srgbClr val="FF0000"/>
            </a:solidFill>
            <a:round/>
            <a:headEnd type="stealth" w="med" len="med"/>
            <a:tailEnd/>
          </a:ln>
        </p:spPr>
        <p:txBody>
          <a:bodyPr/>
          <a:lstStyle/>
          <a:p>
            <a:endParaRPr lang="zh-CN" altLang="en-US"/>
          </a:p>
        </p:txBody>
      </p:sp>
      <p:sp>
        <p:nvSpPr>
          <p:cNvPr id="85000" name="Text Box 13"/>
          <p:cNvSpPr txBox="1">
            <a:spLocks noChangeArrowheads="1"/>
          </p:cNvSpPr>
          <p:nvPr/>
        </p:nvSpPr>
        <p:spPr bwMode="auto">
          <a:xfrm>
            <a:off x="3500438" y="1846263"/>
            <a:ext cx="2949575" cy="336550"/>
          </a:xfrm>
          <a:prstGeom prst="rect">
            <a:avLst/>
          </a:prstGeom>
          <a:noFill/>
          <a:ln w="9525">
            <a:noFill/>
            <a:miter lim="800000"/>
            <a:headEnd/>
            <a:tailEnd/>
          </a:ln>
        </p:spPr>
        <p:txBody>
          <a:bodyPr>
            <a:spAutoFit/>
          </a:bodyPr>
          <a:lstStyle/>
          <a:p>
            <a:pPr eaLnBrk="0" hangingPunct="0">
              <a:spcBef>
                <a:spcPct val="50000"/>
              </a:spcBef>
            </a:pPr>
            <a:r>
              <a:rPr lang="en-US" altLang="zh-CN" sz="1600"/>
              <a:t>Policy path for employment</a:t>
            </a:r>
          </a:p>
        </p:txBody>
      </p:sp>
      <p:sp>
        <p:nvSpPr>
          <p:cNvPr id="85001" name="Freeform 15"/>
          <p:cNvSpPr>
            <a:spLocks/>
          </p:cNvSpPr>
          <p:nvPr/>
        </p:nvSpPr>
        <p:spPr bwMode="auto">
          <a:xfrm>
            <a:off x="3159125" y="2770188"/>
            <a:ext cx="4376738" cy="966787"/>
          </a:xfrm>
          <a:custGeom>
            <a:avLst/>
            <a:gdLst>
              <a:gd name="T0" fmla="*/ 0 w 2757"/>
              <a:gd name="T1" fmla="*/ 2147483647 h 609"/>
              <a:gd name="T2" fmla="*/ 2147483647 w 2757"/>
              <a:gd name="T3" fmla="*/ 2147483647 h 609"/>
              <a:gd name="T4" fmla="*/ 2147483647 w 2757"/>
              <a:gd name="T5" fmla="*/ 2147483647 h 609"/>
              <a:gd name="T6" fmla="*/ 2147483647 w 2757"/>
              <a:gd name="T7" fmla="*/ 2147483647 h 609"/>
              <a:gd name="T8" fmla="*/ 2147483647 w 2757"/>
              <a:gd name="T9" fmla="*/ 2147483647 h 609"/>
              <a:gd name="T10" fmla="*/ 2147483647 w 2757"/>
              <a:gd name="T11" fmla="*/ 2147483647 h 609"/>
              <a:gd name="T12" fmla="*/ 2147483647 w 2757"/>
              <a:gd name="T13" fmla="*/ 0 h 609"/>
              <a:gd name="T14" fmla="*/ 0 60000 65536"/>
              <a:gd name="T15" fmla="*/ 0 60000 65536"/>
              <a:gd name="T16" fmla="*/ 0 60000 65536"/>
              <a:gd name="T17" fmla="*/ 0 60000 65536"/>
              <a:gd name="T18" fmla="*/ 0 60000 65536"/>
              <a:gd name="T19" fmla="*/ 0 60000 65536"/>
              <a:gd name="T20" fmla="*/ 0 60000 65536"/>
              <a:gd name="T21" fmla="*/ 0 w 2757"/>
              <a:gd name="T22" fmla="*/ 0 h 609"/>
              <a:gd name="T23" fmla="*/ 2757 w 2757"/>
              <a:gd name="T24" fmla="*/ 609 h 6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57" h="609">
                <a:moveTo>
                  <a:pt x="0" y="609"/>
                </a:moveTo>
                <a:cubicBezTo>
                  <a:pt x="61" y="585"/>
                  <a:pt x="195" y="500"/>
                  <a:pt x="363" y="467"/>
                </a:cubicBezTo>
                <a:cubicBezTo>
                  <a:pt x="531" y="434"/>
                  <a:pt x="836" y="447"/>
                  <a:pt x="1010" y="409"/>
                </a:cubicBezTo>
                <a:cubicBezTo>
                  <a:pt x="1184" y="371"/>
                  <a:pt x="1260" y="270"/>
                  <a:pt x="1406" y="237"/>
                </a:cubicBezTo>
                <a:cubicBezTo>
                  <a:pt x="1552" y="204"/>
                  <a:pt x="1761" y="233"/>
                  <a:pt x="1886" y="211"/>
                </a:cubicBezTo>
                <a:cubicBezTo>
                  <a:pt x="2011" y="189"/>
                  <a:pt x="2010" y="137"/>
                  <a:pt x="2155" y="102"/>
                </a:cubicBezTo>
                <a:cubicBezTo>
                  <a:pt x="2300" y="67"/>
                  <a:pt x="2632" y="21"/>
                  <a:pt x="2757" y="0"/>
                </a:cubicBezTo>
              </a:path>
            </a:pathLst>
          </a:custGeom>
          <a:noFill/>
          <a:ln w="12700">
            <a:solidFill>
              <a:srgbClr val="008000"/>
            </a:solidFill>
            <a:round/>
            <a:headEnd type="oval" w="med" len="med"/>
            <a:tailEnd type="triangle" w="med" len="med"/>
          </a:ln>
        </p:spPr>
        <p:txBody>
          <a:bodyPr/>
          <a:lstStyle/>
          <a:p>
            <a:endParaRPr lang="zh-CN" altLang="en-US"/>
          </a:p>
        </p:txBody>
      </p:sp>
      <p:sp>
        <p:nvSpPr>
          <p:cNvPr id="85002" name="Freeform 16"/>
          <p:cNvSpPr>
            <a:spLocks/>
          </p:cNvSpPr>
          <p:nvPr/>
        </p:nvSpPr>
        <p:spPr bwMode="auto">
          <a:xfrm>
            <a:off x="3149600" y="2890838"/>
            <a:ext cx="3235325" cy="847725"/>
          </a:xfrm>
          <a:custGeom>
            <a:avLst/>
            <a:gdLst>
              <a:gd name="T0" fmla="*/ 0 w 2038"/>
              <a:gd name="T1" fmla="*/ 2147483647 h 534"/>
              <a:gd name="T2" fmla="*/ 2147483647 w 2038"/>
              <a:gd name="T3" fmla="*/ 2147483647 h 534"/>
              <a:gd name="T4" fmla="*/ 2147483647 w 2038"/>
              <a:gd name="T5" fmla="*/ 2147483647 h 534"/>
              <a:gd name="T6" fmla="*/ 2147483647 w 2038"/>
              <a:gd name="T7" fmla="*/ 2147483647 h 534"/>
              <a:gd name="T8" fmla="*/ 2147483647 w 2038"/>
              <a:gd name="T9" fmla="*/ 2147483647 h 534"/>
              <a:gd name="T10" fmla="*/ 2147483647 w 2038"/>
              <a:gd name="T11" fmla="*/ 2147483647 h 534"/>
              <a:gd name="T12" fmla="*/ 0 60000 65536"/>
              <a:gd name="T13" fmla="*/ 0 60000 65536"/>
              <a:gd name="T14" fmla="*/ 0 60000 65536"/>
              <a:gd name="T15" fmla="*/ 0 60000 65536"/>
              <a:gd name="T16" fmla="*/ 0 60000 65536"/>
              <a:gd name="T17" fmla="*/ 0 60000 65536"/>
              <a:gd name="T18" fmla="*/ 0 w 2038"/>
              <a:gd name="T19" fmla="*/ 0 h 534"/>
              <a:gd name="T20" fmla="*/ 2038 w 2038"/>
              <a:gd name="T21" fmla="*/ 534 h 534"/>
            </a:gdLst>
            <a:ahLst/>
            <a:cxnLst>
              <a:cxn ang="T12">
                <a:pos x="T0" y="T1"/>
              </a:cxn>
              <a:cxn ang="T13">
                <a:pos x="T2" y="T3"/>
              </a:cxn>
              <a:cxn ang="T14">
                <a:pos x="T4" y="T5"/>
              </a:cxn>
              <a:cxn ang="T15">
                <a:pos x="T6" y="T7"/>
              </a:cxn>
              <a:cxn ang="T16">
                <a:pos x="T8" y="T9"/>
              </a:cxn>
              <a:cxn ang="T17">
                <a:pos x="T10" y="T11"/>
              </a:cxn>
            </a:cxnLst>
            <a:rect l="T18" t="T19" r="T20" b="T21"/>
            <a:pathLst>
              <a:path w="2038" h="534">
                <a:moveTo>
                  <a:pt x="0" y="534"/>
                </a:moveTo>
                <a:cubicBezTo>
                  <a:pt x="62" y="508"/>
                  <a:pt x="200" y="457"/>
                  <a:pt x="369" y="376"/>
                </a:cubicBezTo>
                <a:cubicBezTo>
                  <a:pt x="538" y="295"/>
                  <a:pt x="837" y="96"/>
                  <a:pt x="1014" y="48"/>
                </a:cubicBezTo>
                <a:cubicBezTo>
                  <a:pt x="1191" y="0"/>
                  <a:pt x="1290" y="76"/>
                  <a:pt x="1429" y="89"/>
                </a:cubicBezTo>
                <a:cubicBezTo>
                  <a:pt x="1568" y="102"/>
                  <a:pt x="1745" y="131"/>
                  <a:pt x="1846" y="128"/>
                </a:cubicBezTo>
                <a:cubicBezTo>
                  <a:pt x="1947" y="125"/>
                  <a:pt x="1998" y="80"/>
                  <a:pt x="2038" y="68"/>
                </a:cubicBezTo>
              </a:path>
            </a:pathLst>
          </a:custGeom>
          <a:noFill/>
          <a:ln w="12700">
            <a:solidFill>
              <a:srgbClr val="FF0000"/>
            </a:solidFill>
            <a:round/>
            <a:headEnd type="oval" w="med" len="med"/>
            <a:tailEnd type="triangle" w="med" len="med"/>
          </a:ln>
        </p:spPr>
        <p:txBody>
          <a:bodyPr/>
          <a:lstStyle/>
          <a:p>
            <a:endParaRPr lang="zh-CN" altLang="en-US"/>
          </a:p>
        </p:txBody>
      </p:sp>
      <p:sp>
        <p:nvSpPr>
          <p:cNvPr id="85003" name="Text Box 17"/>
          <p:cNvSpPr txBox="1">
            <a:spLocks noChangeArrowheads="1"/>
          </p:cNvSpPr>
          <p:nvPr/>
        </p:nvSpPr>
        <p:spPr bwMode="auto">
          <a:xfrm>
            <a:off x="4243388" y="3597275"/>
            <a:ext cx="3548062" cy="336550"/>
          </a:xfrm>
          <a:prstGeom prst="rect">
            <a:avLst/>
          </a:prstGeom>
          <a:noFill/>
          <a:ln w="9525">
            <a:noFill/>
            <a:miter lim="800000"/>
            <a:headEnd/>
            <a:tailEnd/>
          </a:ln>
        </p:spPr>
        <p:txBody>
          <a:bodyPr>
            <a:spAutoFit/>
          </a:bodyPr>
          <a:lstStyle/>
          <a:p>
            <a:pPr eaLnBrk="0" hangingPunct="0">
              <a:spcBef>
                <a:spcPct val="50000"/>
              </a:spcBef>
            </a:pPr>
            <a:r>
              <a:rPr lang="en-US" altLang="zh-CN" sz="1600">
                <a:solidFill>
                  <a:srgbClr val="008000"/>
                </a:solidFill>
              </a:rPr>
              <a:t>Base rerun employment path</a:t>
            </a:r>
          </a:p>
        </p:txBody>
      </p:sp>
      <p:sp>
        <p:nvSpPr>
          <p:cNvPr id="85004" name="Line 18"/>
          <p:cNvSpPr>
            <a:spLocks noChangeShapeType="1"/>
          </p:cNvSpPr>
          <p:nvPr/>
        </p:nvSpPr>
        <p:spPr bwMode="auto">
          <a:xfrm>
            <a:off x="5102225" y="3292475"/>
            <a:ext cx="523875" cy="423863"/>
          </a:xfrm>
          <a:prstGeom prst="line">
            <a:avLst/>
          </a:prstGeom>
          <a:noFill/>
          <a:ln w="9525">
            <a:solidFill>
              <a:srgbClr val="008000"/>
            </a:solidFill>
            <a:round/>
            <a:headEnd type="stealth" w="med" len="med"/>
            <a:tailEnd/>
          </a:ln>
        </p:spPr>
        <p:txBody>
          <a:bodyPr/>
          <a:lstStyle/>
          <a:p>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body" idx="1"/>
          </p:nvPr>
        </p:nvSpPr>
        <p:spPr>
          <a:xfrm>
            <a:off x="685800" y="1412875"/>
            <a:ext cx="7772400" cy="1676400"/>
          </a:xfrm>
        </p:spPr>
        <p:txBody>
          <a:bodyPr>
            <a:normAutofit fontScale="85000" lnSpcReduction="20000"/>
          </a:bodyPr>
          <a:lstStyle/>
          <a:p>
            <a:pPr marL="0" indent="0">
              <a:buFontTx/>
              <a:buNone/>
              <a:defRPr/>
            </a:pPr>
            <a:r>
              <a:rPr lang="en-AU" sz="2400" dirty="0">
                <a:latin typeface="Tahoma" pitchFamily="34" charset="0"/>
              </a:rPr>
              <a:t>Allow favourable (unfavourable) shocks to be expressed as:</a:t>
            </a:r>
          </a:p>
          <a:p>
            <a:pPr marL="569913" lvl="1">
              <a:defRPr/>
            </a:pPr>
            <a:r>
              <a:rPr lang="en-AU" sz="2000" i="1" u="sng" dirty="0">
                <a:latin typeface="Tahoma" pitchFamily="34" charset="0"/>
              </a:rPr>
              <a:t>short-run</a:t>
            </a:r>
            <a:r>
              <a:rPr lang="en-AU" sz="2000" dirty="0">
                <a:latin typeface="Tahoma" pitchFamily="34" charset="0"/>
              </a:rPr>
              <a:t> positive (negative) deviations in employment; </a:t>
            </a:r>
          </a:p>
          <a:p>
            <a:pPr marL="569913" lvl="1">
              <a:defRPr/>
            </a:pPr>
            <a:r>
              <a:rPr lang="en-AU" sz="2000" i="1" u="sng" dirty="0">
                <a:latin typeface="Tahoma" pitchFamily="34" charset="0"/>
              </a:rPr>
              <a:t>long-run</a:t>
            </a:r>
            <a:r>
              <a:rPr lang="en-AU" sz="2000" dirty="0">
                <a:latin typeface="Tahoma" pitchFamily="34" charset="0"/>
              </a:rPr>
              <a:t>  positive (negative) deviations in wages. </a:t>
            </a:r>
          </a:p>
          <a:p>
            <a:pPr marL="569913" lvl="1">
              <a:buFontTx/>
              <a:buNone/>
              <a:defRPr/>
            </a:pPr>
            <a:endParaRPr lang="en-AU" sz="2000" dirty="0">
              <a:latin typeface="Tahoma" pitchFamily="34" charset="0"/>
            </a:endParaRPr>
          </a:p>
          <a:p>
            <a:pPr marL="569913" lvl="1">
              <a:buFontTx/>
              <a:buNone/>
              <a:defRPr/>
            </a:pPr>
            <a:endParaRPr lang="en-AU" sz="2000" dirty="0">
              <a:latin typeface="Tahoma" pitchFamily="34" charset="0"/>
            </a:endParaRPr>
          </a:p>
          <a:p>
            <a:pPr marL="569913" lvl="1">
              <a:buFontTx/>
              <a:buNone/>
              <a:defRPr/>
            </a:pPr>
            <a:r>
              <a:rPr lang="en-AU" sz="2000" dirty="0">
                <a:latin typeface="Tahoma" pitchFamily="34" charset="0"/>
              </a:rPr>
              <a:t> </a:t>
            </a:r>
          </a:p>
          <a:p>
            <a:pPr marL="569913" lvl="1">
              <a:buFontTx/>
              <a:buNone/>
              <a:defRPr/>
            </a:pPr>
            <a:endParaRPr lang="en-AU" sz="2000" dirty="0">
              <a:latin typeface="Tahoma" pitchFamily="34" charset="0"/>
            </a:endParaRPr>
          </a:p>
        </p:txBody>
      </p:sp>
      <p:sp>
        <p:nvSpPr>
          <p:cNvPr id="15364" name="Rectangle 3"/>
          <p:cNvSpPr>
            <a:spLocks noGrp="1" noChangeArrowheads="1"/>
          </p:cNvSpPr>
          <p:nvPr>
            <p:ph type="title"/>
          </p:nvPr>
        </p:nvSpPr>
        <p:spPr>
          <a:xfrm>
            <a:off x="0" y="214290"/>
            <a:ext cx="8572528" cy="914401"/>
          </a:xfrm>
          <a:noFill/>
        </p:spPr>
        <p:txBody>
          <a:bodyPr>
            <a:normAutofit/>
          </a:bodyPr>
          <a:lstStyle/>
          <a:p>
            <a:r>
              <a:rPr lang="zh-CN" altLang="en-US" sz="3600" b="1" dirty="0">
                <a:solidFill>
                  <a:srgbClr val="C00000"/>
                </a:solidFill>
                <a:latin typeface="黑体" pitchFamily="49" charset="-122"/>
                <a:ea typeface="黑体" pitchFamily="49" charset="-122"/>
              </a:rPr>
              <a:t>工资和就业相对于基准方案的偏离</a:t>
            </a:r>
            <a:endParaRPr lang="en-AU" sz="3600" b="1" dirty="0">
              <a:solidFill>
                <a:srgbClr val="C00000"/>
              </a:solidFill>
              <a:latin typeface="黑体" pitchFamily="49" charset="-122"/>
              <a:ea typeface="黑体" pitchFamily="49" charset="-122"/>
            </a:endParaRPr>
          </a:p>
        </p:txBody>
      </p:sp>
      <p:graphicFrame>
        <p:nvGraphicFramePr>
          <p:cNvPr id="15362" name="Object 2"/>
          <p:cNvGraphicFramePr>
            <a:graphicFrameLocks noChangeAspect="1"/>
          </p:cNvGraphicFramePr>
          <p:nvPr/>
        </p:nvGraphicFramePr>
        <p:xfrm>
          <a:off x="1924050" y="3810000"/>
          <a:ext cx="4914900" cy="889000"/>
        </p:xfrm>
        <a:graphic>
          <a:graphicData uri="http://schemas.openxmlformats.org/presentationml/2006/ole">
            <mc:AlternateContent xmlns:mc="http://schemas.openxmlformats.org/markup-compatibility/2006">
              <mc:Choice xmlns:v="urn:schemas-microsoft-com:vml" Requires="v">
                <p:oleObj name="Equation" r:id="rId2" imgW="4914720" imgH="888840" progId="Equation.DSMT4">
                  <p:embed/>
                </p:oleObj>
              </mc:Choice>
              <mc:Fallback>
                <p:oleObj name="Equation" r:id="rId2" imgW="4914720" imgH="88884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4050" y="3810000"/>
                        <a:ext cx="4914900"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5" name="Line 5"/>
          <p:cNvSpPr>
            <a:spLocks noChangeShapeType="1"/>
          </p:cNvSpPr>
          <p:nvPr/>
        </p:nvSpPr>
        <p:spPr bwMode="auto">
          <a:xfrm flipH="1">
            <a:off x="1219200" y="4038600"/>
            <a:ext cx="685800" cy="0"/>
          </a:xfrm>
          <a:prstGeom prst="line">
            <a:avLst/>
          </a:prstGeom>
          <a:noFill/>
          <a:ln w="15875">
            <a:solidFill>
              <a:srgbClr val="FF0000"/>
            </a:solidFill>
            <a:round/>
            <a:headEnd type="stealth" w="med" len="med"/>
            <a:tailEnd/>
          </a:ln>
        </p:spPr>
        <p:txBody>
          <a:bodyPr wrap="none" anchor="ctr"/>
          <a:lstStyle/>
          <a:p>
            <a:endParaRPr lang="zh-CN" altLang="en-US"/>
          </a:p>
        </p:txBody>
      </p:sp>
      <p:sp>
        <p:nvSpPr>
          <p:cNvPr id="15366" name="Line 6"/>
          <p:cNvSpPr>
            <a:spLocks noChangeShapeType="1"/>
          </p:cNvSpPr>
          <p:nvPr/>
        </p:nvSpPr>
        <p:spPr bwMode="auto">
          <a:xfrm flipH="1">
            <a:off x="1219200" y="4419600"/>
            <a:ext cx="685800" cy="0"/>
          </a:xfrm>
          <a:prstGeom prst="line">
            <a:avLst/>
          </a:prstGeom>
          <a:noFill/>
          <a:ln w="15875">
            <a:solidFill>
              <a:srgbClr val="FF0000"/>
            </a:solidFill>
            <a:round/>
            <a:headEnd type="stealth" w="med" len="med"/>
            <a:tailEnd/>
          </a:ln>
        </p:spPr>
        <p:txBody>
          <a:bodyPr wrap="none" anchor="ctr"/>
          <a:lstStyle/>
          <a:p>
            <a:endParaRPr lang="zh-CN" altLang="en-US"/>
          </a:p>
        </p:txBody>
      </p:sp>
      <p:sp>
        <p:nvSpPr>
          <p:cNvPr id="15367" name="Line 7"/>
          <p:cNvSpPr>
            <a:spLocks noChangeShapeType="1"/>
          </p:cNvSpPr>
          <p:nvPr/>
        </p:nvSpPr>
        <p:spPr bwMode="auto">
          <a:xfrm>
            <a:off x="1219200" y="4038600"/>
            <a:ext cx="0" cy="1066800"/>
          </a:xfrm>
          <a:prstGeom prst="line">
            <a:avLst/>
          </a:prstGeom>
          <a:noFill/>
          <a:ln w="15875">
            <a:solidFill>
              <a:srgbClr val="FF0000"/>
            </a:solidFill>
            <a:round/>
            <a:headEnd/>
            <a:tailEnd/>
          </a:ln>
        </p:spPr>
        <p:txBody>
          <a:bodyPr wrap="none" anchor="ctr"/>
          <a:lstStyle/>
          <a:p>
            <a:endParaRPr lang="zh-CN" altLang="en-US"/>
          </a:p>
        </p:txBody>
      </p:sp>
      <p:sp>
        <p:nvSpPr>
          <p:cNvPr id="15368" name="Text Box 8"/>
          <p:cNvSpPr txBox="1">
            <a:spLocks noChangeArrowheads="1"/>
          </p:cNvSpPr>
          <p:nvPr/>
        </p:nvSpPr>
        <p:spPr bwMode="auto">
          <a:xfrm>
            <a:off x="685800" y="5181600"/>
            <a:ext cx="2103438" cy="517525"/>
          </a:xfrm>
          <a:prstGeom prst="rect">
            <a:avLst/>
          </a:prstGeom>
          <a:noFill/>
          <a:ln w="9525">
            <a:noFill/>
            <a:miter lim="800000"/>
            <a:headEnd/>
            <a:tailEnd/>
          </a:ln>
        </p:spPr>
        <p:txBody>
          <a:bodyPr>
            <a:spAutoFit/>
          </a:bodyPr>
          <a:lstStyle/>
          <a:p>
            <a:pPr eaLnBrk="0" hangingPunct="0">
              <a:spcBef>
                <a:spcPct val="50000"/>
              </a:spcBef>
            </a:pPr>
            <a:r>
              <a:rPr lang="en-AU" sz="1400">
                <a:latin typeface="Tahoma" pitchFamily="34" charset="0"/>
              </a:rPr>
              <a:t>Policy (P) and base (B) wage rates, current</a:t>
            </a:r>
          </a:p>
        </p:txBody>
      </p:sp>
      <p:sp>
        <p:nvSpPr>
          <p:cNvPr id="15369" name="Line 9"/>
          <p:cNvSpPr>
            <a:spLocks noChangeShapeType="1"/>
          </p:cNvSpPr>
          <p:nvPr/>
        </p:nvSpPr>
        <p:spPr bwMode="auto">
          <a:xfrm flipH="1">
            <a:off x="4038600" y="4038600"/>
            <a:ext cx="685800" cy="0"/>
          </a:xfrm>
          <a:prstGeom prst="line">
            <a:avLst/>
          </a:prstGeom>
          <a:noFill/>
          <a:ln w="15875">
            <a:solidFill>
              <a:srgbClr val="FF0000"/>
            </a:solidFill>
            <a:round/>
            <a:headEnd/>
            <a:tailEnd type="stealth" w="med" len="med"/>
          </a:ln>
        </p:spPr>
        <p:txBody>
          <a:bodyPr wrap="none" anchor="ctr"/>
          <a:lstStyle/>
          <a:p>
            <a:endParaRPr lang="zh-CN" altLang="en-US"/>
          </a:p>
        </p:txBody>
      </p:sp>
      <p:sp>
        <p:nvSpPr>
          <p:cNvPr id="15370" name="Line 10"/>
          <p:cNvSpPr>
            <a:spLocks noChangeShapeType="1"/>
          </p:cNvSpPr>
          <p:nvPr/>
        </p:nvSpPr>
        <p:spPr bwMode="auto">
          <a:xfrm flipH="1">
            <a:off x="4038600" y="4419600"/>
            <a:ext cx="685800" cy="0"/>
          </a:xfrm>
          <a:prstGeom prst="line">
            <a:avLst/>
          </a:prstGeom>
          <a:noFill/>
          <a:ln w="15875">
            <a:solidFill>
              <a:srgbClr val="FF0000"/>
            </a:solidFill>
            <a:round/>
            <a:headEnd/>
            <a:tailEnd type="stealth" w="med" len="med"/>
          </a:ln>
        </p:spPr>
        <p:txBody>
          <a:bodyPr wrap="none" anchor="ctr"/>
          <a:lstStyle/>
          <a:p>
            <a:endParaRPr lang="zh-CN" altLang="en-US"/>
          </a:p>
        </p:txBody>
      </p:sp>
      <p:sp>
        <p:nvSpPr>
          <p:cNvPr id="15371" name="Line 11"/>
          <p:cNvSpPr>
            <a:spLocks noChangeShapeType="1"/>
          </p:cNvSpPr>
          <p:nvPr/>
        </p:nvSpPr>
        <p:spPr bwMode="auto">
          <a:xfrm>
            <a:off x="4724400" y="4038600"/>
            <a:ext cx="0" cy="1066800"/>
          </a:xfrm>
          <a:prstGeom prst="line">
            <a:avLst/>
          </a:prstGeom>
          <a:noFill/>
          <a:ln w="15875">
            <a:solidFill>
              <a:srgbClr val="FF0000"/>
            </a:solidFill>
            <a:round/>
            <a:headEnd/>
            <a:tailEnd/>
          </a:ln>
        </p:spPr>
        <p:txBody>
          <a:bodyPr wrap="none" anchor="ctr"/>
          <a:lstStyle/>
          <a:p>
            <a:endParaRPr lang="zh-CN" altLang="en-US"/>
          </a:p>
        </p:txBody>
      </p:sp>
      <p:sp>
        <p:nvSpPr>
          <p:cNvPr id="15372" name="Text Box 12"/>
          <p:cNvSpPr txBox="1">
            <a:spLocks noChangeArrowheads="1"/>
          </p:cNvSpPr>
          <p:nvPr/>
        </p:nvSpPr>
        <p:spPr bwMode="auto">
          <a:xfrm>
            <a:off x="3271838" y="5181600"/>
            <a:ext cx="1985962" cy="517525"/>
          </a:xfrm>
          <a:prstGeom prst="rect">
            <a:avLst/>
          </a:prstGeom>
          <a:noFill/>
          <a:ln w="9525">
            <a:noFill/>
            <a:miter lim="800000"/>
            <a:headEnd/>
            <a:tailEnd/>
          </a:ln>
        </p:spPr>
        <p:txBody>
          <a:bodyPr>
            <a:spAutoFit/>
          </a:bodyPr>
          <a:lstStyle/>
          <a:p>
            <a:pPr eaLnBrk="0" hangingPunct="0">
              <a:spcBef>
                <a:spcPct val="50000"/>
              </a:spcBef>
            </a:pPr>
            <a:r>
              <a:rPr lang="en-AU" sz="1400">
                <a:latin typeface="Tahoma" pitchFamily="34" charset="0"/>
              </a:rPr>
              <a:t>Policy (P) and base (B) wage rates, lagged</a:t>
            </a:r>
          </a:p>
        </p:txBody>
      </p:sp>
      <p:sp>
        <p:nvSpPr>
          <p:cNvPr id="15373" name="Line 13"/>
          <p:cNvSpPr>
            <a:spLocks noChangeShapeType="1"/>
          </p:cNvSpPr>
          <p:nvPr/>
        </p:nvSpPr>
        <p:spPr bwMode="auto">
          <a:xfrm flipH="1">
            <a:off x="5791200" y="4038600"/>
            <a:ext cx="685800" cy="0"/>
          </a:xfrm>
          <a:prstGeom prst="line">
            <a:avLst/>
          </a:prstGeom>
          <a:noFill/>
          <a:ln w="15875">
            <a:solidFill>
              <a:srgbClr val="FF0000"/>
            </a:solidFill>
            <a:round/>
            <a:headEnd/>
            <a:tailEnd type="stealth" w="med" len="med"/>
          </a:ln>
        </p:spPr>
        <p:txBody>
          <a:bodyPr wrap="none" anchor="ctr"/>
          <a:lstStyle/>
          <a:p>
            <a:endParaRPr lang="zh-CN" altLang="en-US"/>
          </a:p>
        </p:txBody>
      </p:sp>
      <p:sp>
        <p:nvSpPr>
          <p:cNvPr id="15374" name="Line 14"/>
          <p:cNvSpPr>
            <a:spLocks noChangeShapeType="1"/>
          </p:cNvSpPr>
          <p:nvPr/>
        </p:nvSpPr>
        <p:spPr bwMode="auto">
          <a:xfrm flipH="1">
            <a:off x="5791200" y="4419600"/>
            <a:ext cx="685800" cy="0"/>
          </a:xfrm>
          <a:prstGeom prst="line">
            <a:avLst/>
          </a:prstGeom>
          <a:noFill/>
          <a:ln w="15875">
            <a:solidFill>
              <a:srgbClr val="FF0000"/>
            </a:solidFill>
            <a:round/>
            <a:headEnd/>
            <a:tailEnd type="stealth" w="med" len="med"/>
          </a:ln>
        </p:spPr>
        <p:txBody>
          <a:bodyPr wrap="none" anchor="ctr"/>
          <a:lstStyle/>
          <a:p>
            <a:endParaRPr lang="zh-CN" altLang="en-US"/>
          </a:p>
        </p:txBody>
      </p:sp>
      <p:sp>
        <p:nvSpPr>
          <p:cNvPr id="15375" name="Line 15"/>
          <p:cNvSpPr>
            <a:spLocks noChangeShapeType="1"/>
          </p:cNvSpPr>
          <p:nvPr/>
        </p:nvSpPr>
        <p:spPr bwMode="auto">
          <a:xfrm>
            <a:off x="6477000" y="4038600"/>
            <a:ext cx="0" cy="1066800"/>
          </a:xfrm>
          <a:prstGeom prst="line">
            <a:avLst/>
          </a:prstGeom>
          <a:noFill/>
          <a:ln w="15875">
            <a:solidFill>
              <a:srgbClr val="FF0000"/>
            </a:solidFill>
            <a:round/>
            <a:headEnd/>
            <a:tailEnd/>
          </a:ln>
        </p:spPr>
        <p:txBody>
          <a:bodyPr wrap="none" anchor="ctr"/>
          <a:lstStyle/>
          <a:p>
            <a:endParaRPr lang="zh-CN" altLang="en-US"/>
          </a:p>
        </p:txBody>
      </p:sp>
      <p:sp>
        <p:nvSpPr>
          <p:cNvPr id="15376" name="Text Box 16"/>
          <p:cNvSpPr txBox="1">
            <a:spLocks noChangeArrowheads="1"/>
          </p:cNvSpPr>
          <p:nvPr/>
        </p:nvSpPr>
        <p:spPr bwMode="auto">
          <a:xfrm>
            <a:off x="5715000" y="5181600"/>
            <a:ext cx="1905000" cy="730250"/>
          </a:xfrm>
          <a:prstGeom prst="rect">
            <a:avLst/>
          </a:prstGeom>
          <a:noFill/>
          <a:ln w="9525">
            <a:noFill/>
            <a:miter lim="800000"/>
            <a:headEnd/>
            <a:tailEnd/>
          </a:ln>
        </p:spPr>
        <p:txBody>
          <a:bodyPr>
            <a:spAutoFit/>
          </a:bodyPr>
          <a:lstStyle/>
          <a:p>
            <a:pPr eaLnBrk="0" hangingPunct="0">
              <a:spcBef>
                <a:spcPct val="50000"/>
              </a:spcBef>
            </a:pPr>
            <a:r>
              <a:rPr lang="en-AU" sz="1400">
                <a:latin typeface="Tahoma" pitchFamily="34" charset="0"/>
              </a:rPr>
              <a:t>Policy (P) and base (B) employment, current</a:t>
            </a:r>
          </a:p>
        </p:txBody>
      </p:sp>
      <p:sp>
        <p:nvSpPr>
          <p:cNvPr id="15377" name="Line 17"/>
          <p:cNvSpPr>
            <a:spLocks noChangeShapeType="1"/>
          </p:cNvSpPr>
          <p:nvPr/>
        </p:nvSpPr>
        <p:spPr bwMode="auto">
          <a:xfrm flipH="1">
            <a:off x="5181600" y="3505200"/>
            <a:ext cx="1143000" cy="609600"/>
          </a:xfrm>
          <a:prstGeom prst="line">
            <a:avLst/>
          </a:prstGeom>
          <a:noFill/>
          <a:ln w="15875">
            <a:solidFill>
              <a:srgbClr val="FF0000"/>
            </a:solidFill>
            <a:round/>
            <a:headEnd/>
            <a:tailEnd type="stealth" w="med" len="med"/>
          </a:ln>
        </p:spPr>
        <p:txBody>
          <a:bodyPr wrap="none" anchor="ctr"/>
          <a:lstStyle/>
          <a:p>
            <a:endParaRPr lang="zh-CN" altLang="en-US"/>
          </a:p>
        </p:txBody>
      </p:sp>
      <p:sp>
        <p:nvSpPr>
          <p:cNvPr id="15378" name="Text Box 18"/>
          <p:cNvSpPr txBox="1">
            <a:spLocks noChangeArrowheads="1"/>
          </p:cNvSpPr>
          <p:nvPr/>
        </p:nvSpPr>
        <p:spPr bwMode="auto">
          <a:xfrm>
            <a:off x="6400800" y="3276600"/>
            <a:ext cx="1811338" cy="517525"/>
          </a:xfrm>
          <a:prstGeom prst="rect">
            <a:avLst/>
          </a:prstGeom>
          <a:noFill/>
          <a:ln w="9525">
            <a:noFill/>
            <a:miter lim="800000"/>
            <a:headEnd/>
            <a:tailEnd/>
          </a:ln>
        </p:spPr>
        <p:txBody>
          <a:bodyPr>
            <a:spAutoFit/>
          </a:bodyPr>
          <a:lstStyle/>
          <a:p>
            <a:pPr eaLnBrk="0" hangingPunct="0">
              <a:spcBef>
                <a:spcPct val="50000"/>
              </a:spcBef>
            </a:pPr>
            <a:r>
              <a:rPr lang="en-AU" sz="1400">
                <a:latin typeface="Tahoma" pitchFamily="34" charset="0"/>
              </a:rPr>
              <a:t>Adjustment coefficient (0.50)</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6" name="Object 2"/>
          <p:cNvGraphicFramePr>
            <a:graphicFrameLocks noChangeAspect="1"/>
          </p:cNvGraphicFramePr>
          <p:nvPr/>
        </p:nvGraphicFramePr>
        <p:xfrm>
          <a:off x="-606425" y="82550"/>
          <a:ext cx="10264775" cy="6678613"/>
        </p:xfrm>
        <a:graphic>
          <a:graphicData uri="http://schemas.openxmlformats.org/presentationml/2006/ole">
            <mc:AlternateContent xmlns:mc="http://schemas.openxmlformats.org/markup-compatibility/2006">
              <mc:Choice xmlns:v="urn:schemas-microsoft-com:vml" Requires="v">
                <p:oleObj name="Document" r:id="rId2" imgW="5476488" imgH="3581153" progId="Word.Document.8">
                  <p:embed/>
                </p:oleObj>
              </mc:Choice>
              <mc:Fallback>
                <p:oleObj name="Document" r:id="rId2" imgW="5476488" imgH="3581153" progId="Word.Document.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425" y="82550"/>
                        <a:ext cx="10264775" cy="66786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0000"/>
                </a:solidFill>
                <a:latin typeface="隶书" pitchFamily="49" charset="-122"/>
                <a:ea typeface="隶书" pitchFamily="49" charset="-122"/>
              </a:rPr>
              <a:t>动态分析与静态分析的差异</a:t>
            </a:r>
          </a:p>
        </p:txBody>
      </p:sp>
      <p:sp>
        <p:nvSpPr>
          <p:cNvPr id="3" name="内容占位符 2"/>
          <p:cNvSpPr>
            <a:spLocks noGrp="1"/>
          </p:cNvSpPr>
          <p:nvPr>
            <p:ph idx="1"/>
          </p:nvPr>
        </p:nvSpPr>
        <p:spPr>
          <a:xfrm>
            <a:off x="457200" y="1600200"/>
            <a:ext cx="8229600" cy="4900634"/>
          </a:xfrm>
        </p:spPr>
        <p:txBody>
          <a:bodyPr>
            <a:normAutofit/>
          </a:bodyPr>
          <a:lstStyle/>
          <a:p>
            <a:r>
              <a:rPr lang="zh-CN" altLang="en-US" b="1" dirty="0">
                <a:solidFill>
                  <a:srgbClr val="FF0000"/>
                </a:solidFill>
                <a:latin typeface="黑体" pitchFamily="49" charset="-122"/>
                <a:ea typeface="黑体" pitchFamily="49" charset="-122"/>
              </a:rPr>
              <a:t>静态分析</a:t>
            </a:r>
            <a:r>
              <a:rPr lang="zh-CN" altLang="en-US" dirty="0">
                <a:solidFill>
                  <a:srgbClr val="FF0000"/>
                </a:solidFill>
                <a:latin typeface="黑体" pitchFamily="49" charset="-122"/>
                <a:ea typeface="黑体" pitchFamily="49" charset="-122"/>
              </a:rPr>
              <a:t>：</a:t>
            </a:r>
            <a:r>
              <a:rPr lang="zh-CN" altLang="en-US" dirty="0"/>
              <a:t>假设资源要素和技术不发生改变的情况下，经济政策冲击所导致的生产调整及资源配置变化，可以较好地分析政策变化对经济福利、产业发展、贸易和资源利用等影响。</a:t>
            </a:r>
            <a:endParaRPr lang="en-US" altLang="zh-CN" dirty="0"/>
          </a:p>
          <a:p>
            <a:r>
              <a:rPr lang="zh-CN" altLang="en-US" dirty="0">
                <a:solidFill>
                  <a:srgbClr val="FF0000"/>
                </a:solidFill>
                <a:latin typeface="黑体" pitchFamily="49" charset="-122"/>
                <a:ea typeface="黑体" pitchFamily="49" charset="-122"/>
              </a:rPr>
              <a:t>动态分析：</a:t>
            </a:r>
            <a:r>
              <a:rPr lang="zh-CN" altLang="en-US" dirty="0"/>
              <a:t>经济政策变化将导致资源和技术进行调整，一国的资源总量会发生改变，从而对一国经济增长、产业发展、经济福利和贸易等影响将更为显著。</a:t>
            </a:r>
            <a:endParaRPr lang="en-US" altLang="zh-CN" dirty="0"/>
          </a:p>
          <a:p>
            <a:endParaRPr lang="zh-CN" altLang="en-US" dirty="0"/>
          </a:p>
        </p:txBody>
      </p:sp>
      <p:sp>
        <p:nvSpPr>
          <p:cNvPr id="4" name="日期占位符 3"/>
          <p:cNvSpPr>
            <a:spLocks noGrp="1"/>
          </p:cNvSpPr>
          <p:nvPr>
            <p:ph type="dt" sz="half" idx="10"/>
          </p:nvPr>
        </p:nvSpPr>
        <p:spPr/>
        <p:txBody>
          <a:bodyPr/>
          <a:lstStyle/>
          <a:p>
            <a:fld id="{C6B8F2EF-5256-419E-9E16-E117EA0624FC}" type="datetimeFigureOut">
              <a:rPr lang="zh-CN" altLang="en-US" smtClean="0"/>
              <a:pPr/>
              <a:t>2021/5/27</a:t>
            </a:fld>
            <a:endParaRPr lang="zh-CN" altLang="en-US"/>
          </a:p>
        </p:txBody>
      </p:sp>
      <p:sp>
        <p:nvSpPr>
          <p:cNvPr id="5" name="灯片编号占位符 4"/>
          <p:cNvSpPr>
            <a:spLocks noGrp="1"/>
          </p:cNvSpPr>
          <p:nvPr>
            <p:ph type="sldNum" sz="quarter" idx="12"/>
          </p:nvPr>
        </p:nvSpPr>
        <p:spPr/>
        <p:txBody>
          <a:bodyPr/>
          <a:lstStyle/>
          <a:p>
            <a:fld id="{C8D0647B-24A2-46AB-A27A-847EF503E68C}" type="slidenum">
              <a:rPr lang="zh-CN" altLang="en-US" smtClean="0"/>
              <a:pPr/>
              <a:t>36</a:t>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solidFill>
                  <a:srgbClr val="FF0000"/>
                </a:solidFill>
                <a:latin typeface="黑体" panose="02010609060101010101" pitchFamily="49" charset="-122"/>
                <a:ea typeface="黑体" panose="02010609060101010101" pitchFamily="49" charset="-122"/>
              </a:rPr>
              <a:t>报告主要内容</a:t>
            </a:r>
          </a:p>
        </p:txBody>
      </p:sp>
      <p:sp>
        <p:nvSpPr>
          <p:cNvPr id="3" name="内容占位符 2"/>
          <p:cNvSpPr>
            <a:spLocks noGrp="1"/>
          </p:cNvSpPr>
          <p:nvPr>
            <p:ph idx="1"/>
          </p:nvPr>
        </p:nvSpPr>
        <p:spPr>
          <a:xfrm>
            <a:off x="457200" y="1417638"/>
            <a:ext cx="8229600" cy="4708525"/>
          </a:xfrm>
        </p:spPr>
        <p:txBody>
          <a:bodyPr>
            <a:normAutofit fontScale="92500" lnSpcReduction="10000"/>
          </a:bodyPr>
          <a:lstStyle/>
          <a:p>
            <a:pPr marL="514350" indent="-514350">
              <a:buFont typeface="+mj-lt"/>
              <a:buAutoNum type="arabicPeriod"/>
            </a:pPr>
            <a:r>
              <a:rPr lang="zh-CN" altLang="en-US" dirty="0">
                <a:latin typeface="Calibri" panose="020F0502020204030204" pitchFamily="34" charset="0"/>
                <a:ea typeface="黑体" panose="02010609060101010101" pitchFamily="49" charset="-122"/>
              </a:rPr>
              <a:t>均衡模型的简要理论介绍</a:t>
            </a:r>
            <a:endParaRPr lang="en-US" altLang="zh-CN" dirty="0">
              <a:latin typeface="Calibri" panose="020F0502020204030204" pitchFamily="34" charset="0"/>
              <a:ea typeface="黑体" panose="02010609060101010101" pitchFamily="49" charset="-122"/>
            </a:endParaRPr>
          </a:p>
          <a:p>
            <a:pPr marL="914400" lvl="1" indent="-514350">
              <a:buFont typeface="Wingdings" panose="05000000000000000000" pitchFamily="2" charset="2"/>
              <a:buChar char="l"/>
            </a:pPr>
            <a:r>
              <a:rPr lang="zh-CN" altLang="en-US" dirty="0">
                <a:latin typeface="Calibri" panose="020F0502020204030204" pitchFamily="34" charset="0"/>
                <a:ea typeface="黑体" panose="02010609060101010101" pitchFamily="49" charset="-122"/>
              </a:rPr>
              <a:t>一般均衡模型</a:t>
            </a:r>
            <a:endParaRPr lang="en-US" altLang="zh-CN" dirty="0">
              <a:latin typeface="Calibri" panose="020F0502020204030204" pitchFamily="34" charset="0"/>
              <a:ea typeface="黑体" panose="02010609060101010101" pitchFamily="49" charset="-122"/>
            </a:endParaRPr>
          </a:p>
          <a:p>
            <a:pPr marL="914400" lvl="1" indent="-514350">
              <a:buFont typeface="Wingdings" panose="05000000000000000000" pitchFamily="2" charset="2"/>
              <a:buChar char="l"/>
            </a:pPr>
            <a:r>
              <a:rPr lang="zh-CN" altLang="en-US" dirty="0">
                <a:latin typeface="Calibri" panose="020F0502020204030204" pitchFamily="34" charset="0"/>
                <a:ea typeface="黑体" panose="02010609060101010101" pitchFamily="49" charset="-122"/>
              </a:rPr>
              <a:t>部门均衡模型</a:t>
            </a:r>
            <a:endParaRPr lang="en-US" altLang="zh-CN" dirty="0">
              <a:latin typeface="Calibri" panose="020F0502020204030204" pitchFamily="34" charset="0"/>
              <a:ea typeface="黑体" panose="02010609060101010101" pitchFamily="49" charset="-122"/>
            </a:endParaRPr>
          </a:p>
          <a:p>
            <a:pPr marL="514350" indent="-514350">
              <a:buFont typeface="+mj-lt"/>
              <a:buAutoNum type="arabicPeriod"/>
            </a:pPr>
            <a:r>
              <a:rPr lang="zh-CN" altLang="en-US" dirty="0">
                <a:latin typeface="Calibri" panose="020F0502020204030204" pitchFamily="34" charset="0"/>
                <a:ea typeface="黑体" panose="02010609060101010101" pitchFamily="49" charset="-122"/>
              </a:rPr>
              <a:t>均衡模型具体构建中的部分关键问题</a:t>
            </a:r>
            <a:endParaRPr lang="en-US" altLang="zh-CN" dirty="0">
              <a:latin typeface="Calibri" panose="020F0502020204030204" pitchFamily="34" charset="0"/>
              <a:ea typeface="黑体" panose="02010609060101010101" pitchFamily="49" charset="-122"/>
            </a:endParaRPr>
          </a:p>
          <a:p>
            <a:pPr marL="914400" lvl="1" indent="-514350">
              <a:buFont typeface="Wingdings" panose="05000000000000000000" pitchFamily="2" charset="2"/>
              <a:buChar char="l"/>
            </a:pPr>
            <a:r>
              <a:rPr lang="zh-CN" altLang="en-US" dirty="0">
                <a:latin typeface="Calibri" panose="020F0502020204030204" pitchFamily="34" charset="0"/>
                <a:ea typeface="黑体" panose="02010609060101010101" pitchFamily="49" charset="-122"/>
              </a:rPr>
              <a:t>供需模块构建（标准模型）</a:t>
            </a:r>
            <a:endParaRPr lang="en-US" altLang="zh-CN" dirty="0">
              <a:latin typeface="Calibri" panose="020F0502020204030204" pitchFamily="34" charset="0"/>
              <a:ea typeface="黑体" panose="02010609060101010101" pitchFamily="49" charset="-122"/>
            </a:endParaRPr>
          </a:p>
          <a:p>
            <a:pPr marL="914400" lvl="1" indent="-514350">
              <a:buFont typeface="Wingdings" panose="05000000000000000000" pitchFamily="2" charset="2"/>
              <a:buChar char="l"/>
            </a:pPr>
            <a:r>
              <a:rPr lang="zh-CN" altLang="en-US" dirty="0">
                <a:latin typeface="Calibri" panose="020F0502020204030204" pitchFamily="34" charset="0"/>
                <a:ea typeface="黑体" panose="02010609060101010101" pitchFamily="49" charset="-122"/>
              </a:rPr>
              <a:t>静态和动态模型</a:t>
            </a:r>
            <a:endParaRPr lang="en-US" altLang="zh-CN" dirty="0">
              <a:latin typeface="Calibri" panose="020F0502020204030204" pitchFamily="34" charset="0"/>
              <a:ea typeface="黑体" panose="02010609060101010101" pitchFamily="49" charset="-122"/>
            </a:endParaRPr>
          </a:p>
          <a:p>
            <a:pPr marL="0" indent="0">
              <a:buNone/>
            </a:pPr>
            <a:r>
              <a:rPr lang="en-US" altLang="zh-CN" dirty="0">
                <a:latin typeface="Calibri" panose="020F0502020204030204" pitchFamily="34" charset="0"/>
                <a:ea typeface="黑体" panose="02010609060101010101" pitchFamily="49" charset="-122"/>
              </a:rPr>
              <a:t>3. </a:t>
            </a:r>
            <a:r>
              <a:rPr lang="zh-CN" altLang="en-US" dirty="0">
                <a:latin typeface="Calibri" panose="020F0502020204030204" pitchFamily="34" charset="0"/>
                <a:ea typeface="黑体" panose="02010609060101010101" pitchFamily="49" charset="-122"/>
              </a:rPr>
              <a:t>应用案例</a:t>
            </a:r>
            <a:endParaRPr lang="en-US" altLang="zh-CN" dirty="0">
              <a:latin typeface="Calibri" panose="020F0502020204030204" pitchFamily="34" charset="0"/>
              <a:ea typeface="黑体" panose="02010609060101010101" pitchFamily="49" charset="-122"/>
            </a:endParaRPr>
          </a:p>
          <a:p>
            <a:pPr marL="914400" lvl="1" indent="-514350">
              <a:buFont typeface="Wingdings" panose="05000000000000000000" pitchFamily="2" charset="2"/>
              <a:buChar char="l"/>
            </a:pPr>
            <a:r>
              <a:rPr lang="zh-CN" altLang="en-US" dirty="0">
                <a:latin typeface="Calibri" panose="020F0502020204030204" pitchFamily="34" charset="0"/>
                <a:ea typeface="黑体" panose="02010609060101010101" pitchFamily="49" charset="-122"/>
              </a:rPr>
              <a:t>多哈贸易自由化谈判对农业生产和贫困影响</a:t>
            </a:r>
            <a:endParaRPr lang="en-US" altLang="zh-CN" dirty="0">
              <a:latin typeface="Calibri" panose="020F0502020204030204" pitchFamily="34" charset="0"/>
              <a:ea typeface="黑体" panose="02010609060101010101" pitchFamily="49" charset="-122"/>
            </a:endParaRPr>
          </a:p>
          <a:p>
            <a:pPr marL="914400" lvl="1" indent="-514350">
              <a:buFont typeface="Wingdings" panose="05000000000000000000" pitchFamily="2" charset="2"/>
              <a:buChar char="l"/>
            </a:pPr>
            <a:r>
              <a:rPr lang="zh-CN" altLang="en-US" dirty="0">
                <a:latin typeface="Calibri" panose="020F0502020204030204" pitchFamily="34" charset="0"/>
                <a:ea typeface="黑体" panose="02010609060101010101" pitchFamily="49" charset="-122"/>
              </a:rPr>
              <a:t>基于</a:t>
            </a:r>
            <a:r>
              <a:rPr lang="en-US" altLang="zh-CN" dirty="0" err="1">
                <a:latin typeface="Calibri" panose="020F0502020204030204" pitchFamily="34" charset="0"/>
                <a:ea typeface="黑体" panose="02010609060101010101" pitchFamily="49" charset="-122"/>
              </a:rPr>
              <a:t>CAPSiM</a:t>
            </a:r>
            <a:r>
              <a:rPr lang="zh-CN" altLang="en-US" dirty="0">
                <a:latin typeface="Calibri" panose="020F0502020204030204" pitchFamily="34" charset="0"/>
                <a:ea typeface="黑体" panose="02010609060101010101" pitchFamily="49" charset="-122"/>
              </a:rPr>
              <a:t>模型对未来我国农业供需预测分析</a:t>
            </a:r>
            <a:endParaRPr lang="en-US" altLang="zh-CN" dirty="0">
              <a:latin typeface="Calibri" panose="020F0502020204030204" pitchFamily="34" charset="0"/>
              <a:ea typeface="黑体" panose="02010609060101010101" pitchFamily="49" charset="-122"/>
            </a:endParaRPr>
          </a:p>
          <a:p>
            <a:pPr marL="914400" lvl="1" indent="-514350">
              <a:buFont typeface="Wingdings" panose="05000000000000000000" pitchFamily="2" charset="2"/>
              <a:buChar char="l"/>
            </a:pPr>
            <a:r>
              <a:rPr lang="zh-CN" altLang="en-US" dirty="0">
                <a:latin typeface="Calibri" panose="020F0502020204030204" pitchFamily="34" charset="0"/>
                <a:ea typeface="黑体" panose="02010609060101010101" pitchFamily="49" charset="-122"/>
              </a:rPr>
              <a:t>生物能源发展对农业生产和贫困影响</a:t>
            </a:r>
          </a:p>
          <a:p>
            <a:pPr marL="0" indent="0">
              <a:buNone/>
            </a:pPr>
            <a:endParaRPr lang="zh-CN" altLang="en-US" b="1" dirty="0">
              <a:solidFill>
                <a:schemeClr val="accent2"/>
              </a:solidFill>
            </a:endParaRPr>
          </a:p>
          <a:p>
            <a:pPr marL="0" indent="0">
              <a:buNone/>
            </a:pPr>
            <a:endParaRPr lang="en-US" altLang="zh-CN" dirty="0">
              <a:latin typeface="黑体" panose="02010609060101010101" pitchFamily="49" charset="-122"/>
              <a:ea typeface="黑体" panose="02010609060101010101" pitchFamily="49" charset="-122"/>
            </a:endParaRPr>
          </a:p>
          <a:p>
            <a:pPr marL="0" indent="0">
              <a:buNone/>
            </a:pPr>
            <a:endParaRPr lang="en-US" altLang="zh-CN" dirty="0">
              <a:latin typeface="黑体" panose="02010609060101010101" pitchFamily="49" charset="-122"/>
              <a:ea typeface="黑体" panose="02010609060101010101" pitchFamily="49" charset="-122"/>
            </a:endParaRPr>
          </a:p>
          <a:p>
            <a:pPr marL="514350" indent="-514350">
              <a:buFont typeface="+mj-lt"/>
              <a:buAutoNum type="arabicPeriod"/>
            </a:pPr>
            <a:endParaRPr lang="en-US" altLang="zh-CN" dirty="0">
              <a:latin typeface="黑体" panose="02010609060101010101" pitchFamily="49" charset="-122"/>
              <a:ea typeface="黑体" panose="02010609060101010101" pitchFamily="49" charset="-122"/>
            </a:endParaRPr>
          </a:p>
          <a:p>
            <a:endParaRPr lang="zh-CN" altLang="en-US" dirty="0">
              <a:latin typeface="黑体" panose="02010609060101010101" pitchFamily="49" charset="-122"/>
              <a:ea typeface="黑体" panose="02010609060101010101" pitchFamily="49" charset="-122"/>
            </a:endParaRPr>
          </a:p>
        </p:txBody>
      </p:sp>
      <p:sp>
        <p:nvSpPr>
          <p:cNvPr id="4" name="日期占位符 3"/>
          <p:cNvSpPr>
            <a:spLocks noGrp="1"/>
          </p:cNvSpPr>
          <p:nvPr>
            <p:ph type="dt" sz="half" idx="10"/>
          </p:nvPr>
        </p:nvSpPr>
        <p:spPr/>
        <p:txBody>
          <a:bodyPr/>
          <a:lstStyle/>
          <a:p>
            <a:fld id="{32E8C72D-371D-46C3-B39E-84A140A43767}" type="datetime1">
              <a:rPr lang="zh-CN" altLang="en-US" smtClean="0"/>
              <a:t>2021/5/27</a:t>
            </a:fld>
            <a:endParaRPr lang="zh-CN" altLang="en-US"/>
          </a:p>
        </p:txBody>
      </p:sp>
      <p:sp>
        <p:nvSpPr>
          <p:cNvPr id="5" name="灯片编号占位符 4"/>
          <p:cNvSpPr>
            <a:spLocks noGrp="1"/>
          </p:cNvSpPr>
          <p:nvPr>
            <p:ph type="sldNum" sz="quarter" idx="12"/>
          </p:nvPr>
        </p:nvSpPr>
        <p:spPr/>
        <p:txBody>
          <a:bodyPr/>
          <a:lstStyle/>
          <a:p>
            <a:fld id="{C8D0647B-24A2-46AB-A27A-847EF503E68C}" type="slidenum">
              <a:rPr lang="zh-CN" altLang="en-US" smtClean="0"/>
              <a:pPr/>
              <a:t>37</a:t>
            </a:fld>
            <a:endParaRPr lang="zh-CN" altLang="en-US"/>
          </a:p>
        </p:txBody>
      </p:sp>
    </p:spTree>
    <p:extLst>
      <p:ext uri="{BB962C8B-B14F-4D97-AF65-F5344CB8AC3E}">
        <p14:creationId xmlns:p14="http://schemas.microsoft.com/office/powerpoint/2010/main" val="26300094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solidFill>
                  <a:srgbClr val="FF0000"/>
                </a:solidFill>
                <a:latin typeface="黑体" panose="02010609060101010101" pitchFamily="49" charset="-122"/>
                <a:ea typeface="黑体" panose="02010609060101010101" pitchFamily="49" charset="-122"/>
              </a:rPr>
              <a:t>报告主要内容</a:t>
            </a:r>
          </a:p>
        </p:txBody>
      </p:sp>
      <p:sp>
        <p:nvSpPr>
          <p:cNvPr id="3" name="内容占位符 2"/>
          <p:cNvSpPr>
            <a:spLocks noGrp="1"/>
          </p:cNvSpPr>
          <p:nvPr>
            <p:ph idx="1"/>
          </p:nvPr>
        </p:nvSpPr>
        <p:spPr>
          <a:xfrm>
            <a:off x="457200" y="1417638"/>
            <a:ext cx="8229600" cy="4708525"/>
          </a:xfrm>
        </p:spPr>
        <p:txBody>
          <a:bodyPr>
            <a:normAutofit fontScale="92500" lnSpcReduction="10000"/>
          </a:bodyPr>
          <a:lstStyle/>
          <a:p>
            <a:pPr marL="514350" indent="-514350">
              <a:buFont typeface="+mj-lt"/>
              <a:buAutoNum type="arabicPeriod"/>
            </a:pPr>
            <a:r>
              <a:rPr lang="zh-CN" altLang="en-US" dirty="0">
                <a:solidFill>
                  <a:schemeClr val="bg1">
                    <a:lumMod val="95000"/>
                  </a:schemeClr>
                </a:solidFill>
                <a:latin typeface="Calibri" panose="020F0502020204030204" pitchFamily="34" charset="0"/>
                <a:ea typeface="黑体" panose="02010609060101010101" pitchFamily="49" charset="-122"/>
              </a:rPr>
              <a:t>均衡模型的简要理论介绍</a:t>
            </a:r>
            <a:endParaRPr lang="en-US" altLang="zh-CN" dirty="0">
              <a:solidFill>
                <a:schemeClr val="bg1">
                  <a:lumMod val="95000"/>
                </a:schemeClr>
              </a:solidFill>
              <a:latin typeface="Calibri" panose="020F0502020204030204" pitchFamily="34" charset="0"/>
              <a:ea typeface="黑体" panose="02010609060101010101" pitchFamily="49" charset="-122"/>
            </a:endParaRPr>
          </a:p>
          <a:p>
            <a:pPr marL="914400" lvl="1" indent="-514350">
              <a:buFont typeface="Wingdings" panose="05000000000000000000" pitchFamily="2" charset="2"/>
              <a:buChar char="l"/>
            </a:pPr>
            <a:r>
              <a:rPr lang="zh-CN" altLang="en-US" dirty="0">
                <a:solidFill>
                  <a:schemeClr val="bg1">
                    <a:lumMod val="95000"/>
                  </a:schemeClr>
                </a:solidFill>
                <a:latin typeface="Calibri" panose="020F0502020204030204" pitchFamily="34" charset="0"/>
                <a:ea typeface="黑体" panose="02010609060101010101" pitchFamily="49" charset="-122"/>
              </a:rPr>
              <a:t>一般均衡模型</a:t>
            </a:r>
            <a:endParaRPr lang="en-US" altLang="zh-CN" dirty="0">
              <a:solidFill>
                <a:schemeClr val="bg1">
                  <a:lumMod val="95000"/>
                </a:schemeClr>
              </a:solidFill>
              <a:latin typeface="Calibri" panose="020F0502020204030204" pitchFamily="34" charset="0"/>
              <a:ea typeface="黑体" panose="02010609060101010101" pitchFamily="49" charset="-122"/>
            </a:endParaRPr>
          </a:p>
          <a:p>
            <a:pPr marL="914400" lvl="1" indent="-514350">
              <a:buFont typeface="Wingdings" panose="05000000000000000000" pitchFamily="2" charset="2"/>
              <a:buChar char="l"/>
            </a:pPr>
            <a:r>
              <a:rPr lang="zh-CN" altLang="en-US" dirty="0">
                <a:solidFill>
                  <a:schemeClr val="bg1">
                    <a:lumMod val="95000"/>
                  </a:schemeClr>
                </a:solidFill>
                <a:latin typeface="Calibri" panose="020F0502020204030204" pitchFamily="34" charset="0"/>
                <a:ea typeface="黑体" panose="02010609060101010101" pitchFamily="49" charset="-122"/>
              </a:rPr>
              <a:t>部门均衡模型</a:t>
            </a:r>
            <a:endParaRPr lang="en-US" altLang="zh-CN" dirty="0">
              <a:solidFill>
                <a:schemeClr val="bg1">
                  <a:lumMod val="95000"/>
                </a:schemeClr>
              </a:solidFill>
              <a:latin typeface="Calibri" panose="020F0502020204030204" pitchFamily="34" charset="0"/>
              <a:ea typeface="黑体" panose="02010609060101010101" pitchFamily="49" charset="-122"/>
            </a:endParaRPr>
          </a:p>
          <a:p>
            <a:pPr marL="514350" indent="-514350">
              <a:buFont typeface="+mj-lt"/>
              <a:buAutoNum type="arabicPeriod"/>
            </a:pPr>
            <a:r>
              <a:rPr lang="zh-CN" altLang="en-US" dirty="0">
                <a:solidFill>
                  <a:schemeClr val="bg1">
                    <a:lumMod val="85000"/>
                  </a:schemeClr>
                </a:solidFill>
                <a:latin typeface="Calibri" panose="020F0502020204030204" pitchFamily="34" charset="0"/>
                <a:ea typeface="黑体" panose="02010609060101010101" pitchFamily="49" charset="-122"/>
              </a:rPr>
              <a:t>均衡模型具体构建中的部分关键问题</a:t>
            </a:r>
            <a:endParaRPr lang="en-US" altLang="zh-CN" dirty="0">
              <a:solidFill>
                <a:schemeClr val="bg1">
                  <a:lumMod val="85000"/>
                </a:schemeClr>
              </a:solidFill>
              <a:latin typeface="Calibri" panose="020F0502020204030204" pitchFamily="34" charset="0"/>
              <a:ea typeface="黑体" panose="02010609060101010101" pitchFamily="49" charset="-122"/>
            </a:endParaRPr>
          </a:p>
          <a:p>
            <a:pPr marL="914400" lvl="1" indent="-514350">
              <a:buFont typeface="Wingdings" panose="05000000000000000000" pitchFamily="2" charset="2"/>
              <a:buChar char="l"/>
            </a:pPr>
            <a:r>
              <a:rPr lang="zh-CN" altLang="en-US" dirty="0">
                <a:solidFill>
                  <a:schemeClr val="bg1">
                    <a:lumMod val="85000"/>
                  </a:schemeClr>
                </a:solidFill>
                <a:latin typeface="Calibri" panose="020F0502020204030204" pitchFamily="34" charset="0"/>
                <a:ea typeface="黑体" panose="02010609060101010101" pitchFamily="49" charset="-122"/>
              </a:rPr>
              <a:t>供需模块构建（标准模型）</a:t>
            </a:r>
            <a:endParaRPr lang="en-US" altLang="zh-CN" dirty="0">
              <a:solidFill>
                <a:schemeClr val="bg1">
                  <a:lumMod val="85000"/>
                </a:schemeClr>
              </a:solidFill>
              <a:latin typeface="Calibri" panose="020F0502020204030204" pitchFamily="34" charset="0"/>
              <a:ea typeface="黑体" panose="02010609060101010101" pitchFamily="49" charset="-122"/>
            </a:endParaRPr>
          </a:p>
          <a:p>
            <a:pPr marL="914400" lvl="1" indent="-514350">
              <a:buFont typeface="Wingdings" panose="05000000000000000000" pitchFamily="2" charset="2"/>
              <a:buChar char="l"/>
            </a:pPr>
            <a:r>
              <a:rPr lang="zh-CN" altLang="en-US" dirty="0">
                <a:solidFill>
                  <a:schemeClr val="bg1">
                    <a:lumMod val="85000"/>
                  </a:schemeClr>
                </a:solidFill>
                <a:latin typeface="Calibri" panose="020F0502020204030204" pitchFamily="34" charset="0"/>
                <a:ea typeface="黑体" panose="02010609060101010101" pitchFamily="49" charset="-122"/>
              </a:rPr>
              <a:t>静态和动态模型</a:t>
            </a:r>
            <a:endParaRPr lang="en-US" altLang="zh-CN" dirty="0">
              <a:solidFill>
                <a:schemeClr val="bg1">
                  <a:lumMod val="85000"/>
                </a:schemeClr>
              </a:solidFill>
              <a:latin typeface="Calibri" panose="020F0502020204030204" pitchFamily="34" charset="0"/>
              <a:ea typeface="黑体" panose="02010609060101010101" pitchFamily="49" charset="-122"/>
            </a:endParaRPr>
          </a:p>
          <a:p>
            <a:pPr marL="514350" indent="-514350">
              <a:buFont typeface="+mj-lt"/>
              <a:buAutoNum type="arabicPeriod"/>
            </a:pPr>
            <a:r>
              <a:rPr lang="zh-CN" altLang="en-US" b="1" dirty="0">
                <a:solidFill>
                  <a:srgbClr val="FF0000"/>
                </a:solidFill>
                <a:latin typeface="Calibri" panose="020F0502020204030204" pitchFamily="34" charset="0"/>
                <a:ea typeface="黑体" panose="02010609060101010101" pitchFamily="49" charset="-122"/>
              </a:rPr>
              <a:t>应用案例</a:t>
            </a:r>
            <a:endParaRPr lang="en-US" altLang="zh-CN" b="1" dirty="0">
              <a:solidFill>
                <a:srgbClr val="FF0000"/>
              </a:solidFill>
              <a:latin typeface="Calibri" panose="020F0502020204030204" pitchFamily="34" charset="0"/>
              <a:ea typeface="黑体" panose="02010609060101010101" pitchFamily="49" charset="-122"/>
            </a:endParaRPr>
          </a:p>
          <a:p>
            <a:pPr marL="914400" lvl="1" indent="-514350">
              <a:buFont typeface="Wingdings" panose="05000000000000000000" pitchFamily="2" charset="2"/>
              <a:buChar char="l"/>
            </a:pPr>
            <a:r>
              <a:rPr lang="zh-CN" altLang="en-US" dirty="0">
                <a:latin typeface="Calibri" panose="020F0502020204030204" pitchFamily="34" charset="0"/>
                <a:ea typeface="黑体" panose="02010609060101010101" pitchFamily="49" charset="-122"/>
              </a:rPr>
              <a:t>多哈贸易自由化谈判对农业生产和贫困影响</a:t>
            </a:r>
            <a:endParaRPr lang="en-US" altLang="zh-CN" dirty="0">
              <a:latin typeface="Calibri" panose="020F0502020204030204" pitchFamily="34" charset="0"/>
              <a:ea typeface="黑体" panose="02010609060101010101" pitchFamily="49" charset="-122"/>
            </a:endParaRPr>
          </a:p>
          <a:p>
            <a:pPr marL="914400" lvl="1" indent="-514350">
              <a:buFont typeface="Wingdings" panose="05000000000000000000" pitchFamily="2" charset="2"/>
              <a:buChar char="l"/>
            </a:pPr>
            <a:r>
              <a:rPr lang="zh-CN" altLang="en-US" dirty="0">
                <a:latin typeface="Calibri" panose="020F0502020204030204" pitchFamily="34" charset="0"/>
                <a:ea typeface="黑体" panose="02010609060101010101" pitchFamily="49" charset="-122"/>
              </a:rPr>
              <a:t>基于</a:t>
            </a:r>
            <a:r>
              <a:rPr lang="en-US" altLang="zh-CN" dirty="0" err="1">
                <a:latin typeface="Calibri" panose="020F0502020204030204" pitchFamily="34" charset="0"/>
                <a:ea typeface="黑体" panose="02010609060101010101" pitchFamily="49" charset="-122"/>
              </a:rPr>
              <a:t>CAPSiM</a:t>
            </a:r>
            <a:r>
              <a:rPr lang="zh-CN" altLang="en-US" dirty="0">
                <a:latin typeface="Calibri" panose="020F0502020204030204" pitchFamily="34" charset="0"/>
                <a:ea typeface="黑体" panose="02010609060101010101" pitchFamily="49" charset="-122"/>
              </a:rPr>
              <a:t>模型对未来我国农业供需预测分析</a:t>
            </a:r>
            <a:endParaRPr lang="en-US" altLang="zh-CN" dirty="0">
              <a:latin typeface="Calibri" panose="020F0502020204030204" pitchFamily="34" charset="0"/>
              <a:ea typeface="黑体" panose="02010609060101010101" pitchFamily="49" charset="-122"/>
            </a:endParaRPr>
          </a:p>
          <a:p>
            <a:pPr marL="914400" lvl="1" indent="-514350">
              <a:buFont typeface="Wingdings" panose="05000000000000000000" pitchFamily="2" charset="2"/>
              <a:buChar char="l"/>
            </a:pPr>
            <a:r>
              <a:rPr lang="zh-CN" altLang="en-US" dirty="0">
                <a:latin typeface="Calibri" panose="020F0502020204030204" pitchFamily="34" charset="0"/>
                <a:ea typeface="黑体" panose="02010609060101010101" pitchFamily="49" charset="-122"/>
              </a:rPr>
              <a:t>生物能源发展对农业生产和贫困影响</a:t>
            </a:r>
          </a:p>
          <a:p>
            <a:pPr marL="0" indent="0">
              <a:buNone/>
            </a:pPr>
            <a:endParaRPr lang="zh-CN" altLang="en-US" b="1" dirty="0">
              <a:solidFill>
                <a:schemeClr val="accent2"/>
              </a:solidFill>
            </a:endParaRPr>
          </a:p>
          <a:p>
            <a:pPr marL="0" indent="0">
              <a:buNone/>
            </a:pPr>
            <a:endParaRPr lang="en-US" altLang="zh-CN" dirty="0">
              <a:latin typeface="黑体" panose="02010609060101010101" pitchFamily="49" charset="-122"/>
              <a:ea typeface="黑体" panose="02010609060101010101" pitchFamily="49" charset="-122"/>
            </a:endParaRPr>
          </a:p>
          <a:p>
            <a:pPr marL="0" indent="0">
              <a:buNone/>
            </a:pPr>
            <a:endParaRPr lang="en-US" altLang="zh-CN" dirty="0">
              <a:latin typeface="黑体" panose="02010609060101010101" pitchFamily="49" charset="-122"/>
              <a:ea typeface="黑体" panose="02010609060101010101" pitchFamily="49" charset="-122"/>
            </a:endParaRPr>
          </a:p>
          <a:p>
            <a:pPr marL="514350" indent="-514350">
              <a:buFont typeface="+mj-lt"/>
              <a:buAutoNum type="arabicPeriod"/>
            </a:pPr>
            <a:endParaRPr lang="en-US" altLang="zh-CN" dirty="0">
              <a:latin typeface="黑体" panose="02010609060101010101" pitchFamily="49" charset="-122"/>
              <a:ea typeface="黑体" panose="02010609060101010101" pitchFamily="49" charset="-122"/>
            </a:endParaRPr>
          </a:p>
          <a:p>
            <a:endParaRPr lang="zh-CN" altLang="en-US" dirty="0">
              <a:latin typeface="黑体" panose="02010609060101010101" pitchFamily="49" charset="-122"/>
              <a:ea typeface="黑体" panose="02010609060101010101" pitchFamily="49" charset="-122"/>
            </a:endParaRPr>
          </a:p>
        </p:txBody>
      </p:sp>
      <p:sp>
        <p:nvSpPr>
          <p:cNvPr id="4" name="日期占位符 3"/>
          <p:cNvSpPr>
            <a:spLocks noGrp="1"/>
          </p:cNvSpPr>
          <p:nvPr>
            <p:ph type="dt" sz="half" idx="10"/>
          </p:nvPr>
        </p:nvSpPr>
        <p:spPr/>
        <p:txBody>
          <a:bodyPr/>
          <a:lstStyle/>
          <a:p>
            <a:fld id="{32E8C72D-371D-46C3-B39E-84A140A43767}" type="datetime1">
              <a:rPr lang="zh-CN" altLang="en-US" smtClean="0"/>
              <a:t>2021/5/27</a:t>
            </a:fld>
            <a:endParaRPr lang="zh-CN" altLang="en-US"/>
          </a:p>
        </p:txBody>
      </p:sp>
      <p:sp>
        <p:nvSpPr>
          <p:cNvPr id="5" name="灯片编号占位符 4"/>
          <p:cNvSpPr>
            <a:spLocks noGrp="1"/>
          </p:cNvSpPr>
          <p:nvPr>
            <p:ph type="sldNum" sz="quarter" idx="12"/>
          </p:nvPr>
        </p:nvSpPr>
        <p:spPr/>
        <p:txBody>
          <a:bodyPr/>
          <a:lstStyle/>
          <a:p>
            <a:fld id="{C8D0647B-24A2-46AB-A27A-847EF503E68C}" type="slidenum">
              <a:rPr lang="zh-CN" altLang="en-US" smtClean="0"/>
              <a:pPr/>
              <a:t>38</a:t>
            </a:fld>
            <a:endParaRPr lang="zh-CN" altLang="en-US"/>
          </a:p>
        </p:txBody>
      </p:sp>
    </p:spTree>
    <p:extLst>
      <p:ext uri="{BB962C8B-B14F-4D97-AF65-F5344CB8AC3E}">
        <p14:creationId xmlns:p14="http://schemas.microsoft.com/office/powerpoint/2010/main" val="32234240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457200" y="457200"/>
            <a:ext cx="7772400" cy="1143000"/>
          </a:xfrm>
        </p:spPr>
        <p:txBody>
          <a:bodyPr/>
          <a:lstStyle/>
          <a:p>
            <a:pPr eaLnBrk="1" hangingPunct="1"/>
            <a:r>
              <a:rPr lang="zh-CN" altLang="en-US" sz="3200" b="1"/>
              <a:t>中国进口关税和出口面临关税的比较</a:t>
            </a:r>
            <a:r>
              <a:rPr lang="en-US" altLang="zh-CN" sz="3200"/>
              <a:t>(%)</a:t>
            </a:r>
          </a:p>
        </p:txBody>
      </p:sp>
      <p:sp>
        <p:nvSpPr>
          <p:cNvPr id="76803" name="Rectangle 3"/>
          <p:cNvSpPr>
            <a:spLocks noChangeArrowheads="1"/>
          </p:cNvSpPr>
          <p:nvPr/>
        </p:nvSpPr>
        <p:spPr bwMode="auto">
          <a:xfrm>
            <a:off x="0" y="5943600"/>
            <a:ext cx="6553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600">
                <a:solidFill>
                  <a:schemeClr val="tx1"/>
                </a:solidFill>
                <a:latin typeface="Arial" panose="020B0604020202020204" pitchFamily="34" charset="0"/>
                <a:ea typeface="宋体" panose="02010600030101010101" pitchFamily="2" charset="-122"/>
              </a:defRPr>
            </a:lvl1pPr>
            <a:lvl2pPr marL="742950" indent="-285750" eaLnBrk="0" hangingPunct="0">
              <a:defRPr sz="1600">
                <a:solidFill>
                  <a:schemeClr val="tx1"/>
                </a:solidFill>
                <a:latin typeface="Arial" panose="020B0604020202020204" pitchFamily="34" charset="0"/>
                <a:ea typeface="宋体" panose="02010600030101010101" pitchFamily="2" charset="-122"/>
              </a:defRPr>
            </a:lvl2pPr>
            <a:lvl3pPr marL="1143000" indent="-228600" eaLnBrk="0" hangingPunct="0">
              <a:defRPr sz="1600">
                <a:solidFill>
                  <a:schemeClr val="tx1"/>
                </a:solidFill>
                <a:latin typeface="Arial" panose="020B0604020202020204" pitchFamily="34" charset="0"/>
                <a:ea typeface="宋体" panose="02010600030101010101" pitchFamily="2" charset="-122"/>
              </a:defRPr>
            </a:lvl3pPr>
            <a:lvl4pPr marL="1600200" indent="-228600" eaLnBrk="0" hangingPunct="0">
              <a:defRPr sz="1600">
                <a:solidFill>
                  <a:schemeClr val="tx1"/>
                </a:solidFill>
                <a:latin typeface="Arial" panose="020B0604020202020204" pitchFamily="34" charset="0"/>
                <a:ea typeface="宋体" panose="02010600030101010101" pitchFamily="2" charset="-122"/>
              </a:defRPr>
            </a:lvl4pPr>
            <a:lvl5pPr marL="2057400" indent="-228600" eaLnBrk="0" hangingPunct="0">
              <a:defRPr sz="16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kumimoji="1" lang="zh-CN" altLang="en-US" sz="2000">
                <a:solidFill>
                  <a:srgbClr val="000000"/>
                </a:solidFill>
                <a:latin typeface="Times New Roman" panose="02020603050405020304" pitchFamily="18" charset="0"/>
              </a:rPr>
              <a:t>来源</a:t>
            </a:r>
            <a:r>
              <a:rPr kumimoji="1" lang="en-US" altLang="zh-CN" sz="2000">
                <a:solidFill>
                  <a:srgbClr val="000000"/>
                </a:solidFill>
                <a:latin typeface="Times New Roman" panose="02020603050405020304" pitchFamily="18" charset="0"/>
              </a:rPr>
              <a:t>: GTAP</a:t>
            </a:r>
            <a:r>
              <a:rPr kumimoji="1" lang="zh-CN" altLang="en-US" sz="2000">
                <a:solidFill>
                  <a:srgbClr val="000000"/>
                </a:solidFill>
                <a:latin typeface="Times New Roman" panose="02020603050405020304" pitchFamily="18" charset="0"/>
              </a:rPr>
              <a:t>数据库和中国加入</a:t>
            </a:r>
            <a:r>
              <a:rPr kumimoji="1" lang="en-US" altLang="zh-CN" sz="2000">
                <a:solidFill>
                  <a:srgbClr val="000000"/>
                </a:solidFill>
                <a:latin typeface="Times New Roman" panose="02020603050405020304" pitchFamily="18" charset="0"/>
              </a:rPr>
              <a:t>WTO</a:t>
            </a:r>
            <a:r>
              <a:rPr kumimoji="1" lang="zh-CN" altLang="en-US" sz="2000">
                <a:solidFill>
                  <a:srgbClr val="000000"/>
                </a:solidFill>
                <a:latin typeface="Times New Roman" panose="02020603050405020304" pitchFamily="18" charset="0"/>
              </a:rPr>
              <a:t>文件</a:t>
            </a:r>
            <a:endParaRPr kumimoji="1" lang="zh-CN" altLang="en-US" sz="1800">
              <a:solidFill>
                <a:srgbClr val="000000"/>
              </a:solidFill>
              <a:latin typeface="Times New Roman" panose="02020603050405020304" pitchFamily="18" charset="0"/>
            </a:endParaRPr>
          </a:p>
        </p:txBody>
      </p:sp>
      <p:graphicFrame>
        <p:nvGraphicFramePr>
          <p:cNvPr id="76804" name="Object 4"/>
          <p:cNvGraphicFramePr>
            <a:graphicFrameLocks noGrp="1" noChangeAspect="1"/>
          </p:cNvGraphicFramePr>
          <p:nvPr>
            <p:ph idx="1"/>
          </p:nvPr>
        </p:nvGraphicFramePr>
        <p:xfrm>
          <a:off x="-304800" y="1828800"/>
          <a:ext cx="10248900" cy="4343400"/>
        </p:xfrm>
        <a:graphic>
          <a:graphicData uri="http://schemas.openxmlformats.org/presentationml/2006/ole">
            <mc:AlternateContent xmlns:mc="http://schemas.openxmlformats.org/markup-compatibility/2006">
              <mc:Choice xmlns:v="urn:schemas-microsoft-com:vml" Requires="v">
                <p:oleObj name="图表" r:id="rId2" imgW="10218553" imgH="4069185" progId="MSGraph.Chart.8">
                  <p:embed followColorScheme="full"/>
                </p:oleObj>
              </mc:Choice>
              <mc:Fallback>
                <p:oleObj name="图表" r:id="rId2" imgW="10218553" imgH="4069185" progId="MSGraph.Chart.8">
                  <p:embed followColorScheme="full"/>
                  <p:pic>
                    <p:nvPicPr>
                      <p:cNvPr id="0" name=""/>
                      <p:cNvPicPr>
                        <a:picLocks noChangeAspect="1" noChangeArrowheads="1"/>
                      </p:cNvPicPr>
                      <p:nvPr/>
                    </p:nvPicPr>
                    <p:blipFill>
                      <a:blip r:embed="rId3"/>
                      <a:srcRect/>
                      <a:stretch>
                        <a:fillRect/>
                      </a:stretch>
                    </p:blipFill>
                    <p:spPr bwMode="auto">
                      <a:xfrm>
                        <a:off x="-304800" y="1828800"/>
                        <a:ext cx="10248900" cy="434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140159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zh-CN" altLang="en-US" sz="4000" b="1"/>
              <a:t>美国、欧盟和</a:t>
            </a:r>
            <a:r>
              <a:rPr lang="en-US" altLang="zh-CN" sz="4000" b="1"/>
              <a:t>G20</a:t>
            </a:r>
            <a:r>
              <a:rPr lang="zh-CN" altLang="en-US" sz="4000" b="1"/>
              <a:t>集团</a:t>
            </a:r>
            <a:br>
              <a:rPr lang="zh-CN" altLang="en-US" sz="4000" b="1"/>
            </a:br>
            <a:r>
              <a:rPr lang="zh-CN" altLang="en-US" sz="4000" b="1"/>
              <a:t>多哈贸易自由化提案</a:t>
            </a:r>
          </a:p>
        </p:txBody>
      </p:sp>
      <p:graphicFrame>
        <p:nvGraphicFramePr>
          <p:cNvPr id="176131" name="Group 3"/>
          <p:cNvGraphicFramePr>
            <a:graphicFrameLocks noGrp="1"/>
          </p:cNvGraphicFramePr>
          <p:nvPr>
            <p:ph sz="half" idx="1"/>
          </p:nvPr>
        </p:nvGraphicFramePr>
        <p:xfrm>
          <a:off x="381000" y="2519363"/>
          <a:ext cx="8763000" cy="3219451"/>
        </p:xfrm>
        <a:graphic>
          <a:graphicData uri="http://schemas.openxmlformats.org/drawingml/2006/table">
            <a:tbl>
              <a:tblPr/>
              <a:tblGrid>
                <a:gridCol w="730250">
                  <a:extLst>
                    <a:ext uri="{9D8B030D-6E8A-4147-A177-3AD203B41FA5}">
                      <a16:colId xmlns:a16="http://schemas.microsoft.com/office/drawing/2014/main" val="20000"/>
                    </a:ext>
                  </a:extLst>
                </a:gridCol>
                <a:gridCol w="730250">
                  <a:extLst>
                    <a:ext uri="{9D8B030D-6E8A-4147-A177-3AD203B41FA5}">
                      <a16:colId xmlns:a16="http://schemas.microsoft.com/office/drawing/2014/main" val="20001"/>
                    </a:ext>
                  </a:extLst>
                </a:gridCol>
                <a:gridCol w="1431925">
                  <a:extLst>
                    <a:ext uri="{9D8B030D-6E8A-4147-A177-3AD203B41FA5}">
                      <a16:colId xmlns:a16="http://schemas.microsoft.com/office/drawing/2014/main" val="20002"/>
                    </a:ext>
                  </a:extLst>
                </a:gridCol>
                <a:gridCol w="349250">
                  <a:extLst>
                    <a:ext uri="{9D8B030D-6E8A-4147-A177-3AD203B41FA5}">
                      <a16:colId xmlns:a16="http://schemas.microsoft.com/office/drawing/2014/main" val="20003"/>
                    </a:ext>
                  </a:extLst>
                </a:gridCol>
                <a:gridCol w="720725">
                  <a:extLst>
                    <a:ext uri="{9D8B030D-6E8A-4147-A177-3AD203B41FA5}">
                      <a16:colId xmlns:a16="http://schemas.microsoft.com/office/drawing/2014/main" val="20004"/>
                    </a:ext>
                  </a:extLst>
                </a:gridCol>
                <a:gridCol w="590550">
                  <a:extLst>
                    <a:ext uri="{9D8B030D-6E8A-4147-A177-3AD203B41FA5}">
                      <a16:colId xmlns:a16="http://schemas.microsoft.com/office/drawing/2014/main" val="20005"/>
                    </a:ext>
                  </a:extLst>
                </a:gridCol>
                <a:gridCol w="1212850">
                  <a:extLst>
                    <a:ext uri="{9D8B030D-6E8A-4147-A177-3AD203B41FA5}">
                      <a16:colId xmlns:a16="http://schemas.microsoft.com/office/drawing/2014/main" val="20006"/>
                    </a:ext>
                  </a:extLst>
                </a:gridCol>
                <a:gridCol w="330200">
                  <a:extLst>
                    <a:ext uri="{9D8B030D-6E8A-4147-A177-3AD203B41FA5}">
                      <a16:colId xmlns:a16="http://schemas.microsoft.com/office/drawing/2014/main" val="20007"/>
                    </a:ext>
                  </a:extLst>
                </a:gridCol>
                <a:gridCol w="669925">
                  <a:extLst>
                    <a:ext uri="{9D8B030D-6E8A-4147-A177-3AD203B41FA5}">
                      <a16:colId xmlns:a16="http://schemas.microsoft.com/office/drawing/2014/main" val="20008"/>
                    </a:ext>
                  </a:extLst>
                </a:gridCol>
                <a:gridCol w="730250">
                  <a:extLst>
                    <a:ext uri="{9D8B030D-6E8A-4147-A177-3AD203B41FA5}">
                      <a16:colId xmlns:a16="http://schemas.microsoft.com/office/drawing/2014/main" val="20009"/>
                    </a:ext>
                  </a:extLst>
                </a:gridCol>
                <a:gridCol w="1266825">
                  <a:extLst>
                    <a:ext uri="{9D8B030D-6E8A-4147-A177-3AD203B41FA5}">
                      <a16:colId xmlns:a16="http://schemas.microsoft.com/office/drawing/2014/main" val="20010"/>
                    </a:ext>
                  </a:extLst>
                </a:gridCol>
              </a:tblGrid>
              <a:tr h="341277">
                <a:tc gridSpan="3">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G20</a:t>
                      </a:r>
                    </a:p>
                  </a:txBody>
                  <a:tcPr marT="45715" marB="45715" anchor="ctr" horzOverflow="overflow">
                    <a:lnL cap="flat">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　</a:t>
                      </a:r>
                    </a:p>
                  </a:txBody>
                  <a:tcPr marT="45715" marB="45715" anchor="ctr" horzOverflow="overflow">
                    <a:lnL>
                      <a:noFill/>
                    </a:lnL>
                    <a:lnR>
                      <a:noFill/>
                    </a:lnR>
                    <a:lnT w="25400" cap="flat" cmpd="sng" algn="ctr">
                      <a:solidFill>
                        <a:srgbClr val="000000"/>
                      </a:solidFill>
                      <a:prstDash val="solid"/>
                      <a:round/>
                      <a:headEnd type="none" w="med" len="med"/>
                      <a:tailEnd type="none" w="med" len="med"/>
                    </a:lnT>
                    <a:lnB>
                      <a:noFill/>
                    </a:lnB>
                    <a:lnTlToBr>
                      <a:noFill/>
                    </a:lnTlToBr>
                    <a:lnBlToTr>
                      <a:noFill/>
                    </a:lnBlToTr>
                    <a:noFill/>
                  </a:tcPr>
                </a:tc>
                <a:tc gridSpan="3">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美国</a:t>
                      </a:r>
                    </a:p>
                  </a:txBody>
                  <a:tcPr marT="45715" marB="45715"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　</a:t>
                      </a:r>
                    </a:p>
                  </a:txBody>
                  <a:tcPr marT="45715" marB="45715" anchor="ctr" horzOverflow="overflow">
                    <a:lnL>
                      <a:noFill/>
                    </a:lnL>
                    <a:lnR>
                      <a:noFill/>
                    </a:lnR>
                    <a:lnT w="25400" cap="flat" cmpd="sng" algn="ctr">
                      <a:solidFill>
                        <a:srgbClr val="000000"/>
                      </a:solidFill>
                      <a:prstDash val="solid"/>
                      <a:round/>
                      <a:headEnd type="none" w="med" len="med"/>
                      <a:tailEnd type="none" w="med" len="med"/>
                    </a:lnT>
                    <a:lnB>
                      <a:noFill/>
                    </a:lnB>
                    <a:lnTlToBr>
                      <a:noFill/>
                    </a:lnTlToBr>
                    <a:lnBlToTr>
                      <a:noFill/>
                    </a:lnBlToTr>
                    <a:noFill/>
                  </a:tcPr>
                </a:tc>
                <a:tc gridSpan="3">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欧盟</a:t>
                      </a:r>
                    </a:p>
                  </a:txBody>
                  <a:tcPr marT="45715" marB="45715" anchor="ctr" horzOverflow="overflow">
                    <a:lnL>
                      <a:noFill/>
                    </a:lnL>
                    <a:lnR cap="flat">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15881">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关税区间</a:t>
                      </a:r>
                      <a:r>
                        <a:rPr kumimoji="0" lang="en-US" altLang="zh-CN" sz="1600" b="0" i="0" u="none" strike="noStrike" cap="none" normalizeH="0" baseline="0">
                          <a:ln>
                            <a:noFill/>
                          </a:ln>
                          <a:solidFill>
                            <a:schemeClr val="tx1"/>
                          </a:solidFill>
                          <a:effectLst/>
                          <a:latin typeface="Arial" charset="0"/>
                          <a:ea typeface="宋体" pitchFamily="2" charset="-122"/>
                        </a:rPr>
                        <a:t>(%)</a:t>
                      </a:r>
                    </a:p>
                  </a:txBody>
                  <a:tcPr marT="45715" marB="45715" anchor="ctr"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削减幅度</a:t>
                      </a:r>
                      <a:r>
                        <a:rPr kumimoji="0" lang="en-US" altLang="zh-CN" sz="1600" b="0" i="0" u="none" strike="noStrike" cap="none" normalizeH="0" baseline="0">
                          <a:ln>
                            <a:noFill/>
                          </a:ln>
                          <a:solidFill>
                            <a:schemeClr val="tx1"/>
                          </a:solidFill>
                          <a:effectLst/>
                          <a:latin typeface="Arial" charset="0"/>
                          <a:ea typeface="宋体" pitchFamily="2" charset="-122"/>
                        </a:rPr>
                        <a:t>(%)</a:t>
                      </a:r>
                    </a:p>
                  </a:txBody>
                  <a:tcPr marT="45715" marB="45715" anchor="ctr" horzOverflow="overflow">
                    <a:lnL>
                      <a:noFill/>
                    </a:lnL>
                    <a:lnR>
                      <a:noFill/>
                    </a:lnR>
                    <a:lnT w="1270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T="45715" marB="45715" anchor="ctr" horzOverflow="overflow">
                    <a:lnL>
                      <a:noFill/>
                    </a:lnL>
                    <a:lnR>
                      <a:noFill/>
                    </a:lnR>
                    <a:lnT>
                      <a:noFill/>
                    </a:lnT>
                    <a:lnB>
                      <a:noFill/>
                    </a:lnB>
                    <a:lnTlToBr>
                      <a:noFill/>
                    </a:lnTlToBr>
                    <a:lnBlToTr>
                      <a:noFill/>
                    </a:lnBlToTr>
                    <a:noFill/>
                  </a:tcPr>
                </a:tc>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关税区间</a:t>
                      </a:r>
                      <a:r>
                        <a:rPr kumimoji="0" lang="en-US" altLang="zh-CN" sz="1600" b="0" i="0" u="none" strike="noStrike" cap="none" normalizeH="0" baseline="0">
                          <a:ln>
                            <a:noFill/>
                          </a:ln>
                          <a:solidFill>
                            <a:schemeClr val="tx1"/>
                          </a:solidFill>
                          <a:effectLst/>
                          <a:latin typeface="Arial" charset="0"/>
                          <a:ea typeface="宋体" pitchFamily="2" charset="-122"/>
                        </a:rPr>
                        <a:t>(%)</a:t>
                      </a:r>
                    </a:p>
                  </a:txBody>
                  <a:tcPr marT="45715" marB="45715"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削减幅度</a:t>
                      </a:r>
                      <a:r>
                        <a:rPr kumimoji="0" lang="en-US" altLang="zh-CN" sz="1600" b="0" i="0" u="none" strike="noStrike" cap="none" normalizeH="0" baseline="0">
                          <a:ln>
                            <a:noFill/>
                          </a:ln>
                          <a:solidFill>
                            <a:schemeClr val="tx1"/>
                          </a:solidFill>
                          <a:effectLst/>
                          <a:latin typeface="Arial" charset="0"/>
                          <a:ea typeface="宋体" pitchFamily="2" charset="-122"/>
                        </a:rPr>
                        <a:t>(%)</a:t>
                      </a:r>
                    </a:p>
                  </a:txBody>
                  <a:tcPr marT="45715" marB="45715" anchor="ctr" horzOverflow="overflow">
                    <a:lnL>
                      <a:noFill/>
                    </a:lnL>
                    <a:lnR>
                      <a:noFill/>
                    </a:lnR>
                    <a:lnT w="1270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T="45715" marB="45715" anchor="ctr" horzOverflow="overflow">
                    <a:lnL>
                      <a:noFill/>
                    </a:lnL>
                    <a:lnR>
                      <a:noFill/>
                    </a:lnR>
                    <a:lnT>
                      <a:noFill/>
                    </a:lnT>
                    <a:lnB>
                      <a:noFill/>
                    </a:lnB>
                    <a:lnTlToBr>
                      <a:noFill/>
                    </a:lnTlToBr>
                    <a:lnBlToTr>
                      <a:noFill/>
                    </a:lnBlToTr>
                    <a:noFill/>
                  </a:tcPr>
                </a:tc>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关税区间</a:t>
                      </a:r>
                      <a:r>
                        <a:rPr kumimoji="0" lang="en-US" altLang="zh-CN" sz="1600" b="0" i="0" u="none" strike="noStrike" cap="none" normalizeH="0" baseline="0">
                          <a:ln>
                            <a:noFill/>
                          </a:ln>
                          <a:solidFill>
                            <a:schemeClr val="tx1"/>
                          </a:solidFill>
                          <a:effectLst/>
                          <a:latin typeface="Arial" charset="0"/>
                          <a:ea typeface="宋体" pitchFamily="2" charset="-122"/>
                        </a:rPr>
                        <a:t>(%)</a:t>
                      </a:r>
                    </a:p>
                  </a:txBody>
                  <a:tcPr marT="45715" marB="45715"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削减幅度</a:t>
                      </a:r>
                      <a:r>
                        <a:rPr kumimoji="0" lang="en-US" altLang="zh-CN" sz="1600" b="0" i="0" u="none" strike="noStrike" cap="none" normalizeH="0" baseline="0">
                          <a:ln>
                            <a:noFill/>
                          </a:ln>
                          <a:solidFill>
                            <a:schemeClr val="tx1"/>
                          </a:solidFill>
                          <a:effectLst/>
                          <a:latin typeface="Arial" charset="0"/>
                          <a:ea typeface="宋体" pitchFamily="2" charset="-122"/>
                        </a:rPr>
                        <a:t>(%)</a:t>
                      </a:r>
                    </a:p>
                  </a:txBody>
                  <a:tcPr marT="45715" marB="45715" anchor="ctr" horzOverflow="overflow">
                    <a:lnL>
                      <a:noFill/>
                    </a:lnL>
                    <a:lnR cap="flat">
                      <a:noFill/>
                    </a:lnR>
                    <a:lnT w="1270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27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下限</a:t>
                      </a:r>
                    </a:p>
                  </a:txBody>
                  <a:tcPr marT="45715" marB="45715" anchor="ctr" horzOverflow="overflow">
                    <a:lnL cap="flat">
                      <a:noFill/>
                    </a:lnL>
                    <a:lnR>
                      <a:noFill/>
                    </a:lnR>
                    <a:lnT w="1270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上限</a:t>
                      </a:r>
                    </a:p>
                  </a:txBody>
                  <a:tcPr marT="45715" marB="45715" anchor="ctr" horzOverflow="overflow">
                    <a:lnL>
                      <a:noFill/>
                    </a:lnL>
                    <a:lnR>
                      <a:noFill/>
                    </a:lnR>
                    <a:lnT w="1270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T="45715" marB="45715" anchor="ctr" horzOverflow="overflow">
                    <a:lnL>
                      <a:noFill/>
                    </a:lnL>
                    <a:lnR>
                      <a:noFill/>
                    </a:lnR>
                    <a:lnT>
                      <a:noFill/>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下限</a:t>
                      </a:r>
                    </a:p>
                  </a:txBody>
                  <a:tcPr marT="45715" marB="45715" anchor="ctr" horzOverflow="overflow">
                    <a:lnL>
                      <a:noFill/>
                    </a:lnL>
                    <a:lnR>
                      <a:noFill/>
                    </a:lnR>
                    <a:lnT w="1270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上限</a:t>
                      </a:r>
                    </a:p>
                  </a:txBody>
                  <a:tcPr marT="45715" marB="45715" anchor="ctr" horzOverflow="overflow">
                    <a:lnL>
                      <a:noFill/>
                    </a:lnL>
                    <a:lnR>
                      <a:noFill/>
                    </a:lnR>
                    <a:lnT w="1270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T="45715" marB="45715" anchor="ctr" horzOverflow="overflow">
                    <a:lnL>
                      <a:noFill/>
                    </a:lnL>
                    <a:lnR>
                      <a:noFill/>
                    </a:lnR>
                    <a:lnT>
                      <a:noFill/>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下限</a:t>
                      </a:r>
                    </a:p>
                  </a:txBody>
                  <a:tcPr marT="45715" marB="45715" anchor="ctr" horzOverflow="overflow">
                    <a:lnL>
                      <a:noFill/>
                    </a:lnL>
                    <a:lnR>
                      <a:noFill/>
                    </a:lnR>
                    <a:lnT w="1270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上限</a:t>
                      </a:r>
                    </a:p>
                  </a:txBody>
                  <a:tcPr marT="45715" marB="45715" anchor="ctr" horzOverflow="overflow">
                    <a:lnL>
                      <a:noFill/>
                    </a:lnL>
                    <a:lnR>
                      <a:noFill/>
                    </a:lnR>
                    <a:lnT w="1270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2"/>
                  </a:ext>
                </a:extLst>
              </a:tr>
              <a:tr h="531756">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a:t>
                      </a:r>
                    </a:p>
                  </a:txBody>
                  <a:tcPr marT="45715" marB="45715" anchor="ctr" horzOverflow="overflow">
                    <a:lnL cap="flat">
                      <a:noFill/>
                    </a:lnL>
                    <a:lnR>
                      <a:noFill/>
                    </a:lnR>
                    <a:lnT w="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20</a:t>
                      </a:r>
                    </a:p>
                  </a:txBody>
                  <a:tcPr marT="45715" marB="45715" anchor="ctr" horzOverflow="overflow">
                    <a:lnL>
                      <a:noFill/>
                    </a:lnL>
                    <a:lnR>
                      <a:noFill/>
                    </a:lnR>
                    <a:lnT w="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45</a:t>
                      </a:r>
                    </a:p>
                  </a:txBody>
                  <a:tcPr marT="45715" marB="45715" anchor="ctr" horzOverflow="overflow">
                    <a:lnL>
                      <a:noFill/>
                    </a:lnL>
                    <a:lnR>
                      <a:noFill/>
                    </a:lnR>
                    <a:lnT w="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T="45715" marB="45715" anchor="ctr" horzOverflow="overflow">
                    <a:lnL>
                      <a:noFill/>
                    </a:lnL>
                    <a:lnR>
                      <a:noFill/>
                    </a:lnR>
                    <a:lnT w="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a:t>
                      </a:r>
                    </a:p>
                  </a:txBody>
                  <a:tcPr marT="45715" marB="45715" anchor="ctr" horzOverflow="overflow">
                    <a:lnL>
                      <a:noFill/>
                    </a:lnL>
                    <a:lnR>
                      <a:noFill/>
                    </a:lnR>
                    <a:lnT w="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20</a:t>
                      </a:r>
                    </a:p>
                  </a:txBody>
                  <a:tcPr marT="45715" marB="45715" anchor="ctr" horzOverflow="overflow">
                    <a:lnL>
                      <a:noFill/>
                    </a:lnL>
                    <a:lnR>
                      <a:noFill/>
                    </a:lnR>
                    <a:lnT w="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65</a:t>
                      </a:r>
                    </a:p>
                  </a:txBody>
                  <a:tcPr marT="45715" marB="45715" anchor="ctr" horzOverflow="overflow">
                    <a:lnL>
                      <a:noFill/>
                    </a:lnL>
                    <a:lnR>
                      <a:noFill/>
                    </a:lnR>
                    <a:lnT w="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T="45715" marB="45715" anchor="ctr" horzOverflow="overflow">
                    <a:lnL>
                      <a:noFill/>
                    </a:lnL>
                    <a:lnR>
                      <a:noFill/>
                    </a:lnR>
                    <a:lnT w="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a:t>
                      </a:r>
                    </a:p>
                  </a:txBody>
                  <a:tcPr marT="45715" marB="45715" anchor="ctr" horzOverflow="overflow">
                    <a:lnL>
                      <a:noFill/>
                    </a:lnL>
                    <a:lnR>
                      <a:noFill/>
                    </a:lnR>
                    <a:lnT w="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30</a:t>
                      </a:r>
                    </a:p>
                  </a:txBody>
                  <a:tcPr marT="45715" marB="45715" anchor="ctr" horzOverflow="overflow">
                    <a:lnL>
                      <a:noFill/>
                    </a:lnL>
                    <a:lnR>
                      <a:noFill/>
                    </a:lnR>
                    <a:lnT w="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45</a:t>
                      </a:r>
                    </a:p>
                  </a:txBody>
                  <a:tcPr marT="45715" marB="45715" anchor="ctr" horzOverflow="overflow">
                    <a:lnL>
                      <a:noFill/>
                    </a:lnL>
                    <a:lnR cap="flat">
                      <a:noFill/>
                    </a:lnR>
                    <a:lnT w="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3"/>
                  </a:ext>
                </a:extLst>
              </a:tr>
              <a:tr h="53334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20</a:t>
                      </a:r>
                    </a:p>
                  </a:txBody>
                  <a:tcPr marT="45715" marB="45715" anchor="ctr"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50</a:t>
                      </a:r>
                    </a:p>
                  </a:txBody>
                  <a:tcPr marT="45715" marB="4571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55</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T="45715" marB="4571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20</a:t>
                      </a:r>
                    </a:p>
                  </a:txBody>
                  <a:tcPr marT="45715" marB="4571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40</a:t>
                      </a:r>
                    </a:p>
                  </a:txBody>
                  <a:tcPr marT="45715" marB="4571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75</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T="45715" marB="4571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30</a:t>
                      </a:r>
                    </a:p>
                  </a:txBody>
                  <a:tcPr marT="45715" marB="4571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T="45715" marB="4571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45</a:t>
                      </a:r>
                    </a:p>
                  </a:txBody>
                  <a:tcPr marT="45715" marB="45715"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31756">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50</a:t>
                      </a:r>
                    </a:p>
                  </a:txBody>
                  <a:tcPr marT="45715" marB="45715" anchor="ctr"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75</a:t>
                      </a:r>
                    </a:p>
                  </a:txBody>
                  <a:tcPr marT="45715" marB="4571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65</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T="45715" marB="4571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40</a:t>
                      </a:r>
                    </a:p>
                  </a:txBody>
                  <a:tcPr marT="45715" marB="4571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T="45715" marB="4571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85</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T="45715" marB="4571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T="45715" marB="4571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90</a:t>
                      </a:r>
                    </a:p>
                  </a:txBody>
                  <a:tcPr marT="45715" marB="4571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50</a:t>
                      </a:r>
                    </a:p>
                  </a:txBody>
                  <a:tcPr marT="45715" marB="45715"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3016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75</a:t>
                      </a:r>
                    </a:p>
                  </a:txBody>
                  <a:tcPr marT="45715" marB="45715" anchor="ctr" horzOverflow="overflow">
                    <a:lnL cap="flat">
                      <a:noFill/>
                    </a:lnL>
                    <a:lnR>
                      <a:noFill/>
                    </a:lnR>
                    <a:lnT>
                      <a:noFill/>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a:t>
                      </a:r>
                    </a:p>
                  </a:txBody>
                  <a:tcPr marT="45715" marB="45715" anchor="ctr" horzOverflow="overflow">
                    <a:lnL>
                      <a:noFill/>
                    </a:lnL>
                    <a:lnR>
                      <a:noFill/>
                    </a:lnR>
                    <a:lnT>
                      <a:noFill/>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75</a:t>
                      </a:r>
                    </a:p>
                  </a:txBody>
                  <a:tcPr marT="45715" marB="45715" anchor="ctr" horzOverflow="overflow">
                    <a:lnL>
                      <a:noFill/>
                    </a:lnL>
                    <a:lnR>
                      <a:noFill/>
                    </a:lnR>
                    <a:lnT>
                      <a:noFill/>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T="45715" marB="45715" anchor="ctr" horzOverflow="overflow">
                    <a:lnL>
                      <a:noFill/>
                    </a:lnL>
                    <a:lnR>
                      <a:noFill/>
                    </a:lnR>
                    <a:lnT>
                      <a:noFill/>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T="45715" marB="45715" anchor="ctr" horzOverflow="overflow">
                    <a:lnL>
                      <a:noFill/>
                    </a:lnL>
                    <a:lnR>
                      <a:noFill/>
                    </a:lnR>
                    <a:lnT>
                      <a:noFill/>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a:t>
                      </a:r>
                    </a:p>
                  </a:txBody>
                  <a:tcPr marT="45715" marB="45715" anchor="ctr" horzOverflow="overflow">
                    <a:lnL>
                      <a:noFill/>
                    </a:lnL>
                    <a:lnR>
                      <a:noFill/>
                    </a:lnR>
                    <a:lnT>
                      <a:noFill/>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90</a:t>
                      </a:r>
                    </a:p>
                  </a:txBody>
                  <a:tcPr marT="45715" marB="45715" anchor="ctr" horzOverflow="overflow">
                    <a:lnL>
                      <a:noFill/>
                    </a:lnL>
                    <a:lnR>
                      <a:noFill/>
                    </a:lnR>
                    <a:lnT>
                      <a:noFill/>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T="45715" marB="45715" anchor="ctr" horzOverflow="overflow">
                    <a:lnL>
                      <a:noFill/>
                    </a:lnL>
                    <a:lnR>
                      <a:noFill/>
                    </a:lnR>
                    <a:lnT>
                      <a:noFill/>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90</a:t>
                      </a:r>
                    </a:p>
                  </a:txBody>
                  <a:tcPr marT="45715" marB="45715" anchor="ctr" horzOverflow="overflow">
                    <a:lnL>
                      <a:noFill/>
                    </a:lnL>
                    <a:lnR>
                      <a:noFill/>
                    </a:lnR>
                    <a:lnT>
                      <a:noFill/>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a:t>
                      </a:r>
                    </a:p>
                  </a:txBody>
                  <a:tcPr marT="45715" marB="45715" anchor="ctr" horzOverflow="overflow">
                    <a:lnL>
                      <a:noFill/>
                    </a:lnL>
                    <a:lnR>
                      <a:noFill/>
                    </a:lnR>
                    <a:lnT>
                      <a:noFill/>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T="45715" marB="45715" anchor="ctr" horzOverflow="overflow">
                    <a:lnL>
                      <a:noFill/>
                    </a:lnL>
                    <a:lnR cap="flat">
                      <a:noFill/>
                    </a:lnR>
                    <a:lnT>
                      <a:noFill/>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346050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0" y="274638"/>
            <a:ext cx="8964613" cy="1143000"/>
          </a:xfrm>
        </p:spPr>
        <p:txBody>
          <a:bodyPr/>
          <a:lstStyle/>
          <a:p>
            <a:pPr eaLnBrk="1" hangingPunct="1">
              <a:lnSpc>
                <a:spcPct val="90000"/>
              </a:lnSpc>
            </a:pPr>
            <a:r>
              <a:rPr lang="en-US" altLang="zh-CN" sz="2800" b="1">
                <a:solidFill>
                  <a:srgbClr val="000099"/>
                </a:solidFill>
                <a:latin typeface="Times New Roman" panose="02020603050405020304" pitchFamily="18" charset="0"/>
              </a:rPr>
              <a:t>Macro impacts on China by different proposals in 2015</a:t>
            </a:r>
            <a:br>
              <a:rPr lang="en-US" altLang="zh-CN" sz="2800" b="1">
                <a:solidFill>
                  <a:srgbClr val="000099"/>
                </a:solidFill>
                <a:latin typeface="Times New Roman" panose="02020603050405020304" pitchFamily="18" charset="0"/>
              </a:rPr>
            </a:br>
            <a:r>
              <a:rPr lang="zh-CN" altLang="en-US" sz="2800" b="1">
                <a:solidFill>
                  <a:srgbClr val="000099"/>
                </a:solidFill>
                <a:latin typeface="Times New Roman" panose="02020603050405020304" pitchFamily="18" charset="0"/>
              </a:rPr>
              <a:t>不同自由化方案的宏观影响</a:t>
            </a:r>
            <a:r>
              <a:rPr lang="zh-CN" altLang="en-US" sz="4000"/>
              <a:t> </a:t>
            </a:r>
          </a:p>
        </p:txBody>
      </p:sp>
      <p:graphicFrame>
        <p:nvGraphicFramePr>
          <p:cNvPr id="229379" name="Group 3"/>
          <p:cNvGraphicFramePr>
            <a:graphicFrameLocks noGrp="1"/>
          </p:cNvGraphicFramePr>
          <p:nvPr>
            <p:ph idx="1"/>
          </p:nvPr>
        </p:nvGraphicFramePr>
        <p:xfrm>
          <a:off x="395288" y="1600200"/>
          <a:ext cx="8137525" cy="4522792"/>
        </p:xfrm>
        <a:graphic>
          <a:graphicData uri="http://schemas.openxmlformats.org/drawingml/2006/table">
            <a:tbl>
              <a:tblPr/>
              <a:tblGrid>
                <a:gridCol w="2384425">
                  <a:extLst>
                    <a:ext uri="{9D8B030D-6E8A-4147-A177-3AD203B41FA5}">
                      <a16:colId xmlns:a16="http://schemas.microsoft.com/office/drawing/2014/main" val="20000"/>
                    </a:ext>
                  </a:extLst>
                </a:gridCol>
                <a:gridCol w="1825625">
                  <a:extLst>
                    <a:ext uri="{9D8B030D-6E8A-4147-A177-3AD203B41FA5}">
                      <a16:colId xmlns:a16="http://schemas.microsoft.com/office/drawing/2014/main" val="20001"/>
                    </a:ext>
                  </a:extLst>
                </a:gridCol>
                <a:gridCol w="1976437">
                  <a:extLst>
                    <a:ext uri="{9D8B030D-6E8A-4147-A177-3AD203B41FA5}">
                      <a16:colId xmlns:a16="http://schemas.microsoft.com/office/drawing/2014/main" val="20002"/>
                    </a:ext>
                  </a:extLst>
                </a:gridCol>
                <a:gridCol w="1951038">
                  <a:extLst>
                    <a:ext uri="{9D8B030D-6E8A-4147-A177-3AD203B41FA5}">
                      <a16:colId xmlns:a16="http://schemas.microsoft.com/office/drawing/2014/main" val="20003"/>
                    </a:ext>
                  </a:extLst>
                </a:gridCol>
              </a:tblGrid>
              <a:tr h="41116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　</a:t>
                      </a:r>
                      <a:endParaRPr kumimoji="0" lang="zh-CN" altLang="en-US" sz="2000" b="0" i="0" u="none" strike="noStrike" cap="none" normalizeH="0" baseline="0">
                        <a:ln>
                          <a:noFill/>
                        </a:ln>
                        <a:solidFill>
                          <a:schemeClr val="tx1"/>
                        </a:solidFill>
                        <a:effectLst/>
                        <a:latin typeface="Arial" charset="0"/>
                        <a:ea typeface="宋体" pitchFamily="2" charset="-122"/>
                      </a:endParaRPr>
                    </a:p>
                  </a:txBody>
                  <a:tcPr anchor="ctr"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660033"/>
                          </a:solidFill>
                          <a:effectLst/>
                          <a:latin typeface="Times New Roman" pitchFamily="18" charset="0"/>
                          <a:ea typeface="宋体" pitchFamily="2" charset="-122"/>
                          <a:cs typeface="Times New Roman" pitchFamily="18" charset="0"/>
                        </a:rPr>
                        <a:t>EU Proposal</a:t>
                      </a:r>
                      <a:endParaRPr kumimoji="0" lang="en-US" altLang="zh-CN" sz="2000" b="1" i="0" u="none" strike="noStrike" cap="none" normalizeH="0" baseline="0">
                        <a:ln>
                          <a:noFill/>
                        </a:ln>
                        <a:solidFill>
                          <a:srgbClr val="660033"/>
                        </a:solidFill>
                        <a:effectLst/>
                        <a:latin typeface="Arial"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660033"/>
                          </a:solidFill>
                          <a:effectLst/>
                          <a:latin typeface="Times New Roman" pitchFamily="18" charset="0"/>
                          <a:ea typeface="宋体" pitchFamily="2" charset="-122"/>
                          <a:cs typeface="Times New Roman" pitchFamily="18" charset="0"/>
                        </a:rPr>
                        <a:t>G20 Proposal</a:t>
                      </a:r>
                      <a:endParaRPr kumimoji="0" lang="en-US" altLang="zh-CN" sz="2000" b="1" i="0" u="none" strike="noStrike" cap="none" normalizeH="0" baseline="0">
                        <a:ln>
                          <a:noFill/>
                        </a:ln>
                        <a:solidFill>
                          <a:srgbClr val="660033"/>
                        </a:solidFill>
                        <a:effectLst/>
                        <a:latin typeface="Arial"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660033"/>
                          </a:solidFill>
                          <a:effectLst/>
                          <a:latin typeface="Times New Roman" pitchFamily="18" charset="0"/>
                          <a:ea typeface="宋体" pitchFamily="2" charset="-122"/>
                          <a:cs typeface="Times New Roman" pitchFamily="18" charset="0"/>
                        </a:rPr>
                        <a:t>USA Proposal</a:t>
                      </a:r>
                      <a:endParaRPr kumimoji="0" lang="en-US" altLang="zh-CN" sz="2000" b="1" i="0" u="none" strike="noStrike" cap="none" normalizeH="0" baseline="0">
                        <a:ln>
                          <a:noFill/>
                        </a:ln>
                        <a:solidFill>
                          <a:srgbClr val="660033"/>
                        </a:solidFill>
                        <a:effectLst/>
                        <a:latin typeface="Arial" charset="0"/>
                        <a:ea typeface="宋体" pitchFamily="2" charset="-122"/>
                      </a:endParaRPr>
                    </a:p>
                  </a:txBody>
                  <a:tcPr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8138">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Real GDP growth (%)</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cap="flat">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0.05</a:t>
                      </a:r>
                      <a:endParaRPr kumimoji="0" lang="en-US" altLang="zh-CN" sz="2000" b="1" i="0" u="none" strike="noStrike" cap="none" normalizeH="0" baseline="0">
                        <a:ln>
                          <a:noFill/>
                        </a:ln>
                        <a:solidFill>
                          <a:srgbClr val="000099"/>
                        </a:solidFill>
                        <a:effectLst/>
                        <a:latin typeface="Arial"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0.05</a:t>
                      </a:r>
                      <a:endParaRPr kumimoji="0" lang="en-US" altLang="zh-CN" sz="2000" b="1" i="0" u="none" strike="noStrike" cap="none" normalizeH="0" baseline="0">
                        <a:ln>
                          <a:noFill/>
                        </a:ln>
                        <a:solidFill>
                          <a:srgbClr val="000099"/>
                        </a:solidFill>
                        <a:effectLst/>
                        <a:latin typeface="Arial"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0.05</a:t>
                      </a:r>
                      <a:endParaRPr kumimoji="0" lang="en-US" altLang="zh-CN" sz="2000" b="1" i="0" u="none" strike="noStrike" cap="none" normalizeH="0" baseline="0">
                        <a:ln>
                          <a:noFill/>
                        </a:ln>
                        <a:solidFill>
                          <a:srgbClr val="000099"/>
                        </a:solidFill>
                        <a:effectLst/>
                        <a:latin typeface="Arial" charset="0"/>
                        <a:ea typeface="宋体" pitchFamily="2" charset="-122"/>
                      </a:endParaRPr>
                    </a:p>
                  </a:txBody>
                  <a:tcPr anchor="ctr" horzOverflow="overflow">
                    <a:lnL>
                      <a:noFill/>
                    </a:lnL>
                    <a:lnR cap="flat">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57188">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Term of trade (%)              </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0.46</a:t>
                      </a:r>
                      <a:endParaRPr kumimoji="0" lang="en-US" altLang="zh-CN" sz="2000" b="1" i="0" u="none" strike="noStrike" cap="none" normalizeH="0" baseline="0">
                        <a:ln>
                          <a:noFill/>
                        </a:ln>
                        <a:solidFill>
                          <a:srgbClr val="000099"/>
                        </a:solidFill>
                        <a:effectLst/>
                        <a:latin typeface="Arial"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0.43</a:t>
                      </a:r>
                      <a:endParaRPr kumimoji="0" lang="en-US" altLang="zh-CN" sz="2000" b="1" i="0" u="none" strike="noStrike" cap="none" normalizeH="0" baseline="0">
                        <a:ln>
                          <a:noFill/>
                        </a:ln>
                        <a:solidFill>
                          <a:srgbClr val="000099"/>
                        </a:solidFill>
                        <a:effectLst/>
                        <a:latin typeface="Arial"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0.44</a:t>
                      </a:r>
                      <a:endParaRPr kumimoji="0" lang="en-US" altLang="zh-CN" sz="2000" b="1" i="0" u="none" strike="noStrike" cap="none" normalizeH="0" baseline="0">
                        <a:ln>
                          <a:noFill/>
                        </a:ln>
                        <a:solidFill>
                          <a:srgbClr val="000099"/>
                        </a:solidFill>
                        <a:effectLst/>
                        <a:latin typeface="Arial" charset="0"/>
                        <a:ea typeface="宋体" pitchFamily="2" charset="-122"/>
                      </a:endParaRP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38138">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Total export (%)</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3.89</a:t>
                      </a:r>
                      <a:endParaRPr kumimoji="0" lang="en-US" altLang="zh-CN" sz="2000" b="1" i="0" u="none" strike="noStrike" cap="none" normalizeH="0" baseline="0">
                        <a:ln>
                          <a:noFill/>
                        </a:ln>
                        <a:solidFill>
                          <a:srgbClr val="000099"/>
                        </a:solidFill>
                        <a:effectLst/>
                        <a:latin typeface="Arial"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3.92</a:t>
                      </a:r>
                      <a:endParaRPr kumimoji="0" lang="en-US" altLang="zh-CN" sz="2000" b="1" i="0" u="none" strike="noStrike" cap="none" normalizeH="0" baseline="0">
                        <a:ln>
                          <a:noFill/>
                        </a:ln>
                        <a:solidFill>
                          <a:srgbClr val="000099"/>
                        </a:solidFill>
                        <a:effectLst/>
                        <a:latin typeface="Arial"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4.01</a:t>
                      </a:r>
                      <a:endParaRPr kumimoji="0" lang="en-US" altLang="zh-CN" sz="2000" b="1" i="0" u="none" strike="noStrike" cap="none" normalizeH="0" baseline="0">
                        <a:ln>
                          <a:noFill/>
                        </a:ln>
                        <a:solidFill>
                          <a:srgbClr val="000099"/>
                        </a:solidFill>
                        <a:effectLst/>
                        <a:latin typeface="Arial" charset="0"/>
                        <a:ea typeface="宋体" pitchFamily="2" charset="-122"/>
                      </a:endParaRP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339725">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Total import (%)</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5.56</a:t>
                      </a:r>
                      <a:endParaRPr kumimoji="0" lang="en-US" altLang="zh-CN" sz="2000" b="1" i="0" u="none" strike="noStrike" cap="none" normalizeH="0" baseline="0">
                        <a:ln>
                          <a:noFill/>
                        </a:ln>
                        <a:solidFill>
                          <a:srgbClr val="000099"/>
                        </a:solidFill>
                        <a:effectLst/>
                        <a:latin typeface="Arial"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5.6</a:t>
                      </a:r>
                      <a:endParaRPr kumimoji="0" lang="en-US" altLang="zh-CN" sz="2000" b="1" i="0" u="none" strike="noStrike" cap="none" normalizeH="0" baseline="0">
                        <a:ln>
                          <a:noFill/>
                        </a:ln>
                        <a:solidFill>
                          <a:srgbClr val="000099"/>
                        </a:solidFill>
                        <a:effectLst/>
                        <a:latin typeface="Arial"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5.7</a:t>
                      </a:r>
                      <a:endParaRPr kumimoji="0" lang="en-US" altLang="zh-CN" sz="2000" b="1" i="0" u="none" strike="noStrike" cap="none" normalizeH="0" baseline="0">
                        <a:ln>
                          <a:noFill/>
                        </a:ln>
                        <a:solidFill>
                          <a:srgbClr val="000099"/>
                        </a:solidFill>
                        <a:effectLst/>
                        <a:latin typeface="Arial" charset="0"/>
                        <a:ea typeface="宋体" pitchFamily="2" charset="-122"/>
                      </a:endParaRP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338138">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Trade balance (million USD)</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2293</a:t>
                      </a:r>
                      <a:endParaRPr kumimoji="0" lang="en-US" altLang="zh-CN" sz="2000" b="1" i="0" u="none" strike="noStrike" cap="none" normalizeH="0" baseline="0">
                        <a:ln>
                          <a:noFill/>
                        </a:ln>
                        <a:solidFill>
                          <a:srgbClr val="000099"/>
                        </a:solidFill>
                        <a:effectLst/>
                        <a:latin typeface="Arial"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2286</a:t>
                      </a:r>
                      <a:endParaRPr kumimoji="0" lang="en-US" altLang="zh-CN" sz="2000" b="1" i="0" u="none" strike="noStrike" cap="none" normalizeH="0" baseline="0">
                        <a:ln>
                          <a:noFill/>
                        </a:ln>
                        <a:solidFill>
                          <a:srgbClr val="000099"/>
                        </a:solidFill>
                        <a:effectLst/>
                        <a:latin typeface="Arial"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2492</a:t>
                      </a:r>
                      <a:endParaRPr kumimoji="0" lang="en-US" altLang="zh-CN" sz="2000" b="1" i="0" u="none" strike="noStrike" cap="none" normalizeH="0" baseline="0">
                        <a:ln>
                          <a:noFill/>
                        </a:ln>
                        <a:solidFill>
                          <a:srgbClr val="000099"/>
                        </a:solidFill>
                        <a:effectLst/>
                        <a:latin typeface="Arial" charset="0"/>
                        <a:ea typeface="宋体" pitchFamily="2" charset="-122"/>
                      </a:endParaRP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338138">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Unskilled labor wage (%)</a:t>
                      </a:r>
                      <a:endParaRPr kumimoji="0" lang="en-US" altLang="zh-CN" sz="2000" b="1" i="0" u="none" strike="noStrike" cap="none" normalizeH="0" baseline="0">
                        <a:ln>
                          <a:noFill/>
                        </a:ln>
                        <a:solidFill>
                          <a:srgbClr val="FF0000"/>
                        </a:solidFill>
                        <a:effectLst/>
                        <a:latin typeface="Arial" charset="0"/>
                        <a:ea typeface="宋体" pitchFamily="2" charset="-122"/>
                      </a:endParaRP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1.47</a:t>
                      </a:r>
                      <a:endParaRPr kumimoji="0" lang="en-US" altLang="zh-CN" sz="2000" b="1" i="0" u="none" strike="noStrike" cap="none" normalizeH="0" baseline="0">
                        <a:ln>
                          <a:noFill/>
                        </a:ln>
                        <a:solidFill>
                          <a:srgbClr val="FF0000"/>
                        </a:solidFill>
                        <a:effectLst/>
                        <a:latin typeface="Arial"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1.46</a:t>
                      </a:r>
                      <a:endParaRPr kumimoji="0" lang="en-US" altLang="zh-CN" sz="2000" b="1" i="0" u="none" strike="noStrike" cap="none" normalizeH="0" baseline="0">
                        <a:ln>
                          <a:noFill/>
                        </a:ln>
                        <a:solidFill>
                          <a:srgbClr val="FF0000"/>
                        </a:solidFill>
                        <a:effectLst/>
                        <a:latin typeface="Arial"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1.45</a:t>
                      </a:r>
                      <a:endParaRPr kumimoji="0" lang="en-US" altLang="zh-CN" sz="2000" b="1" i="0" u="none" strike="noStrike" cap="none" normalizeH="0" baseline="0">
                        <a:ln>
                          <a:noFill/>
                        </a:ln>
                        <a:solidFill>
                          <a:srgbClr val="FF0000"/>
                        </a:solidFill>
                        <a:effectLst/>
                        <a:latin typeface="Arial" charset="0"/>
                        <a:ea typeface="宋体" pitchFamily="2" charset="-122"/>
                      </a:endParaRP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338138">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Skilled labor wage (%)</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1.3</a:t>
                      </a:r>
                      <a:endParaRPr kumimoji="0" lang="en-US" altLang="zh-CN" sz="2000" b="1" i="0" u="none" strike="noStrike" cap="none" normalizeH="0" baseline="0">
                        <a:ln>
                          <a:noFill/>
                        </a:ln>
                        <a:solidFill>
                          <a:srgbClr val="000099"/>
                        </a:solidFill>
                        <a:effectLst/>
                        <a:latin typeface="Arial"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1.29</a:t>
                      </a:r>
                      <a:endParaRPr kumimoji="0" lang="en-US" altLang="zh-CN" sz="2000" b="1" i="0" u="none" strike="noStrike" cap="none" normalizeH="0" baseline="0">
                        <a:ln>
                          <a:noFill/>
                        </a:ln>
                        <a:solidFill>
                          <a:srgbClr val="000099"/>
                        </a:solidFill>
                        <a:effectLst/>
                        <a:latin typeface="Arial"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1.26</a:t>
                      </a:r>
                      <a:endParaRPr kumimoji="0" lang="en-US" altLang="zh-CN" sz="2000" b="1" i="0" u="none" strike="noStrike" cap="none" normalizeH="0" baseline="0">
                        <a:ln>
                          <a:noFill/>
                        </a:ln>
                        <a:solidFill>
                          <a:srgbClr val="000099"/>
                        </a:solidFill>
                        <a:effectLst/>
                        <a:latin typeface="Arial" charset="0"/>
                        <a:ea typeface="宋体" pitchFamily="2" charset="-122"/>
                      </a:endParaRP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339725">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Capital price (%)</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1.26</a:t>
                      </a:r>
                      <a:endParaRPr kumimoji="0" lang="en-US" altLang="zh-CN" sz="2000" b="1" i="0" u="none" strike="noStrike" cap="none" normalizeH="0" baseline="0">
                        <a:ln>
                          <a:noFill/>
                        </a:ln>
                        <a:solidFill>
                          <a:srgbClr val="000099"/>
                        </a:solidFill>
                        <a:effectLst/>
                        <a:latin typeface="Arial"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1.25</a:t>
                      </a:r>
                      <a:endParaRPr kumimoji="0" lang="en-US" altLang="zh-CN" sz="2000" b="1" i="0" u="none" strike="noStrike" cap="none" normalizeH="0" baseline="0">
                        <a:ln>
                          <a:noFill/>
                        </a:ln>
                        <a:solidFill>
                          <a:srgbClr val="000099"/>
                        </a:solidFill>
                        <a:effectLst/>
                        <a:latin typeface="Arial"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1.22</a:t>
                      </a:r>
                      <a:endParaRPr kumimoji="0" lang="en-US" altLang="zh-CN" sz="2000" b="1" i="0" u="none" strike="noStrike" cap="none" normalizeH="0" baseline="0">
                        <a:ln>
                          <a:noFill/>
                        </a:ln>
                        <a:solidFill>
                          <a:srgbClr val="000099"/>
                        </a:solidFill>
                        <a:effectLst/>
                        <a:latin typeface="Arial" charset="0"/>
                        <a:ea typeface="宋体" pitchFamily="2" charset="-122"/>
                      </a:endParaRP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8"/>
                  </a:ext>
                </a:extLst>
              </a:tr>
              <a:tr h="338138">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Land price (%)</a:t>
                      </a:r>
                      <a:endParaRPr kumimoji="0" lang="en-US" altLang="zh-CN" sz="2000" b="1" i="0" u="none" strike="noStrike" cap="none" normalizeH="0" baseline="0">
                        <a:ln>
                          <a:noFill/>
                        </a:ln>
                        <a:solidFill>
                          <a:srgbClr val="FF0000"/>
                        </a:solidFill>
                        <a:effectLst/>
                        <a:latin typeface="Arial" charset="0"/>
                        <a:ea typeface="宋体" pitchFamily="2" charset="-122"/>
                      </a:endParaRP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3.3</a:t>
                      </a:r>
                      <a:endParaRPr kumimoji="0" lang="en-US" altLang="zh-CN" sz="2000" b="1" i="0" u="none" strike="noStrike" cap="none" normalizeH="0" baseline="0">
                        <a:ln>
                          <a:noFill/>
                        </a:ln>
                        <a:solidFill>
                          <a:srgbClr val="FF0000"/>
                        </a:solidFill>
                        <a:effectLst/>
                        <a:latin typeface="Arial"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3.38</a:t>
                      </a:r>
                      <a:endParaRPr kumimoji="0" lang="en-US" altLang="zh-CN" sz="2000" b="1" i="0" u="none" strike="noStrike" cap="none" normalizeH="0" baseline="0">
                        <a:ln>
                          <a:noFill/>
                        </a:ln>
                        <a:solidFill>
                          <a:srgbClr val="FF0000"/>
                        </a:solidFill>
                        <a:effectLst/>
                        <a:latin typeface="Arial"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3.95</a:t>
                      </a:r>
                      <a:endParaRPr kumimoji="0" lang="en-US" altLang="zh-CN" sz="2000" b="1" i="0" u="none" strike="noStrike" cap="none" normalizeH="0" baseline="0">
                        <a:ln>
                          <a:noFill/>
                        </a:ln>
                        <a:solidFill>
                          <a:srgbClr val="FF0000"/>
                        </a:solidFill>
                        <a:effectLst/>
                        <a:latin typeface="Arial" charset="0"/>
                        <a:ea typeface="宋体" pitchFamily="2" charset="-122"/>
                      </a:endParaRP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9"/>
                  </a:ext>
                </a:extLst>
              </a:tr>
              <a:tr h="368300">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Agricultural income (%)</a:t>
                      </a:r>
                      <a:endParaRPr kumimoji="0" lang="en-US" altLang="zh-CN" sz="2000" b="1" i="0" u="none" strike="noStrike" cap="none" normalizeH="0" baseline="0">
                        <a:ln>
                          <a:noFill/>
                        </a:ln>
                        <a:solidFill>
                          <a:srgbClr val="FF0000"/>
                        </a:solidFill>
                        <a:effectLst/>
                        <a:latin typeface="Arial" charset="0"/>
                        <a:ea typeface="宋体" pitchFamily="2" charset="-122"/>
                      </a:endParaRP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2.04</a:t>
                      </a:r>
                      <a:endParaRPr kumimoji="0" lang="en-US" altLang="zh-CN" sz="2000" b="1" i="0" u="none" strike="noStrike" cap="none" normalizeH="0" baseline="0">
                        <a:ln>
                          <a:noFill/>
                        </a:ln>
                        <a:solidFill>
                          <a:srgbClr val="FF0000"/>
                        </a:solidFill>
                        <a:effectLst/>
                        <a:latin typeface="Arial" charset="0"/>
                        <a:ea typeface="宋体" pitchFamily="2" charset="-122"/>
                      </a:endParaRPr>
                    </a:p>
                  </a:txBody>
                  <a:tcPr anchor="b"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2.05</a:t>
                      </a:r>
                      <a:endParaRPr kumimoji="0" lang="en-US" altLang="zh-CN" sz="2000" b="1" i="0" u="none" strike="noStrike" cap="none" normalizeH="0" baseline="0">
                        <a:ln>
                          <a:noFill/>
                        </a:ln>
                        <a:solidFill>
                          <a:srgbClr val="FF0000"/>
                        </a:solidFill>
                        <a:effectLst/>
                        <a:latin typeface="Arial" charset="0"/>
                        <a:ea typeface="宋体" pitchFamily="2" charset="-122"/>
                      </a:endParaRPr>
                    </a:p>
                  </a:txBody>
                  <a:tcPr anchor="b"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2.24</a:t>
                      </a:r>
                      <a:endParaRPr kumimoji="0" lang="en-US" altLang="zh-CN" sz="2000" b="1" i="0" u="none" strike="noStrike" cap="none" normalizeH="0" baseline="0">
                        <a:ln>
                          <a:noFill/>
                        </a:ln>
                        <a:solidFill>
                          <a:srgbClr val="FF0000"/>
                        </a:solidFill>
                        <a:effectLst/>
                        <a:latin typeface="Arial" charset="0"/>
                        <a:ea typeface="宋体" pitchFamily="2" charset="-122"/>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0"/>
                  </a:ext>
                </a:extLst>
              </a:tr>
              <a:tr h="339725">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Agricultural export (%)</a:t>
                      </a:r>
                      <a:endParaRPr kumimoji="0" lang="en-US" altLang="zh-CN" sz="2000" b="1" i="0" u="none" strike="noStrike" cap="none" normalizeH="0" baseline="0">
                        <a:ln>
                          <a:noFill/>
                        </a:ln>
                        <a:solidFill>
                          <a:srgbClr val="FF0000"/>
                        </a:solidFill>
                        <a:effectLst/>
                        <a:latin typeface="Arial" charset="0"/>
                        <a:ea typeface="宋体" pitchFamily="2" charset="-122"/>
                      </a:endParaRP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10.31</a:t>
                      </a:r>
                      <a:endParaRPr kumimoji="0" lang="en-US" altLang="zh-CN" sz="2000" b="1" i="0" u="none" strike="noStrike" cap="none" normalizeH="0" baseline="0">
                        <a:ln>
                          <a:noFill/>
                        </a:ln>
                        <a:solidFill>
                          <a:srgbClr val="FF0000"/>
                        </a:solidFill>
                        <a:effectLst/>
                        <a:latin typeface="Arial"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10.99</a:t>
                      </a:r>
                      <a:endParaRPr kumimoji="0" lang="en-US" altLang="zh-CN" sz="2000" b="1" i="0" u="none" strike="noStrike" cap="none" normalizeH="0" baseline="0">
                        <a:ln>
                          <a:noFill/>
                        </a:ln>
                        <a:solidFill>
                          <a:srgbClr val="FF0000"/>
                        </a:solidFill>
                        <a:effectLst/>
                        <a:latin typeface="Arial"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19.89</a:t>
                      </a:r>
                      <a:endParaRPr kumimoji="0" lang="en-US" altLang="zh-CN" sz="2000" b="1" i="0" u="none" strike="noStrike" cap="none" normalizeH="0" baseline="0">
                        <a:ln>
                          <a:noFill/>
                        </a:ln>
                        <a:solidFill>
                          <a:srgbClr val="FF0000"/>
                        </a:solidFill>
                        <a:effectLst/>
                        <a:latin typeface="Arial" charset="0"/>
                        <a:ea typeface="宋体" pitchFamily="2" charset="-122"/>
                      </a:endParaRP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1"/>
                  </a:ext>
                </a:extLst>
              </a:tr>
              <a:tr h="338138">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Agricultural import (%)</a:t>
                      </a:r>
                      <a:endParaRPr kumimoji="0" lang="en-US" altLang="zh-CN" sz="2000" b="1" i="0" u="none" strike="noStrike" cap="none" normalizeH="0" baseline="0">
                        <a:ln>
                          <a:noFill/>
                        </a:ln>
                        <a:solidFill>
                          <a:srgbClr val="FF0000"/>
                        </a:solidFill>
                        <a:effectLst/>
                        <a:latin typeface="Arial" charset="0"/>
                        <a:ea typeface="宋体" pitchFamily="2" charset="-122"/>
                      </a:endParaRPr>
                    </a:p>
                  </a:txBody>
                  <a:tcPr anchor="ctr" horzOverflow="overflow">
                    <a:lnL cap="flat">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6.83</a:t>
                      </a:r>
                      <a:endParaRPr kumimoji="0" lang="en-US" altLang="zh-CN" sz="2000" b="1" i="0" u="none" strike="noStrike" cap="none" normalizeH="0" baseline="0">
                        <a:ln>
                          <a:noFill/>
                        </a:ln>
                        <a:solidFill>
                          <a:srgbClr val="FF0000"/>
                        </a:solidFill>
                        <a:effectLst/>
                        <a:latin typeface="Arial" charset="0"/>
                        <a:ea typeface="宋体" pitchFamily="2" charset="-122"/>
                      </a:endParaRP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7.41</a:t>
                      </a:r>
                      <a:endParaRPr kumimoji="0" lang="en-US" altLang="zh-CN" sz="2000" b="1" i="0" u="none" strike="noStrike" cap="none" normalizeH="0" baseline="0">
                        <a:ln>
                          <a:noFill/>
                        </a:ln>
                        <a:solidFill>
                          <a:srgbClr val="FF0000"/>
                        </a:solidFill>
                        <a:effectLst/>
                        <a:latin typeface="Arial" charset="0"/>
                        <a:ea typeface="宋体" pitchFamily="2" charset="-122"/>
                      </a:endParaRP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9.08</a:t>
                      </a:r>
                      <a:endParaRPr kumimoji="0" lang="en-US" altLang="zh-CN" sz="2000" b="1" i="0" u="none" strike="noStrike" cap="none" normalizeH="0" baseline="0">
                        <a:ln>
                          <a:noFill/>
                        </a:ln>
                        <a:solidFill>
                          <a:srgbClr val="FF0000"/>
                        </a:solidFill>
                        <a:effectLst/>
                        <a:latin typeface="Arial" charset="0"/>
                        <a:ea typeface="宋体" pitchFamily="2" charset="-122"/>
                      </a:endParaRPr>
                    </a:p>
                  </a:txBody>
                  <a:tcPr anchor="ctr" horzOverflow="overflow">
                    <a:lnL>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16693386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0" y="333375"/>
            <a:ext cx="9144000" cy="1143000"/>
          </a:xfrm>
        </p:spPr>
        <p:txBody>
          <a:bodyPr/>
          <a:lstStyle/>
          <a:p>
            <a:pPr eaLnBrk="1" hangingPunct="1">
              <a:lnSpc>
                <a:spcPct val="80000"/>
              </a:lnSpc>
            </a:pPr>
            <a:r>
              <a:rPr lang="en-US" altLang="zh-CN" sz="2800" b="1">
                <a:solidFill>
                  <a:srgbClr val="000099"/>
                </a:solidFill>
                <a:latin typeface="Times New Roman" panose="02020603050405020304" pitchFamily="18" charset="0"/>
              </a:rPr>
              <a:t>Impacts on China’s import of major agricultural commodities under Doha proposals in 2015 (%)</a:t>
            </a:r>
            <a:r>
              <a:rPr lang="en-US" altLang="zh-CN" sz="3600" b="1">
                <a:solidFill>
                  <a:srgbClr val="000099"/>
                </a:solidFill>
              </a:rPr>
              <a:t> </a:t>
            </a:r>
            <a:br>
              <a:rPr lang="en-US" altLang="zh-CN" sz="3600" b="1">
                <a:solidFill>
                  <a:srgbClr val="000099"/>
                </a:solidFill>
              </a:rPr>
            </a:br>
            <a:r>
              <a:rPr lang="zh-CN" altLang="en-US" sz="2800" b="1">
                <a:solidFill>
                  <a:srgbClr val="000099"/>
                </a:solidFill>
              </a:rPr>
              <a:t>多哈贸易自由化提案对中国主要农产品进口的影响</a:t>
            </a:r>
            <a:r>
              <a:rPr lang="en-US" altLang="zh-CN" sz="2800" b="1">
                <a:solidFill>
                  <a:srgbClr val="000099"/>
                </a:solidFill>
                <a:latin typeface="Times New Roman" panose="02020603050405020304" pitchFamily="18" charset="0"/>
              </a:rPr>
              <a:t>(%)</a:t>
            </a:r>
          </a:p>
        </p:txBody>
      </p:sp>
      <p:graphicFrame>
        <p:nvGraphicFramePr>
          <p:cNvPr id="79875" name="Object 3"/>
          <p:cNvGraphicFramePr>
            <a:graphicFrameLocks noGrp="1" noChangeAspect="1"/>
          </p:cNvGraphicFramePr>
          <p:nvPr>
            <p:ph idx="1"/>
          </p:nvPr>
        </p:nvGraphicFramePr>
        <p:xfrm>
          <a:off x="323850" y="1412875"/>
          <a:ext cx="8820150" cy="5157788"/>
        </p:xfrm>
        <a:graphic>
          <a:graphicData uri="http://schemas.openxmlformats.org/presentationml/2006/ole">
            <mc:AlternateContent xmlns:mc="http://schemas.openxmlformats.org/markup-compatibility/2006">
              <mc:Choice xmlns:v="urn:schemas-microsoft-com:vml" Requires="v">
                <p:oleObj name="图表" r:id="rId2" imgW="6096000" imgH="4069185" progId="MSGraph.Chart.8">
                  <p:embed followColorScheme="full"/>
                </p:oleObj>
              </mc:Choice>
              <mc:Fallback>
                <p:oleObj name="图表" r:id="rId2" imgW="6096000" imgH="4069185" progId="MSGraph.Chart.8">
                  <p:embed followColorScheme="full"/>
                  <p:pic>
                    <p:nvPicPr>
                      <p:cNvPr id="0" name=""/>
                      <p:cNvPicPr>
                        <a:picLocks noChangeAspect="1" noChangeArrowheads="1"/>
                      </p:cNvPicPr>
                      <p:nvPr/>
                    </p:nvPicPr>
                    <p:blipFill>
                      <a:blip r:embed="rId3"/>
                      <a:srcRect/>
                      <a:stretch>
                        <a:fillRect/>
                      </a:stretch>
                    </p:blipFill>
                    <p:spPr bwMode="auto">
                      <a:xfrm>
                        <a:off x="323850" y="1412875"/>
                        <a:ext cx="8820150" cy="5157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744235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0" y="333375"/>
            <a:ext cx="9144000" cy="1143000"/>
          </a:xfrm>
        </p:spPr>
        <p:txBody>
          <a:bodyPr/>
          <a:lstStyle/>
          <a:p>
            <a:pPr eaLnBrk="1" hangingPunct="1">
              <a:lnSpc>
                <a:spcPct val="80000"/>
              </a:lnSpc>
            </a:pPr>
            <a:r>
              <a:rPr lang="en-US" altLang="zh-CN" sz="2800" b="1">
                <a:solidFill>
                  <a:srgbClr val="000099"/>
                </a:solidFill>
                <a:latin typeface="Times New Roman" panose="02020603050405020304" pitchFamily="18" charset="0"/>
              </a:rPr>
              <a:t>Impacts on China’s export of major agricultural commodities under Doha proposals in 2015 (%)</a:t>
            </a:r>
            <a:r>
              <a:rPr lang="en-US" altLang="zh-CN" sz="3600" b="1">
                <a:solidFill>
                  <a:srgbClr val="000099"/>
                </a:solidFill>
              </a:rPr>
              <a:t> </a:t>
            </a:r>
            <a:br>
              <a:rPr lang="en-US" altLang="zh-CN" sz="3600" b="1">
                <a:solidFill>
                  <a:srgbClr val="000099"/>
                </a:solidFill>
              </a:rPr>
            </a:br>
            <a:r>
              <a:rPr lang="zh-CN" altLang="en-US" sz="2800" b="1">
                <a:solidFill>
                  <a:srgbClr val="000099"/>
                </a:solidFill>
              </a:rPr>
              <a:t>多哈贸易自由化提案对中国主要农产品出口的影响</a:t>
            </a:r>
            <a:r>
              <a:rPr lang="en-US" altLang="zh-CN" sz="2800" b="1">
                <a:solidFill>
                  <a:srgbClr val="000099"/>
                </a:solidFill>
                <a:latin typeface="Times New Roman" panose="02020603050405020304" pitchFamily="18" charset="0"/>
              </a:rPr>
              <a:t>(%)</a:t>
            </a:r>
          </a:p>
        </p:txBody>
      </p:sp>
      <p:graphicFrame>
        <p:nvGraphicFramePr>
          <p:cNvPr id="80899" name="Object 3"/>
          <p:cNvGraphicFramePr>
            <a:graphicFrameLocks noGrp="1" noChangeAspect="1"/>
          </p:cNvGraphicFramePr>
          <p:nvPr>
            <p:ph idx="1"/>
          </p:nvPr>
        </p:nvGraphicFramePr>
        <p:xfrm>
          <a:off x="323850" y="1628775"/>
          <a:ext cx="8820150" cy="5157788"/>
        </p:xfrm>
        <a:graphic>
          <a:graphicData uri="http://schemas.openxmlformats.org/presentationml/2006/ole">
            <mc:AlternateContent xmlns:mc="http://schemas.openxmlformats.org/markup-compatibility/2006">
              <mc:Choice xmlns:v="urn:schemas-microsoft-com:vml" Requires="v">
                <p:oleObj name="图表" r:id="rId2" imgW="6096000" imgH="4069185" progId="MSGraph.Chart.8">
                  <p:embed followColorScheme="full"/>
                </p:oleObj>
              </mc:Choice>
              <mc:Fallback>
                <p:oleObj name="图表" r:id="rId2" imgW="6096000" imgH="4069185" progId="MSGraph.Chart.8">
                  <p:embed followColorScheme="full"/>
                  <p:pic>
                    <p:nvPicPr>
                      <p:cNvPr id="0" name=""/>
                      <p:cNvPicPr>
                        <a:picLocks noChangeAspect="1" noChangeArrowheads="1"/>
                      </p:cNvPicPr>
                      <p:nvPr/>
                    </p:nvPicPr>
                    <p:blipFill>
                      <a:blip r:embed="rId3"/>
                      <a:srcRect/>
                      <a:stretch>
                        <a:fillRect/>
                      </a:stretch>
                    </p:blipFill>
                    <p:spPr bwMode="auto">
                      <a:xfrm>
                        <a:off x="323850" y="1628775"/>
                        <a:ext cx="8820150" cy="5157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0420191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0" y="333375"/>
            <a:ext cx="9144000" cy="1143000"/>
          </a:xfrm>
        </p:spPr>
        <p:txBody>
          <a:bodyPr/>
          <a:lstStyle/>
          <a:p>
            <a:pPr eaLnBrk="1" hangingPunct="1"/>
            <a:r>
              <a:rPr lang="en-US" altLang="zh-CN" sz="2800" b="1">
                <a:solidFill>
                  <a:srgbClr val="000099"/>
                </a:solidFill>
                <a:latin typeface="Times New Roman" panose="02020603050405020304" pitchFamily="18" charset="0"/>
              </a:rPr>
              <a:t>Impacts on China’s net export of major agricultural commodities under Doha proposals in 2015 </a:t>
            </a:r>
            <a:br>
              <a:rPr lang="en-US" altLang="zh-CN" sz="3600" b="1">
                <a:solidFill>
                  <a:srgbClr val="000099"/>
                </a:solidFill>
                <a:latin typeface="Times New Roman" panose="02020603050405020304" pitchFamily="18" charset="0"/>
              </a:rPr>
            </a:br>
            <a:r>
              <a:rPr lang="zh-CN" altLang="en-US" sz="2800" b="1">
                <a:solidFill>
                  <a:srgbClr val="000099"/>
                </a:solidFill>
              </a:rPr>
              <a:t>多哈贸易自由化提案对中国主要农产品净出口的影响</a:t>
            </a:r>
            <a:br>
              <a:rPr lang="zh-CN" altLang="en-US" sz="2800" b="1">
                <a:solidFill>
                  <a:srgbClr val="000099"/>
                </a:solidFill>
              </a:rPr>
            </a:br>
            <a:r>
              <a:rPr lang="en-US" altLang="zh-CN" sz="2800">
                <a:solidFill>
                  <a:srgbClr val="000099"/>
                </a:solidFill>
              </a:rPr>
              <a:t>(thousand ton, 1000</a:t>
            </a:r>
            <a:r>
              <a:rPr lang="zh-CN" altLang="en-US" sz="2800">
                <a:solidFill>
                  <a:srgbClr val="000099"/>
                </a:solidFill>
              </a:rPr>
              <a:t>吨）</a:t>
            </a:r>
            <a:endParaRPr lang="zh-CN" altLang="en-US" sz="2800">
              <a:solidFill>
                <a:srgbClr val="000099"/>
              </a:solidFill>
              <a:latin typeface="Times New Roman" panose="02020603050405020304" pitchFamily="18" charset="0"/>
            </a:endParaRPr>
          </a:p>
        </p:txBody>
      </p:sp>
      <p:graphicFrame>
        <p:nvGraphicFramePr>
          <p:cNvPr id="81923" name="Object 3"/>
          <p:cNvGraphicFramePr>
            <a:graphicFrameLocks noGrp="1" noChangeAspect="1"/>
          </p:cNvGraphicFramePr>
          <p:nvPr>
            <p:ph idx="1"/>
          </p:nvPr>
        </p:nvGraphicFramePr>
        <p:xfrm>
          <a:off x="250825" y="1700213"/>
          <a:ext cx="9467850" cy="5157787"/>
        </p:xfrm>
        <a:graphic>
          <a:graphicData uri="http://schemas.openxmlformats.org/presentationml/2006/ole">
            <mc:AlternateContent xmlns:mc="http://schemas.openxmlformats.org/markup-compatibility/2006">
              <mc:Choice xmlns:v="urn:schemas-microsoft-com:vml" Requires="v">
                <p:oleObj name="图表" r:id="rId2" imgW="6096000" imgH="4069185" progId="MSGraph.Chart.8">
                  <p:embed followColorScheme="full"/>
                </p:oleObj>
              </mc:Choice>
              <mc:Fallback>
                <p:oleObj name="图表" r:id="rId2" imgW="6096000" imgH="4069185" progId="MSGraph.Chart.8">
                  <p:embed followColorScheme="full"/>
                  <p:pic>
                    <p:nvPicPr>
                      <p:cNvPr id="0" name=""/>
                      <p:cNvPicPr>
                        <a:picLocks noChangeAspect="1" noChangeArrowheads="1"/>
                      </p:cNvPicPr>
                      <p:nvPr/>
                    </p:nvPicPr>
                    <p:blipFill>
                      <a:blip r:embed="rId3"/>
                      <a:srcRect/>
                      <a:stretch>
                        <a:fillRect/>
                      </a:stretch>
                    </p:blipFill>
                    <p:spPr bwMode="auto">
                      <a:xfrm>
                        <a:off x="250825" y="1700213"/>
                        <a:ext cx="9467850" cy="5157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413827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0" y="333375"/>
            <a:ext cx="9144000" cy="1143000"/>
          </a:xfrm>
        </p:spPr>
        <p:txBody>
          <a:bodyPr/>
          <a:lstStyle/>
          <a:p>
            <a:pPr eaLnBrk="1" hangingPunct="1"/>
            <a:r>
              <a:rPr lang="en-US" altLang="zh-CN" sz="2800" b="1">
                <a:solidFill>
                  <a:srgbClr val="000099"/>
                </a:solidFill>
                <a:latin typeface="Times New Roman" panose="02020603050405020304" pitchFamily="18" charset="0"/>
              </a:rPr>
              <a:t>Impacts on China’s production of major agricultural commodities under Doha proposals in 2015 (%) </a:t>
            </a:r>
            <a:br>
              <a:rPr lang="en-US" altLang="zh-CN" sz="3600" b="1">
                <a:solidFill>
                  <a:srgbClr val="000099"/>
                </a:solidFill>
              </a:rPr>
            </a:br>
            <a:r>
              <a:rPr lang="zh-CN" altLang="en-US" sz="2800" b="1">
                <a:solidFill>
                  <a:srgbClr val="000099"/>
                </a:solidFill>
              </a:rPr>
              <a:t>多哈贸易自由化提案对中国主要农产品生产的影响</a:t>
            </a:r>
            <a:r>
              <a:rPr lang="en-US" altLang="zh-CN" sz="2400">
                <a:solidFill>
                  <a:srgbClr val="000099"/>
                </a:solidFill>
                <a:latin typeface="Times New Roman" panose="02020603050405020304" pitchFamily="18" charset="0"/>
              </a:rPr>
              <a:t>(%)</a:t>
            </a:r>
            <a:r>
              <a:rPr lang="en-US" altLang="zh-CN" sz="2800" b="1">
                <a:solidFill>
                  <a:srgbClr val="000099"/>
                </a:solidFill>
              </a:rPr>
              <a:t> </a:t>
            </a:r>
            <a:br>
              <a:rPr lang="en-US" altLang="zh-CN" sz="2800" b="1">
                <a:solidFill>
                  <a:srgbClr val="000099"/>
                </a:solidFill>
              </a:rPr>
            </a:br>
            <a:endParaRPr lang="en-US" altLang="zh-CN" sz="2800" b="1">
              <a:solidFill>
                <a:srgbClr val="000099"/>
              </a:solidFill>
            </a:endParaRPr>
          </a:p>
        </p:txBody>
      </p:sp>
      <p:graphicFrame>
        <p:nvGraphicFramePr>
          <p:cNvPr id="82947" name="Object 3"/>
          <p:cNvGraphicFramePr>
            <a:graphicFrameLocks noGrp="1" noChangeAspect="1"/>
          </p:cNvGraphicFramePr>
          <p:nvPr>
            <p:ph idx="1"/>
          </p:nvPr>
        </p:nvGraphicFramePr>
        <p:xfrm>
          <a:off x="0" y="1484313"/>
          <a:ext cx="9907588" cy="5373687"/>
        </p:xfrm>
        <a:graphic>
          <a:graphicData uri="http://schemas.openxmlformats.org/presentationml/2006/ole">
            <mc:AlternateContent xmlns:mc="http://schemas.openxmlformats.org/markup-compatibility/2006">
              <mc:Choice xmlns:v="urn:schemas-microsoft-com:vml" Requires="v">
                <p:oleObj name="图表" r:id="rId2" imgW="6210108" imgH="4069185" progId="MSGraph.Chart.8">
                  <p:embed followColorScheme="full"/>
                </p:oleObj>
              </mc:Choice>
              <mc:Fallback>
                <p:oleObj name="图表" r:id="rId2" imgW="6210108" imgH="4069185" progId="MSGraph.Chart.8">
                  <p:embed followColorScheme="full"/>
                  <p:pic>
                    <p:nvPicPr>
                      <p:cNvPr id="0" name=""/>
                      <p:cNvPicPr>
                        <a:picLocks noChangeAspect="1" noChangeArrowheads="1"/>
                      </p:cNvPicPr>
                      <p:nvPr/>
                    </p:nvPicPr>
                    <p:blipFill>
                      <a:blip r:embed="rId3"/>
                      <a:srcRect/>
                      <a:stretch>
                        <a:fillRect/>
                      </a:stretch>
                    </p:blipFill>
                    <p:spPr bwMode="auto">
                      <a:xfrm>
                        <a:off x="0" y="1484313"/>
                        <a:ext cx="9907588" cy="537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948" name="Oval 4"/>
          <p:cNvSpPr>
            <a:spLocks noChangeArrowheads="1"/>
          </p:cNvSpPr>
          <p:nvPr/>
        </p:nvSpPr>
        <p:spPr bwMode="auto">
          <a:xfrm>
            <a:off x="4140200" y="3284538"/>
            <a:ext cx="647700" cy="2665412"/>
          </a:xfrm>
          <a:prstGeom prst="ellipse">
            <a:avLst/>
          </a:prstGeom>
          <a:noFill/>
          <a:ln w="9525" algn="ctr">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600">
                <a:solidFill>
                  <a:schemeClr val="tx1"/>
                </a:solidFill>
                <a:latin typeface="Arial" panose="020B0604020202020204" pitchFamily="34" charset="0"/>
                <a:ea typeface="宋体" panose="02010600030101010101" pitchFamily="2" charset="-122"/>
              </a:defRPr>
            </a:lvl1pPr>
            <a:lvl2pPr marL="742950" indent="-285750" eaLnBrk="0" hangingPunct="0">
              <a:defRPr sz="1600">
                <a:solidFill>
                  <a:schemeClr val="tx1"/>
                </a:solidFill>
                <a:latin typeface="Arial" panose="020B0604020202020204" pitchFamily="34" charset="0"/>
                <a:ea typeface="宋体" panose="02010600030101010101" pitchFamily="2" charset="-122"/>
              </a:defRPr>
            </a:lvl2pPr>
            <a:lvl3pPr marL="1143000" indent="-228600" eaLnBrk="0" hangingPunct="0">
              <a:defRPr sz="1600">
                <a:solidFill>
                  <a:schemeClr val="tx1"/>
                </a:solidFill>
                <a:latin typeface="Arial" panose="020B0604020202020204" pitchFamily="34" charset="0"/>
                <a:ea typeface="宋体" panose="02010600030101010101" pitchFamily="2" charset="-122"/>
              </a:defRPr>
            </a:lvl3pPr>
            <a:lvl4pPr marL="1600200" indent="-228600" eaLnBrk="0" hangingPunct="0">
              <a:defRPr sz="1600">
                <a:solidFill>
                  <a:schemeClr val="tx1"/>
                </a:solidFill>
                <a:latin typeface="Arial" panose="020B0604020202020204" pitchFamily="34" charset="0"/>
                <a:ea typeface="宋体" panose="02010600030101010101" pitchFamily="2" charset="-122"/>
              </a:defRPr>
            </a:lvl4pPr>
            <a:lvl5pPr marL="2057400" indent="-228600" eaLnBrk="0" hangingPunct="0">
              <a:defRPr sz="16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pPr>
            <a:endParaRPr lang="zh-CN" altLang="zh-CN" sz="1800">
              <a:solidFill>
                <a:srgbClr val="000099"/>
              </a:solidFill>
              <a:latin typeface="Times New Roman" panose="02020603050405020304" pitchFamily="18" charset="0"/>
            </a:endParaRPr>
          </a:p>
        </p:txBody>
      </p:sp>
      <p:sp>
        <p:nvSpPr>
          <p:cNvPr id="82949" name="Oval 5"/>
          <p:cNvSpPr>
            <a:spLocks noChangeArrowheads="1"/>
          </p:cNvSpPr>
          <p:nvPr/>
        </p:nvSpPr>
        <p:spPr bwMode="auto">
          <a:xfrm>
            <a:off x="5795963" y="3213100"/>
            <a:ext cx="863600" cy="2016125"/>
          </a:xfrm>
          <a:prstGeom prst="ellipse">
            <a:avLst/>
          </a:prstGeom>
          <a:noFill/>
          <a:ln w="9525" algn="ctr">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600">
                <a:solidFill>
                  <a:schemeClr val="tx1"/>
                </a:solidFill>
                <a:latin typeface="Arial" panose="020B0604020202020204" pitchFamily="34" charset="0"/>
                <a:ea typeface="宋体" panose="02010600030101010101" pitchFamily="2" charset="-122"/>
              </a:defRPr>
            </a:lvl1pPr>
            <a:lvl2pPr marL="742950" indent="-285750" eaLnBrk="0" hangingPunct="0">
              <a:defRPr sz="1600">
                <a:solidFill>
                  <a:schemeClr val="tx1"/>
                </a:solidFill>
                <a:latin typeface="Arial" panose="020B0604020202020204" pitchFamily="34" charset="0"/>
                <a:ea typeface="宋体" panose="02010600030101010101" pitchFamily="2" charset="-122"/>
              </a:defRPr>
            </a:lvl2pPr>
            <a:lvl3pPr marL="1143000" indent="-228600" eaLnBrk="0" hangingPunct="0">
              <a:defRPr sz="1600">
                <a:solidFill>
                  <a:schemeClr val="tx1"/>
                </a:solidFill>
                <a:latin typeface="Arial" panose="020B0604020202020204" pitchFamily="34" charset="0"/>
                <a:ea typeface="宋体" panose="02010600030101010101" pitchFamily="2" charset="-122"/>
              </a:defRPr>
            </a:lvl3pPr>
            <a:lvl4pPr marL="1600200" indent="-228600" eaLnBrk="0" hangingPunct="0">
              <a:defRPr sz="1600">
                <a:solidFill>
                  <a:schemeClr val="tx1"/>
                </a:solidFill>
                <a:latin typeface="Arial" panose="020B0604020202020204" pitchFamily="34" charset="0"/>
                <a:ea typeface="宋体" panose="02010600030101010101" pitchFamily="2" charset="-122"/>
              </a:defRPr>
            </a:lvl4pPr>
            <a:lvl5pPr marL="2057400" indent="-228600" eaLnBrk="0" hangingPunct="0">
              <a:defRPr sz="16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pPr>
            <a:endParaRPr lang="zh-CN" altLang="en-US">
              <a:solidFill>
                <a:srgbClr val="000000"/>
              </a:solidFill>
            </a:endParaRPr>
          </a:p>
        </p:txBody>
      </p:sp>
    </p:spTree>
    <p:extLst>
      <p:ext uri="{BB962C8B-B14F-4D97-AF65-F5344CB8AC3E}">
        <p14:creationId xmlns:p14="http://schemas.microsoft.com/office/powerpoint/2010/main" val="29969154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0" y="144463"/>
            <a:ext cx="9144000" cy="1844675"/>
          </a:xfrm>
        </p:spPr>
        <p:txBody>
          <a:bodyPr/>
          <a:lstStyle/>
          <a:p>
            <a:pPr eaLnBrk="1" hangingPunct="1">
              <a:lnSpc>
                <a:spcPct val="90000"/>
              </a:lnSpc>
            </a:pPr>
            <a:r>
              <a:rPr lang="en-US" altLang="zh-CN" sz="2800" b="1">
                <a:solidFill>
                  <a:srgbClr val="000099"/>
                </a:solidFill>
                <a:latin typeface="Times New Roman" panose="02020603050405020304" pitchFamily="18" charset="0"/>
              </a:rPr>
              <a:t>Impacts on China’s production of major agricultural commodities under Doha proposals in 2015 </a:t>
            </a:r>
            <a:br>
              <a:rPr lang="en-US" altLang="zh-CN" sz="3600" b="1">
                <a:solidFill>
                  <a:srgbClr val="000099"/>
                </a:solidFill>
              </a:rPr>
            </a:br>
            <a:r>
              <a:rPr lang="zh-CN" altLang="en-US" sz="2800" b="1">
                <a:solidFill>
                  <a:srgbClr val="000099"/>
                </a:solidFill>
              </a:rPr>
              <a:t>多哈贸易自由化提案对中国主要农产品生产的影响 </a:t>
            </a:r>
            <a:br>
              <a:rPr lang="zh-CN" altLang="en-US" sz="2800" b="1">
                <a:solidFill>
                  <a:srgbClr val="000099"/>
                </a:solidFill>
              </a:rPr>
            </a:br>
            <a:r>
              <a:rPr lang="zh-CN" altLang="en-US" sz="2800" b="1">
                <a:solidFill>
                  <a:srgbClr val="000099"/>
                </a:solidFill>
              </a:rPr>
              <a:t> </a:t>
            </a:r>
            <a:r>
              <a:rPr lang="en-US" altLang="zh-CN" sz="2800">
                <a:solidFill>
                  <a:srgbClr val="000099"/>
                </a:solidFill>
              </a:rPr>
              <a:t>(thousand ton, 1000</a:t>
            </a:r>
            <a:r>
              <a:rPr lang="zh-CN" altLang="en-US" sz="2800">
                <a:solidFill>
                  <a:srgbClr val="000099"/>
                </a:solidFill>
              </a:rPr>
              <a:t>吨）</a:t>
            </a:r>
            <a:r>
              <a:rPr lang="zh-CN" altLang="en-US" sz="2800" b="1">
                <a:solidFill>
                  <a:srgbClr val="000099"/>
                </a:solidFill>
              </a:rPr>
              <a:t> </a:t>
            </a:r>
            <a:br>
              <a:rPr lang="zh-CN" altLang="en-US" sz="2800" b="1">
                <a:solidFill>
                  <a:srgbClr val="000099"/>
                </a:solidFill>
              </a:rPr>
            </a:br>
            <a:endParaRPr lang="zh-CN" altLang="en-US" sz="2800" b="1">
              <a:solidFill>
                <a:srgbClr val="000099"/>
              </a:solidFill>
            </a:endParaRPr>
          </a:p>
        </p:txBody>
      </p:sp>
      <p:graphicFrame>
        <p:nvGraphicFramePr>
          <p:cNvPr id="83971" name="Object 3"/>
          <p:cNvGraphicFramePr>
            <a:graphicFrameLocks noGrp="1" noChangeAspect="1"/>
          </p:cNvGraphicFramePr>
          <p:nvPr>
            <p:ph idx="1"/>
          </p:nvPr>
        </p:nvGraphicFramePr>
        <p:xfrm>
          <a:off x="179388" y="1196975"/>
          <a:ext cx="9907587" cy="5903913"/>
        </p:xfrm>
        <a:graphic>
          <a:graphicData uri="http://schemas.openxmlformats.org/presentationml/2006/ole">
            <mc:AlternateContent xmlns:mc="http://schemas.openxmlformats.org/markup-compatibility/2006">
              <mc:Choice xmlns:v="urn:schemas-microsoft-com:vml" Requires="v">
                <p:oleObj name="图表" r:id="rId2" imgW="6210108" imgH="4069185" progId="MSGraph.Chart.8">
                  <p:embed followColorScheme="full"/>
                </p:oleObj>
              </mc:Choice>
              <mc:Fallback>
                <p:oleObj name="图表" r:id="rId2" imgW="6210108" imgH="4069185" progId="MSGraph.Chart.8">
                  <p:embed followColorScheme="full"/>
                  <p:pic>
                    <p:nvPicPr>
                      <p:cNvPr id="0" name=""/>
                      <p:cNvPicPr>
                        <a:picLocks noChangeAspect="1" noChangeArrowheads="1"/>
                      </p:cNvPicPr>
                      <p:nvPr/>
                    </p:nvPicPr>
                    <p:blipFill>
                      <a:blip r:embed="rId3"/>
                      <a:srcRect/>
                      <a:stretch>
                        <a:fillRect/>
                      </a:stretch>
                    </p:blipFill>
                    <p:spPr bwMode="auto">
                      <a:xfrm>
                        <a:off x="179388" y="1196975"/>
                        <a:ext cx="9907587" cy="590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4052821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6018" name="Object 2"/>
          <p:cNvGraphicFramePr>
            <a:graphicFrameLocks noGrp="1" noChangeAspect="1"/>
          </p:cNvGraphicFramePr>
          <p:nvPr>
            <p:ph idx="1"/>
          </p:nvPr>
        </p:nvGraphicFramePr>
        <p:xfrm>
          <a:off x="609600" y="1752600"/>
          <a:ext cx="7165975" cy="4079875"/>
        </p:xfrm>
        <a:graphic>
          <a:graphicData uri="http://schemas.openxmlformats.org/presentationml/2006/ole">
            <mc:AlternateContent xmlns:mc="http://schemas.openxmlformats.org/markup-compatibility/2006">
              <mc:Choice xmlns:v="urn:schemas-microsoft-com:vml" Requires="v">
                <p:oleObj name="图表" r:id="rId2" imgW="7147590" imgH="4069185" progId="MSGraph.Chart.8">
                  <p:embed followColorScheme="full"/>
                </p:oleObj>
              </mc:Choice>
              <mc:Fallback>
                <p:oleObj name="图表" r:id="rId2" imgW="7147590" imgH="4069185" progId="MSGraph.Chart.8">
                  <p:embed followColorScheme="full"/>
                  <p:pic>
                    <p:nvPicPr>
                      <p:cNvPr id="0" name=""/>
                      <p:cNvPicPr>
                        <a:picLocks noChangeAspect="1" noChangeArrowheads="1"/>
                      </p:cNvPicPr>
                      <p:nvPr/>
                    </p:nvPicPr>
                    <p:blipFill>
                      <a:blip r:embed="rId3"/>
                      <a:srcRect/>
                      <a:stretch>
                        <a:fillRect/>
                      </a:stretch>
                    </p:blipFill>
                    <p:spPr bwMode="auto">
                      <a:xfrm>
                        <a:off x="609600" y="1752600"/>
                        <a:ext cx="7165975" cy="4079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19" name="Rectangle 3"/>
          <p:cNvSpPr>
            <a:spLocks noChangeArrowheads="1"/>
          </p:cNvSpPr>
          <p:nvPr/>
        </p:nvSpPr>
        <p:spPr bwMode="auto">
          <a:xfrm>
            <a:off x="0" y="304800"/>
            <a:ext cx="8915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600">
                <a:solidFill>
                  <a:schemeClr val="tx1"/>
                </a:solidFill>
                <a:latin typeface="Arial" panose="020B0604020202020204" pitchFamily="34" charset="0"/>
                <a:ea typeface="宋体" panose="02010600030101010101" pitchFamily="2" charset="-122"/>
              </a:defRPr>
            </a:lvl1pPr>
            <a:lvl2pPr marL="742950" indent="-285750" eaLnBrk="0" hangingPunct="0">
              <a:defRPr sz="1600">
                <a:solidFill>
                  <a:schemeClr val="tx1"/>
                </a:solidFill>
                <a:latin typeface="Arial" panose="020B0604020202020204" pitchFamily="34" charset="0"/>
                <a:ea typeface="宋体" panose="02010600030101010101" pitchFamily="2" charset="-122"/>
              </a:defRPr>
            </a:lvl2pPr>
            <a:lvl3pPr marL="1143000" indent="-228600" eaLnBrk="0" hangingPunct="0">
              <a:defRPr sz="1600">
                <a:solidFill>
                  <a:schemeClr val="tx1"/>
                </a:solidFill>
                <a:latin typeface="Arial" panose="020B0604020202020204" pitchFamily="34" charset="0"/>
                <a:ea typeface="宋体" panose="02010600030101010101" pitchFamily="2" charset="-122"/>
              </a:defRPr>
            </a:lvl3pPr>
            <a:lvl4pPr marL="1600200" indent="-228600" eaLnBrk="0" hangingPunct="0">
              <a:defRPr sz="1600">
                <a:solidFill>
                  <a:schemeClr val="tx1"/>
                </a:solidFill>
                <a:latin typeface="Arial" panose="020B0604020202020204" pitchFamily="34" charset="0"/>
                <a:ea typeface="宋体" panose="02010600030101010101" pitchFamily="2" charset="-122"/>
              </a:defRPr>
            </a:lvl4pPr>
            <a:lvl5pPr marL="2057400" indent="-228600" eaLnBrk="0" hangingPunct="0">
              <a:defRPr sz="16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pPr>
            <a:r>
              <a:rPr kumimoji="1" lang="zh-CN" altLang="en-US" sz="3200" b="1">
                <a:solidFill>
                  <a:srgbClr val="000000"/>
                </a:solidFill>
                <a:latin typeface="Times New Roman" panose="02020603050405020304" pitchFamily="18" charset="0"/>
              </a:rPr>
              <a:t>不同自由化提案下，</a:t>
            </a:r>
          </a:p>
          <a:p>
            <a:pPr algn="ctr" eaLnBrk="1" fontAlgn="base" hangingPunct="1">
              <a:spcBef>
                <a:spcPct val="0"/>
              </a:spcBef>
              <a:spcAft>
                <a:spcPct val="0"/>
              </a:spcAft>
            </a:pPr>
            <a:r>
              <a:rPr kumimoji="1" lang="zh-CN" altLang="en-US" sz="3200" b="1">
                <a:solidFill>
                  <a:srgbClr val="000000"/>
                </a:solidFill>
                <a:latin typeface="Times New Roman" panose="02020603050405020304" pitchFamily="18" charset="0"/>
              </a:rPr>
              <a:t>对农业产值影响</a:t>
            </a:r>
            <a:r>
              <a:rPr kumimoji="1" lang="zh-CN" altLang="en-US" sz="2800">
                <a:solidFill>
                  <a:srgbClr val="000000"/>
                </a:solidFill>
                <a:latin typeface="Times New Roman" panose="02020603050405020304" pitchFamily="18" charset="0"/>
              </a:rPr>
              <a:t>（元</a:t>
            </a:r>
            <a:r>
              <a:rPr kumimoji="1" lang="en-US" altLang="zh-CN" sz="2800">
                <a:solidFill>
                  <a:srgbClr val="000000"/>
                </a:solidFill>
                <a:latin typeface="Times New Roman" panose="02020603050405020304" pitchFamily="18" charset="0"/>
              </a:rPr>
              <a:t>/</a:t>
            </a:r>
            <a:r>
              <a:rPr kumimoji="1" lang="zh-CN" altLang="en-US" sz="2800">
                <a:solidFill>
                  <a:srgbClr val="000000"/>
                </a:solidFill>
                <a:latin typeface="Times New Roman" panose="02020603050405020304" pitchFamily="18" charset="0"/>
              </a:rPr>
              <a:t>农户</a:t>
            </a:r>
            <a:r>
              <a:rPr kumimoji="1" lang="en-US" altLang="zh-CN" sz="2800">
                <a:solidFill>
                  <a:srgbClr val="000000"/>
                </a:solidFill>
                <a:latin typeface="Times New Roman" panose="02020603050405020304" pitchFamily="18" charset="0"/>
              </a:rPr>
              <a:t>,2015</a:t>
            </a:r>
            <a:r>
              <a:rPr kumimoji="1" lang="zh-CN" altLang="en-US" sz="2800">
                <a:solidFill>
                  <a:srgbClr val="000000"/>
                </a:solidFill>
                <a:latin typeface="Times New Roman" panose="02020603050405020304" pitchFamily="18" charset="0"/>
              </a:rPr>
              <a:t>）</a:t>
            </a:r>
          </a:p>
        </p:txBody>
      </p:sp>
      <p:sp>
        <p:nvSpPr>
          <p:cNvPr id="86020" name="Rectangle 4"/>
          <p:cNvSpPr>
            <a:spLocks noChangeArrowheads="1"/>
          </p:cNvSpPr>
          <p:nvPr/>
        </p:nvSpPr>
        <p:spPr bwMode="auto">
          <a:xfrm>
            <a:off x="457200" y="5943600"/>
            <a:ext cx="7620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600">
                <a:solidFill>
                  <a:schemeClr val="tx1"/>
                </a:solidFill>
                <a:latin typeface="Arial" panose="020B0604020202020204" pitchFamily="34" charset="0"/>
                <a:ea typeface="宋体" panose="02010600030101010101" pitchFamily="2" charset="-122"/>
              </a:defRPr>
            </a:lvl1pPr>
            <a:lvl2pPr marL="742950" indent="-285750" eaLnBrk="0" hangingPunct="0">
              <a:defRPr sz="1600">
                <a:solidFill>
                  <a:schemeClr val="tx1"/>
                </a:solidFill>
                <a:latin typeface="Arial" panose="020B0604020202020204" pitchFamily="34" charset="0"/>
                <a:ea typeface="宋体" panose="02010600030101010101" pitchFamily="2" charset="-122"/>
              </a:defRPr>
            </a:lvl2pPr>
            <a:lvl3pPr marL="1143000" indent="-228600" eaLnBrk="0" hangingPunct="0">
              <a:defRPr sz="1600">
                <a:solidFill>
                  <a:schemeClr val="tx1"/>
                </a:solidFill>
                <a:latin typeface="Arial" panose="020B0604020202020204" pitchFamily="34" charset="0"/>
                <a:ea typeface="宋体" panose="02010600030101010101" pitchFamily="2" charset="-122"/>
              </a:defRPr>
            </a:lvl3pPr>
            <a:lvl4pPr marL="1600200" indent="-228600" eaLnBrk="0" hangingPunct="0">
              <a:defRPr sz="1600">
                <a:solidFill>
                  <a:schemeClr val="tx1"/>
                </a:solidFill>
                <a:latin typeface="Arial" panose="020B0604020202020204" pitchFamily="34" charset="0"/>
                <a:ea typeface="宋体" panose="02010600030101010101" pitchFamily="2" charset="-122"/>
              </a:defRPr>
            </a:lvl4pPr>
            <a:lvl5pPr marL="2057400" indent="-228600" eaLnBrk="0" hangingPunct="0">
              <a:defRPr sz="16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kumimoji="1" lang="zh-CN" altLang="en-US" sz="1800">
                <a:solidFill>
                  <a:srgbClr val="333399"/>
                </a:solidFill>
                <a:latin typeface="Times New Roman" panose="02020603050405020304" pitchFamily="18" charset="0"/>
              </a:rPr>
              <a:t>我国在</a:t>
            </a:r>
            <a:r>
              <a:rPr kumimoji="1" lang="en-US" altLang="zh-CN" sz="1800">
                <a:solidFill>
                  <a:srgbClr val="333399"/>
                </a:solidFill>
                <a:latin typeface="Times New Roman" panose="02020603050405020304" pitchFamily="18" charset="0"/>
              </a:rPr>
              <a:t>Doha</a:t>
            </a:r>
            <a:r>
              <a:rPr kumimoji="1" lang="zh-CN" altLang="en-US" sz="1800">
                <a:solidFill>
                  <a:srgbClr val="333399"/>
                </a:solidFill>
                <a:latin typeface="Times New Roman" panose="02020603050405020304" pitchFamily="18" charset="0"/>
              </a:rPr>
              <a:t>贸易谈判需要同时关注关税消减</a:t>
            </a:r>
          </a:p>
          <a:p>
            <a:pPr eaLnBrk="1" fontAlgn="base" hangingPunct="1">
              <a:spcBef>
                <a:spcPct val="0"/>
              </a:spcBef>
              <a:spcAft>
                <a:spcPct val="0"/>
              </a:spcAft>
            </a:pPr>
            <a:r>
              <a:rPr kumimoji="1" lang="zh-CN" altLang="en-US" sz="1800">
                <a:solidFill>
                  <a:srgbClr val="333399"/>
                </a:solidFill>
                <a:latin typeface="Times New Roman" panose="02020603050405020304" pitchFamily="18" charset="0"/>
              </a:rPr>
              <a:t>和发达国家国内农业支持减让等两个方面</a:t>
            </a:r>
          </a:p>
        </p:txBody>
      </p:sp>
    </p:spTree>
    <p:extLst>
      <p:ext uri="{BB962C8B-B14F-4D97-AF65-F5344CB8AC3E}">
        <p14:creationId xmlns:p14="http://schemas.microsoft.com/office/powerpoint/2010/main" val="13796743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228600" y="381000"/>
            <a:ext cx="7772400" cy="1143000"/>
          </a:xfrm>
        </p:spPr>
        <p:txBody>
          <a:bodyPr/>
          <a:lstStyle/>
          <a:p>
            <a:pPr eaLnBrk="1" hangingPunct="1"/>
            <a:r>
              <a:rPr lang="zh-CN" altLang="en-US" sz="3200" b="1"/>
              <a:t>美国贸易提案下，对我国不同收入组农户产值的影响</a:t>
            </a:r>
            <a:r>
              <a:rPr lang="zh-CN" altLang="en-US" sz="2800" b="1"/>
              <a:t>（元，</a:t>
            </a:r>
            <a:r>
              <a:rPr lang="en-US" altLang="zh-CN" sz="2800" b="1"/>
              <a:t>2015</a:t>
            </a:r>
            <a:r>
              <a:rPr lang="zh-CN" altLang="en-US" sz="2800" b="1"/>
              <a:t>）</a:t>
            </a:r>
          </a:p>
        </p:txBody>
      </p:sp>
      <p:graphicFrame>
        <p:nvGraphicFramePr>
          <p:cNvPr id="87043" name="Object 3"/>
          <p:cNvGraphicFramePr>
            <a:graphicFrameLocks noGrp="1" noChangeAspect="1"/>
          </p:cNvGraphicFramePr>
          <p:nvPr>
            <p:ph idx="1"/>
          </p:nvPr>
        </p:nvGraphicFramePr>
        <p:xfrm>
          <a:off x="304800" y="1752600"/>
          <a:ext cx="7315200" cy="4419600"/>
        </p:xfrm>
        <a:graphic>
          <a:graphicData uri="http://schemas.openxmlformats.org/presentationml/2006/ole">
            <mc:AlternateContent xmlns:mc="http://schemas.openxmlformats.org/markup-compatibility/2006">
              <mc:Choice xmlns:v="urn:schemas-microsoft-com:vml" Requires="v">
                <p:oleObj name="图表" r:id="rId2" imgW="6096000" imgH="4069185" progId="MSGraph.Chart.8">
                  <p:embed followColorScheme="full"/>
                </p:oleObj>
              </mc:Choice>
              <mc:Fallback>
                <p:oleObj name="图表" r:id="rId2" imgW="6096000" imgH="4069185" progId="MSGraph.Chart.8">
                  <p:embed followColorScheme="full"/>
                  <p:pic>
                    <p:nvPicPr>
                      <p:cNvPr id="0" name=""/>
                      <p:cNvPicPr>
                        <a:picLocks noChangeAspect="1" noChangeArrowheads="1"/>
                      </p:cNvPicPr>
                      <p:nvPr/>
                    </p:nvPicPr>
                    <p:blipFill>
                      <a:blip r:embed="rId3"/>
                      <a:srcRect/>
                      <a:stretch>
                        <a:fillRect/>
                      </a:stretch>
                    </p:blipFill>
                    <p:spPr bwMode="auto">
                      <a:xfrm>
                        <a:off x="304800" y="1752600"/>
                        <a:ext cx="7315200" cy="441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719531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0" y="198438"/>
            <a:ext cx="9144000" cy="1143000"/>
          </a:xfrm>
        </p:spPr>
        <p:txBody>
          <a:bodyPr/>
          <a:lstStyle/>
          <a:p>
            <a:pPr eaLnBrk="1" hangingPunct="1">
              <a:lnSpc>
                <a:spcPct val="90000"/>
              </a:lnSpc>
            </a:pPr>
            <a:r>
              <a:rPr lang="en-US" altLang="zh-CN" sz="2800" b="1">
                <a:solidFill>
                  <a:srgbClr val="000099"/>
                </a:solidFill>
                <a:latin typeface="Times New Roman" panose="02020603050405020304" pitchFamily="18" charset="0"/>
              </a:rPr>
              <a:t>Impacts on per capita agricultural income in rural area under Doha proposals in 2015 (yuan/person)</a:t>
            </a:r>
            <a:br>
              <a:rPr lang="en-US" altLang="zh-CN" sz="2800" b="1">
                <a:solidFill>
                  <a:srgbClr val="000099"/>
                </a:solidFill>
                <a:latin typeface="Times New Roman" panose="02020603050405020304" pitchFamily="18" charset="0"/>
              </a:rPr>
            </a:br>
            <a:r>
              <a:rPr lang="zh-CN" altLang="en-US" sz="2600" b="1">
                <a:solidFill>
                  <a:srgbClr val="000099"/>
                </a:solidFill>
                <a:latin typeface="Times New Roman" panose="02020603050405020304" pitchFamily="18" charset="0"/>
              </a:rPr>
              <a:t>多哈不同贸易提案对农民人均收入的影响（元</a:t>
            </a:r>
            <a:r>
              <a:rPr lang="en-US" altLang="zh-CN" sz="2600" b="1">
                <a:solidFill>
                  <a:srgbClr val="000099"/>
                </a:solidFill>
                <a:latin typeface="Times New Roman" panose="02020603050405020304" pitchFamily="18" charset="0"/>
              </a:rPr>
              <a:t>/</a:t>
            </a:r>
            <a:r>
              <a:rPr lang="zh-CN" altLang="en-US" sz="2600" b="1">
                <a:solidFill>
                  <a:srgbClr val="000099"/>
                </a:solidFill>
                <a:latin typeface="Times New Roman" panose="02020603050405020304" pitchFamily="18" charset="0"/>
              </a:rPr>
              <a:t>人，</a:t>
            </a:r>
            <a:r>
              <a:rPr lang="en-US" altLang="zh-CN" sz="2600" b="1">
                <a:solidFill>
                  <a:srgbClr val="000099"/>
                </a:solidFill>
                <a:latin typeface="Times New Roman" panose="02020603050405020304" pitchFamily="18" charset="0"/>
              </a:rPr>
              <a:t>2015</a:t>
            </a:r>
            <a:r>
              <a:rPr lang="zh-CN" altLang="en-US" sz="2600" b="1">
                <a:solidFill>
                  <a:srgbClr val="000099"/>
                </a:solidFill>
                <a:latin typeface="Times New Roman" panose="02020603050405020304" pitchFamily="18" charset="0"/>
              </a:rPr>
              <a:t>）</a:t>
            </a:r>
          </a:p>
        </p:txBody>
      </p:sp>
      <p:graphicFrame>
        <p:nvGraphicFramePr>
          <p:cNvPr id="235523" name="Group 3"/>
          <p:cNvGraphicFramePr>
            <a:graphicFrameLocks noGrp="1"/>
          </p:cNvGraphicFramePr>
          <p:nvPr>
            <p:ph idx="1"/>
          </p:nvPr>
        </p:nvGraphicFramePr>
        <p:xfrm>
          <a:off x="457200" y="1600200"/>
          <a:ext cx="7931150" cy="5091117"/>
        </p:xfrm>
        <a:graphic>
          <a:graphicData uri="http://schemas.openxmlformats.org/drawingml/2006/table">
            <a:tbl>
              <a:tblPr/>
              <a:tblGrid>
                <a:gridCol w="2530475">
                  <a:extLst>
                    <a:ext uri="{9D8B030D-6E8A-4147-A177-3AD203B41FA5}">
                      <a16:colId xmlns:a16="http://schemas.microsoft.com/office/drawing/2014/main" val="20000"/>
                    </a:ext>
                  </a:extLst>
                </a:gridCol>
                <a:gridCol w="1643063">
                  <a:extLst>
                    <a:ext uri="{9D8B030D-6E8A-4147-A177-3AD203B41FA5}">
                      <a16:colId xmlns:a16="http://schemas.microsoft.com/office/drawing/2014/main" val="20001"/>
                    </a:ext>
                  </a:extLst>
                </a:gridCol>
                <a:gridCol w="1666875">
                  <a:extLst>
                    <a:ext uri="{9D8B030D-6E8A-4147-A177-3AD203B41FA5}">
                      <a16:colId xmlns:a16="http://schemas.microsoft.com/office/drawing/2014/main" val="20002"/>
                    </a:ext>
                  </a:extLst>
                </a:gridCol>
                <a:gridCol w="2090737">
                  <a:extLst>
                    <a:ext uri="{9D8B030D-6E8A-4147-A177-3AD203B41FA5}">
                      <a16:colId xmlns:a16="http://schemas.microsoft.com/office/drawing/2014/main" val="20003"/>
                    </a:ext>
                  </a:extLst>
                </a:gridCol>
              </a:tblGrid>
              <a:tr h="538230">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3200" b="0" i="0" u="none" strike="noStrike" cap="none" normalizeH="0" baseline="0">
                        <a:ln>
                          <a:noFill/>
                        </a:ln>
                        <a:solidFill>
                          <a:schemeClr val="tx1"/>
                        </a:solidFill>
                        <a:effectLst/>
                        <a:latin typeface="Arial" charset="0"/>
                        <a:ea typeface="宋体" pitchFamily="2" charset="-122"/>
                      </a:endParaRPr>
                    </a:p>
                  </a:txBody>
                  <a:tcPr marT="45726" marB="45726" anchor="ctr"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EU proposal</a:t>
                      </a:r>
                      <a:endParaRPr kumimoji="0" lang="en-US" altLang="zh-CN" sz="3200" b="0" i="0" u="none" strike="noStrike" cap="none" normalizeH="0" baseline="0">
                        <a:ln>
                          <a:noFill/>
                        </a:ln>
                        <a:solidFill>
                          <a:schemeClr val="tx1"/>
                        </a:solidFill>
                        <a:effectLst/>
                        <a:latin typeface="Arial" charset="0"/>
                        <a:ea typeface="宋体" pitchFamily="2" charset="-122"/>
                      </a:endParaRPr>
                    </a:p>
                  </a:txBody>
                  <a:tcPr marT="45726" marB="45726"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G20 proposal</a:t>
                      </a:r>
                      <a:endParaRPr kumimoji="0" lang="en-US" altLang="zh-CN" sz="3200" b="0" i="0" u="none" strike="noStrike" cap="none" normalizeH="0" baseline="0">
                        <a:ln>
                          <a:noFill/>
                        </a:ln>
                        <a:solidFill>
                          <a:schemeClr val="tx1"/>
                        </a:solidFill>
                        <a:effectLst/>
                        <a:latin typeface="Arial" charset="0"/>
                        <a:ea typeface="宋体" pitchFamily="2" charset="-122"/>
                      </a:endParaRPr>
                    </a:p>
                  </a:txBody>
                  <a:tcPr marT="45726" marB="45726"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USA proposal</a:t>
                      </a:r>
                      <a:endParaRPr kumimoji="0" lang="en-US" altLang="zh-CN" sz="3200" b="0" i="0" u="none" strike="noStrike" cap="none" normalizeH="0" baseline="0">
                        <a:ln>
                          <a:noFill/>
                        </a:ln>
                        <a:solidFill>
                          <a:schemeClr val="tx1"/>
                        </a:solidFill>
                        <a:effectLst/>
                        <a:latin typeface="Arial" charset="0"/>
                        <a:ea typeface="宋体" pitchFamily="2" charset="-122"/>
                      </a:endParaRPr>
                    </a:p>
                  </a:txBody>
                  <a:tcPr marT="45726" marB="45726"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806">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National average</a:t>
                      </a:r>
                      <a:endParaRPr kumimoji="0" lang="en-US" altLang="zh-CN" sz="3200" b="1" i="0" u="none" strike="noStrike" cap="none" normalizeH="0" baseline="0">
                        <a:ln>
                          <a:noFill/>
                        </a:ln>
                        <a:solidFill>
                          <a:schemeClr val="accent2"/>
                        </a:solidFill>
                        <a:effectLst/>
                        <a:latin typeface="Arial" charset="0"/>
                        <a:ea typeface="宋体" pitchFamily="2" charset="-122"/>
                      </a:endParaRPr>
                    </a:p>
                  </a:txBody>
                  <a:tcPr marT="45726" marB="45726" anchor="ctr" horzOverflow="overflow">
                    <a:lnL cap="flat">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22.06</a:t>
                      </a:r>
                      <a:endParaRPr kumimoji="0" lang="en-US" altLang="zh-CN" sz="3200" b="1" i="0" u="none" strike="noStrike" cap="none" normalizeH="0" baseline="0">
                        <a:ln>
                          <a:noFill/>
                        </a:ln>
                        <a:solidFill>
                          <a:schemeClr val="accent2"/>
                        </a:solidFill>
                        <a:effectLst/>
                        <a:latin typeface="Arial" charset="0"/>
                        <a:ea typeface="宋体" pitchFamily="2" charset="-122"/>
                      </a:endParaRPr>
                    </a:p>
                  </a:txBody>
                  <a:tcPr marT="45726" marB="45726"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23.05</a:t>
                      </a:r>
                      <a:endParaRPr kumimoji="0" lang="en-US" altLang="zh-CN" sz="3200" b="1" i="0" u="none" strike="noStrike" cap="none" normalizeH="0" baseline="0">
                        <a:ln>
                          <a:noFill/>
                        </a:ln>
                        <a:solidFill>
                          <a:schemeClr val="accent2"/>
                        </a:solidFill>
                        <a:effectLst/>
                        <a:latin typeface="Arial" charset="0"/>
                        <a:ea typeface="宋体" pitchFamily="2" charset="-122"/>
                      </a:endParaRPr>
                    </a:p>
                  </a:txBody>
                  <a:tcPr marT="45726" marB="45726"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24.02</a:t>
                      </a:r>
                      <a:endParaRPr kumimoji="0" lang="en-US" altLang="zh-CN" sz="3200" b="1" i="0" u="none" strike="noStrike" cap="none" normalizeH="0" baseline="0">
                        <a:ln>
                          <a:noFill/>
                        </a:ln>
                        <a:solidFill>
                          <a:schemeClr val="accent2"/>
                        </a:solidFill>
                        <a:effectLst/>
                        <a:latin typeface="Arial" charset="0"/>
                        <a:ea typeface="宋体" pitchFamily="2" charset="-122"/>
                      </a:endParaRPr>
                    </a:p>
                  </a:txBody>
                  <a:tcPr marT="45726" marB="45726" anchor="ctr" horzOverflow="overflow">
                    <a:lnL>
                      <a:noFill/>
                    </a:lnL>
                    <a:lnR cap="flat">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65806">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Under poverty</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cap="flat">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8.29</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8.72</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9.21</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65806">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Income group 1</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cap="flat">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15.41</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16.06</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17.19</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365806">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Income group 2</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cap="flat">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23.45</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24.19</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25.47</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365806">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Income group 3</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cap="flat">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38.45</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39.76</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41.30</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365806">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Income group 4</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cap="flat">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54.15</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55.73</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56.51</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395337">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Income group 5</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cap="flat">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69.55</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71.38</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71.62</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390574">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Farmers in plain area</a:t>
                      </a:r>
                      <a:endParaRPr kumimoji="0" lang="en-US" altLang="zh-CN" sz="3200" b="1" i="0" u="none" strike="noStrike" cap="none" normalizeH="0" baseline="0">
                        <a:ln>
                          <a:noFill/>
                        </a:ln>
                        <a:solidFill>
                          <a:srgbClr val="000099"/>
                        </a:solidFill>
                        <a:effectLst/>
                        <a:latin typeface="Arial" charset="0"/>
                        <a:ea typeface="宋体" pitchFamily="2" charset="-122"/>
                      </a:endParaRPr>
                    </a:p>
                  </a:txBody>
                  <a:tcPr marT="45726" marB="45726" anchor="ctr" horzOverflow="overflow">
                    <a:lnL cap="flat">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33.72</a:t>
                      </a:r>
                      <a:endParaRPr kumimoji="0" lang="en-US" altLang="zh-CN" sz="3200" b="1" i="0" u="none" strike="noStrike" cap="none" normalizeH="0" baseline="0">
                        <a:ln>
                          <a:noFill/>
                        </a:ln>
                        <a:solidFill>
                          <a:srgbClr val="000099"/>
                        </a:solidFill>
                        <a:effectLst/>
                        <a:latin typeface="Arial" charset="0"/>
                        <a:ea typeface="宋体" pitchFamily="2" charset="-122"/>
                      </a:endParaRPr>
                    </a:p>
                  </a:txBody>
                  <a:tcPr marT="45726" marB="45726"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34.99</a:t>
                      </a:r>
                      <a:endParaRPr kumimoji="0" lang="en-US" altLang="zh-CN" sz="3200" b="1" i="0" u="none" strike="noStrike" cap="none" normalizeH="0" baseline="0">
                        <a:ln>
                          <a:noFill/>
                        </a:ln>
                        <a:solidFill>
                          <a:srgbClr val="000099"/>
                        </a:solidFill>
                        <a:effectLst/>
                        <a:latin typeface="Arial" charset="0"/>
                        <a:ea typeface="宋体" pitchFamily="2" charset="-122"/>
                      </a:endParaRPr>
                    </a:p>
                  </a:txBody>
                  <a:tcPr marT="45726" marB="45726"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35.68</a:t>
                      </a:r>
                      <a:endParaRPr kumimoji="0" lang="en-US" altLang="zh-CN" sz="3200" b="1" i="0" u="none" strike="noStrike" cap="none" normalizeH="0" baseline="0">
                        <a:ln>
                          <a:noFill/>
                        </a:ln>
                        <a:solidFill>
                          <a:srgbClr val="000099"/>
                        </a:solidFill>
                        <a:effectLst/>
                        <a:latin typeface="Arial" charset="0"/>
                        <a:ea typeface="宋体" pitchFamily="2" charset="-122"/>
                      </a:endParaRPr>
                    </a:p>
                  </a:txBody>
                  <a:tcPr marT="45726" marB="45726"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8"/>
                  </a:ext>
                </a:extLst>
              </a:tr>
              <a:tr h="474722">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Farmers in hill area</a:t>
                      </a:r>
                      <a:endParaRPr kumimoji="0" lang="en-US" altLang="zh-CN" sz="3200" b="1" i="0" u="none" strike="noStrike" cap="none" normalizeH="0" baseline="0">
                        <a:ln>
                          <a:noFill/>
                        </a:ln>
                        <a:solidFill>
                          <a:srgbClr val="000099"/>
                        </a:solidFill>
                        <a:effectLst/>
                        <a:latin typeface="Arial" charset="0"/>
                        <a:ea typeface="宋体" pitchFamily="2" charset="-122"/>
                      </a:endParaRPr>
                    </a:p>
                  </a:txBody>
                  <a:tcPr marT="45726" marB="45726" anchor="ctr" horzOverflow="overflow">
                    <a:lnL cap="flat">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18.74</a:t>
                      </a:r>
                      <a:endParaRPr kumimoji="0" lang="en-US" altLang="zh-CN" sz="3200" b="1" i="0" u="none" strike="noStrike" cap="none" normalizeH="0" baseline="0">
                        <a:ln>
                          <a:noFill/>
                        </a:ln>
                        <a:solidFill>
                          <a:srgbClr val="000099"/>
                        </a:solidFill>
                        <a:effectLst/>
                        <a:latin typeface="Arial" charset="0"/>
                        <a:ea typeface="宋体" pitchFamily="2" charset="-122"/>
                      </a:endParaRPr>
                    </a:p>
                  </a:txBody>
                  <a:tcPr marT="45726" marB="45726"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19.93</a:t>
                      </a:r>
                      <a:endParaRPr kumimoji="0" lang="en-US" altLang="zh-CN" sz="3200" b="1" i="0" u="none" strike="noStrike" cap="none" normalizeH="0" baseline="0">
                        <a:ln>
                          <a:noFill/>
                        </a:ln>
                        <a:solidFill>
                          <a:srgbClr val="000099"/>
                        </a:solidFill>
                        <a:effectLst/>
                        <a:latin typeface="Arial" charset="0"/>
                        <a:ea typeface="宋体" pitchFamily="2" charset="-122"/>
                      </a:endParaRPr>
                    </a:p>
                  </a:txBody>
                  <a:tcPr marT="45726" marB="45726"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21.45</a:t>
                      </a:r>
                      <a:endParaRPr kumimoji="0" lang="en-US" altLang="zh-CN" sz="3200" b="1" i="0" u="none" strike="noStrike" cap="none" normalizeH="0" baseline="0">
                        <a:ln>
                          <a:noFill/>
                        </a:ln>
                        <a:solidFill>
                          <a:srgbClr val="000099"/>
                        </a:solidFill>
                        <a:effectLst/>
                        <a:latin typeface="Arial" charset="0"/>
                        <a:ea typeface="宋体" pitchFamily="2" charset="-122"/>
                      </a:endParaRPr>
                    </a:p>
                  </a:txBody>
                  <a:tcPr marT="45726" marB="45726"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9"/>
                  </a:ext>
                </a:extLst>
              </a:tr>
              <a:tr h="365806">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Farmers in mountain</a:t>
                      </a:r>
                      <a:endParaRPr kumimoji="0" lang="en-US" altLang="zh-CN" sz="3200" b="1" i="0" u="none" strike="noStrike" cap="none" normalizeH="0" baseline="0">
                        <a:ln>
                          <a:noFill/>
                        </a:ln>
                        <a:solidFill>
                          <a:srgbClr val="000099"/>
                        </a:solidFill>
                        <a:effectLst/>
                        <a:latin typeface="Arial" charset="0"/>
                        <a:ea typeface="宋体" pitchFamily="2" charset="-122"/>
                      </a:endParaRPr>
                    </a:p>
                  </a:txBody>
                  <a:tcPr marT="45726" marB="45726" anchor="ctr" horzOverflow="overflow">
                    <a:lnL cap="flat">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9.32</a:t>
                      </a:r>
                      <a:endParaRPr kumimoji="0" lang="en-US" altLang="zh-CN" sz="3200" b="1" i="0" u="none" strike="noStrike" cap="none" normalizeH="0" baseline="0">
                        <a:ln>
                          <a:noFill/>
                        </a:ln>
                        <a:solidFill>
                          <a:srgbClr val="000099"/>
                        </a:solidFill>
                        <a:effectLst/>
                        <a:latin typeface="Arial" charset="0"/>
                        <a:ea typeface="宋体" pitchFamily="2" charset="-122"/>
                      </a:endParaRPr>
                    </a:p>
                  </a:txBody>
                  <a:tcPr marT="45726" marB="45726"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9.59</a:t>
                      </a:r>
                      <a:endParaRPr kumimoji="0" lang="en-US" altLang="zh-CN" sz="3200" b="1" i="0" u="none" strike="noStrike" cap="none" normalizeH="0" baseline="0">
                        <a:ln>
                          <a:noFill/>
                        </a:ln>
                        <a:solidFill>
                          <a:srgbClr val="000099"/>
                        </a:solidFill>
                        <a:effectLst/>
                        <a:latin typeface="Arial" charset="0"/>
                        <a:ea typeface="宋体" pitchFamily="2" charset="-122"/>
                      </a:endParaRPr>
                    </a:p>
                  </a:txBody>
                  <a:tcPr marT="45726" marB="45726"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99"/>
                          </a:solidFill>
                          <a:effectLst/>
                          <a:latin typeface="Times New Roman" pitchFamily="18" charset="0"/>
                          <a:ea typeface="宋体" pitchFamily="2" charset="-122"/>
                          <a:cs typeface="Times New Roman" pitchFamily="18" charset="0"/>
                        </a:rPr>
                        <a:t>10.07</a:t>
                      </a:r>
                      <a:endParaRPr kumimoji="0" lang="en-US" altLang="zh-CN" sz="3200" b="1" i="0" u="none" strike="noStrike" cap="none" normalizeH="0" baseline="0">
                        <a:ln>
                          <a:noFill/>
                        </a:ln>
                        <a:solidFill>
                          <a:srgbClr val="000099"/>
                        </a:solidFill>
                        <a:effectLst/>
                        <a:latin typeface="Arial" charset="0"/>
                        <a:ea typeface="宋体" pitchFamily="2" charset="-122"/>
                      </a:endParaRPr>
                    </a:p>
                  </a:txBody>
                  <a:tcPr marT="45726" marB="45726"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0"/>
                  </a:ext>
                </a:extLst>
              </a:tr>
              <a:tr h="365806">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Farmers: Han </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cap="flat">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22.3</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23.32</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24.37</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1"/>
                  </a:ext>
                </a:extLst>
              </a:tr>
              <a:tr h="365806">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Farmers: Minority</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cap="flat">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8.4</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7.48</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3.71</a:t>
                      </a:r>
                      <a:endParaRPr kumimoji="0" lang="en-US" altLang="zh-CN" sz="3200" b="1" i="0" u="none" strike="noStrike" cap="none" normalizeH="0" baseline="0">
                        <a:ln>
                          <a:noFill/>
                        </a:ln>
                        <a:solidFill>
                          <a:schemeClr val="tx2"/>
                        </a:solidFill>
                        <a:effectLst/>
                        <a:latin typeface="Arial" charset="0"/>
                        <a:ea typeface="宋体" pitchFamily="2" charset="-122"/>
                      </a:endParaRPr>
                    </a:p>
                  </a:txBody>
                  <a:tcPr marT="45726" marB="45726" anchor="ctr" horzOverflow="overflow">
                    <a:lnL>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12120489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36513" y="346075"/>
            <a:ext cx="9144001" cy="850900"/>
          </a:xfrm>
        </p:spPr>
        <p:txBody>
          <a:bodyPr/>
          <a:lstStyle/>
          <a:p>
            <a:pPr eaLnBrk="1" hangingPunct="1">
              <a:lnSpc>
                <a:spcPct val="90000"/>
              </a:lnSpc>
            </a:pPr>
            <a:r>
              <a:rPr lang="en-US" altLang="zh-CN" sz="2800" b="1">
                <a:solidFill>
                  <a:srgbClr val="000099"/>
                </a:solidFill>
                <a:latin typeface="Times New Roman" panose="02020603050405020304" pitchFamily="18" charset="0"/>
              </a:rPr>
              <a:t>Shares of output values of benefited and non-benefited agricultural products under baseline in 2015 (%)</a:t>
            </a:r>
          </a:p>
        </p:txBody>
      </p:sp>
      <p:graphicFrame>
        <p:nvGraphicFramePr>
          <p:cNvPr id="89091" name="Object 3"/>
          <p:cNvGraphicFramePr>
            <a:graphicFrameLocks noGrp="1" noChangeAspect="1"/>
          </p:cNvGraphicFramePr>
          <p:nvPr>
            <p:ph idx="1"/>
          </p:nvPr>
        </p:nvGraphicFramePr>
        <p:xfrm>
          <a:off x="323850" y="1341438"/>
          <a:ext cx="8785225" cy="5321300"/>
        </p:xfrm>
        <a:graphic>
          <a:graphicData uri="http://schemas.openxmlformats.org/presentationml/2006/ole">
            <mc:AlternateContent xmlns:mc="http://schemas.openxmlformats.org/markup-compatibility/2006">
              <mc:Choice xmlns:v="urn:schemas-microsoft-com:vml" Requires="v">
                <p:oleObj name="图表" r:id="rId2" imgW="6705837" imgH="4038617" progId="MSGraph.Chart.8">
                  <p:embed followColorScheme="full"/>
                </p:oleObj>
              </mc:Choice>
              <mc:Fallback>
                <p:oleObj name="图表" r:id="rId2" imgW="6705837" imgH="4038617" progId="MSGraph.Chart.8">
                  <p:embed followColorScheme="full"/>
                  <p:pic>
                    <p:nvPicPr>
                      <p:cNvPr id="0" name=""/>
                      <p:cNvPicPr>
                        <a:picLocks noChangeAspect="1" noChangeArrowheads="1"/>
                      </p:cNvPicPr>
                      <p:nvPr/>
                    </p:nvPicPr>
                    <p:blipFill>
                      <a:blip r:embed="rId3"/>
                      <a:srcRect/>
                      <a:stretch>
                        <a:fillRect/>
                      </a:stretch>
                    </p:blipFill>
                    <p:spPr bwMode="auto">
                      <a:xfrm>
                        <a:off x="323850" y="1341438"/>
                        <a:ext cx="8785225" cy="532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6565703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0" y="274638"/>
            <a:ext cx="9144000" cy="1143000"/>
          </a:xfrm>
        </p:spPr>
        <p:txBody>
          <a:bodyPr/>
          <a:lstStyle/>
          <a:p>
            <a:pPr eaLnBrk="1" hangingPunct="1"/>
            <a:r>
              <a:rPr lang="en-US" altLang="zh-CN" sz="2800" b="1">
                <a:solidFill>
                  <a:srgbClr val="000099"/>
                </a:solidFill>
                <a:latin typeface="Times New Roman" panose="02020603050405020304" pitchFamily="18" charset="0"/>
              </a:rPr>
              <a:t>Shares of output values of benefited and non-benefited agricultural products under baseline in 2015 (%)</a:t>
            </a:r>
          </a:p>
        </p:txBody>
      </p:sp>
      <p:graphicFrame>
        <p:nvGraphicFramePr>
          <p:cNvPr id="90115" name="Object 3"/>
          <p:cNvGraphicFramePr>
            <a:graphicFrameLocks noGrp="1" noChangeAspect="1"/>
          </p:cNvGraphicFramePr>
          <p:nvPr>
            <p:ph idx="1"/>
          </p:nvPr>
        </p:nvGraphicFramePr>
        <p:xfrm>
          <a:off x="611188" y="1773238"/>
          <a:ext cx="7489825" cy="4503737"/>
        </p:xfrm>
        <a:graphic>
          <a:graphicData uri="http://schemas.openxmlformats.org/presentationml/2006/ole">
            <mc:AlternateContent xmlns:mc="http://schemas.openxmlformats.org/markup-compatibility/2006">
              <mc:Choice xmlns:v="urn:schemas-microsoft-com:vml" Requires="v">
                <p:oleObj name="图表" r:id="rId2" imgW="6720988" imgH="4046142" progId="MSGraph.Chart.8">
                  <p:embed followColorScheme="full"/>
                </p:oleObj>
              </mc:Choice>
              <mc:Fallback>
                <p:oleObj name="图表" r:id="rId2" imgW="6720988" imgH="4046142" progId="MSGraph.Chart.8">
                  <p:embed followColorScheme="full"/>
                  <p:pic>
                    <p:nvPicPr>
                      <p:cNvPr id="0" name=""/>
                      <p:cNvPicPr>
                        <a:picLocks noChangeAspect="1" noChangeArrowheads="1"/>
                      </p:cNvPicPr>
                      <p:nvPr/>
                    </p:nvPicPr>
                    <p:blipFill>
                      <a:blip r:embed="rId3"/>
                      <a:srcRect/>
                      <a:stretch>
                        <a:fillRect/>
                      </a:stretch>
                    </p:blipFill>
                    <p:spPr bwMode="auto">
                      <a:xfrm>
                        <a:off x="611188" y="1773238"/>
                        <a:ext cx="7489825" cy="4503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0063627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2" descr="ams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25" y="576263"/>
            <a:ext cx="8891588" cy="6357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39" name="Picture 3" descr="south_China_se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5410200"/>
            <a:ext cx="473075"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0" name="Rectangle 4"/>
          <p:cNvSpPr>
            <a:spLocks noGrp="1" noChangeArrowheads="1"/>
          </p:cNvSpPr>
          <p:nvPr>
            <p:ph type="title"/>
          </p:nvPr>
        </p:nvSpPr>
        <p:spPr>
          <a:xfrm>
            <a:off x="0" y="0"/>
            <a:ext cx="9144000" cy="1371600"/>
          </a:xfrm>
        </p:spPr>
        <p:txBody>
          <a:bodyPr/>
          <a:lstStyle/>
          <a:p>
            <a:pPr eaLnBrk="1" hangingPunct="1">
              <a:lnSpc>
                <a:spcPct val="120000"/>
              </a:lnSpc>
            </a:pPr>
            <a:r>
              <a:rPr lang="zh-CN" altLang="en-US" sz="2800" b="1">
                <a:solidFill>
                  <a:srgbClr val="0000FF"/>
                </a:solidFill>
                <a:latin typeface="Times New Roman" panose="02020603050405020304" pitchFamily="18" charset="0"/>
                <a:ea typeface="黑体" panose="02010609060101010101" pitchFamily="49" charset="-122"/>
              </a:rPr>
              <a:t>美国贸易自由化提案</a:t>
            </a:r>
            <a:r>
              <a:rPr lang="en-US" altLang="zh-CN" sz="2800" b="1">
                <a:solidFill>
                  <a:srgbClr val="0000FF"/>
                </a:solidFill>
                <a:latin typeface="Times New Roman" panose="02020603050405020304" pitchFamily="18" charset="0"/>
                <a:ea typeface="黑体" panose="02010609060101010101" pitchFamily="49" charset="-122"/>
              </a:rPr>
              <a:t>(</a:t>
            </a:r>
            <a:r>
              <a:rPr lang="zh-CN" altLang="en-US" sz="2800" b="1">
                <a:solidFill>
                  <a:srgbClr val="0000FF"/>
                </a:solidFill>
                <a:latin typeface="Times New Roman" panose="02020603050405020304" pitchFamily="18" charset="0"/>
                <a:ea typeface="黑体" panose="02010609060101010101" pitchFamily="49" charset="-122"/>
              </a:rPr>
              <a:t>降低关税</a:t>
            </a:r>
            <a:r>
              <a:rPr lang="en-US" altLang="zh-CN" sz="2800" b="1">
                <a:solidFill>
                  <a:srgbClr val="0000FF"/>
                </a:solidFill>
                <a:latin typeface="Times New Roman" panose="02020603050405020304" pitchFamily="18" charset="0"/>
                <a:ea typeface="黑体" panose="02010609060101010101" pitchFamily="49" charset="-122"/>
              </a:rPr>
              <a:t>+</a:t>
            </a:r>
            <a:r>
              <a:rPr lang="zh-CN" altLang="en-US" sz="2800" b="1">
                <a:solidFill>
                  <a:srgbClr val="0000FF"/>
                </a:solidFill>
                <a:latin typeface="Times New Roman" panose="02020603050405020304" pitchFamily="18" charset="0"/>
                <a:ea typeface="黑体" panose="02010609060101010101" pitchFamily="49" charset="-122"/>
              </a:rPr>
              <a:t>国内减让）</a:t>
            </a:r>
            <a:br>
              <a:rPr lang="zh-CN" altLang="en-US" sz="2800" b="1">
                <a:solidFill>
                  <a:srgbClr val="0000FF"/>
                </a:solidFill>
                <a:latin typeface="Times New Roman" panose="02020603050405020304" pitchFamily="18" charset="0"/>
                <a:ea typeface="黑体" panose="02010609060101010101" pitchFamily="49" charset="-122"/>
              </a:rPr>
            </a:br>
            <a:r>
              <a:rPr lang="zh-CN" altLang="en-US" sz="2800" b="1">
                <a:solidFill>
                  <a:srgbClr val="0000FF"/>
                </a:solidFill>
                <a:latin typeface="Times New Roman" panose="02020603050405020304" pitchFamily="18" charset="0"/>
                <a:ea typeface="黑体" panose="02010609060101010101" pitchFamily="49" charset="-122"/>
              </a:rPr>
              <a:t>对不同区域农户农业产值的影响</a:t>
            </a:r>
            <a:r>
              <a:rPr lang="zh-CN" altLang="en-US" sz="2800">
                <a:solidFill>
                  <a:srgbClr val="0000FF"/>
                </a:solidFill>
                <a:latin typeface="Times New Roman" panose="02020603050405020304" pitchFamily="18" charset="0"/>
                <a:ea typeface="黑体" panose="02010609060101010101" pitchFamily="49" charset="-122"/>
              </a:rPr>
              <a:t>（元</a:t>
            </a:r>
            <a:r>
              <a:rPr lang="en-US" altLang="zh-CN" sz="2800">
                <a:solidFill>
                  <a:srgbClr val="0000FF"/>
                </a:solidFill>
                <a:latin typeface="Times New Roman" panose="02020603050405020304" pitchFamily="18" charset="0"/>
                <a:ea typeface="黑体" panose="02010609060101010101" pitchFamily="49" charset="-122"/>
              </a:rPr>
              <a:t>/</a:t>
            </a:r>
            <a:r>
              <a:rPr lang="zh-CN" altLang="en-US" sz="2800">
                <a:solidFill>
                  <a:srgbClr val="0000FF"/>
                </a:solidFill>
                <a:latin typeface="Times New Roman" panose="02020603050405020304" pitchFamily="18" charset="0"/>
                <a:ea typeface="黑体" panose="02010609060101010101" pitchFamily="49" charset="-122"/>
              </a:rPr>
              <a:t>人</a:t>
            </a:r>
            <a:r>
              <a:rPr lang="en-US" altLang="zh-CN" sz="2800">
                <a:solidFill>
                  <a:srgbClr val="0000FF"/>
                </a:solidFill>
                <a:latin typeface="Times New Roman" panose="02020603050405020304" pitchFamily="18" charset="0"/>
                <a:ea typeface="黑体" panose="02010609060101010101" pitchFamily="49" charset="-122"/>
              </a:rPr>
              <a:t>,2015</a:t>
            </a:r>
            <a:r>
              <a:rPr lang="zh-CN" altLang="en-US" sz="2800">
                <a:solidFill>
                  <a:srgbClr val="0000FF"/>
                </a:solidFill>
                <a:latin typeface="Times New Roman" panose="02020603050405020304" pitchFamily="18" charset="0"/>
                <a:ea typeface="黑体" panose="02010609060101010101" pitchFamily="49" charset="-122"/>
              </a:rPr>
              <a:t>）</a:t>
            </a:r>
          </a:p>
        </p:txBody>
      </p:sp>
      <p:sp>
        <p:nvSpPr>
          <p:cNvPr id="91141" name="Rectangle 5"/>
          <p:cNvSpPr>
            <a:spLocks noChangeArrowheads="1"/>
          </p:cNvSpPr>
          <p:nvPr/>
        </p:nvSpPr>
        <p:spPr bwMode="auto">
          <a:xfrm>
            <a:off x="7380288" y="1979613"/>
            <a:ext cx="1584325" cy="3937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eaLnBrk="0" hangingPunct="0">
              <a:tabLst>
                <a:tab pos="228600" algn="l"/>
              </a:tabLst>
              <a:defRPr sz="1600">
                <a:solidFill>
                  <a:schemeClr val="tx1"/>
                </a:solidFill>
                <a:latin typeface="Arial" panose="020B0604020202020204" pitchFamily="34" charset="0"/>
                <a:ea typeface="宋体" panose="02010600030101010101" pitchFamily="2" charset="-122"/>
              </a:defRPr>
            </a:lvl1pPr>
            <a:lvl2pPr marL="742950" indent="-285750" eaLnBrk="0" hangingPunct="0">
              <a:tabLst>
                <a:tab pos="228600" algn="l"/>
              </a:tabLst>
              <a:defRPr sz="1600">
                <a:solidFill>
                  <a:schemeClr val="tx1"/>
                </a:solidFill>
                <a:latin typeface="Arial" panose="020B0604020202020204" pitchFamily="34" charset="0"/>
                <a:ea typeface="宋体" panose="02010600030101010101" pitchFamily="2" charset="-122"/>
              </a:defRPr>
            </a:lvl2pPr>
            <a:lvl3pPr marL="1143000" indent="-228600" eaLnBrk="0" hangingPunct="0">
              <a:tabLst>
                <a:tab pos="228600" algn="l"/>
              </a:tabLst>
              <a:defRPr sz="1600">
                <a:solidFill>
                  <a:schemeClr val="tx1"/>
                </a:solidFill>
                <a:latin typeface="Arial" panose="020B0604020202020204" pitchFamily="34" charset="0"/>
                <a:ea typeface="宋体" panose="02010600030101010101" pitchFamily="2" charset="-122"/>
              </a:defRPr>
            </a:lvl3pPr>
            <a:lvl4pPr marL="1600200" indent="-228600" eaLnBrk="0" hangingPunct="0">
              <a:tabLst>
                <a:tab pos="228600" algn="l"/>
              </a:tabLst>
              <a:defRPr sz="1600">
                <a:solidFill>
                  <a:schemeClr val="tx1"/>
                </a:solidFill>
                <a:latin typeface="Arial" panose="020B0604020202020204" pitchFamily="34" charset="0"/>
                <a:ea typeface="宋体" panose="02010600030101010101" pitchFamily="2" charset="-122"/>
              </a:defRPr>
            </a:lvl4pPr>
            <a:lvl5pPr marL="2057400" indent="-228600" eaLnBrk="0" hangingPunct="0">
              <a:tabLst>
                <a:tab pos="228600" algn="l"/>
              </a:tabLst>
              <a:defRPr sz="16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tabLst>
                <a:tab pos="228600" algn="l"/>
              </a:tabLst>
              <a:defRPr sz="16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tabLst>
                <a:tab pos="228600" algn="l"/>
              </a:tabLst>
              <a:defRPr sz="16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tabLst>
                <a:tab pos="228600" algn="l"/>
              </a:tabLst>
              <a:defRPr sz="16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tabLst>
                <a:tab pos="228600" algn="l"/>
              </a:tabLst>
              <a:defRPr sz="1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a:solidFill>
                  <a:srgbClr val="000000"/>
                </a:solidFill>
                <a:ea typeface="楷体_GB2312" pitchFamily="49" charset="-122"/>
              </a:rPr>
              <a:t>Doha</a:t>
            </a:r>
            <a:r>
              <a:rPr lang="zh-CN" altLang="en-US" sz="1800">
                <a:solidFill>
                  <a:srgbClr val="000000"/>
                </a:solidFill>
                <a:ea typeface="楷体_GB2312" pitchFamily="49" charset="-122"/>
              </a:rPr>
              <a:t>与</a:t>
            </a:r>
            <a:r>
              <a:rPr lang="en-US" altLang="zh-CN" sz="1800">
                <a:solidFill>
                  <a:srgbClr val="000000"/>
                </a:solidFill>
                <a:ea typeface="楷体_GB2312" pitchFamily="49" charset="-122"/>
              </a:rPr>
              <a:t>WTO</a:t>
            </a:r>
            <a:r>
              <a:rPr lang="zh-CN" altLang="en-US" sz="1800">
                <a:solidFill>
                  <a:srgbClr val="000000"/>
                </a:solidFill>
                <a:ea typeface="楷体_GB2312" pitchFamily="49" charset="-122"/>
              </a:rPr>
              <a:t>影响有显著差异。大部分地区（包括中西部地区）是受益的。但是前期受到保护的部分农产品将面临挑战。反映在区域上，集中生产这些产品的区域，农民人均收入会减少</a:t>
            </a:r>
          </a:p>
        </p:txBody>
      </p:sp>
    </p:spTree>
    <p:extLst>
      <p:ext uri="{BB962C8B-B14F-4D97-AF65-F5344CB8AC3E}">
        <p14:creationId xmlns:p14="http://schemas.microsoft.com/office/powerpoint/2010/main" val="6046277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0" y="44450"/>
            <a:ext cx="9144000" cy="1143000"/>
          </a:xfrm>
        </p:spPr>
        <p:txBody>
          <a:bodyPr/>
          <a:lstStyle/>
          <a:p>
            <a:pPr eaLnBrk="1" hangingPunct="1">
              <a:lnSpc>
                <a:spcPct val="70000"/>
              </a:lnSpc>
            </a:pPr>
            <a:r>
              <a:rPr lang="en-US" altLang="zh-CN" sz="2800">
                <a:latin typeface="Times New Roman" panose="02020603050405020304" pitchFamily="18" charset="0"/>
              </a:rPr>
              <a:t>Impacts on per capita agri. income for the farmers under poverty by province under USA proposals in 2015 </a:t>
            </a:r>
            <a:r>
              <a:rPr lang="en-US" altLang="zh-CN" sz="2000">
                <a:latin typeface="Times New Roman" panose="02020603050405020304" pitchFamily="18" charset="0"/>
              </a:rPr>
              <a:t>(yuan/person)</a:t>
            </a:r>
            <a:r>
              <a:rPr lang="en-US" altLang="zh-CN" sz="4000"/>
              <a:t> </a:t>
            </a:r>
          </a:p>
        </p:txBody>
      </p:sp>
      <p:pic>
        <p:nvPicPr>
          <p:cNvPr id="92163" name="Picture 4" descr="USAP"/>
          <p:cNvPicPr>
            <a:picLocks noChangeAspect="1" noChangeArrowheads="1"/>
          </p:cNvPicPr>
          <p:nvPr/>
        </p:nvPicPr>
        <p:blipFill>
          <a:blip r:embed="rId2">
            <a:extLst>
              <a:ext uri="{28A0092B-C50C-407E-A947-70E740481C1C}">
                <a14:useLocalDpi xmlns:a14="http://schemas.microsoft.com/office/drawing/2010/main" val="0"/>
              </a:ext>
            </a:extLst>
          </a:blip>
          <a:srcRect t="11078" r="24051" b="7518"/>
          <a:stretch>
            <a:fillRect/>
          </a:stretch>
        </p:blipFill>
        <p:spPr bwMode="auto">
          <a:xfrm>
            <a:off x="684213" y="1268413"/>
            <a:ext cx="6551612" cy="525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01830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body" idx="1"/>
          </p:nvPr>
        </p:nvSpPr>
        <p:spPr>
          <a:xfrm>
            <a:off x="0" y="1981200"/>
            <a:ext cx="9448800" cy="2514600"/>
          </a:xfrm>
        </p:spPr>
        <p:txBody>
          <a:bodyPr/>
          <a:lstStyle/>
          <a:p>
            <a:pPr eaLnBrk="1" hangingPunct="1">
              <a:buFontTx/>
              <a:buNone/>
            </a:pPr>
            <a:r>
              <a:rPr lang="zh-CN" altLang="en-US" sz="3600" b="1" dirty="0">
                <a:solidFill>
                  <a:schemeClr val="accent2"/>
                </a:solidFill>
              </a:rPr>
              <a:t>（</a:t>
            </a:r>
            <a:r>
              <a:rPr lang="en-US" altLang="zh-CN" sz="3600" b="1" dirty="0">
                <a:solidFill>
                  <a:schemeClr val="accent2"/>
                </a:solidFill>
              </a:rPr>
              <a:t>2</a:t>
            </a:r>
            <a:r>
              <a:rPr lang="zh-CN" altLang="en-US" sz="3600" b="1" dirty="0">
                <a:solidFill>
                  <a:schemeClr val="accent2"/>
                </a:solidFill>
              </a:rPr>
              <a:t>）基于</a:t>
            </a:r>
            <a:r>
              <a:rPr lang="en-US" altLang="zh-CN" sz="3600" b="1" dirty="0" err="1">
                <a:solidFill>
                  <a:schemeClr val="accent2"/>
                </a:solidFill>
              </a:rPr>
              <a:t>CAPSiM</a:t>
            </a:r>
            <a:r>
              <a:rPr lang="zh-CN" altLang="en-US" sz="3600" b="1" dirty="0">
                <a:solidFill>
                  <a:schemeClr val="accent2"/>
                </a:solidFill>
              </a:rPr>
              <a:t>模型的预测分析</a:t>
            </a:r>
          </a:p>
        </p:txBody>
      </p:sp>
    </p:spTree>
    <p:extLst>
      <p:ext uri="{BB962C8B-B14F-4D97-AF65-F5344CB8AC3E}">
        <p14:creationId xmlns:p14="http://schemas.microsoft.com/office/powerpoint/2010/main" val="17279178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1131095"/>
            <a:ext cx="8260707" cy="750516"/>
          </a:xfrm>
        </p:spPr>
        <p:txBody>
          <a:bodyPr>
            <a:normAutofit fontScale="90000"/>
          </a:bodyPr>
          <a:lstStyle/>
          <a:p>
            <a:r>
              <a:rPr lang="zh-CN" altLang="en-US" b="1" dirty="0">
                <a:solidFill>
                  <a:srgbClr val="FF0000"/>
                </a:solidFill>
                <a:latin typeface="Calibri" panose="020F0502020204030204" pitchFamily="34" charset="0"/>
              </a:rPr>
              <a:t>采用中国农业政策分析与预测模型</a:t>
            </a:r>
            <a:r>
              <a:rPr lang="en-US" altLang="zh-CN" b="1" dirty="0">
                <a:solidFill>
                  <a:srgbClr val="FF0000"/>
                </a:solidFill>
                <a:latin typeface="Calibri" panose="020F0502020204030204" pitchFamily="34" charset="0"/>
              </a:rPr>
              <a:t> </a:t>
            </a:r>
            <a:r>
              <a:rPr lang="zh-CN" altLang="en-US" b="1" dirty="0">
                <a:solidFill>
                  <a:srgbClr val="FF0000"/>
                </a:solidFill>
                <a:latin typeface="Calibri" panose="020F0502020204030204" pitchFamily="34" charset="0"/>
              </a:rPr>
              <a:t>（</a:t>
            </a:r>
            <a:r>
              <a:rPr lang="en-US" altLang="zh-CN" b="1" kern="100" dirty="0" err="1">
                <a:solidFill>
                  <a:srgbClr val="FF0000"/>
                </a:solidFill>
                <a:latin typeface="Calibri" panose="020F0502020204030204" pitchFamily="34" charset="0"/>
              </a:rPr>
              <a:t>CAPSiM</a:t>
            </a:r>
            <a:r>
              <a:rPr lang="zh-CN" altLang="en-US" b="1" kern="100" dirty="0">
                <a:solidFill>
                  <a:srgbClr val="FF0000"/>
                </a:solidFill>
                <a:latin typeface="Calibri" panose="020F0502020204030204" pitchFamily="34" charset="0"/>
              </a:rPr>
              <a:t>）</a:t>
            </a:r>
            <a:endParaRPr lang="zh-CN" altLang="en-US" b="1" dirty="0">
              <a:solidFill>
                <a:srgbClr val="FF0000"/>
              </a:solidFill>
              <a:latin typeface="Calibri" panose="020F0502020204030204" pitchFamily="34" charset="0"/>
            </a:endParaRPr>
          </a:p>
        </p:txBody>
      </p:sp>
      <p:sp>
        <p:nvSpPr>
          <p:cNvPr id="4" name="矩形 3"/>
          <p:cNvSpPr/>
          <p:nvPr/>
        </p:nvSpPr>
        <p:spPr>
          <a:xfrm>
            <a:off x="4013521" y="2125265"/>
            <a:ext cx="4875836" cy="369331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57175" indent="-257175" algn="just">
              <a:buFont typeface="Arial" panose="020B0604020202020204" pitchFamily="34" charset="0"/>
              <a:buChar char="•"/>
            </a:pPr>
            <a:r>
              <a:rPr lang="en-US" altLang="zh-CN" kern="100" dirty="0" err="1">
                <a:solidFill>
                  <a:prstClr val="black"/>
                </a:solidFill>
                <a:latin typeface="Times New Roman" panose="02020603050405020304" pitchFamily="18" charset="0"/>
                <a:ea typeface="黑体" panose="02010609060101010101" pitchFamily="49" charset="-122"/>
              </a:rPr>
              <a:t>CAPSiM</a:t>
            </a:r>
            <a:r>
              <a:rPr lang="zh-CN" altLang="zh-CN" kern="1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的生产模型中包括的农作物产品有水稻、小麦、玉米、红薯、土豆、其它粗粮、大豆、棉花、油料作物、糖料作物、蔬菜、水果、瓜果和其它作物等</a:t>
            </a:r>
            <a:r>
              <a:rPr lang="en-US" altLang="zh-CN" kern="100" dirty="0">
                <a:solidFill>
                  <a:srgbClr val="FF0000"/>
                </a:solidFill>
                <a:latin typeface="Times New Roman" panose="02020603050405020304" pitchFamily="18" charset="0"/>
                <a:ea typeface="黑体" panose="02010609060101010101" pitchFamily="49" charset="-122"/>
              </a:rPr>
              <a:t>14</a:t>
            </a:r>
            <a:r>
              <a:rPr lang="zh-CN" altLang="zh-CN"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种类农作物产品</a:t>
            </a:r>
            <a:r>
              <a:rPr lang="zh-CN" altLang="zh-CN" kern="1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；猪肉、牛肉、羊肉、家禽、蛋类、奶类、鱼、虾和其它水产品</a:t>
            </a:r>
            <a:r>
              <a:rPr lang="zh-CN" altLang="en-US" kern="1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等</a:t>
            </a:r>
            <a:r>
              <a:rPr lang="en-US" altLang="zh-CN" kern="100" dirty="0">
                <a:solidFill>
                  <a:srgbClr val="FF0000"/>
                </a:solidFill>
                <a:latin typeface="Times New Roman" panose="02020603050405020304" pitchFamily="18" charset="0"/>
                <a:ea typeface="黑体" panose="02010609060101010101" pitchFamily="49" charset="-122"/>
              </a:rPr>
              <a:t>9</a:t>
            </a:r>
            <a:r>
              <a:rPr lang="zh-CN" altLang="zh-CN" kern="1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类畜产品和水产品</a:t>
            </a:r>
            <a:r>
              <a:rPr lang="zh-CN" altLang="zh-CN" kern="1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。在需求系统中，消费品分成</a:t>
            </a:r>
            <a:r>
              <a:rPr lang="en-US" altLang="zh-CN" kern="100" dirty="0">
                <a:solidFill>
                  <a:prstClr val="black"/>
                </a:solidFill>
                <a:latin typeface="Times New Roman" panose="02020603050405020304" pitchFamily="18" charset="0"/>
                <a:ea typeface="黑体" panose="02010609060101010101" pitchFamily="49" charset="-122"/>
              </a:rPr>
              <a:t>23</a:t>
            </a:r>
            <a:r>
              <a:rPr lang="zh-CN" altLang="zh-CN" kern="1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类，它们分别为大米、小麦、玉米、红薯、土豆、其它粗粮、大豆、食用油、食糖、蔬菜、水果、瓜果、猪肉、牛肉、羊肉、家禽、蛋类、奶类、鱼、虾、其它水产品、其它食品和所有非食品。</a:t>
            </a:r>
            <a:endParaRPr lang="en-US" altLang="zh-CN" kern="1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a:p>
            <a:pPr marL="257175" indent="-257175" algn="just">
              <a:buFont typeface="Arial" panose="020B0604020202020204" pitchFamily="34" charset="0"/>
              <a:buChar char="•"/>
            </a:pPr>
            <a:r>
              <a:rPr lang="zh-CN" altLang="zh-CN" kern="1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最新的</a:t>
            </a:r>
            <a:r>
              <a:rPr lang="en-US" altLang="zh-CN" kern="100" dirty="0" err="1">
                <a:solidFill>
                  <a:prstClr val="black"/>
                </a:solidFill>
                <a:latin typeface="Times New Roman" panose="02020603050405020304" pitchFamily="18" charset="0"/>
                <a:ea typeface="黑体" panose="02010609060101010101" pitchFamily="49" charset="-122"/>
              </a:rPr>
              <a:t>CAPSiM</a:t>
            </a:r>
            <a:r>
              <a:rPr lang="zh-CN" altLang="zh-CN" kern="1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模型数据库已经更新到</a:t>
            </a:r>
            <a:r>
              <a:rPr lang="en-US" altLang="zh-CN" kern="100" dirty="0">
                <a:solidFill>
                  <a:prstClr val="black"/>
                </a:solidFill>
                <a:latin typeface="Times New Roman" panose="02020603050405020304" pitchFamily="18" charset="0"/>
                <a:ea typeface="黑体" panose="02010609060101010101" pitchFamily="49" charset="-122"/>
              </a:rPr>
              <a:t>2015</a:t>
            </a:r>
            <a:r>
              <a:rPr lang="zh-CN" altLang="zh-CN" kern="1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年。</a:t>
            </a:r>
            <a:endParaRPr lang="zh-CN" altLang="en-US" dirty="0">
              <a:solidFill>
                <a:prstClr val="black"/>
              </a:solidFill>
              <a:ea typeface="黑体" panose="02010609060101010101" pitchFamily="49" charset="-122"/>
            </a:endParaRPr>
          </a:p>
        </p:txBody>
      </p:sp>
      <p:pic>
        <p:nvPicPr>
          <p:cNvPr id="5" name="图片 21"/>
          <p:cNvPicPr>
            <a:picLocks noChangeAspect="1" noChangeArrowheads="1"/>
          </p:cNvPicPr>
          <p:nvPr/>
        </p:nvPicPr>
        <p:blipFill>
          <a:blip r:embed="rId2" cstate="print"/>
          <a:srcRect l="24719" t="27501" r="20992" b="12991"/>
          <a:stretch>
            <a:fillRect/>
          </a:stretch>
        </p:blipFill>
        <p:spPr bwMode="auto">
          <a:xfrm>
            <a:off x="60767" y="2125266"/>
            <a:ext cx="3952754" cy="3540814"/>
          </a:xfrm>
          <a:prstGeom prst="rect">
            <a:avLst/>
          </a:prstGeom>
          <a:noFill/>
          <a:ln w="9525">
            <a:noFill/>
            <a:miter lim="800000"/>
            <a:headEnd/>
            <a:tailEnd/>
          </a:ln>
        </p:spPr>
      </p:pic>
    </p:spTree>
    <p:extLst>
      <p:ext uri="{BB962C8B-B14F-4D97-AF65-F5344CB8AC3E}">
        <p14:creationId xmlns:p14="http://schemas.microsoft.com/office/powerpoint/2010/main" val="15192393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1131094"/>
            <a:ext cx="7886700" cy="307784"/>
          </a:xfrm>
        </p:spPr>
        <p:txBody>
          <a:bodyPr>
            <a:normAutofit fontScale="90000"/>
          </a:bodyPr>
          <a:lstStyle/>
          <a:p>
            <a:pPr algn="ctr"/>
            <a:r>
              <a:rPr lang="zh-CN" altLang="en-US" dirty="0">
                <a:solidFill>
                  <a:srgbClr val="FF0000"/>
                </a:solidFill>
              </a:rPr>
              <a:t>预测分析基本假设</a:t>
            </a:r>
          </a:p>
        </p:txBody>
      </p:sp>
      <p:sp>
        <p:nvSpPr>
          <p:cNvPr id="3" name="内容占位符 2"/>
          <p:cNvSpPr>
            <a:spLocks noGrp="1"/>
          </p:cNvSpPr>
          <p:nvPr>
            <p:ph idx="1"/>
          </p:nvPr>
        </p:nvSpPr>
        <p:spPr>
          <a:xfrm>
            <a:off x="243068" y="1638541"/>
            <a:ext cx="8707056" cy="4814795"/>
          </a:xfrm>
        </p:spPr>
        <p:txBody>
          <a:bodyPr>
            <a:noAutofit/>
          </a:bodyPr>
          <a:lstStyle/>
          <a:p>
            <a:pPr lvl="0">
              <a:lnSpc>
                <a:spcPct val="120000"/>
              </a:lnSpc>
            </a:pPr>
            <a:r>
              <a:rPr lang="en-US" altLang="zh-CN" sz="1600" b="1" dirty="0">
                <a:latin typeface="Calibri" panose="020F0502020204030204" pitchFamily="34" charset="0"/>
              </a:rPr>
              <a:t>GDP</a:t>
            </a:r>
            <a:r>
              <a:rPr lang="zh-CN" altLang="zh-CN" sz="1600" b="1" dirty="0">
                <a:latin typeface="Calibri" panose="020F0502020204030204" pitchFamily="34" charset="0"/>
              </a:rPr>
              <a:t>增长率：在</a:t>
            </a:r>
            <a:r>
              <a:rPr lang="en-US" altLang="zh-CN" sz="1600" b="1" dirty="0">
                <a:latin typeface="Calibri" panose="020F0502020204030204" pitchFamily="34" charset="0"/>
              </a:rPr>
              <a:t>2016-2020</a:t>
            </a:r>
            <a:r>
              <a:rPr lang="zh-CN" altLang="zh-CN" sz="1600" b="1" dirty="0">
                <a:latin typeface="Calibri" panose="020F0502020204030204" pitchFamily="34" charset="0"/>
              </a:rPr>
              <a:t>年间，年均</a:t>
            </a:r>
            <a:r>
              <a:rPr lang="en-US" altLang="zh-CN" sz="1600" b="1" dirty="0">
                <a:latin typeface="Calibri" panose="020F0502020204030204" pitchFamily="34" charset="0"/>
              </a:rPr>
              <a:t>GDP</a:t>
            </a:r>
            <a:r>
              <a:rPr lang="zh-CN" altLang="zh-CN" sz="1600" b="1" dirty="0">
                <a:latin typeface="Calibri" panose="020F0502020204030204" pitchFamily="34" charset="0"/>
              </a:rPr>
              <a:t>增长</a:t>
            </a:r>
            <a:r>
              <a:rPr lang="en-US" altLang="zh-CN" sz="1600" b="1" dirty="0">
                <a:latin typeface="Calibri" panose="020F0502020204030204" pitchFamily="34" charset="0"/>
              </a:rPr>
              <a:t>6.5%</a:t>
            </a:r>
            <a:r>
              <a:rPr lang="zh-CN" altLang="zh-CN" sz="1600" b="1" dirty="0">
                <a:latin typeface="Calibri" panose="020F0502020204030204" pitchFamily="34" charset="0"/>
              </a:rPr>
              <a:t>；在</a:t>
            </a:r>
            <a:r>
              <a:rPr lang="en-US" altLang="zh-CN" sz="1600" b="1" dirty="0">
                <a:latin typeface="Calibri" panose="020F0502020204030204" pitchFamily="34" charset="0"/>
              </a:rPr>
              <a:t>2021-2025</a:t>
            </a:r>
            <a:r>
              <a:rPr lang="zh-CN" altLang="zh-CN" sz="1600" b="1" dirty="0">
                <a:latin typeface="Calibri" panose="020F0502020204030204" pitchFamily="34" charset="0"/>
              </a:rPr>
              <a:t>期间，年均</a:t>
            </a:r>
            <a:r>
              <a:rPr lang="en-US" altLang="zh-CN" sz="1600" b="1" dirty="0">
                <a:latin typeface="Calibri" panose="020F0502020204030204" pitchFamily="34" charset="0"/>
              </a:rPr>
              <a:t>GDP</a:t>
            </a:r>
            <a:r>
              <a:rPr lang="zh-CN" altLang="zh-CN" sz="1600" b="1" dirty="0">
                <a:latin typeface="Calibri" panose="020F0502020204030204" pitchFamily="34" charset="0"/>
              </a:rPr>
              <a:t>增长率为</a:t>
            </a:r>
            <a:r>
              <a:rPr lang="en-US" altLang="zh-CN" sz="1600" b="1" dirty="0">
                <a:latin typeface="Calibri" panose="020F0502020204030204" pitchFamily="34" charset="0"/>
              </a:rPr>
              <a:t>5.5%</a:t>
            </a:r>
            <a:r>
              <a:rPr lang="zh-CN" altLang="zh-CN" sz="1600" b="1" dirty="0">
                <a:latin typeface="Calibri" panose="020F0502020204030204" pitchFamily="34" charset="0"/>
              </a:rPr>
              <a:t>；</a:t>
            </a:r>
            <a:r>
              <a:rPr lang="en-US" altLang="zh-CN" sz="1600" b="1" dirty="0">
                <a:latin typeface="Calibri" panose="020F0502020204030204" pitchFamily="34" charset="0"/>
              </a:rPr>
              <a:t>2026-2030</a:t>
            </a:r>
            <a:r>
              <a:rPr lang="zh-CN" altLang="zh-CN" sz="1600" b="1" dirty="0">
                <a:latin typeface="Calibri" panose="020F0502020204030204" pitchFamily="34" charset="0"/>
              </a:rPr>
              <a:t>年增长</a:t>
            </a:r>
            <a:r>
              <a:rPr lang="en-US" altLang="zh-CN" sz="1600" b="1" dirty="0">
                <a:latin typeface="Calibri" panose="020F0502020204030204" pitchFamily="34" charset="0"/>
              </a:rPr>
              <a:t>4.5%</a:t>
            </a:r>
            <a:r>
              <a:rPr lang="zh-CN" altLang="zh-CN" sz="1600" b="1" dirty="0">
                <a:latin typeface="Calibri" panose="020F0502020204030204" pitchFamily="34" charset="0"/>
              </a:rPr>
              <a:t>。</a:t>
            </a:r>
          </a:p>
          <a:p>
            <a:pPr lvl="0">
              <a:lnSpc>
                <a:spcPct val="120000"/>
              </a:lnSpc>
            </a:pPr>
            <a:r>
              <a:rPr lang="zh-CN" altLang="zh-CN" sz="1600" b="1" dirty="0">
                <a:latin typeface="Calibri" panose="020F0502020204030204" pitchFamily="34" charset="0"/>
              </a:rPr>
              <a:t>未来城乡收入差距逐渐减小：设定在</a:t>
            </a:r>
            <a:r>
              <a:rPr lang="en-US" altLang="zh-CN" sz="1600" b="1" dirty="0">
                <a:latin typeface="Calibri" panose="020F0502020204030204" pitchFamily="34" charset="0"/>
              </a:rPr>
              <a:t>2016-2030</a:t>
            </a:r>
            <a:r>
              <a:rPr lang="zh-CN" altLang="zh-CN" sz="1600" b="1" dirty="0">
                <a:latin typeface="Calibri" panose="020F0502020204030204" pitchFamily="34" charset="0"/>
              </a:rPr>
              <a:t>年间，虽然城乡居民年均收入率也呈现下降的趋势，但这时期的农村居民年均收入增长为</a:t>
            </a:r>
            <a:r>
              <a:rPr lang="en-US" altLang="zh-CN" sz="1600" b="1" dirty="0">
                <a:latin typeface="Calibri" panose="020F0502020204030204" pitchFamily="34" charset="0"/>
              </a:rPr>
              <a:t>5.5%</a:t>
            </a:r>
            <a:r>
              <a:rPr lang="zh-CN" altLang="zh-CN" sz="1600" b="1" dirty="0">
                <a:latin typeface="Calibri" panose="020F0502020204030204" pitchFamily="34" charset="0"/>
              </a:rPr>
              <a:t>，城市居民年均收入增长为</a:t>
            </a:r>
            <a:r>
              <a:rPr lang="en-US" altLang="zh-CN" sz="1600" b="1" dirty="0">
                <a:latin typeface="Calibri" panose="020F0502020204030204" pitchFamily="34" charset="0"/>
              </a:rPr>
              <a:t>5.0%</a:t>
            </a:r>
            <a:r>
              <a:rPr lang="zh-CN" altLang="zh-CN" sz="1600" b="1" dirty="0">
                <a:latin typeface="Calibri" panose="020F0502020204030204" pitchFamily="34" charset="0"/>
              </a:rPr>
              <a:t>。</a:t>
            </a:r>
          </a:p>
          <a:p>
            <a:pPr lvl="0">
              <a:lnSpc>
                <a:spcPct val="120000"/>
              </a:lnSpc>
            </a:pPr>
            <a:r>
              <a:rPr lang="zh-CN" altLang="zh-CN" sz="1600" b="1" dirty="0">
                <a:latin typeface="Calibri" panose="020F0502020204030204" pitchFamily="34" charset="0"/>
              </a:rPr>
              <a:t>人口增长率：在</a:t>
            </a:r>
            <a:r>
              <a:rPr lang="en-US" altLang="zh-CN" sz="1600" b="1" dirty="0">
                <a:latin typeface="Calibri" panose="020F0502020204030204" pitchFamily="34" charset="0"/>
              </a:rPr>
              <a:t>2016-2020</a:t>
            </a:r>
            <a:r>
              <a:rPr lang="zh-CN" altLang="zh-CN" sz="1600" b="1" dirty="0">
                <a:latin typeface="Calibri" panose="020F0502020204030204" pitchFamily="34" charset="0"/>
              </a:rPr>
              <a:t>年间，年均增长</a:t>
            </a:r>
            <a:r>
              <a:rPr lang="en-US" altLang="zh-CN" sz="1600" b="1" dirty="0">
                <a:latin typeface="Calibri" panose="020F0502020204030204" pitchFamily="34" charset="0"/>
              </a:rPr>
              <a:t>0.44%</a:t>
            </a:r>
            <a:r>
              <a:rPr lang="zh-CN" altLang="zh-CN" sz="1600" b="1" dirty="0">
                <a:latin typeface="Calibri" panose="020F0502020204030204" pitchFamily="34" charset="0"/>
              </a:rPr>
              <a:t>；在</a:t>
            </a:r>
            <a:r>
              <a:rPr lang="en-US" altLang="zh-CN" sz="1600" b="1" dirty="0">
                <a:latin typeface="Calibri" panose="020F0502020204030204" pitchFamily="34" charset="0"/>
              </a:rPr>
              <a:t>2021-2025</a:t>
            </a:r>
            <a:r>
              <a:rPr lang="zh-CN" altLang="zh-CN" sz="1600" b="1" dirty="0">
                <a:latin typeface="Calibri" panose="020F0502020204030204" pitchFamily="34" charset="0"/>
              </a:rPr>
              <a:t>年，年均增长</a:t>
            </a:r>
            <a:r>
              <a:rPr lang="en-US" altLang="zh-CN" sz="1600" b="1" dirty="0">
                <a:latin typeface="Calibri" panose="020F0502020204030204" pitchFamily="34" charset="0"/>
              </a:rPr>
              <a:t>0.22%</a:t>
            </a:r>
            <a:r>
              <a:rPr lang="zh-CN" altLang="zh-CN" sz="1600" b="1" dirty="0">
                <a:latin typeface="Calibri" panose="020F0502020204030204" pitchFamily="34" charset="0"/>
              </a:rPr>
              <a:t>；在</a:t>
            </a:r>
            <a:r>
              <a:rPr lang="en-US" altLang="zh-CN" sz="1600" b="1" dirty="0">
                <a:latin typeface="Calibri" panose="020F0502020204030204" pitchFamily="34" charset="0"/>
              </a:rPr>
              <a:t>2026-2030</a:t>
            </a:r>
            <a:r>
              <a:rPr lang="zh-CN" altLang="zh-CN" sz="1600" b="1" dirty="0">
                <a:latin typeface="Calibri" panose="020F0502020204030204" pitchFamily="34" charset="0"/>
              </a:rPr>
              <a:t>年，年均增长</a:t>
            </a:r>
            <a:r>
              <a:rPr lang="en-US" altLang="zh-CN" sz="1600" b="1" dirty="0">
                <a:latin typeface="Calibri" panose="020F0502020204030204" pitchFamily="34" charset="0"/>
              </a:rPr>
              <a:t>0.06%</a:t>
            </a:r>
            <a:r>
              <a:rPr lang="zh-CN" altLang="zh-CN" sz="1600" b="1" dirty="0">
                <a:latin typeface="Calibri" panose="020F0502020204030204" pitchFamily="34" charset="0"/>
              </a:rPr>
              <a:t>。</a:t>
            </a:r>
          </a:p>
          <a:p>
            <a:pPr lvl="0">
              <a:lnSpc>
                <a:spcPct val="120000"/>
              </a:lnSpc>
            </a:pPr>
            <a:r>
              <a:rPr lang="zh-CN" altLang="zh-CN" sz="1600" b="1" dirty="0">
                <a:latin typeface="Calibri" panose="020F0502020204030204" pitchFamily="34" charset="0"/>
              </a:rPr>
              <a:t>城镇化率：城镇化率将由</a:t>
            </a:r>
            <a:r>
              <a:rPr lang="en-US" altLang="zh-CN" sz="1600" b="1" dirty="0">
                <a:latin typeface="Calibri" panose="020F0502020204030204" pitchFamily="34" charset="0"/>
              </a:rPr>
              <a:t>2015</a:t>
            </a:r>
            <a:r>
              <a:rPr lang="zh-CN" altLang="zh-CN" sz="1600" b="1" dirty="0">
                <a:latin typeface="Calibri" panose="020F0502020204030204" pitchFamily="34" charset="0"/>
              </a:rPr>
              <a:t>年的</a:t>
            </a:r>
            <a:r>
              <a:rPr lang="en-US" altLang="zh-CN" sz="1600" b="1" dirty="0">
                <a:latin typeface="Calibri" panose="020F0502020204030204" pitchFamily="34" charset="0"/>
              </a:rPr>
              <a:t>55%</a:t>
            </a:r>
            <a:r>
              <a:rPr lang="zh-CN" altLang="zh-CN" sz="1600" b="1" dirty="0">
                <a:latin typeface="Calibri" panose="020F0502020204030204" pitchFamily="34" charset="0"/>
              </a:rPr>
              <a:t>，提高到</a:t>
            </a:r>
            <a:r>
              <a:rPr lang="en-US" altLang="zh-CN" sz="1600" b="1" dirty="0">
                <a:latin typeface="Calibri" panose="020F0502020204030204" pitchFamily="34" charset="0"/>
              </a:rPr>
              <a:t>2020</a:t>
            </a:r>
            <a:r>
              <a:rPr lang="zh-CN" altLang="zh-CN" sz="1600" b="1" dirty="0">
                <a:latin typeface="Calibri" panose="020F0502020204030204" pitchFamily="34" charset="0"/>
              </a:rPr>
              <a:t>年的</a:t>
            </a:r>
            <a:r>
              <a:rPr lang="en-US" altLang="zh-CN" sz="1600" b="1" dirty="0">
                <a:latin typeface="Calibri" panose="020F0502020204030204" pitchFamily="34" charset="0"/>
              </a:rPr>
              <a:t>60%</a:t>
            </a:r>
            <a:r>
              <a:rPr lang="zh-CN" altLang="zh-CN" sz="1600" b="1" dirty="0">
                <a:latin typeface="Calibri" panose="020F0502020204030204" pitchFamily="34" charset="0"/>
              </a:rPr>
              <a:t>、</a:t>
            </a:r>
            <a:r>
              <a:rPr lang="en-US" altLang="zh-CN" sz="1600" b="1" dirty="0">
                <a:latin typeface="Calibri" panose="020F0502020204030204" pitchFamily="34" charset="0"/>
              </a:rPr>
              <a:t>2025</a:t>
            </a:r>
            <a:r>
              <a:rPr lang="zh-CN" altLang="zh-CN" sz="1600" b="1" dirty="0">
                <a:latin typeface="Calibri" panose="020F0502020204030204" pitchFamily="34" charset="0"/>
              </a:rPr>
              <a:t>年的</a:t>
            </a:r>
            <a:r>
              <a:rPr lang="en-US" altLang="zh-CN" sz="1600" b="1" dirty="0">
                <a:latin typeface="Calibri" panose="020F0502020204030204" pitchFamily="34" charset="0"/>
              </a:rPr>
              <a:t>64%</a:t>
            </a:r>
            <a:r>
              <a:rPr lang="zh-CN" altLang="zh-CN" sz="1600" b="1" dirty="0">
                <a:latin typeface="Calibri" panose="020F0502020204030204" pitchFamily="34" charset="0"/>
              </a:rPr>
              <a:t>和</a:t>
            </a:r>
            <a:r>
              <a:rPr lang="en-US" altLang="zh-CN" sz="1600" b="1" dirty="0">
                <a:latin typeface="Calibri" panose="020F0502020204030204" pitchFamily="34" charset="0"/>
              </a:rPr>
              <a:t>2030</a:t>
            </a:r>
            <a:r>
              <a:rPr lang="zh-CN" altLang="zh-CN" sz="1600" b="1" dirty="0">
                <a:latin typeface="Calibri" panose="020F0502020204030204" pitchFamily="34" charset="0"/>
              </a:rPr>
              <a:t>年的</a:t>
            </a:r>
            <a:r>
              <a:rPr lang="en-US" altLang="zh-CN" sz="1600" b="1" dirty="0">
                <a:latin typeface="Calibri" panose="020F0502020204030204" pitchFamily="34" charset="0"/>
              </a:rPr>
              <a:t>67%</a:t>
            </a:r>
            <a:r>
              <a:rPr lang="zh-CN" altLang="zh-CN" sz="1600" b="1" dirty="0">
                <a:latin typeface="Calibri" panose="020F0502020204030204" pitchFamily="34" charset="0"/>
              </a:rPr>
              <a:t>。城镇化率在模型中是通过农村和城镇人口比率体现的。</a:t>
            </a:r>
          </a:p>
          <a:p>
            <a:pPr lvl="0">
              <a:lnSpc>
                <a:spcPct val="120000"/>
              </a:lnSpc>
            </a:pPr>
            <a:r>
              <a:rPr lang="zh-CN" altLang="zh-CN" sz="1600" b="1" dirty="0">
                <a:latin typeface="Calibri" panose="020F0502020204030204" pitchFamily="34" charset="0"/>
              </a:rPr>
              <a:t>农业劳动力工资和土地租金变化：设定农村劳动力实际工资在</a:t>
            </a:r>
            <a:r>
              <a:rPr lang="en-US" altLang="zh-CN" sz="1600" b="1" dirty="0">
                <a:latin typeface="Calibri" panose="020F0502020204030204" pitchFamily="34" charset="0"/>
              </a:rPr>
              <a:t>2016-2030</a:t>
            </a:r>
            <a:r>
              <a:rPr lang="zh-CN" altLang="zh-CN" sz="1600" b="1" dirty="0">
                <a:latin typeface="Calibri" panose="020F0502020204030204" pitchFamily="34" charset="0"/>
              </a:rPr>
              <a:t>年间年均增长</a:t>
            </a:r>
            <a:r>
              <a:rPr lang="en-US" altLang="zh-CN" sz="1600" b="1" dirty="0">
                <a:latin typeface="Calibri" panose="020F0502020204030204" pitchFamily="34" charset="0"/>
              </a:rPr>
              <a:t>5.0%</a:t>
            </a:r>
            <a:r>
              <a:rPr lang="zh-CN" altLang="zh-CN" sz="1600" b="1" dirty="0">
                <a:latin typeface="Calibri" panose="020F0502020204030204" pitchFamily="34" charset="0"/>
              </a:rPr>
              <a:t>，土地租金在</a:t>
            </a:r>
            <a:r>
              <a:rPr lang="en-US" altLang="zh-CN" sz="1600" b="1" dirty="0">
                <a:latin typeface="Calibri" panose="020F0502020204030204" pitchFamily="34" charset="0"/>
              </a:rPr>
              <a:t>2016-2030</a:t>
            </a:r>
            <a:r>
              <a:rPr lang="zh-CN" altLang="zh-CN" sz="1600" b="1" dirty="0">
                <a:latin typeface="Calibri" panose="020F0502020204030204" pitchFamily="34" charset="0"/>
              </a:rPr>
              <a:t>年间年均增长约</a:t>
            </a:r>
            <a:r>
              <a:rPr lang="en-US" altLang="zh-CN" sz="1600" b="1" dirty="0">
                <a:latin typeface="Calibri" panose="020F0502020204030204" pitchFamily="34" charset="0"/>
              </a:rPr>
              <a:t>2.5%</a:t>
            </a:r>
            <a:r>
              <a:rPr lang="zh-CN" altLang="zh-CN" sz="1600" b="1" dirty="0">
                <a:latin typeface="Calibri" panose="020F0502020204030204" pitchFamily="34" charset="0"/>
              </a:rPr>
              <a:t>。</a:t>
            </a:r>
          </a:p>
          <a:p>
            <a:pPr>
              <a:lnSpc>
                <a:spcPct val="120000"/>
              </a:lnSpc>
            </a:pPr>
            <a:r>
              <a:rPr lang="zh-CN" altLang="zh-CN" sz="1600" b="1" dirty="0">
                <a:latin typeface="Calibri" panose="020F0502020204030204" pitchFamily="34" charset="0"/>
              </a:rPr>
              <a:t>农业科技进步：假设国家在未来将继续加大农业科技投入，但是随着提高单产提高的边际成本增加，科技投入对单产提高的贡献率呈下降趋势。科技进步在不同年份对不同农产品单产增长的贡献率假设查考</a:t>
            </a:r>
            <a:r>
              <a:rPr lang="en-US" altLang="zh-CN" sz="1600" b="1" dirty="0">
                <a:latin typeface="Calibri" panose="020F0502020204030204" pitchFamily="34" charset="0"/>
              </a:rPr>
              <a:t>Huang et al.</a:t>
            </a:r>
            <a:r>
              <a:rPr lang="zh-CN" altLang="zh-CN" sz="1600" b="1" dirty="0">
                <a:latin typeface="Calibri" panose="020F0502020204030204" pitchFamily="34" charset="0"/>
              </a:rPr>
              <a:t>（</a:t>
            </a:r>
            <a:r>
              <a:rPr lang="en-US" altLang="zh-CN" sz="1600" b="1" dirty="0">
                <a:latin typeface="Calibri" panose="020F0502020204030204" pitchFamily="34" charset="0"/>
              </a:rPr>
              <a:t>2015</a:t>
            </a:r>
            <a:r>
              <a:rPr lang="zh-CN" altLang="zh-CN" sz="1600" b="1" dirty="0">
                <a:latin typeface="Calibri" panose="020F0502020204030204" pitchFamily="34" charset="0"/>
              </a:rPr>
              <a:t>）。</a:t>
            </a:r>
            <a:endParaRPr lang="zh-CN" altLang="en-US" sz="1600" b="1" dirty="0">
              <a:latin typeface="Calibri" panose="020F0502020204030204" pitchFamily="34" charset="0"/>
            </a:endParaRPr>
          </a:p>
        </p:txBody>
      </p:sp>
    </p:spTree>
    <p:extLst>
      <p:ext uri="{BB962C8B-B14F-4D97-AF65-F5344CB8AC3E}">
        <p14:creationId xmlns:p14="http://schemas.microsoft.com/office/powerpoint/2010/main" val="1533127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6013" y="940112"/>
            <a:ext cx="7886700" cy="672387"/>
          </a:xfrm>
        </p:spPr>
        <p:txBody>
          <a:bodyPr>
            <a:normAutofit/>
          </a:bodyPr>
          <a:lstStyle/>
          <a:p>
            <a:pPr algn="ctr"/>
            <a:r>
              <a:rPr lang="zh-CN" altLang="en-US" sz="3000" b="1" dirty="0">
                <a:solidFill>
                  <a:srgbClr val="FF0000"/>
                </a:solidFill>
              </a:rPr>
              <a:t>主要农作物未来进出口变化（万吨）</a:t>
            </a:r>
          </a:p>
        </p:txBody>
      </p:sp>
      <p:graphicFrame>
        <p:nvGraphicFramePr>
          <p:cNvPr id="7" name="图表 6"/>
          <p:cNvGraphicFramePr>
            <a:graphicFrameLocks/>
          </p:cNvGraphicFramePr>
          <p:nvPr/>
        </p:nvGraphicFramePr>
        <p:xfrm>
          <a:off x="15519" y="1612499"/>
          <a:ext cx="3074921" cy="415745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图表 7"/>
          <p:cNvGraphicFramePr>
            <a:graphicFrameLocks/>
          </p:cNvGraphicFramePr>
          <p:nvPr>
            <p:extLst>
              <p:ext uri="{D42A27DB-BD31-4B8C-83A1-F6EECF244321}">
                <p14:modId xmlns:p14="http://schemas.microsoft.com/office/powerpoint/2010/main" val="916473947"/>
              </p:ext>
            </p:extLst>
          </p:nvPr>
        </p:nvGraphicFramePr>
        <p:xfrm>
          <a:off x="3090439" y="1612499"/>
          <a:ext cx="2847374" cy="415745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图表 8"/>
          <p:cNvGraphicFramePr>
            <a:graphicFrameLocks/>
          </p:cNvGraphicFramePr>
          <p:nvPr/>
        </p:nvGraphicFramePr>
        <p:xfrm>
          <a:off x="5937813" y="1612500"/>
          <a:ext cx="3225393" cy="416688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083079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997840"/>
            <a:ext cx="7886700" cy="556930"/>
          </a:xfrm>
        </p:spPr>
        <p:txBody>
          <a:bodyPr>
            <a:normAutofit/>
          </a:bodyPr>
          <a:lstStyle/>
          <a:p>
            <a:r>
              <a:rPr lang="zh-CN" altLang="en-US" b="1" dirty="0">
                <a:solidFill>
                  <a:srgbClr val="FF0000"/>
                </a:solidFill>
              </a:rPr>
              <a:t>主要畜产品未来进出口变化（千吨）</a:t>
            </a:r>
            <a:endParaRPr lang="zh-CN" altLang="en-US" dirty="0"/>
          </a:p>
        </p:txBody>
      </p:sp>
      <p:graphicFrame>
        <p:nvGraphicFramePr>
          <p:cNvPr id="4" name="图表 3"/>
          <p:cNvGraphicFramePr>
            <a:graphicFrameLocks/>
          </p:cNvGraphicFramePr>
          <p:nvPr/>
        </p:nvGraphicFramePr>
        <p:xfrm>
          <a:off x="3078938" y="1554768"/>
          <a:ext cx="2984750" cy="415680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图表 4"/>
          <p:cNvGraphicFramePr>
            <a:graphicFrameLocks/>
          </p:cNvGraphicFramePr>
          <p:nvPr/>
        </p:nvGraphicFramePr>
        <p:xfrm>
          <a:off x="6063688" y="1554768"/>
          <a:ext cx="3048554" cy="412359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图表 5"/>
          <p:cNvGraphicFramePr>
            <a:graphicFrameLocks/>
          </p:cNvGraphicFramePr>
          <p:nvPr/>
        </p:nvGraphicFramePr>
        <p:xfrm>
          <a:off x="1" y="1554769"/>
          <a:ext cx="3168569" cy="415680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611023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2337" y="1035603"/>
            <a:ext cx="7886700" cy="472724"/>
          </a:xfrm>
        </p:spPr>
        <p:txBody>
          <a:bodyPr>
            <a:normAutofit fontScale="90000"/>
          </a:bodyPr>
          <a:lstStyle/>
          <a:p>
            <a:pPr algn="ctr"/>
            <a:r>
              <a:rPr lang="zh-CN" altLang="en-US" b="1" dirty="0">
                <a:solidFill>
                  <a:srgbClr val="FF0000"/>
                </a:solidFill>
                <a:latin typeface="黑体" panose="02010609060101010101" pitchFamily="49" charset="-122"/>
              </a:rPr>
              <a:t>农产品自给率（</a:t>
            </a:r>
            <a:r>
              <a:rPr lang="en-US" altLang="zh-CN" b="1" dirty="0">
                <a:solidFill>
                  <a:srgbClr val="FF0000"/>
                </a:solidFill>
                <a:latin typeface="黑体" panose="02010609060101010101" pitchFamily="49" charset="-122"/>
              </a:rPr>
              <a:t>%</a:t>
            </a:r>
            <a:r>
              <a:rPr lang="zh-CN" altLang="en-US" b="1" dirty="0">
                <a:solidFill>
                  <a:srgbClr val="FF0000"/>
                </a:solidFill>
                <a:latin typeface="黑体" panose="02010609060101010101" pitchFamily="49" charset="-122"/>
              </a:rPr>
              <a:t>）未来变化</a:t>
            </a:r>
          </a:p>
        </p:txBody>
      </p:sp>
      <p:graphicFrame>
        <p:nvGraphicFramePr>
          <p:cNvPr id="4" name="图表 3"/>
          <p:cNvGraphicFramePr>
            <a:graphicFrameLocks/>
          </p:cNvGraphicFramePr>
          <p:nvPr/>
        </p:nvGraphicFramePr>
        <p:xfrm>
          <a:off x="130216" y="1603817"/>
          <a:ext cx="8793866" cy="419292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876478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body" idx="1"/>
          </p:nvPr>
        </p:nvSpPr>
        <p:spPr>
          <a:xfrm>
            <a:off x="0" y="1981200"/>
            <a:ext cx="9448800" cy="2514600"/>
          </a:xfrm>
        </p:spPr>
        <p:txBody>
          <a:bodyPr/>
          <a:lstStyle/>
          <a:p>
            <a:pPr eaLnBrk="1" hangingPunct="1">
              <a:buFontTx/>
              <a:buNone/>
            </a:pPr>
            <a:r>
              <a:rPr lang="zh-CN" altLang="en-US" sz="3600" b="1" dirty="0">
                <a:solidFill>
                  <a:schemeClr val="accent2"/>
                </a:solidFill>
              </a:rPr>
              <a:t>（</a:t>
            </a:r>
            <a:r>
              <a:rPr lang="en-US" altLang="zh-CN" sz="3600" b="1" dirty="0">
                <a:solidFill>
                  <a:schemeClr val="accent2"/>
                </a:solidFill>
              </a:rPr>
              <a:t>3</a:t>
            </a:r>
            <a:r>
              <a:rPr lang="zh-CN" altLang="en-US" sz="3600" b="1" dirty="0">
                <a:solidFill>
                  <a:schemeClr val="accent2"/>
                </a:solidFill>
              </a:rPr>
              <a:t>）生物能源发展对农业生产和贫困影响</a:t>
            </a:r>
          </a:p>
        </p:txBody>
      </p:sp>
    </p:spTree>
    <p:extLst>
      <p:ext uri="{BB962C8B-B14F-4D97-AF65-F5344CB8AC3E}">
        <p14:creationId xmlns:p14="http://schemas.microsoft.com/office/powerpoint/2010/main" val="31256161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Line 2"/>
          <p:cNvSpPr>
            <a:spLocks noChangeShapeType="1"/>
          </p:cNvSpPr>
          <p:nvPr/>
        </p:nvSpPr>
        <p:spPr bwMode="auto">
          <a:xfrm>
            <a:off x="6172200" y="3352800"/>
            <a:ext cx="2362200" cy="1828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27651" name="Rectangle 3"/>
          <p:cNvSpPr>
            <a:spLocks noGrp="1" noChangeArrowheads="1"/>
          </p:cNvSpPr>
          <p:nvPr>
            <p:ph type="title"/>
          </p:nvPr>
        </p:nvSpPr>
        <p:spPr>
          <a:xfrm>
            <a:off x="0" y="76200"/>
            <a:ext cx="8839200" cy="1143000"/>
          </a:xfrm>
        </p:spPr>
        <p:txBody>
          <a:bodyPr/>
          <a:lstStyle/>
          <a:p>
            <a:pPr>
              <a:lnSpc>
                <a:spcPct val="90000"/>
              </a:lnSpc>
            </a:pPr>
            <a:r>
              <a:rPr lang="en-US" altLang="zh-CN" sz="3200" b="1">
                <a:latin typeface="Times New Roman" panose="02020603050405020304" pitchFamily="18" charset="0"/>
                <a:ea typeface="宋体" panose="02010600030101010101" pitchFamily="2" charset="-122"/>
              </a:rPr>
              <a:t>Output of ethanol productions and distributions of DDGs usage in USA</a:t>
            </a:r>
            <a:r>
              <a:rPr lang="en-US" altLang="zh-CN" sz="4000">
                <a:ea typeface="宋体" panose="02010600030101010101" pitchFamily="2" charset="-122"/>
              </a:rPr>
              <a:t> </a:t>
            </a:r>
          </a:p>
        </p:txBody>
      </p:sp>
      <p:sp>
        <p:nvSpPr>
          <p:cNvPr id="27652" name="Line 4"/>
          <p:cNvSpPr>
            <a:spLocks noChangeShapeType="1"/>
          </p:cNvSpPr>
          <p:nvPr/>
        </p:nvSpPr>
        <p:spPr bwMode="auto">
          <a:xfrm flipH="1">
            <a:off x="1066800" y="1981200"/>
            <a:ext cx="1524000" cy="1600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27653" name="Line 5"/>
          <p:cNvSpPr>
            <a:spLocks noChangeShapeType="1"/>
          </p:cNvSpPr>
          <p:nvPr/>
        </p:nvSpPr>
        <p:spPr bwMode="auto">
          <a:xfrm>
            <a:off x="2667000" y="1981200"/>
            <a:ext cx="30480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pic>
        <p:nvPicPr>
          <p:cNvPr id="27654" name="Picture 6" descr="未命名"/>
          <p:cNvPicPr>
            <a:picLocks noChangeAspect="1" noChangeArrowheads="1"/>
          </p:cNvPicPr>
          <p:nvPr/>
        </p:nvPicPr>
        <p:blipFill>
          <a:blip r:embed="rId2">
            <a:extLst>
              <a:ext uri="{28A0092B-C50C-407E-A947-70E740481C1C}">
                <a14:useLocalDpi xmlns:a14="http://schemas.microsoft.com/office/drawing/2010/main" val="0"/>
              </a:ext>
            </a:extLst>
          </a:blip>
          <a:srcRect r="74008" b="42343"/>
          <a:stretch>
            <a:fillRect/>
          </a:stretch>
        </p:blipFill>
        <p:spPr bwMode="auto">
          <a:xfrm>
            <a:off x="457200" y="3657600"/>
            <a:ext cx="12954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5" name="Picture 7" descr="u=2943676918,1140989134&amp;fm=0&amp;gp=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1600200"/>
            <a:ext cx="1333500"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6" name="Rectangle 8"/>
          <p:cNvSpPr>
            <a:spLocks noChangeArrowheads="1"/>
          </p:cNvSpPr>
          <p:nvPr/>
        </p:nvSpPr>
        <p:spPr bwMode="auto">
          <a:xfrm>
            <a:off x="381000" y="1447800"/>
            <a:ext cx="1676400" cy="457200"/>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latin typeface="Times New Roman" panose="02020603050405020304" pitchFamily="18" charset="0"/>
                <a:ea typeface="宋体" panose="02010600030101010101" pitchFamily="2" charset="-122"/>
              </a:rPr>
              <a:t>1 bushel (25.4 kg)</a:t>
            </a:r>
          </a:p>
        </p:txBody>
      </p:sp>
      <p:sp>
        <p:nvSpPr>
          <p:cNvPr id="27657" name="Rectangle 9"/>
          <p:cNvSpPr>
            <a:spLocks noChangeArrowheads="1"/>
          </p:cNvSpPr>
          <p:nvPr/>
        </p:nvSpPr>
        <p:spPr bwMode="auto">
          <a:xfrm>
            <a:off x="1752600" y="4191000"/>
            <a:ext cx="1676400" cy="457200"/>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latin typeface="Times New Roman" panose="02020603050405020304" pitchFamily="18" charset="0"/>
                <a:ea typeface="宋体" panose="02010600030101010101" pitchFamily="2" charset="-122"/>
              </a:rPr>
              <a:t>10.2 liters</a:t>
            </a:r>
          </a:p>
        </p:txBody>
      </p:sp>
      <p:sp>
        <p:nvSpPr>
          <p:cNvPr id="27658" name="Rectangle 10"/>
          <p:cNvSpPr>
            <a:spLocks noChangeArrowheads="1"/>
          </p:cNvSpPr>
          <p:nvPr/>
        </p:nvSpPr>
        <p:spPr bwMode="auto">
          <a:xfrm>
            <a:off x="7239000" y="2286000"/>
            <a:ext cx="1676400" cy="457200"/>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latin typeface="Times New Roman" panose="02020603050405020304" pitchFamily="18" charset="0"/>
                <a:ea typeface="宋体" panose="02010600030101010101" pitchFamily="2" charset="-122"/>
              </a:rPr>
              <a:t>8.2kg DDGs</a:t>
            </a:r>
          </a:p>
        </p:txBody>
      </p:sp>
      <p:sp>
        <p:nvSpPr>
          <p:cNvPr id="27659" name="Line 11"/>
          <p:cNvSpPr>
            <a:spLocks noChangeShapeType="1"/>
          </p:cNvSpPr>
          <p:nvPr/>
        </p:nvSpPr>
        <p:spPr bwMode="auto">
          <a:xfrm flipH="1">
            <a:off x="3962400" y="3276600"/>
            <a:ext cx="2133600" cy="1752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27660" name="Line 12"/>
          <p:cNvSpPr>
            <a:spLocks noChangeShapeType="1"/>
          </p:cNvSpPr>
          <p:nvPr/>
        </p:nvSpPr>
        <p:spPr bwMode="auto">
          <a:xfrm flipH="1">
            <a:off x="5791200" y="3276600"/>
            <a:ext cx="304800" cy="1828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pic>
        <p:nvPicPr>
          <p:cNvPr id="27661" name="Picture 13" descr="u=2090000894,363741815&amp;fm=3&amp;gp=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5127625"/>
            <a:ext cx="1447800"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62" name="Picture 14" descr="u=2005164266,2181205141&amp;fm=3&amp;gp=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3000" y="5133975"/>
            <a:ext cx="1447800"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63" name="Picture 15" descr="u=4156175040,3381805775&amp;fm=3&amp;gp=4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3200" y="5133975"/>
            <a:ext cx="1187450"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64" name="Picture 16" descr="u=1750088298,2288530370&amp;fm=0&amp;gp=4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43838" y="5091113"/>
            <a:ext cx="13335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65" name="Rectangle 17"/>
          <p:cNvSpPr>
            <a:spLocks noChangeArrowheads="1"/>
          </p:cNvSpPr>
          <p:nvPr/>
        </p:nvSpPr>
        <p:spPr bwMode="auto">
          <a:xfrm>
            <a:off x="4343400" y="4114800"/>
            <a:ext cx="762000" cy="228600"/>
          </a:xfrm>
          <a:prstGeom prst="rect">
            <a:avLst/>
          </a:prstGeom>
          <a:solidFill>
            <a:srgbClr val="2BF010"/>
          </a:solidFill>
          <a:ln w="9525" algn="ctr">
            <a:solidFill>
              <a:srgbClr val="2BF010"/>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latin typeface="Times New Roman" panose="02020603050405020304" pitchFamily="18" charset="0"/>
                <a:ea typeface="宋体" panose="02010600030101010101" pitchFamily="2" charset="-122"/>
              </a:rPr>
              <a:t>46%</a:t>
            </a:r>
          </a:p>
        </p:txBody>
      </p:sp>
      <p:sp>
        <p:nvSpPr>
          <p:cNvPr id="27666" name="Rectangle 18"/>
          <p:cNvSpPr>
            <a:spLocks noChangeArrowheads="1"/>
          </p:cNvSpPr>
          <p:nvPr/>
        </p:nvSpPr>
        <p:spPr bwMode="auto">
          <a:xfrm>
            <a:off x="5410200" y="4114800"/>
            <a:ext cx="685800" cy="228600"/>
          </a:xfrm>
          <a:prstGeom prst="rect">
            <a:avLst/>
          </a:prstGeom>
          <a:solidFill>
            <a:srgbClr val="2BF010"/>
          </a:solidFill>
          <a:ln w="9525" algn="ctr">
            <a:solidFill>
              <a:srgbClr val="2BF010"/>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latin typeface="Times New Roman" panose="02020603050405020304" pitchFamily="18" charset="0"/>
                <a:ea typeface="宋体" panose="02010600030101010101" pitchFamily="2" charset="-122"/>
              </a:rPr>
              <a:t>42%</a:t>
            </a:r>
          </a:p>
        </p:txBody>
      </p:sp>
      <p:pic>
        <p:nvPicPr>
          <p:cNvPr id="27667" name="Picture 19" descr="u=2729089481,1179262035&amp;fm=0&amp;gp=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7400" y="1371600"/>
            <a:ext cx="1247775"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68" name="Text Box 20"/>
          <p:cNvSpPr txBox="1">
            <a:spLocks noChangeArrowheads="1"/>
          </p:cNvSpPr>
          <p:nvPr/>
        </p:nvSpPr>
        <p:spPr bwMode="auto">
          <a:xfrm>
            <a:off x="0" y="624840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a:ea typeface="宋体" panose="02010600030101010101" pitchFamily="2" charset="-122"/>
              </a:rPr>
              <a:t>Source: Renewable Fuel Association (RFA, 2003-2010). The share used for swine and poultry keep rising, which means DDGs is getting popularly used in livestock sectors.</a:t>
            </a:r>
          </a:p>
        </p:txBody>
      </p:sp>
      <p:sp>
        <p:nvSpPr>
          <p:cNvPr id="27669" name="Text Box 21"/>
          <p:cNvSpPr txBox="1">
            <a:spLocks noChangeArrowheads="1"/>
          </p:cNvSpPr>
          <p:nvPr/>
        </p:nvSpPr>
        <p:spPr bwMode="auto">
          <a:xfrm>
            <a:off x="2971800" y="5105400"/>
            <a:ext cx="1524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b="1">
                <a:solidFill>
                  <a:srgbClr val="FF0000"/>
                </a:solidFill>
                <a:ea typeface="宋体" panose="02010600030101010101" pitchFamily="2" charset="-122"/>
              </a:rPr>
              <a:t>dairy</a:t>
            </a:r>
          </a:p>
        </p:txBody>
      </p:sp>
      <p:sp>
        <p:nvSpPr>
          <p:cNvPr id="27670" name="Text Box 22"/>
          <p:cNvSpPr txBox="1">
            <a:spLocks noChangeArrowheads="1"/>
          </p:cNvSpPr>
          <p:nvPr/>
        </p:nvSpPr>
        <p:spPr bwMode="auto">
          <a:xfrm>
            <a:off x="4876800" y="5119688"/>
            <a:ext cx="1524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b="1">
                <a:solidFill>
                  <a:srgbClr val="FF0000"/>
                </a:solidFill>
                <a:ea typeface="宋体" panose="02010600030101010101" pitchFamily="2" charset="-122"/>
              </a:rPr>
              <a:t>Beef</a:t>
            </a:r>
          </a:p>
        </p:txBody>
      </p:sp>
      <p:sp>
        <p:nvSpPr>
          <p:cNvPr id="27671" name="Text Box 23"/>
          <p:cNvSpPr txBox="1">
            <a:spLocks noChangeArrowheads="1"/>
          </p:cNvSpPr>
          <p:nvPr/>
        </p:nvSpPr>
        <p:spPr bwMode="auto">
          <a:xfrm>
            <a:off x="6400800" y="5105400"/>
            <a:ext cx="1524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b="1">
                <a:solidFill>
                  <a:srgbClr val="FF0000"/>
                </a:solidFill>
                <a:ea typeface="宋体" panose="02010600030101010101" pitchFamily="2" charset="-122"/>
              </a:rPr>
              <a:t>Swine</a:t>
            </a:r>
          </a:p>
        </p:txBody>
      </p:sp>
      <p:sp>
        <p:nvSpPr>
          <p:cNvPr id="27672" name="Line 24"/>
          <p:cNvSpPr>
            <a:spLocks noChangeShapeType="1"/>
          </p:cNvSpPr>
          <p:nvPr/>
        </p:nvSpPr>
        <p:spPr bwMode="auto">
          <a:xfrm>
            <a:off x="6096000" y="3276600"/>
            <a:ext cx="1066800" cy="1828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27673" name="Rectangle 25"/>
          <p:cNvSpPr>
            <a:spLocks noChangeArrowheads="1"/>
          </p:cNvSpPr>
          <p:nvPr/>
        </p:nvSpPr>
        <p:spPr bwMode="auto">
          <a:xfrm>
            <a:off x="6324600" y="4114800"/>
            <a:ext cx="685800" cy="228600"/>
          </a:xfrm>
          <a:prstGeom prst="rect">
            <a:avLst/>
          </a:prstGeom>
          <a:solidFill>
            <a:srgbClr val="2BF010"/>
          </a:solidFill>
          <a:ln w="9525" algn="ctr">
            <a:solidFill>
              <a:srgbClr val="2BF010"/>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latin typeface="Times New Roman" panose="02020603050405020304" pitchFamily="18" charset="0"/>
                <a:ea typeface="宋体" panose="02010600030101010101" pitchFamily="2" charset="-122"/>
              </a:rPr>
              <a:t>11%</a:t>
            </a:r>
          </a:p>
        </p:txBody>
      </p:sp>
      <p:sp>
        <p:nvSpPr>
          <p:cNvPr id="27674" name="Rectangle 26"/>
          <p:cNvSpPr>
            <a:spLocks noChangeArrowheads="1"/>
          </p:cNvSpPr>
          <p:nvPr/>
        </p:nvSpPr>
        <p:spPr bwMode="auto">
          <a:xfrm>
            <a:off x="7162800" y="4114800"/>
            <a:ext cx="685800" cy="228600"/>
          </a:xfrm>
          <a:prstGeom prst="rect">
            <a:avLst/>
          </a:prstGeom>
          <a:solidFill>
            <a:srgbClr val="2BF010"/>
          </a:solidFill>
          <a:ln w="9525" algn="ctr">
            <a:solidFill>
              <a:srgbClr val="2BF010"/>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latin typeface="Times New Roman" panose="02020603050405020304" pitchFamily="18" charset="0"/>
                <a:ea typeface="宋体" panose="02010600030101010101" pitchFamily="2" charset="-122"/>
              </a:rPr>
              <a:t>4%</a:t>
            </a:r>
          </a:p>
        </p:txBody>
      </p:sp>
      <p:sp>
        <p:nvSpPr>
          <p:cNvPr id="27675" name="Text Box 27"/>
          <p:cNvSpPr txBox="1">
            <a:spLocks noChangeArrowheads="1"/>
          </p:cNvSpPr>
          <p:nvPr/>
        </p:nvSpPr>
        <p:spPr bwMode="auto">
          <a:xfrm>
            <a:off x="7696200" y="5105400"/>
            <a:ext cx="1524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b="1">
                <a:solidFill>
                  <a:srgbClr val="FF0000"/>
                </a:solidFill>
                <a:ea typeface="宋体" panose="02010600030101010101" pitchFamily="2" charset="-122"/>
              </a:rPr>
              <a:t>Poultry</a:t>
            </a:r>
          </a:p>
        </p:txBody>
      </p:sp>
    </p:spTree>
    <p:extLst>
      <p:ext uri="{BB962C8B-B14F-4D97-AF65-F5344CB8AC3E}">
        <p14:creationId xmlns:p14="http://schemas.microsoft.com/office/powerpoint/2010/main" val="1896318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228600" y="350838"/>
            <a:ext cx="8686800" cy="563562"/>
          </a:xfrm>
        </p:spPr>
        <p:txBody>
          <a:bodyPr/>
          <a:lstStyle/>
          <a:p>
            <a:r>
              <a:rPr lang="en-US" altLang="zh-CN" sz="3200" b="1">
                <a:latin typeface="Times New Roman" panose="02020603050405020304" pitchFamily="18" charset="0"/>
                <a:ea typeface="宋体" panose="02010600030101010101" pitchFamily="2" charset="-122"/>
              </a:rPr>
              <a:t>Historical Ethanol and DDGs production in US</a:t>
            </a:r>
          </a:p>
        </p:txBody>
      </p:sp>
      <p:graphicFrame>
        <p:nvGraphicFramePr>
          <p:cNvPr id="5122" name="Object 3"/>
          <p:cNvGraphicFramePr>
            <a:graphicFrameLocks noGrp="1" noChangeAspect="1"/>
          </p:cNvGraphicFramePr>
          <p:nvPr>
            <p:ph idx="1"/>
          </p:nvPr>
        </p:nvGraphicFramePr>
        <p:xfrm>
          <a:off x="317500" y="990600"/>
          <a:ext cx="8585200" cy="5492750"/>
        </p:xfrm>
        <a:graphic>
          <a:graphicData uri="http://schemas.openxmlformats.org/presentationml/2006/ole">
            <mc:AlternateContent xmlns:mc="http://schemas.openxmlformats.org/markup-compatibility/2006">
              <mc:Choice xmlns:v="urn:schemas-microsoft-com:vml" Requires="v">
                <p:oleObj name="图表" r:id="rId2" imgW="7802880" imgH="4990900" progId="MSGraph.Chart.8">
                  <p:embed followColorScheme="full"/>
                </p:oleObj>
              </mc:Choice>
              <mc:Fallback>
                <p:oleObj name="图表" r:id="rId2" imgW="7802880" imgH="4990900" progId="MSGraph.Chart.8">
                  <p:embed followColorScheme="full"/>
                  <p:pic>
                    <p:nvPicPr>
                      <p:cNvPr id="0" name=""/>
                      <p:cNvPicPr>
                        <a:picLocks noChangeAspect="1" noChangeArrowheads="1"/>
                      </p:cNvPicPr>
                      <p:nvPr/>
                    </p:nvPicPr>
                    <p:blipFill>
                      <a:blip r:embed="rId3"/>
                      <a:srcRect/>
                      <a:stretch>
                        <a:fillRect/>
                      </a:stretch>
                    </p:blipFill>
                    <p:spPr bwMode="auto">
                      <a:xfrm>
                        <a:off x="317500" y="990600"/>
                        <a:ext cx="8585200" cy="549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4" name="Rectangle 4"/>
          <p:cNvSpPr>
            <a:spLocks noChangeArrowheads="1"/>
          </p:cNvSpPr>
          <p:nvPr/>
        </p:nvSpPr>
        <p:spPr bwMode="auto">
          <a:xfrm>
            <a:off x="838200" y="6324600"/>
            <a:ext cx="762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zh-CN">
                <a:latin typeface="Times New Roman" panose="02020603050405020304" pitchFamily="18" charset="0"/>
                <a:ea typeface="宋体" panose="02010600030101010101" pitchFamily="2" charset="-122"/>
              </a:rPr>
              <a:t>Data source: RFA(2010)</a:t>
            </a:r>
          </a:p>
        </p:txBody>
      </p:sp>
    </p:spTree>
    <p:extLst>
      <p:ext uri="{BB962C8B-B14F-4D97-AF65-F5344CB8AC3E}">
        <p14:creationId xmlns:p14="http://schemas.microsoft.com/office/powerpoint/2010/main" val="2384849766"/>
      </p:ext>
    </p:extLst>
  </p:cSld>
  <p:clrMapOvr>
    <a:masterClrMapping/>
  </p:clrMapOvr>
  <p:transition spd="slow">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457200" y="0"/>
            <a:ext cx="8229600" cy="1143000"/>
          </a:xfrm>
        </p:spPr>
        <p:txBody>
          <a:bodyPr/>
          <a:lstStyle/>
          <a:p>
            <a:r>
              <a:rPr lang="en-US" altLang="zh-CN" b="1">
                <a:latin typeface="Times New Roman" panose="02020603050405020304" pitchFamily="18" charset="0"/>
                <a:ea typeface="宋体" panose="02010600030101010101" pitchFamily="2" charset="-122"/>
              </a:rPr>
              <a:t>Usage of DDGs in USA</a:t>
            </a:r>
            <a:r>
              <a:rPr lang="en-US" altLang="zh-CN">
                <a:ea typeface="宋体" panose="02010600030101010101" pitchFamily="2" charset="-122"/>
              </a:rPr>
              <a:t> </a:t>
            </a:r>
          </a:p>
        </p:txBody>
      </p:sp>
      <p:graphicFrame>
        <p:nvGraphicFramePr>
          <p:cNvPr id="6146" name="Object 3"/>
          <p:cNvGraphicFramePr>
            <a:graphicFrameLocks noGrp="1" noChangeAspect="1"/>
          </p:cNvGraphicFramePr>
          <p:nvPr>
            <p:ph idx="1"/>
          </p:nvPr>
        </p:nvGraphicFramePr>
        <p:xfrm>
          <a:off x="0" y="962025"/>
          <a:ext cx="8686800" cy="4911725"/>
        </p:xfrm>
        <a:graphic>
          <a:graphicData uri="http://schemas.openxmlformats.org/presentationml/2006/ole">
            <mc:AlternateContent xmlns:mc="http://schemas.openxmlformats.org/markup-compatibility/2006">
              <mc:Choice xmlns:v="urn:schemas-microsoft-com:vml" Requires="v">
                <p:oleObj name="图表" r:id="rId2" imgW="7124863" imgH="4023569" progId="MSGraph.Chart.8">
                  <p:embed followColorScheme="full"/>
                </p:oleObj>
              </mc:Choice>
              <mc:Fallback>
                <p:oleObj name="图表" r:id="rId2" imgW="7124863" imgH="4023569" progId="MSGraph.Chart.8">
                  <p:embed followColorScheme="full"/>
                  <p:pic>
                    <p:nvPicPr>
                      <p:cNvPr id="0" name=""/>
                      <p:cNvPicPr>
                        <a:picLocks noChangeAspect="1" noChangeArrowheads="1"/>
                      </p:cNvPicPr>
                      <p:nvPr/>
                    </p:nvPicPr>
                    <p:blipFill>
                      <a:blip r:embed="rId3"/>
                      <a:srcRect/>
                      <a:stretch>
                        <a:fillRect/>
                      </a:stretch>
                    </p:blipFill>
                    <p:spPr bwMode="auto">
                      <a:xfrm>
                        <a:off x="0" y="962025"/>
                        <a:ext cx="8686800" cy="4911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8" name="Rectangle 4"/>
          <p:cNvSpPr>
            <a:spLocks noChangeArrowheads="1"/>
          </p:cNvSpPr>
          <p:nvPr/>
        </p:nvSpPr>
        <p:spPr bwMode="auto">
          <a:xfrm>
            <a:off x="304800" y="5334000"/>
            <a:ext cx="86106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marL="87313" indent="-87313"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buFontTx/>
              <a:buChar char="•"/>
            </a:pPr>
            <a:r>
              <a:rPr lang="en-US" altLang="zh-CN">
                <a:ea typeface="宋体" panose="02010600030101010101" pitchFamily="2" charset="-122"/>
              </a:rPr>
              <a:t>According to RFA, DDGs production had increased from </a:t>
            </a:r>
            <a:r>
              <a:rPr lang="en-US" altLang="zh-CN" b="1">
                <a:ea typeface="宋体" panose="02010600030101010101" pitchFamily="2" charset="-122"/>
              </a:rPr>
              <a:t>2.7</a:t>
            </a:r>
            <a:r>
              <a:rPr lang="en-US" altLang="zh-CN">
                <a:ea typeface="宋体" panose="02010600030101010101" pitchFamily="2" charset="-122"/>
              </a:rPr>
              <a:t> million tons in 2000 to</a:t>
            </a:r>
            <a:r>
              <a:rPr lang="en-US" altLang="zh-CN" b="1">
                <a:ea typeface="宋体" panose="02010600030101010101" pitchFamily="2" charset="-122"/>
              </a:rPr>
              <a:t> </a:t>
            </a:r>
            <a:r>
              <a:rPr lang="en-US" altLang="zh-CN">
                <a:ea typeface="宋体" panose="02010600030101010101" pitchFamily="2" charset="-122"/>
              </a:rPr>
              <a:t>about</a:t>
            </a:r>
            <a:r>
              <a:rPr lang="en-US" altLang="zh-CN" b="1">
                <a:ea typeface="宋体" panose="02010600030101010101" pitchFamily="2" charset="-122"/>
              </a:rPr>
              <a:t> 26.3</a:t>
            </a:r>
            <a:r>
              <a:rPr lang="en-US" altLang="zh-CN">
                <a:ea typeface="宋体" panose="02010600030101010101" pitchFamily="2" charset="-122"/>
              </a:rPr>
              <a:t> million tons in 2009, average annual growth rate about </a:t>
            </a:r>
            <a:r>
              <a:rPr lang="en-US" altLang="zh-CN" b="1">
                <a:ea typeface="宋体" panose="02010600030101010101" pitchFamily="2" charset="-122"/>
              </a:rPr>
              <a:t>30%. </a:t>
            </a:r>
          </a:p>
          <a:p>
            <a:pPr algn="l" eaLnBrk="1" hangingPunct="1">
              <a:buFontTx/>
              <a:buChar char="•"/>
            </a:pPr>
            <a:r>
              <a:rPr lang="en-US" altLang="zh-CN" i="1">
                <a:ea typeface="宋体" panose="02010600030101010101" pitchFamily="2" charset="-122"/>
              </a:rPr>
              <a:t>The 30.5 million metric tons (including </a:t>
            </a:r>
            <a:r>
              <a:rPr lang="en-US" altLang="zh-CN">
                <a:ea typeface="宋体" panose="02010600030101010101" pitchFamily="2" charset="-122"/>
              </a:rPr>
              <a:t>distillers grains and corn gluten feed and meal</a:t>
            </a:r>
            <a:r>
              <a:rPr lang="en-US" altLang="zh-CN" i="1">
                <a:ea typeface="宋体" panose="02010600030101010101" pitchFamily="2" charset="-122"/>
              </a:rPr>
              <a:t> ) of feed generated by the ethanol industry in 2009 is equivalent to the total amount of grain fed to cattle</a:t>
            </a:r>
          </a:p>
        </p:txBody>
      </p:sp>
    </p:spTree>
    <p:extLst>
      <p:ext uri="{BB962C8B-B14F-4D97-AF65-F5344CB8AC3E}">
        <p14:creationId xmlns:p14="http://schemas.microsoft.com/office/powerpoint/2010/main" val="2497432998"/>
      </p:ext>
    </p:extLst>
  </p:cSld>
  <p:clrMapOvr>
    <a:masterClrMapping/>
  </p:clrMapOvr>
  <p:transition spd="slow">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0" y="0"/>
            <a:ext cx="9144000" cy="838200"/>
          </a:xfrm>
        </p:spPr>
        <p:txBody>
          <a:bodyPr/>
          <a:lstStyle/>
          <a:p>
            <a:r>
              <a:rPr lang="en-US" altLang="zh-CN" sz="3600" b="1">
                <a:latin typeface="Times New Roman" panose="02020603050405020304" pitchFamily="18" charset="0"/>
                <a:ea typeface="宋体" panose="02010600030101010101" pitchFamily="2" charset="-122"/>
              </a:rPr>
              <a:t>Model Structure for Biofuel By-products</a:t>
            </a:r>
          </a:p>
        </p:txBody>
      </p:sp>
      <p:sp>
        <p:nvSpPr>
          <p:cNvPr id="28675" name="Rectangle 3"/>
          <p:cNvSpPr>
            <a:spLocks noChangeArrowheads="1"/>
          </p:cNvSpPr>
          <p:nvPr/>
        </p:nvSpPr>
        <p:spPr bwMode="auto">
          <a:xfrm>
            <a:off x="2181225" y="5843588"/>
            <a:ext cx="3352800" cy="8382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b="1">
                <a:ea typeface="宋体" panose="02010600030101010101" pitchFamily="2" charset="-122"/>
              </a:rPr>
              <a:t>Biofuel sectors</a:t>
            </a:r>
          </a:p>
          <a:p>
            <a:pPr eaLnBrk="1" hangingPunct="1"/>
            <a:r>
              <a:rPr lang="en-US" altLang="zh-CN" b="1">
                <a:ea typeface="宋体" panose="02010600030101010101" pitchFamily="2" charset="-122"/>
              </a:rPr>
              <a:t>(ethanol+biodiesel industries)</a:t>
            </a:r>
          </a:p>
        </p:txBody>
      </p:sp>
      <p:sp>
        <p:nvSpPr>
          <p:cNvPr id="28676" name="Rectangle 4"/>
          <p:cNvSpPr>
            <a:spLocks noChangeArrowheads="1"/>
          </p:cNvSpPr>
          <p:nvPr/>
        </p:nvSpPr>
        <p:spPr bwMode="auto">
          <a:xfrm>
            <a:off x="4062413" y="4033838"/>
            <a:ext cx="1905000" cy="5334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b="1">
                <a:ea typeface="宋体" panose="02010600030101010101" pitchFamily="2" charset="-122"/>
              </a:rPr>
              <a:t>DDGs or BDDP</a:t>
            </a:r>
          </a:p>
        </p:txBody>
      </p:sp>
      <p:sp>
        <p:nvSpPr>
          <p:cNvPr id="28677" name="Rectangle 5"/>
          <p:cNvSpPr>
            <a:spLocks noChangeArrowheads="1"/>
          </p:cNvSpPr>
          <p:nvPr/>
        </p:nvSpPr>
        <p:spPr bwMode="auto">
          <a:xfrm>
            <a:off x="1647825" y="3948113"/>
            <a:ext cx="2033588" cy="652462"/>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b="1">
                <a:ea typeface="宋体" panose="02010600030101010101" pitchFamily="2" charset="-122"/>
              </a:rPr>
              <a:t>Ethanol or </a:t>
            </a:r>
          </a:p>
          <a:p>
            <a:pPr eaLnBrk="1" hangingPunct="1"/>
            <a:r>
              <a:rPr lang="en-US" altLang="zh-CN" b="1">
                <a:ea typeface="宋体" panose="02010600030101010101" pitchFamily="2" charset="-122"/>
              </a:rPr>
              <a:t>bio-diesel</a:t>
            </a:r>
          </a:p>
        </p:txBody>
      </p:sp>
      <p:sp>
        <p:nvSpPr>
          <p:cNvPr id="28678" name="Line 6"/>
          <p:cNvSpPr>
            <a:spLocks noChangeShapeType="1"/>
          </p:cNvSpPr>
          <p:nvPr/>
        </p:nvSpPr>
        <p:spPr bwMode="auto">
          <a:xfrm flipH="1" flipV="1">
            <a:off x="1495425" y="2814638"/>
            <a:ext cx="1119188" cy="1143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28679" name="Rectangle 7"/>
          <p:cNvSpPr>
            <a:spLocks noChangeArrowheads="1"/>
          </p:cNvSpPr>
          <p:nvPr/>
        </p:nvSpPr>
        <p:spPr bwMode="auto">
          <a:xfrm>
            <a:off x="428625" y="2109788"/>
            <a:ext cx="2743200" cy="6858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b="1">
                <a:ea typeface="宋体" panose="02010600030101010101" pitchFamily="2" charset="-122"/>
              </a:rPr>
              <a:t>Substitute for fossil fuel</a:t>
            </a:r>
          </a:p>
        </p:txBody>
      </p:sp>
      <p:sp>
        <p:nvSpPr>
          <p:cNvPr id="28680" name="Line 8"/>
          <p:cNvSpPr>
            <a:spLocks noChangeShapeType="1"/>
          </p:cNvSpPr>
          <p:nvPr/>
        </p:nvSpPr>
        <p:spPr bwMode="auto">
          <a:xfrm flipH="1" flipV="1">
            <a:off x="5915025" y="3271838"/>
            <a:ext cx="152400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28681" name="Rectangle 9"/>
          <p:cNvSpPr>
            <a:spLocks noChangeArrowheads="1"/>
          </p:cNvSpPr>
          <p:nvPr/>
        </p:nvSpPr>
        <p:spPr bwMode="auto">
          <a:xfrm>
            <a:off x="6600825" y="4014788"/>
            <a:ext cx="2438400" cy="609600"/>
          </a:xfrm>
          <a:prstGeom prst="rect">
            <a:avLst/>
          </a:prstGeom>
          <a:solidFill>
            <a:schemeClr val="bg1"/>
          </a:solidFill>
          <a:ln w="9525" algn="ctr">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b="1">
                <a:ea typeface="宋体" panose="02010600030101010101" pitchFamily="2" charset="-122"/>
              </a:rPr>
              <a:t>Maize or  </a:t>
            </a:r>
          </a:p>
          <a:p>
            <a:pPr eaLnBrk="1" hangingPunct="1"/>
            <a:r>
              <a:rPr lang="en-US" altLang="zh-CN" b="1">
                <a:ea typeface="宋体" panose="02010600030101010101" pitchFamily="2" charset="-122"/>
              </a:rPr>
              <a:t>Processed feed</a:t>
            </a:r>
          </a:p>
        </p:txBody>
      </p:sp>
      <p:sp>
        <p:nvSpPr>
          <p:cNvPr id="28682" name="Arc 10"/>
          <p:cNvSpPr>
            <a:spLocks/>
          </p:cNvSpPr>
          <p:nvPr/>
        </p:nvSpPr>
        <p:spPr bwMode="auto">
          <a:xfrm>
            <a:off x="3276600" y="5535613"/>
            <a:ext cx="387350" cy="381000"/>
          </a:xfrm>
          <a:custGeom>
            <a:avLst/>
            <a:gdLst>
              <a:gd name="T0" fmla="*/ 0 w 15691"/>
              <a:gd name="T1" fmla="*/ 12002170 h 21600"/>
              <a:gd name="T2" fmla="*/ 2147483647 w 15691"/>
              <a:gd name="T3" fmla="*/ 449741127 h 21600"/>
              <a:gd name="T4" fmla="*/ 856761999 w 15691"/>
              <a:gd name="T5" fmla="*/ 2090925550 h 21600"/>
              <a:gd name="T6" fmla="*/ 0 60000 65536"/>
              <a:gd name="T7" fmla="*/ 0 60000 65536"/>
              <a:gd name="T8" fmla="*/ 0 60000 65536"/>
              <a:gd name="T9" fmla="*/ 0 w 15691"/>
              <a:gd name="T10" fmla="*/ 0 h 21600"/>
              <a:gd name="T11" fmla="*/ 15691 w 15691"/>
              <a:gd name="T12" fmla="*/ 21600 h 21600"/>
            </a:gdLst>
            <a:ahLst/>
            <a:cxnLst>
              <a:cxn ang="T6">
                <a:pos x="T0" y="T1"/>
              </a:cxn>
              <a:cxn ang="T7">
                <a:pos x="T2" y="T3"/>
              </a:cxn>
              <a:cxn ang="T8">
                <a:pos x="T4" y="T5"/>
              </a:cxn>
            </a:cxnLst>
            <a:rect l="T9" t="T10" r="T11" b="T12"/>
            <a:pathLst>
              <a:path w="15691" h="21600" fill="none" extrusionOk="0">
                <a:moveTo>
                  <a:pt x="-1" y="123"/>
                </a:moveTo>
                <a:cubicBezTo>
                  <a:pt x="766" y="41"/>
                  <a:pt x="1536" y="-1"/>
                  <a:pt x="2307" y="0"/>
                </a:cubicBezTo>
                <a:cubicBezTo>
                  <a:pt x="7163" y="0"/>
                  <a:pt x="11878" y="1636"/>
                  <a:pt x="15690" y="4646"/>
                </a:cubicBezTo>
              </a:path>
              <a:path w="15691" h="21600" stroke="0" extrusionOk="0">
                <a:moveTo>
                  <a:pt x="-1" y="123"/>
                </a:moveTo>
                <a:cubicBezTo>
                  <a:pt x="766" y="41"/>
                  <a:pt x="1536" y="-1"/>
                  <a:pt x="2307" y="0"/>
                </a:cubicBezTo>
                <a:cubicBezTo>
                  <a:pt x="7163" y="0"/>
                  <a:pt x="11878" y="1636"/>
                  <a:pt x="15690" y="4646"/>
                </a:cubicBezTo>
                <a:lnTo>
                  <a:pt x="2307" y="21600"/>
                </a:lnTo>
                <a:lnTo>
                  <a:pt x="-1" y="123"/>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28683" name="Rectangle 11"/>
          <p:cNvSpPr>
            <a:spLocks noChangeArrowheads="1"/>
          </p:cNvSpPr>
          <p:nvPr/>
        </p:nvSpPr>
        <p:spPr bwMode="auto">
          <a:xfrm>
            <a:off x="4543425" y="2890838"/>
            <a:ext cx="2514600" cy="3810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b="1">
                <a:ea typeface="宋体" panose="02010600030101010101" pitchFamily="2" charset="-122"/>
              </a:rPr>
              <a:t>Compound feedstuff</a:t>
            </a:r>
          </a:p>
        </p:txBody>
      </p:sp>
      <p:sp>
        <p:nvSpPr>
          <p:cNvPr id="28684" name="Line 12"/>
          <p:cNvSpPr>
            <a:spLocks noChangeShapeType="1"/>
          </p:cNvSpPr>
          <p:nvPr/>
        </p:nvSpPr>
        <p:spPr bwMode="auto">
          <a:xfrm flipV="1">
            <a:off x="5710238" y="1747838"/>
            <a:ext cx="14478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28685" name="Line 13"/>
          <p:cNvSpPr>
            <a:spLocks noChangeShapeType="1"/>
          </p:cNvSpPr>
          <p:nvPr/>
        </p:nvSpPr>
        <p:spPr bwMode="auto">
          <a:xfrm>
            <a:off x="7158038" y="1747838"/>
            <a:ext cx="45720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28686" name="Line 14"/>
          <p:cNvSpPr>
            <a:spLocks noChangeShapeType="1"/>
          </p:cNvSpPr>
          <p:nvPr/>
        </p:nvSpPr>
        <p:spPr bwMode="auto">
          <a:xfrm>
            <a:off x="7158038" y="1747838"/>
            <a:ext cx="12954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28687" name="Line 15"/>
          <p:cNvSpPr>
            <a:spLocks noChangeShapeType="1"/>
          </p:cNvSpPr>
          <p:nvPr/>
        </p:nvSpPr>
        <p:spPr bwMode="auto">
          <a:xfrm>
            <a:off x="7158038" y="1728788"/>
            <a:ext cx="182880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28688" name="Rectangle 17"/>
          <p:cNvSpPr>
            <a:spLocks noChangeArrowheads="1"/>
          </p:cNvSpPr>
          <p:nvPr/>
        </p:nvSpPr>
        <p:spPr bwMode="auto">
          <a:xfrm>
            <a:off x="6219825" y="1271588"/>
            <a:ext cx="2514600" cy="4572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b="1">
                <a:ea typeface="宋体" panose="02010600030101010101" pitchFamily="2" charset="-122"/>
              </a:rPr>
              <a:t>Livestock production</a:t>
            </a:r>
          </a:p>
        </p:txBody>
      </p:sp>
      <p:sp>
        <p:nvSpPr>
          <p:cNvPr id="28689" name="Line 19"/>
          <p:cNvSpPr>
            <a:spLocks noChangeShapeType="1"/>
          </p:cNvSpPr>
          <p:nvPr/>
        </p:nvSpPr>
        <p:spPr bwMode="auto">
          <a:xfrm flipV="1">
            <a:off x="5000625" y="3271838"/>
            <a:ext cx="8382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28690" name="Line 20"/>
          <p:cNvSpPr>
            <a:spLocks noChangeShapeType="1"/>
          </p:cNvSpPr>
          <p:nvPr/>
        </p:nvSpPr>
        <p:spPr bwMode="auto">
          <a:xfrm flipH="1" flipV="1">
            <a:off x="2714625" y="4600575"/>
            <a:ext cx="762000" cy="12192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28691" name="Line 21"/>
          <p:cNvSpPr>
            <a:spLocks noChangeShapeType="1"/>
          </p:cNvSpPr>
          <p:nvPr/>
        </p:nvSpPr>
        <p:spPr bwMode="auto">
          <a:xfrm flipV="1">
            <a:off x="3476625" y="4524375"/>
            <a:ext cx="1371600" cy="1295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28692" name="Rectangle 23"/>
          <p:cNvSpPr>
            <a:spLocks noChangeArrowheads="1"/>
          </p:cNvSpPr>
          <p:nvPr/>
        </p:nvSpPr>
        <p:spPr bwMode="auto">
          <a:xfrm>
            <a:off x="223838" y="3933825"/>
            <a:ext cx="1219200" cy="652463"/>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b="1">
                <a:ea typeface="宋体" panose="02010600030101010101" pitchFamily="2" charset="-122"/>
              </a:rPr>
              <a:t>Fossil fuel</a:t>
            </a:r>
          </a:p>
        </p:txBody>
      </p:sp>
      <p:sp>
        <p:nvSpPr>
          <p:cNvPr id="28693" name="Line 24"/>
          <p:cNvSpPr>
            <a:spLocks noChangeShapeType="1"/>
          </p:cNvSpPr>
          <p:nvPr/>
        </p:nvSpPr>
        <p:spPr bwMode="auto">
          <a:xfrm flipV="1">
            <a:off x="714375" y="2795588"/>
            <a:ext cx="762000" cy="1143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28694" name="Rectangle 25"/>
          <p:cNvSpPr>
            <a:spLocks noChangeArrowheads="1"/>
          </p:cNvSpPr>
          <p:nvPr/>
        </p:nvSpPr>
        <p:spPr bwMode="auto">
          <a:xfrm>
            <a:off x="147638" y="1347788"/>
            <a:ext cx="3733800" cy="3581400"/>
          </a:xfrm>
          <a:prstGeom prst="rect">
            <a:avLst/>
          </a:prstGeom>
          <a:solidFill>
            <a:srgbClr val="00FF00">
              <a:alpha val="16078"/>
            </a:srgbClr>
          </a:solidFill>
          <a:ln w="9525" algn="ctr">
            <a:solidFill>
              <a:srgbClr val="FF0000"/>
            </a:solidFill>
            <a:prstDash val="dash"/>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28695" name="Rectangle 26"/>
          <p:cNvSpPr>
            <a:spLocks noChangeArrowheads="1"/>
          </p:cNvSpPr>
          <p:nvPr/>
        </p:nvSpPr>
        <p:spPr bwMode="auto">
          <a:xfrm>
            <a:off x="3957638" y="966788"/>
            <a:ext cx="5105400" cy="3886200"/>
          </a:xfrm>
          <a:prstGeom prst="rect">
            <a:avLst/>
          </a:prstGeom>
          <a:solidFill>
            <a:srgbClr val="993366">
              <a:alpha val="12157"/>
            </a:srgbClr>
          </a:solidFill>
          <a:ln w="9525" algn="ctr">
            <a:solidFill>
              <a:srgbClr val="FF0000"/>
            </a:solidFill>
            <a:prstDash val="dash"/>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Tree>
    <p:extLst>
      <p:ext uri="{BB962C8B-B14F-4D97-AF65-F5344CB8AC3E}">
        <p14:creationId xmlns:p14="http://schemas.microsoft.com/office/powerpoint/2010/main" val="24619733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76200" y="152400"/>
            <a:ext cx="9144000" cy="1143000"/>
          </a:xfrm>
        </p:spPr>
        <p:txBody>
          <a:bodyPr/>
          <a:lstStyle/>
          <a:p>
            <a:r>
              <a:rPr lang="en-US" altLang="zh-CN" sz="3200" b="1">
                <a:ea typeface="宋体" panose="02010600030101010101" pitchFamily="2" charset="-122"/>
              </a:rPr>
              <a:t>Improvements on modeling </a:t>
            </a:r>
            <a:br>
              <a:rPr lang="en-US" altLang="zh-CN" sz="3200" b="1">
                <a:ea typeface="宋体" panose="02010600030101010101" pitchFamily="2" charset="-122"/>
              </a:rPr>
            </a:br>
            <a:r>
              <a:rPr lang="en-US" altLang="zh-CN" sz="3200" b="1">
                <a:ea typeface="宋体" panose="02010600030101010101" pitchFamily="2" charset="-122"/>
              </a:rPr>
              <a:t>Biofuel by-products</a:t>
            </a:r>
          </a:p>
        </p:txBody>
      </p:sp>
      <p:sp>
        <p:nvSpPr>
          <p:cNvPr id="29699" name="Rectangle 3"/>
          <p:cNvSpPr>
            <a:spLocks noGrp="1" noChangeArrowheads="1"/>
          </p:cNvSpPr>
          <p:nvPr>
            <p:ph type="body" idx="1"/>
          </p:nvPr>
        </p:nvSpPr>
        <p:spPr>
          <a:xfrm>
            <a:off x="304800" y="1676400"/>
            <a:ext cx="8458200" cy="5029200"/>
          </a:xfrm>
        </p:spPr>
        <p:txBody>
          <a:bodyPr/>
          <a:lstStyle/>
          <a:p>
            <a:r>
              <a:rPr lang="en-US" altLang="zh-CN">
                <a:ea typeface="宋体" panose="02010600030101010101" pitchFamily="2" charset="-122"/>
              </a:rPr>
              <a:t>Refine the model and database …</a:t>
            </a:r>
          </a:p>
          <a:p>
            <a:pPr lvl="1"/>
            <a:r>
              <a:rPr lang="en-US" altLang="zh-CN">
                <a:ea typeface="宋体" panose="02010600030101010101" pitchFamily="2" charset="-122"/>
              </a:rPr>
              <a:t>New production function of multi-inputs and multi-outputs. Ratio of output between ethanol vs. DDGs and Diesel vs. BDBP is the key.</a:t>
            </a:r>
          </a:p>
          <a:p>
            <a:pPr lvl="1"/>
            <a:r>
              <a:rPr lang="en-US" altLang="zh-CN">
                <a:ea typeface="宋体" panose="02010600030101010101" pitchFamily="2" charset="-122"/>
              </a:rPr>
              <a:t>Substitution between by-products and other feedstuffs (maize, processed feed etc.) and the degree of substitution.</a:t>
            </a:r>
          </a:p>
          <a:p>
            <a:pPr lvl="1"/>
            <a:r>
              <a:rPr lang="en-US" altLang="zh-CN">
                <a:ea typeface="宋体" panose="02010600030101010101" pitchFamily="2" charset="-122"/>
              </a:rPr>
              <a:t>Trade flows of By-products (DDGs+BDBP)  </a:t>
            </a:r>
          </a:p>
        </p:txBody>
      </p:sp>
    </p:spTree>
    <p:extLst>
      <p:ext uri="{BB962C8B-B14F-4D97-AF65-F5344CB8AC3E}">
        <p14:creationId xmlns:p14="http://schemas.microsoft.com/office/powerpoint/2010/main" val="34913271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57200" y="274638"/>
            <a:ext cx="8229600" cy="2468562"/>
          </a:xfrm>
        </p:spPr>
        <p:txBody>
          <a:bodyPr/>
          <a:lstStyle/>
          <a:p>
            <a:pPr eaLnBrk="1" hangingPunct="1"/>
            <a:r>
              <a:rPr lang="en-US" altLang="zh-CN" sz="4000" b="1">
                <a:ea typeface="宋体" panose="02010600030101010101" pitchFamily="2" charset="-122"/>
              </a:rPr>
              <a:t>Strategy for identifying global impact pathways</a:t>
            </a:r>
            <a:r>
              <a:rPr lang="en-US" altLang="zh-CN" sz="4000">
                <a:ea typeface="宋体" panose="02010600030101010101" pitchFamily="2" charset="-122"/>
              </a:rPr>
              <a:t>:</a:t>
            </a:r>
            <a:br>
              <a:rPr lang="en-US" altLang="zh-CN" sz="4000" b="1">
                <a:ea typeface="宋体" panose="02010600030101010101" pitchFamily="2" charset="-122"/>
              </a:rPr>
            </a:br>
            <a:br>
              <a:rPr lang="en-US" altLang="zh-CN" sz="4000" b="1">
                <a:ea typeface="宋体" panose="02010600030101010101" pitchFamily="2" charset="-122"/>
              </a:rPr>
            </a:br>
            <a:r>
              <a:rPr lang="en-US" altLang="zh-CN" sz="4000" b="1">
                <a:ea typeface="宋体" panose="02010600030101010101" pitchFamily="2" charset="-122"/>
              </a:rPr>
              <a:t>Reference scenario</a:t>
            </a:r>
          </a:p>
        </p:txBody>
      </p:sp>
      <p:sp>
        <p:nvSpPr>
          <p:cNvPr id="30723" name="Rectangle 3"/>
          <p:cNvSpPr>
            <a:spLocks noGrp="1" noChangeArrowheads="1"/>
          </p:cNvSpPr>
          <p:nvPr>
            <p:ph type="body" idx="1"/>
          </p:nvPr>
        </p:nvSpPr>
        <p:spPr>
          <a:xfrm>
            <a:off x="457200" y="3094038"/>
            <a:ext cx="8229600" cy="2849562"/>
          </a:xfrm>
        </p:spPr>
        <p:txBody>
          <a:bodyPr/>
          <a:lstStyle/>
          <a:p>
            <a:pPr eaLnBrk="1" hangingPunct="1"/>
            <a:r>
              <a:rPr lang="en-US" altLang="zh-CN">
                <a:ea typeface="宋体" panose="02010600030101010101" pitchFamily="2" charset="-122"/>
              </a:rPr>
              <a:t>Biofuels production in all countries in the world are kept at their 2006 level (in other words, we are simulating the effect of a world-wide ban of not allowing any expansion over what was already in place)</a:t>
            </a:r>
          </a:p>
        </p:txBody>
      </p:sp>
    </p:spTree>
    <p:extLst>
      <p:ext uri="{BB962C8B-B14F-4D97-AF65-F5344CB8AC3E}">
        <p14:creationId xmlns:p14="http://schemas.microsoft.com/office/powerpoint/2010/main" val="394953678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0" y="152400"/>
            <a:ext cx="8839200" cy="868363"/>
          </a:xfrm>
        </p:spPr>
        <p:txBody>
          <a:bodyPr/>
          <a:lstStyle/>
          <a:p>
            <a:pPr eaLnBrk="1" hangingPunct="1"/>
            <a:r>
              <a:rPr lang="en-US" altLang="zh-CN" sz="3600">
                <a:ea typeface="宋体" panose="02010600030101010101" pitchFamily="2" charset="-122"/>
              </a:rPr>
              <a:t>Two Key Alternative Scenarios</a:t>
            </a:r>
            <a:endParaRPr lang="en-US" altLang="zh-CN" sz="3200">
              <a:solidFill>
                <a:srgbClr val="0303FD"/>
              </a:solidFill>
              <a:ea typeface="宋体" panose="02010600030101010101" pitchFamily="2" charset="-122"/>
            </a:endParaRPr>
          </a:p>
        </p:txBody>
      </p:sp>
      <p:sp>
        <p:nvSpPr>
          <p:cNvPr id="31747" name="Rectangle 3"/>
          <p:cNvSpPr>
            <a:spLocks noGrp="1" noChangeArrowheads="1"/>
          </p:cNvSpPr>
          <p:nvPr>
            <p:ph type="body" idx="1"/>
          </p:nvPr>
        </p:nvSpPr>
        <p:spPr>
          <a:xfrm>
            <a:off x="457200" y="1219200"/>
            <a:ext cx="8077200" cy="5410200"/>
          </a:xfrm>
        </p:spPr>
        <p:txBody>
          <a:bodyPr/>
          <a:lstStyle/>
          <a:p>
            <a:pPr eaLnBrk="1" hangingPunct="1"/>
            <a:r>
              <a:rPr lang="en-US" altLang="zh-CN" sz="2800" b="1">
                <a:ea typeface="宋体" panose="02010600030101010101" pitchFamily="2" charset="-122"/>
              </a:rPr>
              <a:t>Market Scenario</a:t>
            </a:r>
            <a:r>
              <a:rPr lang="en-US" altLang="zh-CN" sz="2800">
                <a:ea typeface="宋体" panose="02010600030101010101" pitchFamily="2" charset="-122"/>
              </a:rPr>
              <a:t>: In the market scenario, governments do not intervene into the production decisions of biofuels producers … Biofuels production is carried out purely on the basis of international energy prices</a:t>
            </a:r>
          </a:p>
          <a:p>
            <a:pPr eaLnBrk="1" hangingPunct="1"/>
            <a:endParaRPr lang="en-US" altLang="zh-CN" sz="2800">
              <a:ea typeface="宋体" panose="02010600030101010101" pitchFamily="2" charset="-122"/>
            </a:endParaRPr>
          </a:p>
          <a:p>
            <a:pPr eaLnBrk="1" hangingPunct="1"/>
            <a:r>
              <a:rPr lang="en-US" altLang="zh-CN" sz="2800" b="1">
                <a:ea typeface="宋体" panose="02010600030101010101" pitchFamily="2" charset="-122"/>
              </a:rPr>
              <a:t>Policy Intervention Scenario</a:t>
            </a:r>
            <a:r>
              <a:rPr lang="en-US" altLang="zh-CN" sz="2800">
                <a:ea typeface="宋体" panose="02010600030101010101" pitchFamily="2" charset="-122"/>
              </a:rPr>
              <a:t>: In the policy intervention scenario, governments intervene into the production decisions of biofuels producers  by offering subsidies (which are equivalent to those actually being considered as of 2008) … </a:t>
            </a:r>
          </a:p>
          <a:p>
            <a:pPr eaLnBrk="1" hangingPunct="1"/>
            <a:endParaRPr lang="en-US" altLang="zh-CN" sz="2800">
              <a:ea typeface="宋体" panose="02010600030101010101" pitchFamily="2" charset="-122"/>
            </a:endParaRPr>
          </a:p>
        </p:txBody>
      </p:sp>
    </p:spTree>
    <p:extLst>
      <p:ext uri="{BB962C8B-B14F-4D97-AF65-F5344CB8AC3E}">
        <p14:creationId xmlns:p14="http://schemas.microsoft.com/office/powerpoint/2010/main" val="29231723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solidFill>
            <a:srgbClr val="FFFFFF"/>
          </a:solidFill>
        </p:spPr>
        <p:txBody>
          <a:bodyPr/>
          <a:lstStyle/>
          <a:p>
            <a:pPr algn="l" eaLnBrk="1" hangingPunct="1">
              <a:lnSpc>
                <a:spcPct val="70000"/>
              </a:lnSpc>
            </a:pPr>
            <a:r>
              <a:rPr lang="en-US" altLang="zh-CN" sz="3600" b="1">
                <a:ea typeface="隶书" panose="02010509060101010101" pitchFamily="49" charset="-122"/>
              </a:rPr>
              <a:t> </a:t>
            </a:r>
          </a:p>
        </p:txBody>
      </p:sp>
      <p:sp>
        <p:nvSpPr>
          <p:cNvPr id="32771" name="Rectangle 3"/>
          <p:cNvSpPr>
            <a:spLocks noGrp="1" noChangeArrowheads="1"/>
          </p:cNvSpPr>
          <p:nvPr>
            <p:ph type="body" sz="half" idx="4294967295"/>
          </p:nvPr>
        </p:nvSpPr>
        <p:spPr>
          <a:xfrm>
            <a:off x="0" y="152400"/>
            <a:ext cx="9067800" cy="762000"/>
          </a:xfrm>
        </p:spPr>
        <p:txBody>
          <a:bodyPr>
            <a:normAutofit fontScale="92500" lnSpcReduction="20000"/>
          </a:bodyPr>
          <a:lstStyle/>
          <a:p>
            <a:pPr algn="ctr" eaLnBrk="1" hangingPunct="1">
              <a:lnSpc>
                <a:spcPct val="85000"/>
              </a:lnSpc>
              <a:spcBef>
                <a:spcPct val="55000"/>
              </a:spcBef>
              <a:buClr>
                <a:schemeClr val="tx1"/>
              </a:buClr>
              <a:buSzPct val="125000"/>
              <a:buFontTx/>
              <a:buNone/>
            </a:pPr>
            <a:r>
              <a:rPr lang="en-US" altLang="zh-CN" sz="3600" b="1">
                <a:latin typeface="Times New Roman" panose="02020603050405020304" pitchFamily="18" charset="0"/>
                <a:ea typeface="隶书" panose="02010509060101010101" pitchFamily="49" charset="-122"/>
              </a:rPr>
              <a:t>Targets of Biofuel Production in 2020 of Selected Countries</a:t>
            </a:r>
          </a:p>
        </p:txBody>
      </p:sp>
      <p:graphicFrame>
        <p:nvGraphicFramePr>
          <p:cNvPr id="151606" name="Group 54"/>
          <p:cNvGraphicFramePr>
            <a:graphicFrameLocks noGrp="1"/>
          </p:cNvGraphicFramePr>
          <p:nvPr>
            <p:ph sz="half" idx="4294967295"/>
          </p:nvPr>
        </p:nvGraphicFramePr>
        <p:xfrm>
          <a:off x="304800" y="1441450"/>
          <a:ext cx="8534400" cy="4114800"/>
        </p:xfrm>
        <a:graphic>
          <a:graphicData uri="http://schemas.openxmlformats.org/drawingml/2006/table">
            <a:tbl>
              <a:tblPr/>
              <a:tblGrid>
                <a:gridCol w="2651125">
                  <a:extLst>
                    <a:ext uri="{9D8B030D-6E8A-4147-A177-3AD203B41FA5}">
                      <a16:colId xmlns:a16="http://schemas.microsoft.com/office/drawing/2014/main" val="20000"/>
                    </a:ext>
                  </a:extLst>
                </a:gridCol>
                <a:gridCol w="1843088">
                  <a:extLst>
                    <a:ext uri="{9D8B030D-6E8A-4147-A177-3AD203B41FA5}">
                      <a16:colId xmlns:a16="http://schemas.microsoft.com/office/drawing/2014/main" val="20001"/>
                    </a:ext>
                  </a:extLst>
                </a:gridCol>
                <a:gridCol w="1846262">
                  <a:extLst>
                    <a:ext uri="{9D8B030D-6E8A-4147-A177-3AD203B41FA5}">
                      <a16:colId xmlns:a16="http://schemas.microsoft.com/office/drawing/2014/main" val="20002"/>
                    </a:ext>
                  </a:extLst>
                </a:gridCol>
                <a:gridCol w="2193925">
                  <a:extLst>
                    <a:ext uri="{9D8B030D-6E8A-4147-A177-3AD203B41FA5}">
                      <a16:colId xmlns:a16="http://schemas.microsoft.com/office/drawing/2014/main" val="20003"/>
                    </a:ext>
                  </a:extLst>
                </a:gridCol>
              </a:tblGrid>
              <a:tr h="41116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9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2006</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Target in 2020</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Growth (%)</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54050">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Ethanol (million tons) </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4800" b="0" i="0" u="none" strike="noStrike" cap="none" normalizeH="0" baseline="0">
                        <a:ln>
                          <a:noFill/>
                        </a:ln>
                        <a:solidFill>
                          <a:schemeClr val="tx1"/>
                        </a:solidFill>
                        <a:effectLst/>
                        <a:latin typeface="Arial"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4800" b="0" i="0" u="none" strike="noStrike" cap="none" normalizeH="0" baseline="0">
                        <a:ln>
                          <a:noFill/>
                        </a:ln>
                        <a:solidFill>
                          <a:schemeClr val="tx1"/>
                        </a:solidFill>
                        <a:effectLst/>
                        <a:latin typeface="Arial"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4800" b="0" i="0" u="none" strike="noStrike" cap="none" normalizeH="0" baseline="0">
                        <a:ln>
                          <a:noFill/>
                        </a:ln>
                        <a:solidFill>
                          <a:schemeClr val="tx1"/>
                        </a:solidFill>
                        <a:effectLst/>
                        <a:latin typeface="Arial"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0957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USA </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rPr>
                        <a:t>15.9 </a:t>
                      </a:r>
                      <a:endParaRPr kumimoji="0" lang="zh-CN" altLang="en-US" sz="21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rPr>
                        <a:t>49.1</a:t>
                      </a:r>
                      <a:endParaRPr kumimoji="0" lang="zh-CN" altLang="en-US" sz="21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100" b="1" i="0" u="none" strike="noStrike" cap="none" normalizeH="0" baseline="0">
                          <a:ln>
                            <a:noFill/>
                          </a:ln>
                          <a:solidFill>
                            <a:srgbClr val="FF0000"/>
                          </a:solidFill>
                          <a:effectLst/>
                          <a:latin typeface="Times New Roman" pitchFamily="18" charset="0"/>
                          <a:ea typeface="宋体" pitchFamily="2" charset="-122"/>
                        </a:rPr>
                        <a:t>209</a:t>
                      </a:r>
                      <a:endParaRPr kumimoji="0" lang="zh-CN" altLang="en-US" sz="2100" b="1" i="0" u="none" strike="noStrike" cap="none" normalizeH="0" baseline="0">
                        <a:ln>
                          <a:noFill/>
                        </a:ln>
                        <a:solidFill>
                          <a:srgbClr val="FF0000"/>
                        </a:solidFill>
                        <a:effectLst/>
                        <a:latin typeface="Times New Roman" pitchFamily="18" charset="0"/>
                        <a:ea typeface="宋体" pitchFamily="2" charset="-122"/>
                      </a:endParaRP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41116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EU    </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1.5</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21.0</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1300 </a:t>
                      </a:r>
                      <a:endParaRPr kumimoji="0" lang="en-US" altLang="zh-CN" sz="3600" b="1" i="0" u="none" strike="noStrike" cap="none" normalizeH="0" baseline="0">
                        <a:ln>
                          <a:noFill/>
                        </a:ln>
                        <a:solidFill>
                          <a:srgbClr val="FF0000"/>
                        </a:solidFill>
                        <a:effectLst/>
                        <a:latin typeface="Arial" charset="0"/>
                        <a:ea typeface="宋体" pitchFamily="2" charset="-122"/>
                        <a:cs typeface="Times New Roman" pitchFamily="18" charset="0"/>
                      </a:endParaRP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1116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Brazil</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14.7</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43.2</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194 </a:t>
                      </a:r>
                      <a:endParaRPr kumimoji="0" lang="en-US" altLang="zh-CN" sz="3600" b="1" i="0" u="none" strike="noStrike" cap="none" normalizeH="0" baseline="0">
                        <a:ln>
                          <a:noFill/>
                        </a:ln>
                        <a:solidFill>
                          <a:srgbClr val="FF0000"/>
                        </a:solidFill>
                        <a:effectLst/>
                        <a:latin typeface="Arial" charset="0"/>
                        <a:ea typeface="宋体" pitchFamily="2" charset="-122"/>
                        <a:cs typeface="Times New Roman" pitchFamily="18" charset="0"/>
                      </a:endParaRP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49847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Diesel (million tons)</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4800" b="0" i="0" u="none" strike="noStrike" cap="none" normalizeH="0" baseline="0">
                        <a:ln>
                          <a:noFill/>
                        </a:ln>
                        <a:solidFill>
                          <a:schemeClr val="tx1"/>
                        </a:solidFill>
                        <a:effectLst/>
                        <a:latin typeface="Arial"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4800" b="0" i="0" u="none" strike="noStrike" cap="none" normalizeH="0" baseline="0">
                        <a:ln>
                          <a:noFill/>
                        </a:ln>
                        <a:solidFill>
                          <a:schemeClr val="tx1"/>
                        </a:solidFill>
                        <a:effectLst/>
                        <a:latin typeface="Arial" charset="0"/>
                        <a:ea typeface="宋体" pitchFamily="2" charset="-122"/>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4800" b="0" i="0" u="none" strike="noStrike" cap="none" normalizeH="0" baseline="0">
                        <a:ln>
                          <a:noFill/>
                        </a:ln>
                        <a:solidFill>
                          <a:schemeClr val="tx1"/>
                        </a:solidFill>
                        <a:effectLst/>
                        <a:latin typeface="Arial" charset="0"/>
                        <a:ea typeface="宋体" pitchFamily="2" charset="-122"/>
                      </a:endParaRP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1116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USA </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0.8</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6.9</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763 </a:t>
                      </a:r>
                      <a:endParaRPr kumimoji="0" lang="en-US" altLang="zh-CN" sz="3600" b="1" i="0" u="none" strike="noStrike" cap="none" normalizeH="0" baseline="0">
                        <a:ln>
                          <a:noFill/>
                        </a:ln>
                        <a:solidFill>
                          <a:srgbClr val="FF0000"/>
                        </a:solidFill>
                        <a:effectLst/>
                        <a:latin typeface="Arial" charset="0"/>
                        <a:ea typeface="宋体" pitchFamily="2" charset="-122"/>
                        <a:cs typeface="Times New Roman" pitchFamily="18" charset="0"/>
                      </a:endParaRP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41116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EU </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4.9</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46.4</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847 </a:t>
                      </a:r>
                      <a:endParaRPr kumimoji="0" lang="en-US" altLang="zh-CN" sz="3600" b="1" i="0" u="none" strike="noStrike" cap="none" normalizeH="0" baseline="0">
                        <a:ln>
                          <a:noFill/>
                        </a:ln>
                        <a:solidFill>
                          <a:srgbClr val="FF0000"/>
                        </a:solidFill>
                        <a:effectLst/>
                        <a:latin typeface="Arial" charset="0"/>
                        <a:ea typeface="宋体" pitchFamily="2" charset="-122"/>
                        <a:cs typeface="Times New Roman" pitchFamily="18" charset="0"/>
                      </a:endParaRP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2808" name="Rectangle 52"/>
          <p:cNvSpPr>
            <a:spLocks noChangeArrowheads="1"/>
          </p:cNvSpPr>
          <p:nvPr/>
        </p:nvSpPr>
        <p:spPr bwMode="auto">
          <a:xfrm>
            <a:off x="533400" y="57150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ea typeface="宋体" panose="02010600030101010101" pitchFamily="2" charset="-122"/>
              </a:rPr>
              <a:t>Source: Yang et al., 2009</a:t>
            </a:r>
          </a:p>
        </p:txBody>
      </p:sp>
    </p:spTree>
    <p:extLst>
      <p:ext uri="{BB962C8B-B14F-4D97-AF65-F5344CB8AC3E}">
        <p14:creationId xmlns:p14="http://schemas.microsoft.com/office/powerpoint/2010/main" val="21100320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228600" y="274638"/>
            <a:ext cx="8534400" cy="1143000"/>
          </a:xfrm>
        </p:spPr>
        <p:txBody>
          <a:bodyPr/>
          <a:lstStyle/>
          <a:p>
            <a:pPr eaLnBrk="1" hangingPunct="1"/>
            <a:r>
              <a:rPr lang="en-US" altLang="zh-CN" sz="3200" b="1">
                <a:ea typeface="宋体" panose="02010600030101010101" pitchFamily="2" charset="-122"/>
              </a:rPr>
              <a:t>Sensitive analysis on crude oil prices (US dollars per barrel) in 2006-2020</a:t>
            </a:r>
          </a:p>
        </p:txBody>
      </p:sp>
      <p:graphicFrame>
        <p:nvGraphicFramePr>
          <p:cNvPr id="7170" name="Object 3"/>
          <p:cNvGraphicFramePr>
            <a:graphicFrameLocks noGrp="1" noChangeAspect="1"/>
          </p:cNvGraphicFramePr>
          <p:nvPr>
            <p:ph type="chart" idx="1"/>
          </p:nvPr>
        </p:nvGraphicFramePr>
        <p:xfrm>
          <a:off x="457200" y="1676400"/>
          <a:ext cx="8215313" cy="4525963"/>
        </p:xfrm>
        <a:graphic>
          <a:graphicData uri="http://schemas.openxmlformats.org/presentationml/2006/ole">
            <mc:AlternateContent xmlns:mc="http://schemas.openxmlformats.org/markup-compatibility/2006">
              <mc:Choice xmlns:v="urn:schemas-microsoft-com:vml" Requires="v">
                <p:oleObj name="图表" r:id="rId3" imgW="8229482" imgH="4533804" progId="MSGraph.Chart.8">
                  <p:embed followColorScheme="full"/>
                </p:oleObj>
              </mc:Choice>
              <mc:Fallback>
                <p:oleObj name="图表" r:id="rId3" imgW="8229482" imgH="4533804" progId="MSGraph.Chart.8">
                  <p:embed followColorScheme="full"/>
                  <p:pic>
                    <p:nvPicPr>
                      <p:cNvPr id="0" name=""/>
                      <p:cNvPicPr>
                        <a:picLocks noChangeAspect="1" noChangeArrowheads="1"/>
                      </p:cNvPicPr>
                      <p:nvPr/>
                    </p:nvPicPr>
                    <p:blipFill>
                      <a:blip r:embed="rId4"/>
                      <a:srcRect/>
                      <a:stretch>
                        <a:fillRect/>
                      </a:stretch>
                    </p:blipFill>
                    <p:spPr bwMode="auto">
                      <a:xfrm>
                        <a:off x="457200" y="1676400"/>
                        <a:ext cx="8215313"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2" name="Text Box 5"/>
          <p:cNvSpPr txBox="1">
            <a:spLocks noChangeArrowheads="1"/>
          </p:cNvSpPr>
          <p:nvPr/>
        </p:nvSpPr>
        <p:spPr bwMode="auto">
          <a:xfrm>
            <a:off x="4267200" y="4484688"/>
            <a:ext cx="4800600" cy="925512"/>
          </a:xfrm>
          <a:prstGeom prst="rect">
            <a:avLst/>
          </a:prstGeom>
          <a:solidFill>
            <a:schemeClr val="bg1"/>
          </a:solid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a:ea typeface="宋体" panose="02010600030101010101" pitchFamily="2" charset="-122"/>
              </a:rPr>
              <a:t>This is from the 2008 report from the International Energy Association … it is what most GTAP analyst use as their baseline</a:t>
            </a:r>
          </a:p>
        </p:txBody>
      </p:sp>
      <p:sp>
        <p:nvSpPr>
          <p:cNvPr id="7173" name="Line 6"/>
          <p:cNvSpPr>
            <a:spLocks noChangeShapeType="1"/>
          </p:cNvSpPr>
          <p:nvPr/>
        </p:nvSpPr>
        <p:spPr bwMode="auto">
          <a:xfrm flipH="1" flipV="1">
            <a:off x="4191000" y="4191000"/>
            <a:ext cx="762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74" name="Text Box 7"/>
          <p:cNvSpPr txBox="1">
            <a:spLocks noChangeArrowheads="1"/>
          </p:cNvSpPr>
          <p:nvPr/>
        </p:nvSpPr>
        <p:spPr bwMode="auto">
          <a:xfrm>
            <a:off x="5867400" y="3733800"/>
            <a:ext cx="3276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a:solidFill>
                  <a:schemeClr val="accent2"/>
                </a:solidFill>
                <a:ea typeface="宋体" panose="02010600030101010101" pitchFamily="2" charset="-122"/>
              </a:rPr>
              <a:t>Low energy price assumption</a:t>
            </a:r>
          </a:p>
        </p:txBody>
      </p:sp>
      <p:sp>
        <p:nvSpPr>
          <p:cNvPr id="7175" name="Text Box 8"/>
          <p:cNvSpPr txBox="1">
            <a:spLocks noChangeArrowheads="1"/>
          </p:cNvSpPr>
          <p:nvPr/>
        </p:nvSpPr>
        <p:spPr bwMode="auto">
          <a:xfrm>
            <a:off x="1524000" y="2878138"/>
            <a:ext cx="4267200"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a:solidFill>
                  <a:srgbClr val="FF0000"/>
                </a:solidFill>
                <a:ea typeface="宋体" panose="02010600030101010101" pitchFamily="2" charset="-122"/>
              </a:rPr>
              <a:t>High energy price assumption</a:t>
            </a:r>
          </a:p>
          <a:p>
            <a:pPr algn="l" eaLnBrk="1" hangingPunct="1">
              <a:spcBef>
                <a:spcPct val="50000"/>
              </a:spcBef>
            </a:pPr>
            <a:r>
              <a:rPr lang="en-US" altLang="zh-CN">
                <a:solidFill>
                  <a:srgbClr val="FF0000"/>
                </a:solidFill>
                <a:ea typeface="宋体" panose="02010600030101010101" pitchFamily="2" charset="-122"/>
              </a:rPr>
              <a:t>High (2020)  = 2 x Low (2006)</a:t>
            </a:r>
          </a:p>
        </p:txBody>
      </p:sp>
      <p:sp>
        <p:nvSpPr>
          <p:cNvPr id="7176" name="Text Box 10"/>
          <p:cNvSpPr txBox="1">
            <a:spLocks noChangeArrowheads="1"/>
          </p:cNvSpPr>
          <p:nvPr/>
        </p:nvSpPr>
        <p:spPr bwMode="auto">
          <a:xfrm>
            <a:off x="6858000" y="1752600"/>
            <a:ext cx="2286000" cy="835025"/>
          </a:xfrm>
          <a:prstGeom prst="rect">
            <a:avLst/>
          </a:prstGeom>
          <a:solidFill>
            <a:schemeClr val="bg1"/>
          </a:solidFill>
          <a:ln w="9525" algn="ctr">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1600">
                <a:solidFill>
                  <a:srgbClr val="010175"/>
                </a:solidFill>
                <a:ea typeface="宋体" panose="02010600030101010101" pitchFamily="2" charset="-122"/>
              </a:rPr>
              <a:t>This is consistent with other modelers (e.g.,Hertel et al., 2008)</a:t>
            </a:r>
          </a:p>
        </p:txBody>
      </p:sp>
    </p:spTree>
    <p:extLst>
      <p:ext uri="{BB962C8B-B14F-4D97-AF65-F5344CB8AC3E}">
        <p14:creationId xmlns:p14="http://schemas.microsoft.com/office/powerpoint/2010/main" val="2949369220"/>
      </p:ext>
    </p:extLst>
  </p:cSld>
  <p:clrMapOvr>
    <a:masterClrMapping/>
  </p:clrMapOvr>
  <p:transition spd="slow">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52400" y="274638"/>
            <a:ext cx="8686800" cy="1143000"/>
          </a:xfrm>
        </p:spPr>
        <p:txBody>
          <a:bodyPr/>
          <a:lstStyle/>
          <a:p>
            <a:pPr eaLnBrk="1" hangingPunct="1"/>
            <a:r>
              <a:rPr lang="en-US" altLang="zh-CN" sz="3600">
                <a:ea typeface="宋体" panose="02010600030101010101" pitchFamily="2" charset="-122"/>
              </a:rPr>
              <a:t>Sensitive analysis on elasticities of substitution between Gasoline and biofuel</a:t>
            </a:r>
          </a:p>
        </p:txBody>
      </p:sp>
      <p:sp>
        <p:nvSpPr>
          <p:cNvPr id="33795" name="Rectangle 3"/>
          <p:cNvSpPr>
            <a:spLocks noGrp="1" noChangeArrowheads="1"/>
          </p:cNvSpPr>
          <p:nvPr>
            <p:ph type="body" idx="1"/>
          </p:nvPr>
        </p:nvSpPr>
        <p:spPr>
          <a:xfrm>
            <a:off x="457200" y="2103438"/>
            <a:ext cx="8229600" cy="4525962"/>
          </a:xfrm>
        </p:spPr>
        <p:txBody>
          <a:bodyPr/>
          <a:lstStyle/>
          <a:p>
            <a:pPr eaLnBrk="1" hangingPunct="1"/>
            <a:r>
              <a:rPr lang="en-US" altLang="zh-CN" sz="3600">
                <a:ea typeface="宋体" panose="02010600030101010101" pitchFamily="2" charset="-122"/>
              </a:rPr>
              <a:t>Low elasticity: 3</a:t>
            </a:r>
          </a:p>
          <a:p>
            <a:pPr eaLnBrk="1" hangingPunct="1">
              <a:spcBef>
                <a:spcPct val="50000"/>
              </a:spcBef>
              <a:buFontTx/>
              <a:buNone/>
            </a:pPr>
            <a:r>
              <a:rPr lang="en-US" altLang="zh-CN" sz="2800">
                <a:ea typeface="宋体" panose="02010600030101010101" pitchFamily="2" charset="-122"/>
              </a:rPr>
              <a:t>	This is about the same level as used in the analyses by Hertel et al. (2-4) and the LEI Banse et al. (5)</a:t>
            </a:r>
            <a:endParaRPr lang="en-US" altLang="zh-CN" sz="2800">
              <a:solidFill>
                <a:srgbClr val="FF0000"/>
              </a:solidFill>
              <a:ea typeface="宋体" panose="02010600030101010101" pitchFamily="2" charset="-122"/>
            </a:endParaRPr>
          </a:p>
          <a:p>
            <a:pPr eaLnBrk="1" hangingPunct="1"/>
            <a:endParaRPr lang="en-US" altLang="zh-CN" sz="2800">
              <a:ea typeface="宋体" panose="02010600030101010101" pitchFamily="2" charset="-122"/>
            </a:endParaRPr>
          </a:p>
          <a:p>
            <a:pPr eaLnBrk="1" hangingPunct="1"/>
            <a:r>
              <a:rPr lang="en-US" altLang="zh-CN" sz="3600">
                <a:ea typeface="宋体" panose="02010600030101010101" pitchFamily="2" charset="-122"/>
              </a:rPr>
              <a:t>High elasticity: 10</a:t>
            </a:r>
          </a:p>
        </p:txBody>
      </p:sp>
      <p:sp>
        <p:nvSpPr>
          <p:cNvPr id="33796" name="Text Box 6"/>
          <p:cNvSpPr txBox="1">
            <a:spLocks noChangeArrowheads="1"/>
          </p:cNvSpPr>
          <p:nvPr/>
        </p:nvSpPr>
        <p:spPr bwMode="auto">
          <a:xfrm>
            <a:off x="5791200" y="1676400"/>
            <a:ext cx="3048000" cy="12001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a:ea typeface="宋体" panose="02010600030101010101" pitchFamily="2" charset="-122"/>
              </a:rPr>
              <a:t>This (“3”) means that when the price of gasoline goes up, there is little impetus to substitute into ethanol</a:t>
            </a:r>
          </a:p>
        </p:txBody>
      </p:sp>
      <p:sp>
        <p:nvSpPr>
          <p:cNvPr id="33797" name="Text Box 7"/>
          <p:cNvSpPr txBox="1">
            <a:spLocks noChangeArrowheads="1"/>
          </p:cNvSpPr>
          <p:nvPr/>
        </p:nvSpPr>
        <p:spPr bwMode="auto">
          <a:xfrm>
            <a:off x="5638800" y="4210050"/>
            <a:ext cx="3352800" cy="14747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a:ea typeface="宋体" panose="02010600030101010101" pitchFamily="2" charset="-122"/>
              </a:rPr>
              <a:t>This (“10”) means that when the price of gasoline goes up, there is a lot of impetus to substitute into ethanol [note: “infinity” is perfect substitution]</a:t>
            </a:r>
          </a:p>
        </p:txBody>
      </p:sp>
    </p:spTree>
    <p:extLst>
      <p:ext uri="{BB962C8B-B14F-4D97-AF65-F5344CB8AC3E}">
        <p14:creationId xmlns:p14="http://schemas.microsoft.com/office/powerpoint/2010/main" val="10821898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6"/>
          <p:cNvSpPr txBox="1">
            <a:spLocks noChangeArrowheads="1"/>
          </p:cNvSpPr>
          <p:nvPr/>
        </p:nvSpPr>
        <p:spPr bwMode="auto">
          <a:xfrm>
            <a:off x="1676400" y="9906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b="1">
                <a:ea typeface="宋体" panose="02010600030101010101" pitchFamily="2" charset="-122"/>
              </a:rPr>
              <a:t>Low Energy Price Projections</a:t>
            </a:r>
          </a:p>
        </p:txBody>
      </p:sp>
      <p:sp>
        <p:nvSpPr>
          <p:cNvPr id="34819" name="Text Box 7"/>
          <p:cNvSpPr txBox="1">
            <a:spLocks noChangeArrowheads="1"/>
          </p:cNvSpPr>
          <p:nvPr/>
        </p:nvSpPr>
        <p:spPr bwMode="auto">
          <a:xfrm>
            <a:off x="5638800" y="9906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b="1">
                <a:ea typeface="宋体" panose="02010600030101010101" pitchFamily="2" charset="-122"/>
              </a:rPr>
              <a:t>High Energy Price Projections</a:t>
            </a:r>
          </a:p>
        </p:txBody>
      </p:sp>
      <p:sp>
        <p:nvSpPr>
          <p:cNvPr id="34820" name="Text Box 8"/>
          <p:cNvSpPr txBox="1">
            <a:spLocks noChangeArrowheads="1"/>
          </p:cNvSpPr>
          <p:nvPr/>
        </p:nvSpPr>
        <p:spPr bwMode="auto">
          <a:xfrm>
            <a:off x="0" y="2514600"/>
            <a:ext cx="1600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sz="2000" b="1">
                <a:ea typeface="宋体" panose="02010600030101010101" pitchFamily="2" charset="-122"/>
              </a:rPr>
              <a:t>Reference Scenario</a:t>
            </a:r>
          </a:p>
        </p:txBody>
      </p:sp>
      <p:sp>
        <p:nvSpPr>
          <p:cNvPr id="34821" name="Text Box 9"/>
          <p:cNvSpPr txBox="1">
            <a:spLocks noChangeArrowheads="1"/>
          </p:cNvSpPr>
          <p:nvPr/>
        </p:nvSpPr>
        <p:spPr bwMode="auto">
          <a:xfrm>
            <a:off x="0" y="3429000"/>
            <a:ext cx="1600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sz="2000" b="1">
                <a:ea typeface="宋体" panose="02010600030101010101" pitchFamily="2" charset="-122"/>
              </a:rPr>
              <a:t>Market Scenario</a:t>
            </a:r>
          </a:p>
        </p:txBody>
      </p:sp>
      <p:sp>
        <p:nvSpPr>
          <p:cNvPr id="34822" name="Text Box 10"/>
          <p:cNvSpPr txBox="1">
            <a:spLocks noChangeArrowheads="1"/>
          </p:cNvSpPr>
          <p:nvPr/>
        </p:nvSpPr>
        <p:spPr bwMode="auto">
          <a:xfrm>
            <a:off x="0" y="4267200"/>
            <a:ext cx="17526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sz="2000" b="1">
                <a:ea typeface="宋体" panose="02010600030101010101" pitchFamily="2" charset="-122"/>
              </a:rPr>
              <a:t>Policy Intervention Scenario</a:t>
            </a:r>
          </a:p>
        </p:txBody>
      </p:sp>
      <p:sp>
        <p:nvSpPr>
          <p:cNvPr id="34823" name="Rectangle 13"/>
          <p:cNvSpPr>
            <a:spLocks noGrp="1" noChangeArrowheads="1"/>
          </p:cNvSpPr>
          <p:nvPr>
            <p:ph type="title"/>
          </p:nvPr>
        </p:nvSpPr>
        <p:spPr>
          <a:xfrm>
            <a:off x="0" y="-152400"/>
            <a:ext cx="9067800" cy="1143000"/>
          </a:xfrm>
          <a:noFill/>
        </p:spPr>
        <p:txBody>
          <a:bodyPr/>
          <a:lstStyle/>
          <a:p>
            <a:pPr eaLnBrk="1" hangingPunct="1"/>
            <a:r>
              <a:rPr lang="en-US" altLang="zh-CN" sz="3600">
                <a:ea typeface="宋体" panose="02010600030101010101" pitchFamily="2" charset="-122"/>
              </a:rPr>
              <a:t>Analytical plan </a:t>
            </a:r>
            <a:r>
              <a:rPr lang="en-US" altLang="zh-CN" sz="3800">
                <a:ea typeface="宋体" panose="02010600030101010101" pitchFamily="2" charset="-122"/>
              </a:rPr>
              <a:t> </a:t>
            </a:r>
            <a:r>
              <a:rPr lang="en-US" altLang="zh-CN" sz="2400">
                <a:ea typeface="宋体" panose="02010600030101010101" pitchFamily="2" charset="-122"/>
              </a:rPr>
              <a:t>(to help understand what really matters)</a:t>
            </a:r>
          </a:p>
        </p:txBody>
      </p:sp>
      <p:sp>
        <p:nvSpPr>
          <p:cNvPr id="34824" name="Text Box 17"/>
          <p:cNvSpPr txBox="1">
            <a:spLocks noChangeArrowheads="1"/>
          </p:cNvSpPr>
          <p:nvPr/>
        </p:nvSpPr>
        <p:spPr bwMode="auto">
          <a:xfrm>
            <a:off x="1295400" y="1524000"/>
            <a:ext cx="19050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a:ea typeface="宋体" panose="02010600030101010101" pitchFamily="2" charset="-122"/>
              </a:rPr>
              <a:t>Low Elast. Of Substitution: Gas and Ethanol</a:t>
            </a:r>
          </a:p>
        </p:txBody>
      </p:sp>
      <p:sp>
        <p:nvSpPr>
          <p:cNvPr id="34825" name="Text Box 18"/>
          <p:cNvSpPr txBox="1">
            <a:spLocks noChangeArrowheads="1"/>
          </p:cNvSpPr>
          <p:nvPr/>
        </p:nvSpPr>
        <p:spPr bwMode="auto">
          <a:xfrm>
            <a:off x="3124200" y="1524000"/>
            <a:ext cx="19050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a:ea typeface="宋体" panose="02010600030101010101" pitchFamily="2" charset="-122"/>
              </a:rPr>
              <a:t>High Elast. Of Substitution: Gas and Ethanol</a:t>
            </a:r>
          </a:p>
        </p:txBody>
      </p:sp>
      <p:sp>
        <p:nvSpPr>
          <p:cNvPr id="34826" name="Text Box 19"/>
          <p:cNvSpPr txBox="1">
            <a:spLocks noChangeArrowheads="1"/>
          </p:cNvSpPr>
          <p:nvPr/>
        </p:nvSpPr>
        <p:spPr bwMode="auto">
          <a:xfrm>
            <a:off x="5562600" y="1600200"/>
            <a:ext cx="19050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a:ea typeface="宋体" panose="02010600030101010101" pitchFamily="2" charset="-122"/>
              </a:rPr>
              <a:t>Low Elast. Of Substitution: Gas and Ethanol</a:t>
            </a:r>
          </a:p>
        </p:txBody>
      </p:sp>
      <p:sp>
        <p:nvSpPr>
          <p:cNvPr id="34827" name="Text Box 20"/>
          <p:cNvSpPr txBox="1">
            <a:spLocks noChangeArrowheads="1"/>
          </p:cNvSpPr>
          <p:nvPr/>
        </p:nvSpPr>
        <p:spPr bwMode="auto">
          <a:xfrm>
            <a:off x="7315200" y="1600200"/>
            <a:ext cx="19050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a:ea typeface="宋体" panose="02010600030101010101" pitchFamily="2" charset="-122"/>
              </a:rPr>
              <a:t>High Elast. Of Substitution: Gas and Ethanol</a:t>
            </a:r>
          </a:p>
        </p:txBody>
      </p:sp>
      <p:sp>
        <p:nvSpPr>
          <p:cNvPr id="34828" name="Line 21"/>
          <p:cNvSpPr>
            <a:spLocks noChangeShapeType="1"/>
          </p:cNvSpPr>
          <p:nvPr/>
        </p:nvSpPr>
        <p:spPr bwMode="auto">
          <a:xfrm>
            <a:off x="1371600" y="1447800"/>
            <a:ext cx="3733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29" name="Line 22"/>
          <p:cNvSpPr>
            <a:spLocks noChangeShapeType="1"/>
          </p:cNvSpPr>
          <p:nvPr/>
        </p:nvSpPr>
        <p:spPr bwMode="auto">
          <a:xfrm>
            <a:off x="5486400" y="1447800"/>
            <a:ext cx="3733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30" name="Line 23"/>
          <p:cNvSpPr>
            <a:spLocks noChangeShapeType="1"/>
          </p:cNvSpPr>
          <p:nvPr/>
        </p:nvSpPr>
        <p:spPr bwMode="auto">
          <a:xfrm>
            <a:off x="0" y="914400"/>
            <a:ext cx="914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31" name="Line 24"/>
          <p:cNvSpPr>
            <a:spLocks noChangeShapeType="1"/>
          </p:cNvSpPr>
          <p:nvPr/>
        </p:nvSpPr>
        <p:spPr bwMode="auto">
          <a:xfrm>
            <a:off x="0" y="5410200"/>
            <a:ext cx="914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32" name="Line 25"/>
          <p:cNvSpPr>
            <a:spLocks noChangeShapeType="1"/>
          </p:cNvSpPr>
          <p:nvPr/>
        </p:nvSpPr>
        <p:spPr bwMode="auto">
          <a:xfrm>
            <a:off x="0" y="2514600"/>
            <a:ext cx="914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4833" name="Text Box 26"/>
          <p:cNvSpPr txBox="1">
            <a:spLocks noChangeArrowheads="1"/>
          </p:cNvSpPr>
          <p:nvPr/>
        </p:nvSpPr>
        <p:spPr bwMode="auto">
          <a:xfrm>
            <a:off x="152400" y="5589588"/>
            <a:ext cx="8915400" cy="12017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a:ea typeface="宋体" panose="02010600030101010101" pitchFamily="2" charset="-122"/>
              </a:rPr>
              <a:t>Notes:</a:t>
            </a:r>
          </a:p>
          <a:p>
            <a:pPr algn="l" eaLnBrk="1" hangingPunct="1">
              <a:spcBef>
                <a:spcPct val="50000"/>
              </a:spcBef>
            </a:pPr>
            <a:r>
              <a:rPr lang="en-US" altLang="zh-CN">
                <a:ea typeface="宋体" panose="02010600030101010101" pitchFamily="2" charset="-122"/>
              </a:rPr>
              <a:t>Low Energy Price from IEA;                        High Energy Price = (2 x Low Energy Price)</a:t>
            </a:r>
          </a:p>
          <a:p>
            <a:pPr algn="l" eaLnBrk="1" hangingPunct="1">
              <a:spcBef>
                <a:spcPct val="50000"/>
              </a:spcBef>
            </a:pPr>
            <a:r>
              <a:rPr lang="en-US" altLang="zh-CN">
                <a:ea typeface="宋体" panose="02010600030101010101" pitchFamily="2" charset="-122"/>
              </a:rPr>
              <a:t>Low Elast. of Sub., Gas and Ethanol = 3;   High Elasticity = 10 </a:t>
            </a:r>
          </a:p>
        </p:txBody>
      </p:sp>
    </p:spTree>
    <p:extLst>
      <p:ext uri="{BB962C8B-B14F-4D97-AF65-F5344CB8AC3E}">
        <p14:creationId xmlns:p14="http://schemas.microsoft.com/office/powerpoint/2010/main" val="1696125548"/>
      </p:ext>
    </p:extLst>
  </p:cSld>
  <p:clrMapOvr>
    <a:masterClrMapping/>
  </p:clrMapOvr>
  <p:transition spd="slow">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57200" y="2362200"/>
            <a:ext cx="8229600" cy="1143000"/>
          </a:xfrm>
        </p:spPr>
        <p:txBody>
          <a:bodyPr/>
          <a:lstStyle/>
          <a:p>
            <a:pPr eaLnBrk="1" hangingPunct="1"/>
            <a:r>
              <a:rPr lang="en-US" altLang="zh-CN" sz="4000" b="1">
                <a:ea typeface="宋体" panose="02010600030101010101" pitchFamily="2" charset="-122"/>
              </a:rPr>
              <a:t>Scenario Results</a:t>
            </a:r>
          </a:p>
        </p:txBody>
      </p:sp>
    </p:spTree>
    <p:extLst>
      <p:ext uri="{BB962C8B-B14F-4D97-AF65-F5344CB8AC3E}">
        <p14:creationId xmlns:p14="http://schemas.microsoft.com/office/powerpoint/2010/main" val="6839649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2"/>
          <p:cNvSpPr>
            <a:spLocks noGrp="1" noChangeArrowheads="1"/>
          </p:cNvSpPr>
          <p:nvPr>
            <p:ph type="title"/>
          </p:nvPr>
        </p:nvSpPr>
        <p:spPr>
          <a:xfrm>
            <a:off x="0" y="152400"/>
            <a:ext cx="9144000" cy="411163"/>
          </a:xfrm>
        </p:spPr>
        <p:txBody>
          <a:bodyPr>
            <a:normAutofit fontScale="90000"/>
          </a:bodyPr>
          <a:lstStyle/>
          <a:p>
            <a:pPr eaLnBrk="1" hangingPunct="1"/>
            <a:r>
              <a:rPr lang="en-US" altLang="zh-CN" sz="2400" b="1">
                <a:ea typeface="宋体" panose="02010600030101010101" pitchFamily="2" charset="-122"/>
              </a:rPr>
              <a:t>Ethanol production (% change) in 2020 over 2006 under policy intervention scenario in USA</a:t>
            </a:r>
            <a:endParaRPr lang="en-US" altLang="zh-CN" sz="3200" b="1">
              <a:solidFill>
                <a:srgbClr val="FF0000"/>
              </a:solidFill>
              <a:ea typeface="宋体" panose="02010600030101010101" pitchFamily="2" charset="-122"/>
            </a:endParaRPr>
          </a:p>
        </p:txBody>
      </p:sp>
      <p:graphicFrame>
        <p:nvGraphicFramePr>
          <p:cNvPr id="8194" name="Object 3"/>
          <p:cNvGraphicFramePr>
            <a:graphicFrameLocks noGrp="1" noChangeAspect="1"/>
          </p:cNvGraphicFramePr>
          <p:nvPr>
            <p:ph sz="half" idx="1"/>
          </p:nvPr>
        </p:nvGraphicFramePr>
        <p:xfrm>
          <a:off x="1219200" y="609600"/>
          <a:ext cx="7467600" cy="2057400"/>
        </p:xfrm>
        <a:graphic>
          <a:graphicData uri="http://schemas.openxmlformats.org/presentationml/2006/ole">
            <mc:AlternateContent xmlns:mc="http://schemas.openxmlformats.org/markup-compatibility/2006">
              <mc:Choice xmlns:v="urn:schemas-microsoft-com:vml" Requires="v">
                <p:oleObj name="图表" r:id="rId3" imgW="6499875" imgH="4533804" progId="MSGraph.Chart.8">
                  <p:embed followColorScheme="full"/>
                </p:oleObj>
              </mc:Choice>
              <mc:Fallback>
                <p:oleObj name="图表" r:id="rId3" imgW="6499875" imgH="4533804" progId="MSGraph.Chart.8">
                  <p:embed followColorScheme="full"/>
                  <p:pic>
                    <p:nvPicPr>
                      <p:cNvPr id="0" name=""/>
                      <p:cNvPicPr>
                        <a:picLocks noChangeAspect="1" noChangeArrowheads="1"/>
                      </p:cNvPicPr>
                      <p:nvPr/>
                    </p:nvPicPr>
                    <p:blipFill>
                      <a:blip r:embed="rId4"/>
                      <a:srcRect/>
                      <a:stretch>
                        <a:fillRect/>
                      </a:stretch>
                    </p:blipFill>
                    <p:spPr bwMode="auto">
                      <a:xfrm>
                        <a:off x="1219200" y="609600"/>
                        <a:ext cx="74676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95" name="Object 4"/>
          <p:cNvGraphicFramePr>
            <a:graphicFrameLocks noGrp="1" noChangeAspect="1"/>
          </p:cNvGraphicFramePr>
          <p:nvPr>
            <p:ph sz="quarter" idx="2"/>
          </p:nvPr>
        </p:nvGraphicFramePr>
        <p:xfrm>
          <a:off x="1066800" y="2438400"/>
          <a:ext cx="7620000" cy="2133600"/>
        </p:xfrm>
        <a:graphic>
          <a:graphicData uri="http://schemas.openxmlformats.org/presentationml/2006/ole">
            <mc:AlternateContent xmlns:mc="http://schemas.openxmlformats.org/markup-compatibility/2006">
              <mc:Choice xmlns:v="urn:schemas-microsoft-com:vml" Requires="v">
                <p:oleObj name="图表" r:id="rId5" imgW="6484724" imgH="4533804" progId="MSGraph.Chart.8">
                  <p:embed followColorScheme="full"/>
                </p:oleObj>
              </mc:Choice>
              <mc:Fallback>
                <p:oleObj name="图表" r:id="rId5" imgW="6484724" imgH="4533804" progId="MSGraph.Chart.8">
                  <p:embed followColorScheme="full"/>
                  <p:pic>
                    <p:nvPicPr>
                      <p:cNvPr id="0" name=""/>
                      <p:cNvPicPr>
                        <a:picLocks noChangeAspect="1" noChangeArrowheads="1"/>
                      </p:cNvPicPr>
                      <p:nvPr/>
                    </p:nvPicPr>
                    <p:blipFill>
                      <a:blip r:embed="rId6"/>
                      <a:srcRect/>
                      <a:stretch>
                        <a:fillRect/>
                      </a:stretch>
                    </p:blipFill>
                    <p:spPr bwMode="auto">
                      <a:xfrm>
                        <a:off x="1066800" y="2438400"/>
                        <a:ext cx="76200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6" name="Object 5"/>
          <p:cNvGraphicFramePr>
            <a:graphicFrameLocks noGrp="1" noChangeAspect="1"/>
          </p:cNvGraphicFramePr>
          <p:nvPr>
            <p:ph sz="quarter" idx="3"/>
          </p:nvPr>
        </p:nvGraphicFramePr>
        <p:xfrm>
          <a:off x="1143000" y="4419600"/>
          <a:ext cx="7543800" cy="2133600"/>
        </p:xfrm>
        <a:graphic>
          <a:graphicData uri="http://schemas.openxmlformats.org/presentationml/2006/ole">
            <mc:AlternateContent xmlns:mc="http://schemas.openxmlformats.org/markup-compatibility/2006">
              <mc:Choice xmlns:v="urn:schemas-microsoft-com:vml" Requires="v">
                <p:oleObj name="图表" r:id="rId7" imgW="6484724" imgH="4533804" progId="MSGraph.Chart.8">
                  <p:embed followColorScheme="full"/>
                </p:oleObj>
              </mc:Choice>
              <mc:Fallback>
                <p:oleObj name="图表" r:id="rId7" imgW="6484724" imgH="4533804" progId="MSGraph.Chart.8">
                  <p:embed followColorScheme="full"/>
                  <p:pic>
                    <p:nvPicPr>
                      <p:cNvPr id="0" name=""/>
                      <p:cNvPicPr>
                        <a:picLocks noChangeAspect="1" noChangeArrowheads="1"/>
                      </p:cNvPicPr>
                      <p:nvPr/>
                    </p:nvPicPr>
                    <p:blipFill>
                      <a:blip r:embed="rId8"/>
                      <a:srcRect/>
                      <a:stretch>
                        <a:fillRect/>
                      </a:stretch>
                    </p:blipFill>
                    <p:spPr bwMode="auto">
                      <a:xfrm>
                        <a:off x="1143000" y="4419600"/>
                        <a:ext cx="75438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8" name="Text Box 6"/>
          <p:cNvSpPr txBox="1">
            <a:spLocks noChangeArrowheads="1"/>
          </p:cNvSpPr>
          <p:nvPr/>
        </p:nvSpPr>
        <p:spPr bwMode="auto">
          <a:xfrm>
            <a:off x="1676400" y="6415088"/>
            <a:ext cx="3810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b="1">
                <a:ea typeface="宋体" panose="02010600030101010101" pitchFamily="2" charset="-122"/>
              </a:rPr>
              <a:t>Low Energy Price Projections</a:t>
            </a:r>
          </a:p>
        </p:txBody>
      </p:sp>
      <p:sp>
        <p:nvSpPr>
          <p:cNvPr id="8199" name="Text Box 7"/>
          <p:cNvSpPr txBox="1">
            <a:spLocks noChangeArrowheads="1"/>
          </p:cNvSpPr>
          <p:nvPr/>
        </p:nvSpPr>
        <p:spPr bwMode="auto">
          <a:xfrm>
            <a:off x="5638800" y="6415088"/>
            <a:ext cx="3810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b="1">
                <a:ea typeface="宋体" panose="02010600030101010101" pitchFamily="2" charset="-122"/>
              </a:rPr>
              <a:t>High Energy Price Projections</a:t>
            </a:r>
          </a:p>
        </p:txBody>
      </p:sp>
      <p:sp>
        <p:nvSpPr>
          <p:cNvPr id="8200" name="Text Box 8"/>
          <p:cNvSpPr txBox="1">
            <a:spLocks noChangeArrowheads="1"/>
          </p:cNvSpPr>
          <p:nvPr/>
        </p:nvSpPr>
        <p:spPr bwMode="auto">
          <a:xfrm>
            <a:off x="0" y="1295400"/>
            <a:ext cx="1600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sz="2000" b="1">
                <a:ea typeface="宋体" panose="02010600030101010101" pitchFamily="2" charset="-122"/>
              </a:rPr>
              <a:t>Reference Scenario</a:t>
            </a:r>
          </a:p>
        </p:txBody>
      </p:sp>
      <p:sp>
        <p:nvSpPr>
          <p:cNvPr id="8201" name="Text Box 9"/>
          <p:cNvSpPr txBox="1">
            <a:spLocks noChangeArrowheads="1"/>
          </p:cNvSpPr>
          <p:nvPr/>
        </p:nvSpPr>
        <p:spPr bwMode="auto">
          <a:xfrm>
            <a:off x="0" y="3048000"/>
            <a:ext cx="1600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sz="2000" b="1">
                <a:ea typeface="宋体" panose="02010600030101010101" pitchFamily="2" charset="-122"/>
              </a:rPr>
              <a:t>Market Scenario</a:t>
            </a:r>
          </a:p>
        </p:txBody>
      </p:sp>
      <p:sp>
        <p:nvSpPr>
          <p:cNvPr id="8202" name="Text Box 10"/>
          <p:cNvSpPr txBox="1">
            <a:spLocks noChangeArrowheads="1"/>
          </p:cNvSpPr>
          <p:nvPr/>
        </p:nvSpPr>
        <p:spPr bwMode="auto">
          <a:xfrm>
            <a:off x="0" y="5013325"/>
            <a:ext cx="1752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sz="2000" b="1">
                <a:solidFill>
                  <a:srgbClr val="FF0000"/>
                </a:solidFill>
                <a:ea typeface="宋体" panose="02010600030101010101" pitchFamily="2" charset="-122"/>
              </a:rPr>
              <a:t>Policy Intervention</a:t>
            </a:r>
          </a:p>
        </p:txBody>
      </p:sp>
      <p:sp>
        <p:nvSpPr>
          <p:cNvPr id="8203" name="Text Box 11"/>
          <p:cNvSpPr txBox="1">
            <a:spLocks noChangeArrowheads="1"/>
          </p:cNvSpPr>
          <p:nvPr/>
        </p:nvSpPr>
        <p:spPr bwMode="auto">
          <a:xfrm>
            <a:off x="2209800" y="1371600"/>
            <a:ext cx="2743200" cy="376238"/>
          </a:xfrm>
          <a:prstGeom prst="rect">
            <a:avLst/>
          </a:prstGeom>
          <a:solidFill>
            <a:srgbClr val="C0C0C0"/>
          </a:solid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a:ea typeface="宋体" panose="02010600030101010101" pitchFamily="2" charset="-122"/>
              </a:rPr>
              <a:t>Almost 0, by assumption</a:t>
            </a:r>
          </a:p>
        </p:txBody>
      </p:sp>
      <p:sp>
        <p:nvSpPr>
          <p:cNvPr id="8204" name="Text Box 12"/>
          <p:cNvSpPr txBox="1">
            <a:spLocks noChangeArrowheads="1"/>
          </p:cNvSpPr>
          <p:nvPr/>
        </p:nvSpPr>
        <p:spPr bwMode="auto">
          <a:xfrm>
            <a:off x="5715000" y="1371600"/>
            <a:ext cx="2743200" cy="376238"/>
          </a:xfrm>
          <a:prstGeom prst="rect">
            <a:avLst/>
          </a:prstGeom>
          <a:solidFill>
            <a:srgbClr val="C0C0C0"/>
          </a:solid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a:ea typeface="宋体" panose="02010600030101010101" pitchFamily="2" charset="-122"/>
              </a:rPr>
              <a:t>Almost 0, by assumption</a:t>
            </a:r>
          </a:p>
        </p:txBody>
      </p:sp>
      <p:sp>
        <p:nvSpPr>
          <p:cNvPr id="8205" name="Line 13"/>
          <p:cNvSpPr>
            <a:spLocks noChangeShapeType="1"/>
          </p:cNvSpPr>
          <p:nvPr/>
        </p:nvSpPr>
        <p:spPr bwMode="auto">
          <a:xfrm>
            <a:off x="2133600" y="5867400"/>
            <a:ext cx="7010400"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206" name="Text Box 14"/>
          <p:cNvSpPr txBox="1">
            <a:spLocks noChangeArrowheads="1"/>
          </p:cNvSpPr>
          <p:nvPr/>
        </p:nvSpPr>
        <p:spPr bwMode="auto">
          <a:xfrm>
            <a:off x="4876800" y="4572000"/>
            <a:ext cx="914400" cy="650875"/>
          </a:xfrm>
          <a:prstGeom prst="rect">
            <a:avLst/>
          </a:prstGeom>
          <a:solidFill>
            <a:schemeClr val="bg1"/>
          </a:solid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a:ea typeface="宋体" panose="02010600030101010101" pitchFamily="2" charset="-122"/>
              </a:rPr>
              <a:t>US target</a:t>
            </a:r>
          </a:p>
        </p:txBody>
      </p:sp>
      <p:sp>
        <p:nvSpPr>
          <p:cNvPr id="8207" name="Line 15"/>
          <p:cNvSpPr>
            <a:spLocks noChangeShapeType="1"/>
          </p:cNvSpPr>
          <p:nvPr/>
        </p:nvSpPr>
        <p:spPr bwMode="auto">
          <a:xfrm>
            <a:off x="5334000" y="541020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08" name="Rectangle 17"/>
          <p:cNvSpPr>
            <a:spLocks noChangeArrowheads="1"/>
          </p:cNvSpPr>
          <p:nvPr/>
        </p:nvSpPr>
        <p:spPr bwMode="auto">
          <a:xfrm>
            <a:off x="7543800" y="4876800"/>
            <a:ext cx="762000" cy="533400"/>
          </a:xfrm>
          <a:prstGeom prst="rect">
            <a:avLst/>
          </a:prstGeom>
          <a:solidFill>
            <a:srgbClr val="FFFFFF"/>
          </a:solidFill>
          <a:ln w="9525" algn="ctr">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solidFill>
                  <a:srgbClr val="FF0000"/>
                </a:solidFill>
                <a:ea typeface="宋体" panose="02010600030101010101" pitchFamily="2" charset="-122"/>
              </a:rPr>
              <a:t>636</a:t>
            </a:r>
          </a:p>
        </p:txBody>
      </p:sp>
      <p:sp>
        <p:nvSpPr>
          <p:cNvPr id="8209" name="Line 21"/>
          <p:cNvSpPr>
            <a:spLocks noChangeShapeType="1"/>
          </p:cNvSpPr>
          <p:nvPr/>
        </p:nvSpPr>
        <p:spPr bwMode="auto">
          <a:xfrm>
            <a:off x="5334000" y="53340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1238310150"/>
      </p:ext>
    </p:extLst>
  </p:cSld>
  <p:clrMapOvr>
    <a:masterClrMapping/>
  </p:clrMapOvr>
  <p:transition spd="slow">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2"/>
          <p:cNvSpPr>
            <a:spLocks noGrp="1" noChangeArrowheads="1"/>
          </p:cNvSpPr>
          <p:nvPr>
            <p:ph type="title"/>
          </p:nvPr>
        </p:nvSpPr>
        <p:spPr>
          <a:xfrm>
            <a:off x="0" y="152400"/>
            <a:ext cx="9144000" cy="411163"/>
          </a:xfrm>
        </p:spPr>
        <p:txBody>
          <a:bodyPr>
            <a:normAutofit fontScale="90000"/>
          </a:bodyPr>
          <a:lstStyle/>
          <a:p>
            <a:pPr eaLnBrk="1" hangingPunct="1"/>
            <a:r>
              <a:rPr lang="en-US" altLang="zh-CN" sz="2400" b="1">
                <a:ea typeface="宋体" panose="02010600030101010101" pitchFamily="2" charset="-122"/>
              </a:rPr>
              <a:t>Diesel production (%) in 2020 over 2006 under policy intervention scenario in EU27</a:t>
            </a:r>
            <a:endParaRPr lang="en-US" altLang="zh-CN" sz="3200" b="1">
              <a:solidFill>
                <a:srgbClr val="FF0000"/>
              </a:solidFill>
              <a:ea typeface="宋体" panose="02010600030101010101" pitchFamily="2" charset="-122"/>
            </a:endParaRPr>
          </a:p>
        </p:txBody>
      </p:sp>
      <p:graphicFrame>
        <p:nvGraphicFramePr>
          <p:cNvPr id="9218" name="Object 3"/>
          <p:cNvGraphicFramePr>
            <a:graphicFrameLocks noGrp="1" noChangeAspect="1"/>
          </p:cNvGraphicFramePr>
          <p:nvPr>
            <p:ph sz="half" idx="1"/>
          </p:nvPr>
        </p:nvGraphicFramePr>
        <p:xfrm>
          <a:off x="1219200" y="609600"/>
          <a:ext cx="7391400" cy="2057400"/>
        </p:xfrm>
        <a:graphic>
          <a:graphicData uri="http://schemas.openxmlformats.org/presentationml/2006/ole">
            <mc:AlternateContent xmlns:mc="http://schemas.openxmlformats.org/markup-compatibility/2006">
              <mc:Choice xmlns:v="urn:schemas-microsoft-com:vml" Requires="v">
                <p:oleObj name="图表" r:id="rId3" imgW="6499875" imgH="4533804" progId="MSGraph.Chart.8">
                  <p:embed followColorScheme="full"/>
                </p:oleObj>
              </mc:Choice>
              <mc:Fallback>
                <p:oleObj name="图表" r:id="rId3" imgW="6499875" imgH="4533804" progId="MSGraph.Chart.8">
                  <p:embed followColorScheme="full"/>
                  <p:pic>
                    <p:nvPicPr>
                      <p:cNvPr id="0" name=""/>
                      <p:cNvPicPr>
                        <a:picLocks noChangeAspect="1" noChangeArrowheads="1"/>
                      </p:cNvPicPr>
                      <p:nvPr/>
                    </p:nvPicPr>
                    <p:blipFill>
                      <a:blip r:embed="rId4"/>
                      <a:srcRect/>
                      <a:stretch>
                        <a:fillRect/>
                      </a:stretch>
                    </p:blipFill>
                    <p:spPr bwMode="auto">
                      <a:xfrm>
                        <a:off x="1219200" y="609600"/>
                        <a:ext cx="73914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19" name="Object 4"/>
          <p:cNvGraphicFramePr>
            <a:graphicFrameLocks noGrp="1" noChangeAspect="1"/>
          </p:cNvGraphicFramePr>
          <p:nvPr>
            <p:ph sz="quarter" idx="2"/>
          </p:nvPr>
        </p:nvGraphicFramePr>
        <p:xfrm>
          <a:off x="1066800" y="2438400"/>
          <a:ext cx="7543800" cy="2189163"/>
        </p:xfrm>
        <a:graphic>
          <a:graphicData uri="http://schemas.openxmlformats.org/presentationml/2006/ole">
            <mc:AlternateContent xmlns:mc="http://schemas.openxmlformats.org/markup-compatibility/2006">
              <mc:Choice xmlns:v="urn:schemas-microsoft-com:vml" Requires="v">
                <p:oleObj name="图表" r:id="rId5" imgW="6492299" imgH="4549323" progId="MSGraph.Chart.8">
                  <p:embed followColorScheme="full"/>
                </p:oleObj>
              </mc:Choice>
              <mc:Fallback>
                <p:oleObj name="图表" r:id="rId5" imgW="6492299" imgH="4549323" progId="MSGraph.Chart.8">
                  <p:embed followColorScheme="full"/>
                  <p:pic>
                    <p:nvPicPr>
                      <p:cNvPr id="0" name=""/>
                      <p:cNvPicPr>
                        <a:picLocks noChangeAspect="1" noChangeArrowheads="1"/>
                      </p:cNvPicPr>
                      <p:nvPr/>
                    </p:nvPicPr>
                    <p:blipFill>
                      <a:blip r:embed="rId6"/>
                      <a:srcRect/>
                      <a:stretch>
                        <a:fillRect/>
                      </a:stretch>
                    </p:blipFill>
                    <p:spPr bwMode="auto">
                      <a:xfrm>
                        <a:off x="1066800" y="2438400"/>
                        <a:ext cx="7543800" cy="2189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20" name="Object 5"/>
          <p:cNvGraphicFramePr>
            <a:graphicFrameLocks noGrp="1" noChangeAspect="1"/>
          </p:cNvGraphicFramePr>
          <p:nvPr>
            <p:ph sz="quarter" idx="3"/>
          </p:nvPr>
        </p:nvGraphicFramePr>
        <p:xfrm>
          <a:off x="1143000" y="4419600"/>
          <a:ext cx="7467600" cy="2133600"/>
        </p:xfrm>
        <a:graphic>
          <a:graphicData uri="http://schemas.openxmlformats.org/presentationml/2006/ole">
            <mc:AlternateContent xmlns:mc="http://schemas.openxmlformats.org/markup-compatibility/2006">
              <mc:Choice xmlns:v="urn:schemas-microsoft-com:vml" Requires="v">
                <p:oleObj name="图表" r:id="rId7" imgW="6484724" imgH="4533804" progId="MSGraph.Chart.8">
                  <p:embed followColorScheme="full"/>
                </p:oleObj>
              </mc:Choice>
              <mc:Fallback>
                <p:oleObj name="图表" r:id="rId7" imgW="6484724" imgH="4533804" progId="MSGraph.Chart.8">
                  <p:embed followColorScheme="full"/>
                  <p:pic>
                    <p:nvPicPr>
                      <p:cNvPr id="0" name=""/>
                      <p:cNvPicPr>
                        <a:picLocks noChangeAspect="1" noChangeArrowheads="1"/>
                      </p:cNvPicPr>
                      <p:nvPr/>
                    </p:nvPicPr>
                    <p:blipFill>
                      <a:blip r:embed="rId8"/>
                      <a:srcRect/>
                      <a:stretch>
                        <a:fillRect/>
                      </a:stretch>
                    </p:blipFill>
                    <p:spPr bwMode="auto">
                      <a:xfrm>
                        <a:off x="1143000" y="4419600"/>
                        <a:ext cx="74676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2" name="Text Box 6"/>
          <p:cNvSpPr txBox="1">
            <a:spLocks noChangeArrowheads="1"/>
          </p:cNvSpPr>
          <p:nvPr/>
        </p:nvSpPr>
        <p:spPr bwMode="auto">
          <a:xfrm>
            <a:off x="1676400" y="6415088"/>
            <a:ext cx="3810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b="1">
                <a:ea typeface="宋体" panose="02010600030101010101" pitchFamily="2" charset="-122"/>
              </a:rPr>
              <a:t>Low Energy Price Projections</a:t>
            </a:r>
          </a:p>
        </p:txBody>
      </p:sp>
      <p:sp>
        <p:nvSpPr>
          <p:cNvPr id="9223" name="Text Box 7"/>
          <p:cNvSpPr txBox="1">
            <a:spLocks noChangeArrowheads="1"/>
          </p:cNvSpPr>
          <p:nvPr/>
        </p:nvSpPr>
        <p:spPr bwMode="auto">
          <a:xfrm>
            <a:off x="5638800" y="6415088"/>
            <a:ext cx="3810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b="1">
                <a:ea typeface="宋体" panose="02010600030101010101" pitchFamily="2" charset="-122"/>
              </a:rPr>
              <a:t>High Energy Price Projections</a:t>
            </a:r>
          </a:p>
        </p:txBody>
      </p:sp>
      <p:sp>
        <p:nvSpPr>
          <p:cNvPr id="9224" name="Text Box 8"/>
          <p:cNvSpPr txBox="1">
            <a:spLocks noChangeArrowheads="1"/>
          </p:cNvSpPr>
          <p:nvPr/>
        </p:nvSpPr>
        <p:spPr bwMode="auto">
          <a:xfrm>
            <a:off x="0" y="1295400"/>
            <a:ext cx="1600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sz="2000" b="1">
                <a:ea typeface="宋体" panose="02010600030101010101" pitchFamily="2" charset="-122"/>
              </a:rPr>
              <a:t>Reference Scenario</a:t>
            </a:r>
          </a:p>
        </p:txBody>
      </p:sp>
      <p:sp>
        <p:nvSpPr>
          <p:cNvPr id="9225" name="Text Box 9"/>
          <p:cNvSpPr txBox="1">
            <a:spLocks noChangeArrowheads="1"/>
          </p:cNvSpPr>
          <p:nvPr/>
        </p:nvSpPr>
        <p:spPr bwMode="auto">
          <a:xfrm>
            <a:off x="0" y="3048000"/>
            <a:ext cx="1600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sz="2000" b="1">
                <a:ea typeface="宋体" panose="02010600030101010101" pitchFamily="2" charset="-122"/>
              </a:rPr>
              <a:t>Market Scenario</a:t>
            </a:r>
          </a:p>
        </p:txBody>
      </p:sp>
      <p:sp>
        <p:nvSpPr>
          <p:cNvPr id="9226" name="Text Box 10"/>
          <p:cNvSpPr txBox="1">
            <a:spLocks noChangeArrowheads="1"/>
          </p:cNvSpPr>
          <p:nvPr/>
        </p:nvSpPr>
        <p:spPr bwMode="auto">
          <a:xfrm>
            <a:off x="0" y="4800600"/>
            <a:ext cx="17526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sz="2000" b="1">
                <a:solidFill>
                  <a:srgbClr val="FF0000"/>
                </a:solidFill>
                <a:ea typeface="宋体" panose="02010600030101010101" pitchFamily="2" charset="-122"/>
              </a:rPr>
              <a:t>Policy Intervention Scenario</a:t>
            </a:r>
          </a:p>
        </p:txBody>
      </p:sp>
      <p:sp>
        <p:nvSpPr>
          <p:cNvPr id="9227" name="Text Box 11"/>
          <p:cNvSpPr txBox="1">
            <a:spLocks noChangeArrowheads="1"/>
          </p:cNvSpPr>
          <p:nvPr/>
        </p:nvSpPr>
        <p:spPr bwMode="auto">
          <a:xfrm>
            <a:off x="2209800" y="1371600"/>
            <a:ext cx="2743200" cy="376238"/>
          </a:xfrm>
          <a:prstGeom prst="rect">
            <a:avLst/>
          </a:prstGeom>
          <a:solidFill>
            <a:srgbClr val="C0C0C0"/>
          </a:solid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a:ea typeface="宋体" panose="02010600030101010101" pitchFamily="2" charset="-122"/>
              </a:rPr>
              <a:t>Almost 0, by assumption</a:t>
            </a:r>
          </a:p>
        </p:txBody>
      </p:sp>
      <p:sp>
        <p:nvSpPr>
          <p:cNvPr id="9228" name="Text Box 12"/>
          <p:cNvSpPr txBox="1">
            <a:spLocks noChangeArrowheads="1"/>
          </p:cNvSpPr>
          <p:nvPr/>
        </p:nvSpPr>
        <p:spPr bwMode="auto">
          <a:xfrm>
            <a:off x="5562600" y="1371600"/>
            <a:ext cx="2743200" cy="376238"/>
          </a:xfrm>
          <a:prstGeom prst="rect">
            <a:avLst/>
          </a:prstGeom>
          <a:solidFill>
            <a:srgbClr val="C0C0C0"/>
          </a:solid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a:ea typeface="宋体" panose="02010600030101010101" pitchFamily="2" charset="-122"/>
              </a:rPr>
              <a:t>Almost 0, by assumption</a:t>
            </a:r>
          </a:p>
        </p:txBody>
      </p:sp>
      <p:sp>
        <p:nvSpPr>
          <p:cNvPr id="9229" name="Rectangle 14"/>
          <p:cNvSpPr>
            <a:spLocks noChangeArrowheads="1"/>
          </p:cNvSpPr>
          <p:nvPr/>
        </p:nvSpPr>
        <p:spPr bwMode="auto">
          <a:xfrm>
            <a:off x="7543800" y="4648200"/>
            <a:ext cx="609600" cy="381000"/>
          </a:xfrm>
          <a:prstGeom prst="rect">
            <a:avLst/>
          </a:prstGeom>
          <a:solidFill>
            <a:srgbClr val="FFFFFF"/>
          </a:solidFill>
          <a:ln w="9525" algn="ctr">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ea typeface="宋体" panose="02010600030101010101" pitchFamily="2" charset="-122"/>
              </a:rPr>
              <a:t>901</a:t>
            </a:r>
          </a:p>
        </p:txBody>
      </p:sp>
      <p:sp>
        <p:nvSpPr>
          <p:cNvPr id="9230" name="Rectangle 15"/>
          <p:cNvSpPr>
            <a:spLocks noChangeArrowheads="1"/>
          </p:cNvSpPr>
          <p:nvPr/>
        </p:nvSpPr>
        <p:spPr bwMode="auto">
          <a:xfrm>
            <a:off x="6248400" y="4876800"/>
            <a:ext cx="609600" cy="381000"/>
          </a:xfrm>
          <a:prstGeom prst="rect">
            <a:avLst/>
          </a:prstGeom>
          <a:solidFill>
            <a:srgbClr val="FFFFFF"/>
          </a:solidFill>
          <a:ln w="9525" algn="ctr">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ea typeface="宋体" panose="02010600030101010101" pitchFamily="2" charset="-122"/>
              </a:rPr>
              <a:t>847</a:t>
            </a:r>
          </a:p>
        </p:txBody>
      </p:sp>
    </p:spTree>
    <p:extLst>
      <p:ext uri="{BB962C8B-B14F-4D97-AF65-F5344CB8AC3E}">
        <p14:creationId xmlns:p14="http://schemas.microsoft.com/office/powerpoint/2010/main" val="1996298379"/>
      </p:ext>
    </p:extLst>
  </p:cSld>
  <p:clrMapOvr>
    <a:masterClrMapping/>
  </p:clrMapOvr>
  <p:transition spd="slow">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5"/>
          <p:cNvSpPr>
            <a:spLocks noGrp="1" noChangeArrowheads="1"/>
          </p:cNvSpPr>
          <p:nvPr>
            <p:ph type="title" idx="4294967295"/>
          </p:nvPr>
        </p:nvSpPr>
        <p:spPr/>
        <p:txBody>
          <a:bodyPr/>
          <a:lstStyle/>
          <a:p>
            <a:pPr eaLnBrk="1" hangingPunct="1"/>
            <a:r>
              <a:rPr lang="en-US" altLang="zh-CN" sz="2800" b="1">
                <a:ea typeface="宋体" panose="02010600030101010101" pitchFamily="2" charset="-122"/>
              </a:rPr>
              <a:t>Maize prices, production and exports in US under assumptions of oil price and elas. of substitution (comparing to reference,2020)</a:t>
            </a:r>
            <a:endParaRPr lang="zh-CN" altLang="en-US" sz="2800" b="1">
              <a:ea typeface="宋体" panose="02010600030101010101" pitchFamily="2" charset="-122"/>
            </a:endParaRPr>
          </a:p>
        </p:txBody>
      </p:sp>
      <p:graphicFrame>
        <p:nvGraphicFramePr>
          <p:cNvPr id="89217" name="Group 129"/>
          <p:cNvGraphicFramePr>
            <a:graphicFrameLocks noGrp="1"/>
          </p:cNvGraphicFramePr>
          <p:nvPr>
            <p:ph idx="4294967295"/>
          </p:nvPr>
        </p:nvGraphicFramePr>
        <p:xfrm>
          <a:off x="457200" y="1600200"/>
          <a:ext cx="8229600" cy="5040314"/>
        </p:xfrm>
        <a:graphic>
          <a:graphicData uri="http://schemas.openxmlformats.org/drawingml/2006/table">
            <a:tbl>
              <a:tblPr/>
              <a:tblGrid>
                <a:gridCol w="1509713">
                  <a:extLst>
                    <a:ext uri="{9D8B030D-6E8A-4147-A177-3AD203B41FA5}">
                      <a16:colId xmlns:a16="http://schemas.microsoft.com/office/drawing/2014/main" val="20000"/>
                    </a:ext>
                  </a:extLst>
                </a:gridCol>
                <a:gridCol w="1668462">
                  <a:extLst>
                    <a:ext uri="{9D8B030D-6E8A-4147-A177-3AD203B41FA5}">
                      <a16:colId xmlns:a16="http://schemas.microsoft.com/office/drawing/2014/main" val="20001"/>
                    </a:ext>
                  </a:extLst>
                </a:gridCol>
                <a:gridCol w="1774825">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676400">
                  <a:extLst>
                    <a:ext uri="{9D8B030D-6E8A-4147-A177-3AD203B41FA5}">
                      <a16:colId xmlns:a16="http://schemas.microsoft.com/office/drawing/2014/main" val="20004"/>
                    </a:ext>
                  </a:extLst>
                </a:gridCol>
              </a:tblGrid>
              <a:tr h="41000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7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2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25" marB="45725"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342900" marR="0" lvl="0" indent="-342900" algn="ctr" defTabSz="914400" rtl="0" eaLnBrk="1" fontAlgn="ctr" latinLnBrk="0" hangingPunct="1">
                        <a:lnSpc>
                          <a:spcPct val="11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Market</a:t>
                      </a:r>
                      <a:r>
                        <a:rPr kumimoji="0" lang="zh-CN" altLang="en-US" sz="19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p>
                  </a:txBody>
                  <a:tcPr marT="45725" marB="45725"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342900" marR="0" lvl="0" indent="-342900" algn="ctr" defTabSz="914400" rtl="0" eaLnBrk="1" fontAlgn="ctr" latinLnBrk="0" hangingPunct="1">
                        <a:lnSpc>
                          <a:spcPct val="11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Policy intervention</a:t>
                      </a:r>
                      <a:r>
                        <a:rPr kumimoji="0" lang="zh-CN" altLang="en-US" sz="19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p>
                  </a:txBody>
                  <a:tcPr marT="45725" marB="45725"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38104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7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2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25" marB="45725"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Low  Price</a:t>
                      </a:r>
                    </a:p>
                  </a:txBody>
                  <a:tcPr marT="45725" marB="45725"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High   Price</a:t>
                      </a:r>
                    </a:p>
                  </a:txBody>
                  <a:tcPr marT="45725" marB="45725"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Low Price</a:t>
                      </a:r>
                    </a:p>
                  </a:txBody>
                  <a:tcPr marT="45725" marB="45725"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High Price</a:t>
                      </a:r>
                    </a:p>
                  </a:txBody>
                  <a:tcPr marT="45725" marB="45725"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5542">
                <a:tc>
                  <a:txBody>
                    <a:bodyPr/>
                    <a:lstStyle/>
                    <a:p>
                      <a:pPr marL="342900" marR="0" lvl="0" indent="-342900" algn="l" defTabSz="914400" rtl="0" eaLnBrk="1" fontAlgn="ctr" latinLnBrk="0" hangingPunct="1">
                        <a:lnSpc>
                          <a:spcPct val="70000"/>
                        </a:lnSpc>
                        <a:spcBef>
                          <a:spcPct val="0"/>
                        </a:spcBef>
                        <a:spcAft>
                          <a:spcPct val="0"/>
                        </a:spcAft>
                        <a:buClrTx/>
                        <a:buSzTx/>
                        <a:buFontTx/>
                        <a:buNone/>
                        <a:tabLst/>
                      </a:pPr>
                      <a:r>
                        <a:rPr kumimoji="0" lang="en-US" altLang="zh-CN" sz="2000" b="1" i="0" u="none" strike="noStrike" cap="none" normalizeH="0" baseline="0">
                          <a:ln>
                            <a:noFill/>
                          </a:ln>
                          <a:solidFill>
                            <a:srgbClr val="0303FD"/>
                          </a:solidFill>
                          <a:effectLst/>
                          <a:latin typeface="Times New Roman" pitchFamily="18" charset="0"/>
                          <a:ea typeface="宋体" pitchFamily="2" charset="-122"/>
                          <a:cs typeface="Times New Roman" pitchFamily="18" charset="0"/>
                        </a:rPr>
                        <a:t>Price</a:t>
                      </a:r>
                    </a:p>
                  </a:txBody>
                  <a:tcPr marT="45725" marB="45725"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36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3600" b="0" i="0" u="none" strike="noStrike" cap="none" normalizeH="0" baseline="0">
                        <a:ln>
                          <a:noFill/>
                        </a:ln>
                        <a:solidFill>
                          <a:srgbClr val="FF0000"/>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3600" b="0" i="0" u="none" strike="noStrike" cap="none" normalizeH="0" baseline="0">
                        <a:ln>
                          <a:noFill/>
                        </a:ln>
                        <a:solidFill>
                          <a:srgbClr val="FF0000"/>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3600" b="0" i="0" u="none" strike="noStrike" cap="none" normalizeH="0" baseline="0">
                        <a:ln>
                          <a:noFill/>
                        </a:ln>
                        <a:solidFill>
                          <a:srgbClr val="FF0000"/>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457252">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High subst.</a:t>
                      </a:r>
                      <a:endParaRPr kumimoji="0" lang="en-US" altLang="zh-CN" sz="36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0.7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FF0000"/>
                          </a:solidFill>
                          <a:effectLst/>
                          <a:latin typeface="Arial" charset="0"/>
                          <a:ea typeface="宋体" pitchFamily="2" charset="-122"/>
                        </a:rPr>
                        <a:t>49.6 </a:t>
                      </a:r>
                      <a:endParaRPr kumimoji="0" lang="zh-CN" altLang="en-US" sz="2400" b="0" i="0" u="none" strike="noStrike" cap="none" normalizeH="0" baseline="0">
                        <a:ln>
                          <a:noFill/>
                        </a:ln>
                        <a:solidFill>
                          <a:srgbClr val="FF0000"/>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15.0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FF0000"/>
                          </a:solidFill>
                          <a:effectLst/>
                          <a:latin typeface="Arial" charset="0"/>
                          <a:ea typeface="宋体" pitchFamily="2" charset="-122"/>
                        </a:rPr>
                        <a:t>49.6</a:t>
                      </a:r>
                      <a:r>
                        <a:rPr kumimoji="0" lang="en-US" altLang="zh-CN" sz="2400" b="0" i="0" u="none" strike="noStrike" cap="none" normalizeH="0" baseline="0">
                          <a:ln>
                            <a:noFill/>
                          </a:ln>
                          <a:solidFill>
                            <a:schemeClr val="tx1"/>
                          </a:solidFill>
                          <a:effectLst/>
                          <a:latin typeface="Arial" charset="0"/>
                          <a:ea typeface="宋体" pitchFamily="2" charset="-122"/>
                        </a:rPr>
                        <a:t>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57252">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Low subst. </a:t>
                      </a:r>
                      <a:endParaRPr kumimoji="0" lang="en-US" altLang="zh-CN" sz="36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1.4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12.8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15.0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13.9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347511">
                <a:tc>
                  <a:txBody>
                    <a:bodyPr/>
                    <a:lstStyle/>
                    <a:p>
                      <a:pPr marL="342900" marR="0" lvl="0" indent="-342900" algn="l" defTabSz="914400" rtl="0" eaLnBrk="1" fontAlgn="ctr" latinLnBrk="0" hangingPunct="1">
                        <a:lnSpc>
                          <a:spcPct val="70000"/>
                        </a:lnSpc>
                        <a:spcBef>
                          <a:spcPct val="0"/>
                        </a:spcBef>
                        <a:spcAft>
                          <a:spcPct val="0"/>
                        </a:spcAft>
                        <a:buClrTx/>
                        <a:buSzTx/>
                        <a:buFontTx/>
                        <a:buNone/>
                        <a:tabLst/>
                      </a:pPr>
                      <a:r>
                        <a:rPr kumimoji="0" lang="en-US" altLang="zh-CN" sz="2000" b="1" i="0" u="none" strike="noStrike" cap="none" normalizeH="0" baseline="0">
                          <a:ln>
                            <a:noFill/>
                          </a:ln>
                          <a:solidFill>
                            <a:srgbClr val="0303FD"/>
                          </a:solidFill>
                          <a:effectLst/>
                          <a:latin typeface="Times New Roman" pitchFamily="18" charset="0"/>
                          <a:ea typeface="宋体" pitchFamily="2" charset="-122"/>
                          <a:cs typeface="Times New Roman" pitchFamily="18" charset="0"/>
                        </a:rPr>
                        <a:t>Production</a:t>
                      </a: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57252">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High subst.</a:t>
                      </a:r>
                      <a:endParaRPr kumimoji="0" lang="en-US" altLang="zh-CN" sz="36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1.0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FF0000"/>
                          </a:solidFill>
                          <a:effectLst/>
                          <a:latin typeface="Arial" charset="0"/>
                          <a:ea typeface="宋体" pitchFamily="2" charset="-122"/>
                        </a:rPr>
                        <a:t>54.0</a:t>
                      </a:r>
                      <a:r>
                        <a:rPr kumimoji="0" lang="en-US" altLang="zh-CN" sz="2400" b="0" i="0" u="none" strike="noStrike" cap="none" normalizeH="0" baseline="0">
                          <a:ln>
                            <a:noFill/>
                          </a:ln>
                          <a:solidFill>
                            <a:schemeClr val="tx1"/>
                          </a:solidFill>
                          <a:effectLst/>
                          <a:latin typeface="Arial" charset="0"/>
                          <a:ea typeface="宋体" pitchFamily="2" charset="-122"/>
                        </a:rPr>
                        <a:t>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17.0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rgbClr val="FF0000"/>
                          </a:solidFill>
                          <a:effectLst/>
                          <a:latin typeface="Arial" charset="0"/>
                          <a:ea typeface="宋体" pitchFamily="2" charset="-122"/>
                        </a:rPr>
                        <a:t>54.0</a:t>
                      </a:r>
                      <a:r>
                        <a:rPr kumimoji="0" lang="en-US" altLang="zh-CN" sz="2400" b="0" i="0" u="none" strike="noStrike" cap="none" normalizeH="0" baseline="0">
                          <a:ln>
                            <a:noFill/>
                          </a:ln>
                          <a:solidFill>
                            <a:schemeClr val="tx1"/>
                          </a:solidFill>
                          <a:effectLst/>
                          <a:latin typeface="Arial" charset="0"/>
                          <a:ea typeface="宋体" pitchFamily="2" charset="-122"/>
                        </a:rPr>
                        <a:t>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457252">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Low subst.</a:t>
                      </a:r>
                      <a:endParaRPr kumimoji="0" lang="en-US" altLang="zh-CN" sz="36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2.1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19.8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17.0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18.6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457252">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303FD"/>
                          </a:solidFill>
                          <a:effectLst/>
                          <a:latin typeface="Times New Roman" pitchFamily="18" charset="0"/>
                          <a:ea typeface="宋体" pitchFamily="2" charset="-122"/>
                          <a:cs typeface="Times New Roman" pitchFamily="18" charset="0"/>
                        </a:rPr>
                        <a:t>Export</a:t>
                      </a: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endPar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endPar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endPar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endPar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8"/>
                  </a:ext>
                </a:extLst>
              </a:tr>
              <a:tr h="457252">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High subst. </a:t>
                      </a:r>
                      <a:endParaRPr kumimoji="0" lang="en-US" altLang="zh-CN" sz="36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1.2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-24.5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-16.6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-24.5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9"/>
                  </a:ext>
                </a:extLst>
              </a:tr>
              <a:tr h="457252">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Low subst. </a:t>
                      </a:r>
                      <a:endParaRPr kumimoji="0" lang="en-US" altLang="zh-CN" sz="36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-0.3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-8.0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-16.6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-16.4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10"/>
                  </a:ext>
                </a:extLst>
              </a:tr>
              <a:tr h="225451">
                <a:tc>
                  <a:txBody>
                    <a:bodyPr/>
                    <a:lstStyle/>
                    <a:p>
                      <a:pPr marL="342900" marR="0" lvl="0" indent="-342900" algn="l" defTabSz="914400" rtl="0" eaLnBrk="1" fontAlgn="ctr" latinLnBrk="0" hangingPunct="1">
                        <a:lnSpc>
                          <a:spcPct val="3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altLang="zh-CN" sz="2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25" marB="45725"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30000"/>
                        </a:lnSpc>
                        <a:spcBef>
                          <a:spcPct val="0"/>
                        </a:spcBef>
                        <a:spcAft>
                          <a:spcPct val="0"/>
                        </a:spcAft>
                        <a:buClrTx/>
                        <a:buSzTx/>
                        <a:buFontTx/>
                        <a:buNone/>
                        <a:tabLst/>
                      </a:pPr>
                      <a:r>
                        <a:rPr kumimoji="0" lang="zh-CN" altLang="en-US"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2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25" marB="45725"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30000"/>
                        </a:lnSpc>
                        <a:spcBef>
                          <a:spcPct val="0"/>
                        </a:spcBef>
                        <a:spcAft>
                          <a:spcPct val="0"/>
                        </a:spcAft>
                        <a:buClrTx/>
                        <a:buSzTx/>
                        <a:buFontTx/>
                        <a:buNone/>
                        <a:tabLst/>
                      </a:pPr>
                      <a:r>
                        <a:rPr kumimoji="0" lang="zh-CN" altLang="en-US"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2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25" marB="45725"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30000"/>
                        </a:lnSpc>
                        <a:spcBef>
                          <a:spcPct val="0"/>
                        </a:spcBef>
                        <a:spcAft>
                          <a:spcPct val="0"/>
                        </a:spcAft>
                        <a:buClrTx/>
                        <a:buSzTx/>
                        <a:buFontTx/>
                        <a:buNone/>
                        <a:tabLst/>
                      </a:pPr>
                      <a:r>
                        <a:rPr kumimoji="0" lang="zh-CN" altLang="en-US"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2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25" marB="45725"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30000"/>
                        </a:lnSpc>
                        <a:spcBef>
                          <a:spcPct val="0"/>
                        </a:spcBef>
                        <a:spcAft>
                          <a:spcPct val="0"/>
                        </a:spcAft>
                        <a:buClrTx/>
                        <a:buSzTx/>
                        <a:buFontTx/>
                        <a:buNone/>
                        <a:tabLst/>
                      </a:pPr>
                      <a:r>
                        <a:rPr kumimoji="0" lang="zh-CN" altLang="en-US"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2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25" marB="45725"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7923982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5"/>
          <p:cNvSpPr>
            <a:spLocks noGrp="1" noChangeArrowheads="1"/>
          </p:cNvSpPr>
          <p:nvPr>
            <p:ph type="title" idx="4294967295"/>
          </p:nvPr>
        </p:nvSpPr>
        <p:spPr/>
        <p:txBody>
          <a:bodyPr/>
          <a:lstStyle/>
          <a:p>
            <a:pPr eaLnBrk="1" hangingPunct="1"/>
            <a:r>
              <a:rPr lang="en-US" altLang="zh-CN" sz="2800" b="1">
                <a:solidFill>
                  <a:srgbClr val="FF0000"/>
                </a:solidFill>
                <a:ea typeface="宋体" panose="02010600030101010101" pitchFamily="2" charset="-122"/>
              </a:rPr>
              <a:t>Soybean</a:t>
            </a:r>
            <a:r>
              <a:rPr lang="en-US" altLang="zh-CN" sz="2800" b="1">
                <a:ea typeface="宋体" panose="02010600030101010101" pitchFamily="2" charset="-122"/>
              </a:rPr>
              <a:t> prices, production and exports in US under assumptions of oil price and elas. of substitution (comparing to reference,2020)</a:t>
            </a:r>
            <a:endParaRPr lang="zh-CN" altLang="en-US" sz="2800" b="1">
              <a:ea typeface="宋体" panose="02010600030101010101" pitchFamily="2" charset="-122"/>
            </a:endParaRPr>
          </a:p>
        </p:txBody>
      </p:sp>
      <p:graphicFrame>
        <p:nvGraphicFramePr>
          <p:cNvPr id="162892" name="Group 76"/>
          <p:cNvGraphicFramePr>
            <a:graphicFrameLocks noGrp="1"/>
          </p:cNvGraphicFramePr>
          <p:nvPr>
            <p:ph idx="4294967295"/>
          </p:nvPr>
        </p:nvGraphicFramePr>
        <p:xfrm>
          <a:off x="457200" y="1600200"/>
          <a:ext cx="8229600" cy="5040314"/>
        </p:xfrm>
        <a:graphic>
          <a:graphicData uri="http://schemas.openxmlformats.org/drawingml/2006/table">
            <a:tbl>
              <a:tblPr/>
              <a:tblGrid>
                <a:gridCol w="1509713">
                  <a:extLst>
                    <a:ext uri="{9D8B030D-6E8A-4147-A177-3AD203B41FA5}">
                      <a16:colId xmlns:a16="http://schemas.microsoft.com/office/drawing/2014/main" val="20000"/>
                    </a:ext>
                  </a:extLst>
                </a:gridCol>
                <a:gridCol w="1668462">
                  <a:extLst>
                    <a:ext uri="{9D8B030D-6E8A-4147-A177-3AD203B41FA5}">
                      <a16:colId xmlns:a16="http://schemas.microsoft.com/office/drawing/2014/main" val="20001"/>
                    </a:ext>
                  </a:extLst>
                </a:gridCol>
                <a:gridCol w="1774825">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676400">
                  <a:extLst>
                    <a:ext uri="{9D8B030D-6E8A-4147-A177-3AD203B41FA5}">
                      <a16:colId xmlns:a16="http://schemas.microsoft.com/office/drawing/2014/main" val="20004"/>
                    </a:ext>
                  </a:extLst>
                </a:gridCol>
              </a:tblGrid>
              <a:tr h="41000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7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2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25" marB="45725"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342900" marR="0" lvl="0" indent="-342900" algn="ctr" defTabSz="914400" rtl="0" eaLnBrk="1" fontAlgn="ctr" latinLnBrk="0" hangingPunct="1">
                        <a:lnSpc>
                          <a:spcPct val="11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Market</a:t>
                      </a:r>
                      <a:r>
                        <a:rPr kumimoji="0" lang="zh-CN" altLang="en-US" sz="19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p>
                  </a:txBody>
                  <a:tcPr marT="45725" marB="45725"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342900" marR="0" lvl="0" indent="-342900" algn="ctr" defTabSz="914400" rtl="0" eaLnBrk="1" fontAlgn="ctr" latinLnBrk="0" hangingPunct="1">
                        <a:lnSpc>
                          <a:spcPct val="11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Policy intervention</a:t>
                      </a:r>
                      <a:r>
                        <a:rPr kumimoji="0" lang="zh-CN" altLang="en-US" sz="19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p>
                  </a:txBody>
                  <a:tcPr marT="45725" marB="45725"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38104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7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2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25" marB="45725"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Low  Price</a:t>
                      </a:r>
                    </a:p>
                  </a:txBody>
                  <a:tcPr marT="45725" marB="45725"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High   Price</a:t>
                      </a:r>
                    </a:p>
                  </a:txBody>
                  <a:tcPr marT="45725" marB="45725"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Low Price</a:t>
                      </a:r>
                    </a:p>
                  </a:txBody>
                  <a:tcPr marT="45725" marB="45725"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High Price</a:t>
                      </a:r>
                    </a:p>
                  </a:txBody>
                  <a:tcPr marT="45725" marB="45725"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5542">
                <a:tc>
                  <a:txBody>
                    <a:bodyPr/>
                    <a:lstStyle/>
                    <a:p>
                      <a:pPr marL="342900" marR="0" lvl="0" indent="-342900" algn="l" defTabSz="914400" rtl="0" eaLnBrk="1" fontAlgn="ctr" latinLnBrk="0" hangingPunct="1">
                        <a:lnSpc>
                          <a:spcPct val="70000"/>
                        </a:lnSpc>
                        <a:spcBef>
                          <a:spcPct val="0"/>
                        </a:spcBef>
                        <a:spcAft>
                          <a:spcPct val="0"/>
                        </a:spcAft>
                        <a:buClrTx/>
                        <a:buSzTx/>
                        <a:buFontTx/>
                        <a:buNone/>
                        <a:tabLst/>
                      </a:pPr>
                      <a:r>
                        <a:rPr kumimoji="0" lang="en-US" altLang="zh-CN" sz="2000" b="1" i="0" u="none" strike="noStrike" cap="none" normalizeH="0" baseline="0">
                          <a:ln>
                            <a:noFill/>
                          </a:ln>
                          <a:solidFill>
                            <a:srgbClr val="0303FD"/>
                          </a:solidFill>
                          <a:effectLst/>
                          <a:latin typeface="Times New Roman" pitchFamily="18" charset="0"/>
                          <a:ea typeface="宋体" pitchFamily="2" charset="-122"/>
                          <a:cs typeface="Times New Roman" pitchFamily="18" charset="0"/>
                        </a:rPr>
                        <a:t>Price</a:t>
                      </a:r>
                    </a:p>
                  </a:txBody>
                  <a:tcPr marT="45725" marB="45725"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36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3600" b="0" i="0" u="none" strike="noStrike" cap="none" normalizeH="0" baseline="0">
                        <a:ln>
                          <a:noFill/>
                        </a:ln>
                        <a:solidFill>
                          <a:srgbClr val="FF0000"/>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3600" b="0" i="0" u="none" strike="noStrike" cap="none" normalizeH="0" baseline="0">
                        <a:ln>
                          <a:noFill/>
                        </a:ln>
                        <a:solidFill>
                          <a:srgbClr val="FF0000"/>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3600" b="0" i="0" u="none" strike="noStrike" cap="none" normalizeH="0" baseline="0">
                        <a:ln>
                          <a:noFill/>
                        </a:ln>
                        <a:solidFill>
                          <a:srgbClr val="FF0000"/>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457252">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High subst.</a:t>
                      </a:r>
                      <a:endParaRPr kumimoji="0" lang="en-US" altLang="zh-CN" sz="36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0.4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24.2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12.5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24.2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57252">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Low subst. </a:t>
                      </a:r>
                      <a:endParaRPr kumimoji="0" lang="en-US" altLang="zh-CN" sz="36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0.7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6.7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12.5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11.7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347511">
                <a:tc>
                  <a:txBody>
                    <a:bodyPr/>
                    <a:lstStyle/>
                    <a:p>
                      <a:pPr marL="342900" marR="0" lvl="0" indent="-342900" algn="l" defTabSz="914400" rtl="0" eaLnBrk="1" fontAlgn="ctr" latinLnBrk="0" hangingPunct="1">
                        <a:lnSpc>
                          <a:spcPct val="70000"/>
                        </a:lnSpc>
                        <a:spcBef>
                          <a:spcPct val="0"/>
                        </a:spcBef>
                        <a:spcAft>
                          <a:spcPct val="0"/>
                        </a:spcAft>
                        <a:buClrTx/>
                        <a:buSzTx/>
                        <a:buFontTx/>
                        <a:buNone/>
                        <a:tabLst/>
                      </a:pPr>
                      <a:r>
                        <a:rPr kumimoji="0" lang="en-US" altLang="zh-CN" sz="2000" b="1" i="0" u="none" strike="noStrike" cap="none" normalizeH="0" baseline="0">
                          <a:ln>
                            <a:noFill/>
                          </a:ln>
                          <a:solidFill>
                            <a:srgbClr val="0303FD"/>
                          </a:solidFill>
                          <a:effectLst/>
                          <a:latin typeface="Times New Roman" pitchFamily="18" charset="0"/>
                          <a:ea typeface="宋体" pitchFamily="2" charset="-122"/>
                          <a:cs typeface="Times New Roman" pitchFamily="18" charset="0"/>
                        </a:rPr>
                        <a:t>Production</a:t>
                      </a: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2400" b="0" i="0" u="none" strike="noStrike" cap="none" normalizeH="0" baseline="0">
                        <a:ln>
                          <a:noFill/>
                        </a:ln>
                        <a:solidFill>
                          <a:schemeClr val="tx2"/>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57252">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High subst.</a:t>
                      </a:r>
                      <a:endParaRPr kumimoji="0" lang="en-US" altLang="zh-CN" sz="36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0.0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5.7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8.5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5.7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457252">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Low subst.</a:t>
                      </a:r>
                      <a:endParaRPr kumimoji="0" lang="en-US" altLang="zh-CN" sz="36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0.3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2.8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8.5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8.7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457252">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303FD"/>
                          </a:solidFill>
                          <a:effectLst/>
                          <a:latin typeface="Times New Roman" pitchFamily="18" charset="0"/>
                          <a:ea typeface="宋体" pitchFamily="2" charset="-122"/>
                          <a:cs typeface="Times New Roman" pitchFamily="18" charset="0"/>
                        </a:rPr>
                        <a:t>Export</a:t>
                      </a: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endPar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endPar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endPar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endParaRPr kumimoji="0" lang="en-US" altLang="zh-CN"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8"/>
                  </a:ext>
                </a:extLst>
              </a:tr>
              <a:tr h="457252">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High subst. </a:t>
                      </a:r>
                      <a:endParaRPr kumimoji="0" lang="en-US" altLang="zh-CN" sz="36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0.7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-14.5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-13.3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-14.5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9"/>
                  </a:ext>
                </a:extLst>
              </a:tr>
              <a:tr h="457252">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Low subst. </a:t>
                      </a:r>
                      <a:endParaRPr kumimoji="0" lang="en-US" altLang="zh-CN" sz="36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0.1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-3.9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-13.3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-13.3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10"/>
                  </a:ext>
                </a:extLst>
              </a:tr>
              <a:tr h="225451">
                <a:tc>
                  <a:txBody>
                    <a:bodyPr/>
                    <a:lstStyle/>
                    <a:p>
                      <a:pPr marL="342900" marR="0" lvl="0" indent="-342900" algn="l" defTabSz="914400" rtl="0" eaLnBrk="1" fontAlgn="ctr" latinLnBrk="0" hangingPunct="1">
                        <a:lnSpc>
                          <a:spcPct val="3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altLang="zh-CN" sz="2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25" marB="45725"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30000"/>
                        </a:lnSpc>
                        <a:spcBef>
                          <a:spcPct val="0"/>
                        </a:spcBef>
                        <a:spcAft>
                          <a:spcPct val="0"/>
                        </a:spcAft>
                        <a:buClrTx/>
                        <a:buSzTx/>
                        <a:buFontTx/>
                        <a:buNone/>
                        <a:tabLst/>
                      </a:pPr>
                      <a:r>
                        <a:rPr kumimoji="0" lang="zh-CN" altLang="en-US"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2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25" marB="45725"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30000"/>
                        </a:lnSpc>
                        <a:spcBef>
                          <a:spcPct val="0"/>
                        </a:spcBef>
                        <a:spcAft>
                          <a:spcPct val="0"/>
                        </a:spcAft>
                        <a:buClrTx/>
                        <a:buSzTx/>
                        <a:buFontTx/>
                        <a:buNone/>
                        <a:tabLst/>
                      </a:pPr>
                      <a:r>
                        <a:rPr kumimoji="0" lang="zh-CN" altLang="en-US"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2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25" marB="45725"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30000"/>
                        </a:lnSpc>
                        <a:spcBef>
                          <a:spcPct val="0"/>
                        </a:spcBef>
                        <a:spcAft>
                          <a:spcPct val="0"/>
                        </a:spcAft>
                        <a:buClrTx/>
                        <a:buSzTx/>
                        <a:buFontTx/>
                        <a:buNone/>
                        <a:tabLst/>
                      </a:pPr>
                      <a:r>
                        <a:rPr kumimoji="0" lang="zh-CN" altLang="en-US"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2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25" marB="45725"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30000"/>
                        </a:lnSpc>
                        <a:spcBef>
                          <a:spcPct val="0"/>
                        </a:spcBef>
                        <a:spcAft>
                          <a:spcPct val="0"/>
                        </a:spcAft>
                        <a:buClrTx/>
                        <a:buSzTx/>
                        <a:buFontTx/>
                        <a:buNone/>
                        <a:tabLst/>
                      </a:pPr>
                      <a:r>
                        <a:rPr kumimoji="0" lang="zh-CN" altLang="en-US"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2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25" marB="45725"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63767725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55"/>
          <p:cNvSpPr>
            <a:spLocks noGrp="1" noChangeArrowheads="1"/>
          </p:cNvSpPr>
          <p:nvPr>
            <p:ph type="title" idx="4294967295"/>
          </p:nvPr>
        </p:nvSpPr>
        <p:spPr>
          <a:xfrm>
            <a:off x="76200" y="228600"/>
            <a:ext cx="8915400" cy="1143000"/>
          </a:xfrm>
        </p:spPr>
        <p:txBody>
          <a:bodyPr>
            <a:normAutofit fontScale="90000"/>
          </a:bodyPr>
          <a:lstStyle/>
          <a:p>
            <a:pPr eaLnBrk="1" hangingPunct="1"/>
            <a:r>
              <a:rPr lang="en-US" altLang="zh-CN" sz="2800" b="1">
                <a:ea typeface="宋体" panose="02010600030101010101" pitchFamily="2" charset="-122"/>
              </a:rPr>
              <a:t>Rapeseeds prices, production and exports in EU under various assumptions of oil price and elas. of substitution (comparing to reference,2020)</a:t>
            </a:r>
            <a:endParaRPr lang="zh-CN" altLang="en-US" sz="2800" b="1">
              <a:ea typeface="宋体" panose="02010600030101010101" pitchFamily="2" charset="-122"/>
            </a:endParaRPr>
          </a:p>
        </p:txBody>
      </p:sp>
      <p:graphicFrame>
        <p:nvGraphicFramePr>
          <p:cNvPr id="90200" name="Group 88"/>
          <p:cNvGraphicFramePr>
            <a:graphicFrameLocks noGrp="1"/>
          </p:cNvGraphicFramePr>
          <p:nvPr>
            <p:ph idx="4294967295"/>
          </p:nvPr>
        </p:nvGraphicFramePr>
        <p:xfrm>
          <a:off x="228600" y="1774825"/>
          <a:ext cx="8686800" cy="5283262"/>
        </p:xfrm>
        <a:graphic>
          <a:graphicData uri="http://schemas.openxmlformats.org/drawingml/2006/table">
            <a:tbl>
              <a:tblPr/>
              <a:tblGrid>
                <a:gridCol w="1593850">
                  <a:extLst>
                    <a:ext uri="{9D8B030D-6E8A-4147-A177-3AD203B41FA5}">
                      <a16:colId xmlns:a16="http://schemas.microsoft.com/office/drawing/2014/main" val="20000"/>
                    </a:ext>
                  </a:extLst>
                </a:gridCol>
                <a:gridCol w="1760538">
                  <a:extLst>
                    <a:ext uri="{9D8B030D-6E8A-4147-A177-3AD203B41FA5}">
                      <a16:colId xmlns:a16="http://schemas.microsoft.com/office/drawing/2014/main" val="20001"/>
                    </a:ext>
                  </a:extLst>
                </a:gridCol>
                <a:gridCol w="1897062">
                  <a:extLst>
                    <a:ext uri="{9D8B030D-6E8A-4147-A177-3AD203B41FA5}">
                      <a16:colId xmlns:a16="http://schemas.microsoft.com/office/drawing/2014/main" val="20002"/>
                    </a:ext>
                  </a:extLst>
                </a:gridCol>
                <a:gridCol w="1687513">
                  <a:extLst>
                    <a:ext uri="{9D8B030D-6E8A-4147-A177-3AD203B41FA5}">
                      <a16:colId xmlns:a16="http://schemas.microsoft.com/office/drawing/2014/main" val="20003"/>
                    </a:ext>
                  </a:extLst>
                </a:gridCol>
                <a:gridCol w="1747837">
                  <a:extLst>
                    <a:ext uri="{9D8B030D-6E8A-4147-A177-3AD203B41FA5}">
                      <a16:colId xmlns:a16="http://schemas.microsoft.com/office/drawing/2014/main" val="20004"/>
                    </a:ext>
                  </a:extLst>
                </a:gridCol>
              </a:tblGrid>
              <a:tr h="411467">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Market</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Policy intervention</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411467">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Low  Price</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High   Price</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Low Price</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High Price</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5474">
                <a:tc>
                  <a:txBody>
                    <a:bodyPr/>
                    <a:lstStyle/>
                    <a:p>
                      <a:pPr marL="342900" marR="0" lvl="0" indent="-342900" algn="l" defTabSz="914400" rtl="0" eaLnBrk="1" fontAlgn="ctr" latinLnBrk="0" hangingPunct="1">
                        <a:lnSpc>
                          <a:spcPct val="70000"/>
                        </a:lnSpc>
                        <a:spcBef>
                          <a:spcPct val="0"/>
                        </a:spcBef>
                        <a:spcAft>
                          <a:spcPct val="0"/>
                        </a:spcAft>
                        <a:buClrTx/>
                        <a:buSzTx/>
                        <a:buFontTx/>
                        <a:buNone/>
                        <a:tabLst/>
                      </a:pPr>
                      <a:r>
                        <a:rPr kumimoji="0" lang="en-US" altLang="zh-CN" sz="2000" b="1" i="0" u="none" strike="noStrike" cap="none" normalizeH="0" baseline="0">
                          <a:ln>
                            <a:noFill/>
                          </a:ln>
                          <a:solidFill>
                            <a:srgbClr val="0303FD"/>
                          </a:solidFill>
                          <a:effectLst/>
                          <a:latin typeface="Arial" charset="0"/>
                          <a:ea typeface="宋体" pitchFamily="2" charset="-122"/>
                          <a:cs typeface="Times New Roman" pitchFamily="18" charset="0"/>
                        </a:rPr>
                        <a:t>Price</a:t>
                      </a:r>
                    </a:p>
                  </a:txBody>
                  <a:tcPr marT="45716" marB="45716"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3600" b="0" i="0" u="none" strike="noStrike" cap="none" normalizeH="0" baseline="0">
                        <a:ln>
                          <a:noFill/>
                        </a:ln>
                        <a:solidFill>
                          <a:srgbClr val="FF0000"/>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3600" b="0" i="0" u="none" strike="noStrike" cap="none" normalizeH="0" baseline="0">
                        <a:ln>
                          <a:noFill/>
                        </a:ln>
                        <a:solidFill>
                          <a:srgbClr val="FF0000"/>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3600" b="0" i="0" u="none" strike="noStrike" cap="none" normalizeH="0" baseline="0">
                        <a:ln>
                          <a:noFill/>
                        </a:ln>
                        <a:solidFill>
                          <a:srgbClr val="FF0000"/>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457186">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High subst.</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1.2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36.8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33.0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36.8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57186">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Low subst. </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1.4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10.9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33.0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30.5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525422">
                <a:tc>
                  <a:txBody>
                    <a:bodyPr/>
                    <a:lstStyle/>
                    <a:p>
                      <a:pPr marL="342900" marR="0" lvl="0" indent="-342900" algn="l" defTabSz="914400" rtl="0" eaLnBrk="1" fontAlgn="ctr" latinLnBrk="0" hangingPunct="1">
                        <a:lnSpc>
                          <a:spcPct val="70000"/>
                        </a:lnSpc>
                        <a:spcBef>
                          <a:spcPct val="0"/>
                        </a:spcBef>
                        <a:spcAft>
                          <a:spcPct val="0"/>
                        </a:spcAft>
                        <a:buClrTx/>
                        <a:buSzTx/>
                        <a:buFontTx/>
                        <a:buNone/>
                        <a:tabLst/>
                      </a:pPr>
                      <a:r>
                        <a:rPr kumimoji="0" lang="en-US" altLang="zh-CN" sz="2000" b="1" i="0" u="none" strike="noStrike" cap="none" normalizeH="0" baseline="0">
                          <a:ln>
                            <a:noFill/>
                          </a:ln>
                          <a:solidFill>
                            <a:srgbClr val="0303FD"/>
                          </a:solidFill>
                          <a:effectLst/>
                          <a:latin typeface="Arial" charset="0"/>
                          <a:ea typeface="宋体" pitchFamily="2" charset="-122"/>
                          <a:cs typeface="Times New Roman" pitchFamily="18" charset="0"/>
                        </a:rPr>
                        <a:t>Output</a:t>
                      </a: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24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2400" b="0" i="0" u="none" strike="noStrike" cap="none" normalizeH="0" baseline="0">
                        <a:ln>
                          <a:noFill/>
                        </a:ln>
                        <a:solidFill>
                          <a:srgbClr val="FF0000"/>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2400" b="0" i="0" u="none" strike="noStrike" cap="none" normalizeH="0" baseline="0">
                        <a:ln>
                          <a:noFill/>
                        </a:ln>
                        <a:solidFill>
                          <a:srgbClr val="FF0000"/>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endParaRPr kumimoji="0" lang="en-US" altLang="zh-CN" sz="2400" b="0" i="0" u="none" strike="noStrike" cap="none" normalizeH="0" baseline="0">
                        <a:ln>
                          <a:noFill/>
                        </a:ln>
                        <a:solidFill>
                          <a:srgbClr val="FF0000"/>
                        </a:solidFill>
                        <a:effectLst/>
                        <a:latin typeface="Times New Roman" pitchFamily="18"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57186">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High subst.</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3.9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89.4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81.6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89.4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457186">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Low subst.</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4.5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35.7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81.6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84.6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457186">
                <a:tc>
                  <a:txBody>
                    <a:bodyPr/>
                    <a:lstStyle/>
                    <a:p>
                      <a:pPr marL="342900" marR="0" lvl="0" indent="-342900" algn="l" defTabSz="914400" rtl="0" eaLnBrk="1" fontAlgn="ctr" latinLnBrk="0" hangingPunct="1">
                        <a:lnSpc>
                          <a:spcPct val="70000"/>
                        </a:lnSpc>
                        <a:spcBef>
                          <a:spcPct val="0"/>
                        </a:spcBef>
                        <a:spcAft>
                          <a:spcPct val="0"/>
                        </a:spcAft>
                        <a:buClrTx/>
                        <a:buSzTx/>
                        <a:buFontTx/>
                        <a:buNone/>
                        <a:tabLst/>
                      </a:pPr>
                      <a:r>
                        <a:rPr kumimoji="0" lang="en-US" altLang="zh-CN" sz="2400" b="1" i="0" u="none" strike="noStrike" cap="none" normalizeH="0" baseline="0">
                          <a:ln>
                            <a:noFill/>
                          </a:ln>
                          <a:solidFill>
                            <a:srgbClr val="0303FD"/>
                          </a:solidFill>
                          <a:effectLst/>
                          <a:latin typeface="Arial" charset="0"/>
                          <a:ea typeface="宋体" pitchFamily="2" charset="-122"/>
                          <a:cs typeface="Times New Roman" pitchFamily="18" charset="0"/>
                        </a:rPr>
                        <a:t>Export</a:t>
                      </a: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2400" b="0" i="0" u="none" strike="noStrike" cap="none" normalizeH="0" baseline="0">
                        <a:ln>
                          <a:noFill/>
                        </a:ln>
                        <a:solidFill>
                          <a:srgbClr val="0303FD"/>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2400" b="0" i="0" u="none" strike="noStrike" cap="none" normalizeH="0" baseline="0">
                        <a:ln>
                          <a:noFill/>
                        </a:ln>
                        <a:solidFill>
                          <a:srgbClr val="FF0000"/>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2400" b="0" i="0" u="none" strike="noStrike" cap="none" normalizeH="0" baseline="0">
                        <a:ln>
                          <a:noFill/>
                        </a:ln>
                        <a:solidFill>
                          <a:srgbClr val="FF0000"/>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endParaRPr kumimoji="0" lang="en-US" altLang="zh-CN" sz="2400" b="0" i="0" u="none" strike="noStrike" cap="none" normalizeH="0" baseline="0">
                        <a:ln>
                          <a:noFill/>
                        </a:ln>
                        <a:solidFill>
                          <a:srgbClr val="FF0000"/>
                        </a:solidFill>
                        <a:effectLst/>
                        <a:latin typeface="Times New Roman" pitchFamily="18"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8"/>
                  </a:ext>
                </a:extLst>
              </a:tr>
              <a:tr h="457186">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High subst. </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-4.9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-61.3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-62.8</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-61.3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9"/>
                  </a:ext>
                </a:extLst>
              </a:tr>
              <a:tr h="457186">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Low subst. </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-5.3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-32.1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-62.9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-62.3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10"/>
                  </a:ext>
                </a:extLst>
              </a:tr>
              <a:tr h="259069">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9607630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55"/>
          <p:cNvSpPr>
            <a:spLocks noGrp="1" noChangeArrowheads="1"/>
          </p:cNvSpPr>
          <p:nvPr>
            <p:ph type="title" idx="4294967295"/>
          </p:nvPr>
        </p:nvSpPr>
        <p:spPr>
          <a:xfrm>
            <a:off x="76200" y="228600"/>
            <a:ext cx="8915400" cy="1143000"/>
          </a:xfrm>
        </p:spPr>
        <p:txBody>
          <a:bodyPr>
            <a:normAutofit fontScale="90000"/>
          </a:bodyPr>
          <a:lstStyle/>
          <a:p>
            <a:pPr eaLnBrk="1" hangingPunct="1"/>
            <a:r>
              <a:rPr lang="en-US" altLang="zh-CN" sz="2800" b="1">
                <a:ea typeface="宋体" panose="02010600030101010101" pitchFamily="2" charset="-122"/>
              </a:rPr>
              <a:t>Sugarcane prices, production and exports in Brazil under various assumptions of oil price and elas. of substitution (comparing to reference,2020)</a:t>
            </a:r>
            <a:endParaRPr lang="zh-CN" altLang="en-US" sz="2800" b="1">
              <a:ea typeface="宋体" panose="02010600030101010101" pitchFamily="2" charset="-122"/>
            </a:endParaRPr>
          </a:p>
        </p:txBody>
      </p:sp>
      <p:graphicFrame>
        <p:nvGraphicFramePr>
          <p:cNvPr id="163919" name="Group 79"/>
          <p:cNvGraphicFramePr>
            <a:graphicFrameLocks noGrp="1"/>
          </p:cNvGraphicFramePr>
          <p:nvPr>
            <p:ph idx="4294967295"/>
          </p:nvPr>
        </p:nvGraphicFramePr>
        <p:xfrm>
          <a:off x="228600" y="1600200"/>
          <a:ext cx="8686800" cy="5283262"/>
        </p:xfrm>
        <a:graphic>
          <a:graphicData uri="http://schemas.openxmlformats.org/drawingml/2006/table">
            <a:tbl>
              <a:tblPr/>
              <a:tblGrid>
                <a:gridCol w="1593850">
                  <a:extLst>
                    <a:ext uri="{9D8B030D-6E8A-4147-A177-3AD203B41FA5}">
                      <a16:colId xmlns:a16="http://schemas.microsoft.com/office/drawing/2014/main" val="20000"/>
                    </a:ext>
                  </a:extLst>
                </a:gridCol>
                <a:gridCol w="1760538">
                  <a:extLst>
                    <a:ext uri="{9D8B030D-6E8A-4147-A177-3AD203B41FA5}">
                      <a16:colId xmlns:a16="http://schemas.microsoft.com/office/drawing/2014/main" val="20001"/>
                    </a:ext>
                  </a:extLst>
                </a:gridCol>
                <a:gridCol w="1897062">
                  <a:extLst>
                    <a:ext uri="{9D8B030D-6E8A-4147-A177-3AD203B41FA5}">
                      <a16:colId xmlns:a16="http://schemas.microsoft.com/office/drawing/2014/main" val="20002"/>
                    </a:ext>
                  </a:extLst>
                </a:gridCol>
                <a:gridCol w="1687513">
                  <a:extLst>
                    <a:ext uri="{9D8B030D-6E8A-4147-A177-3AD203B41FA5}">
                      <a16:colId xmlns:a16="http://schemas.microsoft.com/office/drawing/2014/main" val="20003"/>
                    </a:ext>
                  </a:extLst>
                </a:gridCol>
                <a:gridCol w="1747837">
                  <a:extLst>
                    <a:ext uri="{9D8B030D-6E8A-4147-A177-3AD203B41FA5}">
                      <a16:colId xmlns:a16="http://schemas.microsoft.com/office/drawing/2014/main" val="20004"/>
                    </a:ext>
                  </a:extLst>
                </a:gridCol>
              </a:tblGrid>
              <a:tr h="411467">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Market</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Policy intervention</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411467">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Low  Price</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High   Price</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Low Price</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1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High Price</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5474">
                <a:tc>
                  <a:txBody>
                    <a:bodyPr/>
                    <a:lstStyle/>
                    <a:p>
                      <a:pPr marL="342900" marR="0" lvl="0" indent="-342900" algn="l" defTabSz="914400" rtl="0" eaLnBrk="1" fontAlgn="ctr" latinLnBrk="0" hangingPunct="1">
                        <a:lnSpc>
                          <a:spcPct val="70000"/>
                        </a:lnSpc>
                        <a:spcBef>
                          <a:spcPct val="0"/>
                        </a:spcBef>
                        <a:spcAft>
                          <a:spcPct val="0"/>
                        </a:spcAft>
                        <a:buClrTx/>
                        <a:buSzTx/>
                        <a:buFontTx/>
                        <a:buNone/>
                        <a:tabLst/>
                      </a:pPr>
                      <a:r>
                        <a:rPr kumimoji="0" lang="en-US" altLang="zh-CN" sz="2000" b="1" i="0" u="none" strike="noStrike" cap="none" normalizeH="0" baseline="0">
                          <a:ln>
                            <a:noFill/>
                          </a:ln>
                          <a:solidFill>
                            <a:srgbClr val="0303FD"/>
                          </a:solidFill>
                          <a:effectLst/>
                          <a:latin typeface="Arial" charset="0"/>
                          <a:ea typeface="宋体" pitchFamily="2" charset="-122"/>
                          <a:cs typeface="Times New Roman" pitchFamily="18" charset="0"/>
                        </a:rPr>
                        <a:t>Price</a:t>
                      </a:r>
                    </a:p>
                  </a:txBody>
                  <a:tcPr marT="45716" marB="45716"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3600" b="0" i="0" u="none" strike="noStrike" cap="none" normalizeH="0" baseline="0">
                        <a:ln>
                          <a:noFill/>
                        </a:ln>
                        <a:solidFill>
                          <a:srgbClr val="FF0000"/>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3600" b="0" i="0" u="none" strike="noStrike" cap="none" normalizeH="0" baseline="0">
                        <a:ln>
                          <a:noFill/>
                        </a:ln>
                        <a:solidFill>
                          <a:srgbClr val="FF0000"/>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3600" b="0" i="0" u="none" strike="noStrike" cap="none" normalizeH="0" baseline="0">
                        <a:ln>
                          <a:noFill/>
                        </a:ln>
                        <a:solidFill>
                          <a:srgbClr val="FF0000"/>
                        </a:solidFill>
                        <a:effectLst/>
                        <a:latin typeface="Arial" charset="0"/>
                        <a:ea typeface="宋体" pitchFamily="2" charset="-122"/>
                        <a:cs typeface="Times New Roman" pitchFamily="18" charset="0"/>
                      </a:endParaRPr>
                    </a:p>
                  </a:txBody>
                  <a:tcPr marT="45716" marB="45716"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457186">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High subst.</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6.5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89.3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50.6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89.3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57186">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Low subst. </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9.1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43.6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50.6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45.7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525422">
                <a:tc>
                  <a:txBody>
                    <a:bodyPr/>
                    <a:lstStyle/>
                    <a:p>
                      <a:pPr marL="342900" marR="0" lvl="0" indent="-342900" algn="l" defTabSz="914400" rtl="0" eaLnBrk="1" fontAlgn="ctr" latinLnBrk="0" hangingPunct="1">
                        <a:lnSpc>
                          <a:spcPct val="70000"/>
                        </a:lnSpc>
                        <a:spcBef>
                          <a:spcPct val="0"/>
                        </a:spcBef>
                        <a:spcAft>
                          <a:spcPct val="0"/>
                        </a:spcAft>
                        <a:buClrTx/>
                        <a:buSzTx/>
                        <a:buFontTx/>
                        <a:buNone/>
                        <a:tabLst/>
                      </a:pPr>
                      <a:r>
                        <a:rPr kumimoji="0" lang="en-US" altLang="zh-CN" sz="2000" b="1" i="0" u="none" strike="noStrike" cap="none" normalizeH="0" baseline="0">
                          <a:ln>
                            <a:noFill/>
                          </a:ln>
                          <a:solidFill>
                            <a:srgbClr val="0303FD"/>
                          </a:solidFill>
                          <a:effectLst/>
                          <a:latin typeface="Arial" charset="0"/>
                          <a:ea typeface="宋体" pitchFamily="2" charset="-122"/>
                          <a:cs typeface="Times New Roman" pitchFamily="18" charset="0"/>
                        </a:rPr>
                        <a:t>Output</a:t>
                      </a: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24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2400" b="0" i="0" u="none" strike="noStrike" cap="none" normalizeH="0" baseline="0">
                        <a:ln>
                          <a:noFill/>
                        </a:ln>
                        <a:solidFill>
                          <a:srgbClr val="FF0000"/>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2400" b="0" i="0" u="none" strike="noStrike" cap="none" normalizeH="0" baseline="0">
                        <a:ln>
                          <a:noFill/>
                        </a:ln>
                        <a:solidFill>
                          <a:srgbClr val="FF0000"/>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endParaRPr kumimoji="0" lang="en-US" altLang="zh-CN" sz="2400" b="0" i="0" u="none" strike="noStrike" cap="none" normalizeH="0" baseline="0">
                        <a:ln>
                          <a:noFill/>
                        </a:ln>
                        <a:solidFill>
                          <a:srgbClr val="FF0000"/>
                        </a:solidFill>
                        <a:effectLst/>
                        <a:latin typeface="Times New Roman" pitchFamily="18"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57186">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High subst.</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16.3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148.8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94.1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148.8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457186">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Low subst.</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22.6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100.1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94.3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99.1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457186">
                <a:tc>
                  <a:txBody>
                    <a:bodyPr/>
                    <a:lstStyle/>
                    <a:p>
                      <a:pPr marL="342900" marR="0" lvl="0" indent="-342900" algn="l" defTabSz="914400" rtl="0" eaLnBrk="1" fontAlgn="ctr" latinLnBrk="0" hangingPunct="1">
                        <a:lnSpc>
                          <a:spcPct val="70000"/>
                        </a:lnSpc>
                        <a:spcBef>
                          <a:spcPct val="0"/>
                        </a:spcBef>
                        <a:spcAft>
                          <a:spcPct val="0"/>
                        </a:spcAft>
                        <a:buClrTx/>
                        <a:buSzTx/>
                        <a:buFontTx/>
                        <a:buNone/>
                        <a:tabLst/>
                      </a:pPr>
                      <a:r>
                        <a:rPr kumimoji="0" lang="en-US" altLang="zh-CN" sz="2400" b="1" i="0" u="none" strike="noStrike" cap="none" normalizeH="0" baseline="0">
                          <a:ln>
                            <a:noFill/>
                          </a:ln>
                          <a:solidFill>
                            <a:srgbClr val="0303FD"/>
                          </a:solidFill>
                          <a:effectLst/>
                          <a:latin typeface="Arial" charset="0"/>
                          <a:ea typeface="宋体" pitchFamily="2" charset="-122"/>
                          <a:cs typeface="Times New Roman" pitchFamily="18" charset="0"/>
                        </a:rPr>
                        <a:t>Export</a:t>
                      </a: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2400" b="0" i="0" u="none" strike="noStrike" cap="none" normalizeH="0" baseline="0">
                        <a:ln>
                          <a:noFill/>
                        </a:ln>
                        <a:solidFill>
                          <a:srgbClr val="0303FD"/>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2400" b="0" i="0" u="none" strike="noStrike" cap="none" normalizeH="0" baseline="0">
                        <a:ln>
                          <a:noFill/>
                        </a:ln>
                        <a:solidFill>
                          <a:srgbClr val="FF0000"/>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70000"/>
                        </a:lnSpc>
                        <a:spcBef>
                          <a:spcPct val="0"/>
                        </a:spcBef>
                        <a:spcAft>
                          <a:spcPct val="0"/>
                        </a:spcAft>
                        <a:buClrTx/>
                        <a:buSzTx/>
                        <a:buFontTx/>
                        <a:buNone/>
                        <a:tabLst/>
                      </a:pPr>
                      <a:endParaRPr kumimoji="0" lang="en-US" altLang="zh-CN" sz="2400" b="0" i="0" u="none" strike="noStrike" cap="none" normalizeH="0" baseline="0">
                        <a:ln>
                          <a:noFill/>
                        </a:ln>
                        <a:solidFill>
                          <a:srgbClr val="FF0000"/>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endParaRPr kumimoji="0" lang="en-US" altLang="zh-CN" sz="2400" b="0" i="0" u="none" strike="noStrike" cap="none" normalizeH="0" baseline="0">
                        <a:ln>
                          <a:noFill/>
                        </a:ln>
                        <a:solidFill>
                          <a:srgbClr val="FF0000"/>
                        </a:solidFill>
                        <a:effectLst/>
                        <a:latin typeface="Times New Roman" pitchFamily="18"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8"/>
                  </a:ext>
                </a:extLst>
              </a:tr>
              <a:tr h="457186">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High subst. </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-28.7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-94.3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-87.5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-94.3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9"/>
                  </a:ext>
                </a:extLst>
              </a:tr>
              <a:tr h="457186">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2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Low subst. </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-36.4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-82.4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-87.5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Arial" charset="0"/>
                          <a:ea typeface="宋体" pitchFamily="2" charset="-122"/>
                        </a:rPr>
                        <a:t>-85.3 </a:t>
                      </a:r>
                      <a:endParaRPr kumimoji="0" lang="zh-CN" altLang="en-US" sz="2400" b="0" i="0" u="none" strike="noStrike" cap="none" normalizeH="0" baseline="0">
                        <a:ln>
                          <a:noFill/>
                        </a:ln>
                        <a:solidFill>
                          <a:schemeClr val="tx1"/>
                        </a:solidFill>
                        <a:effectLst/>
                        <a:latin typeface="Arial" charset="0"/>
                        <a:ea typeface="宋体" pitchFamily="2" charset="-122"/>
                      </a:endParaRPr>
                    </a:p>
                  </a:txBody>
                  <a:tcPr marT="45716" marB="45716"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10"/>
                  </a:ext>
                </a:extLst>
              </a:tr>
              <a:tr h="259069">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6" marB="45716"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54496321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2"/>
          <p:cNvSpPr>
            <a:spLocks noGrp="1" noChangeArrowheads="1"/>
          </p:cNvSpPr>
          <p:nvPr>
            <p:ph type="title"/>
          </p:nvPr>
        </p:nvSpPr>
        <p:spPr>
          <a:xfrm>
            <a:off x="0" y="274638"/>
            <a:ext cx="9144000" cy="411162"/>
          </a:xfrm>
        </p:spPr>
        <p:txBody>
          <a:bodyPr>
            <a:normAutofit fontScale="90000"/>
          </a:bodyPr>
          <a:lstStyle/>
          <a:p>
            <a:pPr eaLnBrk="1" hangingPunct="1">
              <a:lnSpc>
                <a:spcPct val="70000"/>
              </a:lnSpc>
            </a:pPr>
            <a:r>
              <a:rPr lang="en-US" altLang="zh-CN" sz="2000" b="1">
                <a:solidFill>
                  <a:srgbClr val="FF0000"/>
                </a:solidFill>
                <a:ea typeface="宋体" panose="02010600030101010101" pitchFamily="2" charset="-122"/>
              </a:rPr>
              <a:t>Government subsidy</a:t>
            </a:r>
            <a:r>
              <a:rPr lang="en-US" altLang="zh-CN" sz="2000" b="1">
                <a:ea typeface="宋体" panose="02010600030101010101" pitchFamily="2" charset="-122"/>
              </a:rPr>
              <a:t> (billion US$) in 2020 under </a:t>
            </a:r>
            <a:br>
              <a:rPr lang="en-US" altLang="zh-CN" sz="2000" b="1">
                <a:ea typeface="宋体" panose="02010600030101010101" pitchFamily="2" charset="-122"/>
              </a:rPr>
            </a:br>
            <a:r>
              <a:rPr lang="en-US" altLang="zh-CN" sz="2000" b="1">
                <a:ea typeface="宋体" panose="02010600030101010101" pitchFamily="2" charset="-122"/>
              </a:rPr>
              <a:t>policy intervention scenario</a:t>
            </a:r>
            <a:r>
              <a:rPr lang="en-US" altLang="zh-CN" sz="3200" b="1">
                <a:solidFill>
                  <a:srgbClr val="FF0000"/>
                </a:solidFill>
                <a:ea typeface="宋体" panose="02010600030101010101" pitchFamily="2" charset="-122"/>
              </a:rPr>
              <a:t> </a:t>
            </a:r>
          </a:p>
        </p:txBody>
      </p:sp>
      <p:graphicFrame>
        <p:nvGraphicFramePr>
          <p:cNvPr id="10242" name="Object 3"/>
          <p:cNvGraphicFramePr>
            <a:graphicFrameLocks noGrp="1" noChangeAspect="1"/>
          </p:cNvGraphicFramePr>
          <p:nvPr>
            <p:ph sz="half" idx="1"/>
          </p:nvPr>
        </p:nvGraphicFramePr>
        <p:xfrm>
          <a:off x="914400" y="685800"/>
          <a:ext cx="7467600" cy="2057400"/>
        </p:xfrm>
        <a:graphic>
          <a:graphicData uri="http://schemas.openxmlformats.org/presentationml/2006/ole">
            <mc:AlternateContent xmlns:mc="http://schemas.openxmlformats.org/markup-compatibility/2006">
              <mc:Choice xmlns:v="urn:schemas-microsoft-com:vml" Requires="v">
                <p:oleObj name="图表" r:id="rId3" imgW="11788125" imgH="4526280" progId="MSGraph.Chart.8">
                  <p:embed followColorScheme="full"/>
                </p:oleObj>
              </mc:Choice>
              <mc:Fallback>
                <p:oleObj name="图表" r:id="rId3" imgW="11788125" imgH="4526280" progId="MSGraph.Chart.8">
                  <p:embed followColorScheme="full"/>
                  <p:pic>
                    <p:nvPicPr>
                      <p:cNvPr id="0" name=""/>
                      <p:cNvPicPr>
                        <a:picLocks noChangeAspect="1" noChangeArrowheads="1"/>
                      </p:cNvPicPr>
                      <p:nvPr/>
                    </p:nvPicPr>
                    <p:blipFill>
                      <a:blip r:embed="rId4"/>
                      <a:srcRect/>
                      <a:stretch>
                        <a:fillRect/>
                      </a:stretch>
                    </p:blipFill>
                    <p:spPr bwMode="auto">
                      <a:xfrm>
                        <a:off x="914400" y="685800"/>
                        <a:ext cx="74676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43" name="Object 4"/>
          <p:cNvGraphicFramePr>
            <a:graphicFrameLocks noGrp="1" noChangeAspect="1"/>
          </p:cNvGraphicFramePr>
          <p:nvPr>
            <p:ph sz="quarter" idx="2"/>
          </p:nvPr>
        </p:nvGraphicFramePr>
        <p:xfrm>
          <a:off x="685800" y="2514600"/>
          <a:ext cx="7696200" cy="2133600"/>
        </p:xfrm>
        <a:graphic>
          <a:graphicData uri="http://schemas.openxmlformats.org/presentationml/2006/ole">
            <mc:AlternateContent xmlns:mc="http://schemas.openxmlformats.org/markup-compatibility/2006">
              <mc:Choice xmlns:v="urn:schemas-microsoft-com:vml" Requires="v">
                <p:oleObj name="图表" r:id="rId5" imgW="6484724" imgH="4533804" progId="MSGraph.Chart.8">
                  <p:embed followColorScheme="full"/>
                </p:oleObj>
              </mc:Choice>
              <mc:Fallback>
                <p:oleObj name="图表" r:id="rId5" imgW="6484724" imgH="4533804" progId="MSGraph.Chart.8">
                  <p:embed followColorScheme="full"/>
                  <p:pic>
                    <p:nvPicPr>
                      <p:cNvPr id="0" name=""/>
                      <p:cNvPicPr>
                        <a:picLocks noChangeAspect="1" noChangeArrowheads="1"/>
                      </p:cNvPicPr>
                      <p:nvPr/>
                    </p:nvPicPr>
                    <p:blipFill>
                      <a:blip r:embed="rId6"/>
                      <a:srcRect/>
                      <a:stretch>
                        <a:fillRect/>
                      </a:stretch>
                    </p:blipFill>
                    <p:spPr bwMode="auto">
                      <a:xfrm>
                        <a:off x="685800" y="2514600"/>
                        <a:ext cx="76962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4" name="Object 5"/>
          <p:cNvGraphicFramePr>
            <a:graphicFrameLocks noGrp="1" noChangeAspect="1"/>
          </p:cNvGraphicFramePr>
          <p:nvPr>
            <p:ph sz="quarter" idx="3"/>
          </p:nvPr>
        </p:nvGraphicFramePr>
        <p:xfrm>
          <a:off x="609600" y="4343400"/>
          <a:ext cx="7772400" cy="2133600"/>
        </p:xfrm>
        <a:graphic>
          <a:graphicData uri="http://schemas.openxmlformats.org/presentationml/2006/ole">
            <mc:AlternateContent xmlns:mc="http://schemas.openxmlformats.org/markup-compatibility/2006">
              <mc:Choice xmlns:v="urn:schemas-microsoft-com:vml" Requires="v">
                <p:oleObj name="图表" r:id="rId7" imgW="6484724" imgH="4533804" progId="MSGraph.Chart.8">
                  <p:embed followColorScheme="full"/>
                </p:oleObj>
              </mc:Choice>
              <mc:Fallback>
                <p:oleObj name="图表" r:id="rId7" imgW="6484724" imgH="4533804" progId="MSGraph.Chart.8">
                  <p:embed followColorScheme="full"/>
                  <p:pic>
                    <p:nvPicPr>
                      <p:cNvPr id="0" name=""/>
                      <p:cNvPicPr>
                        <a:picLocks noChangeAspect="1" noChangeArrowheads="1"/>
                      </p:cNvPicPr>
                      <p:nvPr/>
                    </p:nvPicPr>
                    <p:blipFill>
                      <a:blip r:embed="rId8"/>
                      <a:srcRect/>
                      <a:stretch>
                        <a:fillRect/>
                      </a:stretch>
                    </p:blipFill>
                    <p:spPr bwMode="auto">
                      <a:xfrm>
                        <a:off x="609600" y="4343400"/>
                        <a:ext cx="77724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6" name="Text Box 6"/>
          <p:cNvSpPr txBox="1">
            <a:spLocks noChangeArrowheads="1"/>
          </p:cNvSpPr>
          <p:nvPr/>
        </p:nvSpPr>
        <p:spPr bwMode="auto">
          <a:xfrm>
            <a:off x="1371600" y="63246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b="1">
                <a:ea typeface="宋体" panose="02010600030101010101" pitchFamily="2" charset="-122"/>
              </a:rPr>
              <a:t>Low Energy Price Projections</a:t>
            </a:r>
          </a:p>
        </p:txBody>
      </p:sp>
      <p:sp>
        <p:nvSpPr>
          <p:cNvPr id="10247" name="Text Box 7"/>
          <p:cNvSpPr txBox="1">
            <a:spLocks noChangeArrowheads="1"/>
          </p:cNvSpPr>
          <p:nvPr/>
        </p:nvSpPr>
        <p:spPr bwMode="auto">
          <a:xfrm>
            <a:off x="5638800" y="6415088"/>
            <a:ext cx="3810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b="1">
                <a:ea typeface="宋体" panose="02010600030101010101" pitchFamily="2" charset="-122"/>
              </a:rPr>
              <a:t>High Energy Price Projections</a:t>
            </a:r>
          </a:p>
        </p:txBody>
      </p:sp>
      <p:sp>
        <p:nvSpPr>
          <p:cNvPr id="10248" name="Text Box 8"/>
          <p:cNvSpPr txBox="1">
            <a:spLocks noChangeArrowheads="1"/>
          </p:cNvSpPr>
          <p:nvPr/>
        </p:nvSpPr>
        <p:spPr bwMode="auto">
          <a:xfrm>
            <a:off x="0" y="1295400"/>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sz="2000" b="1">
                <a:ea typeface="宋体" panose="02010600030101010101" pitchFamily="2" charset="-122"/>
              </a:rPr>
              <a:t>USA</a:t>
            </a:r>
          </a:p>
        </p:txBody>
      </p:sp>
      <p:sp>
        <p:nvSpPr>
          <p:cNvPr id="10249" name="Text Box 9"/>
          <p:cNvSpPr txBox="1">
            <a:spLocks noChangeArrowheads="1"/>
          </p:cNvSpPr>
          <p:nvPr/>
        </p:nvSpPr>
        <p:spPr bwMode="auto">
          <a:xfrm>
            <a:off x="0" y="3048000"/>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sz="2000" b="1">
                <a:ea typeface="宋体" panose="02010600030101010101" pitchFamily="2" charset="-122"/>
              </a:rPr>
              <a:t>EU</a:t>
            </a:r>
          </a:p>
        </p:txBody>
      </p:sp>
      <p:sp>
        <p:nvSpPr>
          <p:cNvPr id="10250" name="Text Box 10"/>
          <p:cNvSpPr txBox="1">
            <a:spLocks noChangeArrowheads="1"/>
          </p:cNvSpPr>
          <p:nvPr/>
        </p:nvSpPr>
        <p:spPr bwMode="auto">
          <a:xfrm>
            <a:off x="0" y="4800600"/>
            <a:ext cx="1752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sz="2000" b="1">
                <a:ea typeface="宋体" panose="02010600030101010101" pitchFamily="2" charset="-122"/>
              </a:rPr>
              <a:t>Brazil</a:t>
            </a:r>
          </a:p>
        </p:txBody>
      </p:sp>
      <p:sp>
        <p:nvSpPr>
          <p:cNvPr id="10251" name="Text Box 11"/>
          <p:cNvSpPr txBox="1">
            <a:spLocks noChangeArrowheads="1"/>
          </p:cNvSpPr>
          <p:nvPr/>
        </p:nvSpPr>
        <p:spPr bwMode="auto">
          <a:xfrm>
            <a:off x="7239000" y="1828800"/>
            <a:ext cx="1219200" cy="376238"/>
          </a:xfrm>
          <a:prstGeom prst="rect">
            <a:avLst/>
          </a:prstGeom>
          <a:solidFill>
            <a:schemeClr val="bg1"/>
          </a:solid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a:ea typeface="宋体" panose="02010600030101010101" pitchFamily="2" charset="-122"/>
              </a:rPr>
              <a:t>Zero</a:t>
            </a:r>
          </a:p>
        </p:txBody>
      </p:sp>
      <p:sp>
        <p:nvSpPr>
          <p:cNvPr id="10252" name="Text Box 12"/>
          <p:cNvSpPr txBox="1">
            <a:spLocks noChangeArrowheads="1"/>
          </p:cNvSpPr>
          <p:nvPr/>
        </p:nvSpPr>
        <p:spPr bwMode="auto">
          <a:xfrm>
            <a:off x="7315200" y="3586163"/>
            <a:ext cx="1143000" cy="376237"/>
          </a:xfrm>
          <a:prstGeom prst="rect">
            <a:avLst/>
          </a:prstGeom>
          <a:solidFill>
            <a:schemeClr val="bg1"/>
          </a:solid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a:ea typeface="宋体" panose="02010600030101010101" pitchFamily="2" charset="-122"/>
              </a:rPr>
              <a:t>Zero</a:t>
            </a:r>
          </a:p>
        </p:txBody>
      </p:sp>
      <p:sp>
        <p:nvSpPr>
          <p:cNvPr id="10253" name="Text Box 13"/>
          <p:cNvSpPr txBox="1">
            <a:spLocks noChangeArrowheads="1"/>
          </p:cNvSpPr>
          <p:nvPr/>
        </p:nvSpPr>
        <p:spPr bwMode="auto">
          <a:xfrm>
            <a:off x="7391400" y="5567363"/>
            <a:ext cx="1295400" cy="376237"/>
          </a:xfrm>
          <a:prstGeom prst="rect">
            <a:avLst/>
          </a:prstGeom>
          <a:solidFill>
            <a:schemeClr val="bg1"/>
          </a:solid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a:ea typeface="宋体" panose="02010600030101010101" pitchFamily="2" charset="-122"/>
              </a:rPr>
              <a:t>Zero</a:t>
            </a:r>
          </a:p>
        </p:txBody>
      </p:sp>
      <p:sp>
        <p:nvSpPr>
          <p:cNvPr id="10254" name="Text Box 14"/>
          <p:cNvSpPr txBox="1">
            <a:spLocks noChangeArrowheads="1"/>
          </p:cNvSpPr>
          <p:nvPr/>
        </p:nvSpPr>
        <p:spPr bwMode="auto">
          <a:xfrm>
            <a:off x="1676400" y="4648200"/>
            <a:ext cx="6553200" cy="925513"/>
          </a:xfrm>
          <a:prstGeom prst="rect">
            <a:avLst/>
          </a:prstGeom>
          <a:solidFill>
            <a:schemeClr val="bg1"/>
          </a:solid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a:ea typeface="宋体" panose="02010600030101010101" pitchFamily="2" charset="-122"/>
              </a:rPr>
              <a:t>If there is high price, but, low substitutability between ethanol and gasoline, gov’t s still need subsidy to meet targets … because ethanol is less responsive to energy prices …</a:t>
            </a:r>
          </a:p>
        </p:txBody>
      </p:sp>
      <p:sp>
        <p:nvSpPr>
          <p:cNvPr id="10255" name="Text Box 15"/>
          <p:cNvSpPr txBox="1">
            <a:spLocks noChangeArrowheads="1"/>
          </p:cNvSpPr>
          <p:nvPr/>
        </p:nvSpPr>
        <p:spPr bwMode="auto">
          <a:xfrm>
            <a:off x="2743200" y="838200"/>
            <a:ext cx="5715000" cy="590550"/>
          </a:xfrm>
          <a:prstGeom prst="rect">
            <a:avLst/>
          </a:prstGeom>
          <a:solidFill>
            <a:schemeClr val="bg1"/>
          </a:solid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zh-CN" sz="1600">
                <a:ea typeface="宋体" panose="02010600030101010101" pitchFamily="2" charset="-122"/>
              </a:rPr>
              <a:t>Under lower price, subsidy is substantially higher  … it is ZERO (0%) under hi / hi scenario </a:t>
            </a:r>
          </a:p>
        </p:txBody>
      </p:sp>
    </p:spTree>
    <p:extLst>
      <p:ext uri="{BB962C8B-B14F-4D97-AF65-F5344CB8AC3E}">
        <p14:creationId xmlns:p14="http://schemas.microsoft.com/office/powerpoint/2010/main" val="4011317475"/>
      </p:ext>
    </p:extLst>
  </p:cSld>
  <p:clrMapOvr>
    <a:masterClrMapping/>
  </p:clrMapOvr>
  <p:transition spd="slow">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304800" y="2286000"/>
            <a:ext cx="8610600" cy="1752600"/>
          </a:xfrm>
        </p:spPr>
        <p:txBody>
          <a:bodyPr/>
          <a:lstStyle/>
          <a:p>
            <a:r>
              <a:rPr lang="en-US" altLang="zh-CN" sz="4000" b="1">
                <a:solidFill>
                  <a:srgbClr val="FF0000"/>
                </a:solidFill>
                <a:latin typeface="Times New Roman" panose="02020603050405020304" pitchFamily="18" charset="0"/>
                <a:ea typeface="宋体" panose="02010600030101010101" pitchFamily="2" charset="-122"/>
              </a:rPr>
              <a:t>Part II: </a:t>
            </a:r>
            <a:br>
              <a:rPr lang="en-US" altLang="zh-CN" sz="4000" b="1">
                <a:solidFill>
                  <a:srgbClr val="FF0000"/>
                </a:solidFill>
                <a:latin typeface="Times New Roman" panose="02020603050405020304" pitchFamily="18" charset="0"/>
                <a:ea typeface="宋体" panose="02010600030101010101" pitchFamily="2" charset="-122"/>
              </a:rPr>
            </a:br>
            <a:r>
              <a:rPr lang="en-US" altLang="zh-CN" sz="4000" b="1">
                <a:solidFill>
                  <a:srgbClr val="FF0000"/>
                </a:solidFill>
                <a:latin typeface="Times New Roman" panose="02020603050405020304" pitchFamily="18" charset="0"/>
                <a:ea typeface="宋体" panose="02010600030101010101" pitchFamily="2" charset="-122"/>
              </a:rPr>
              <a:t>Impacts of Global biofuel development on China’s agriculture and poverty</a:t>
            </a:r>
          </a:p>
        </p:txBody>
      </p:sp>
    </p:spTree>
    <p:extLst>
      <p:ext uri="{BB962C8B-B14F-4D97-AF65-F5344CB8AC3E}">
        <p14:creationId xmlns:p14="http://schemas.microsoft.com/office/powerpoint/2010/main" val="87250743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250825" y="0"/>
            <a:ext cx="8569325" cy="1341438"/>
          </a:xfrm>
        </p:spPr>
        <p:txBody>
          <a:bodyPr/>
          <a:lstStyle/>
          <a:p>
            <a:pPr>
              <a:spcBef>
                <a:spcPct val="15000"/>
              </a:spcBef>
            </a:pPr>
            <a:r>
              <a:rPr lang="en-US" altLang="zh-CN" sz="2400" b="1">
                <a:solidFill>
                  <a:srgbClr val="000099"/>
                </a:solidFill>
                <a:latin typeface="Times New Roman" panose="02020603050405020304" pitchFamily="18" charset="0"/>
                <a:ea typeface="宋体" panose="02010600030101010101" pitchFamily="2" charset="-122"/>
              </a:rPr>
              <a:t>China is a big country, production differs largely among regions</a:t>
            </a:r>
            <a:br>
              <a:rPr lang="en-US" altLang="zh-CN" sz="2400" b="1">
                <a:solidFill>
                  <a:srgbClr val="000099"/>
                </a:solidFill>
                <a:latin typeface="Times New Roman" panose="02020603050405020304" pitchFamily="18" charset="0"/>
                <a:ea typeface="宋体" panose="02010600030101010101" pitchFamily="2" charset="-122"/>
              </a:rPr>
            </a:br>
            <a:r>
              <a:rPr lang="en-US" altLang="zh-CN" sz="2400" b="1">
                <a:solidFill>
                  <a:schemeClr val="tx1"/>
                </a:solidFill>
                <a:latin typeface="Times New Roman" panose="02020603050405020304" pitchFamily="18" charset="0"/>
                <a:ea typeface="宋体" panose="02010600030101010101" pitchFamily="2" charset="-122"/>
              </a:rPr>
              <a:t>The share of maize in total crop areas by province (%)</a:t>
            </a:r>
            <a:endParaRPr lang="en-US" altLang="zh-CN" sz="2800" b="1">
              <a:solidFill>
                <a:schemeClr val="tx1"/>
              </a:solidFill>
              <a:ea typeface="宋体" panose="02010600030101010101" pitchFamily="2" charset="-122"/>
            </a:endParaRPr>
          </a:p>
        </p:txBody>
      </p:sp>
      <p:pic>
        <p:nvPicPr>
          <p:cNvPr id="52227" name="Picture 3" descr="maiz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143000"/>
            <a:ext cx="7391400" cy="554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8" name="Picture 4" descr="南海"/>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91400" y="5181600"/>
            <a:ext cx="87153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10607947"/>
      </p:ext>
    </p:extLst>
  </p:cSld>
  <p:clrMapOvr>
    <a:masterClrMapping/>
  </p:clrMapOvr>
  <p:transition spd="slow">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2" name="Object 2"/>
          <p:cNvGraphicFramePr>
            <a:graphicFrameLocks noGrp="1" noChangeAspect="1"/>
          </p:cNvGraphicFramePr>
          <p:nvPr>
            <p:ph idx="4294967295"/>
          </p:nvPr>
        </p:nvGraphicFramePr>
        <p:xfrm>
          <a:off x="-76200" y="838200"/>
          <a:ext cx="9144000" cy="5105400"/>
        </p:xfrm>
        <a:graphic>
          <a:graphicData uri="http://schemas.openxmlformats.org/presentationml/2006/ole">
            <mc:AlternateContent xmlns:mc="http://schemas.openxmlformats.org/markup-compatibility/2006">
              <mc:Choice xmlns:v="urn:schemas-microsoft-com:vml" Requires="v">
                <p:oleObj name="图表" r:id="rId3" imgW="6543675" imgH="2847975" progId="Excel.Chart.8">
                  <p:embed/>
                </p:oleObj>
              </mc:Choice>
              <mc:Fallback>
                <p:oleObj name="图表" r:id="rId3" imgW="6543675" imgH="2847975" progId="Excel.Char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838200"/>
                        <a:ext cx="9144000" cy="5105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3" name="Rectangle 2"/>
          <p:cNvSpPr>
            <a:spLocks noGrp="1" noChangeArrowheads="1"/>
          </p:cNvSpPr>
          <p:nvPr>
            <p:ph type="title" idx="4294967295"/>
          </p:nvPr>
        </p:nvSpPr>
        <p:spPr>
          <a:xfrm>
            <a:off x="179388" y="76200"/>
            <a:ext cx="8639175" cy="1143000"/>
          </a:xfrm>
        </p:spPr>
        <p:txBody>
          <a:bodyPr/>
          <a:lstStyle/>
          <a:p>
            <a:pPr eaLnBrk="1" hangingPunct="1">
              <a:lnSpc>
                <a:spcPct val="70000"/>
              </a:lnSpc>
            </a:pPr>
            <a:r>
              <a:rPr lang="en-US" altLang="zh-CN" sz="4000" b="1">
                <a:solidFill>
                  <a:schemeClr val="accent2"/>
                </a:solidFill>
                <a:latin typeface="Times New Roman" panose="02020603050405020304" pitchFamily="18" charset="0"/>
                <a:ea typeface="宋体" panose="02010600030101010101" pitchFamily="2" charset="-122"/>
              </a:rPr>
              <a:t>Income from agricultural sector in different income groups (per capita)</a:t>
            </a:r>
          </a:p>
        </p:txBody>
      </p:sp>
      <p:sp>
        <p:nvSpPr>
          <p:cNvPr id="15364" name="Rectangle 5"/>
          <p:cNvSpPr>
            <a:spLocks noChangeArrowheads="1"/>
          </p:cNvSpPr>
          <p:nvPr/>
        </p:nvSpPr>
        <p:spPr bwMode="auto">
          <a:xfrm>
            <a:off x="611188" y="5876925"/>
            <a:ext cx="7920037"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zh-CN" b="1">
                <a:solidFill>
                  <a:srgbClr val="000000"/>
                </a:solidFill>
                <a:ea typeface="宋体" panose="02010600030101010101" pitchFamily="2" charset="-122"/>
              </a:rPr>
              <a:t>Agricultural activities (especial planting crops) are more important for income of poor farmers in China…</a:t>
            </a:r>
          </a:p>
        </p:txBody>
      </p:sp>
    </p:spTree>
    <p:extLst>
      <p:ext uri="{BB962C8B-B14F-4D97-AF65-F5344CB8AC3E}">
        <p14:creationId xmlns:p14="http://schemas.microsoft.com/office/powerpoint/2010/main" val="292851387"/>
      </p:ext>
    </p:extLst>
  </p:cSld>
  <p:clrMapOvr>
    <a:masterClrMapping/>
  </p:clrMapOvr>
  <p:transition spd="slow">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0" y="152400"/>
            <a:ext cx="9144000" cy="1143000"/>
          </a:xfrm>
        </p:spPr>
        <p:txBody>
          <a:bodyPr/>
          <a:lstStyle/>
          <a:p>
            <a:pPr>
              <a:lnSpc>
                <a:spcPct val="80000"/>
              </a:lnSpc>
            </a:pPr>
            <a:r>
              <a:rPr lang="en-US" altLang="zh-CN" sz="3200" b="1">
                <a:ea typeface="宋体" panose="02010600030101010101" pitchFamily="2" charset="-122"/>
              </a:rPr>
              <a:t>Share of farmer’s income from agriculture by different income groups in 2005</a:t>
            </a:r>
            <a:r>
              <a:rPr lang="en-US" altLang="zh-CN" sz="4000">
                <a:ea typeface="宋体" panose="02010600030101010101" pitchFamily="2" charset="-122"/>
              </a:rPr>
              <a:t> </a:t>
            </a:r>
            <a:endParaRPr lang="zh-CN" altLang="en-US" sz="4000">
              <a:ea typeface="宋体" panose="02010600030101010101" pitchFamily="2" charset="-122"/>
            </a:endParaRPr>
          </a:p>
        </p:txBody>
      </p:sp>
      <p:graphicFrame>
        <p:nvGraphicFramePr>
          <p:cNvPr id="195587" name="Group 3"/>
          <p:cNvGraphicFramePr>
            <a:graphicFrameLocks noGrp="1"/>
          </p:cNvGraphicFramePr>
          <p:nvPr/>
        </p:nvGraphicFramePr>
        <p:xfrm>
          <a:off x="228600" y="1371600"/>
          <a:ext cx="8763000" cy="4800601"/>
        </p:xfrm>
        <a:graphic>
          <a:graphicData uri="http://schemas.openxmlformats.org/drawingml/2006/table">
            <a:tbl>
              <a:tblPr/>
              <a:tblGrid>
                <a:gridCol w="2189163">
                  <a:extLst>
                    <a:ext uri="{9D8B030D-6E8A-4147-A177-3AD203B41FA5}">
                      <a16:colId xmlns:a16="http://schemas.microsoft.com/office/drawing/2014/main" val="20000"/>
                    </a:ext>
                  </a:extLst>
                </a:gridCol>
                <a:gridCol w="2066925">
                  <a:extLst>
                    <a:ext uri="{9D8B030D-6E8A-4147-A177-3AD203B41FA5}">
                      <a16:colId xmlns:a16="http://schemas.microsoft.com/office/drawing/2014/main" val="20001"/>
                    </a:ext>
                  </a:extLst>
                </a:gridCol>
                <a:gridCol w="2252662">
                  <a:extLst>
                    <a:ext uri="{9D8B030D-6E8A-4147-A177-3AD203B41FA5}">
                      <a16:colId xmlns:a16="http://schemas.microsoft.com/office/drawing/2014/main" val="20002"/>
                    </a:ext>
                  </a:extLst>
                </a:gridCol>
                <a:gridCol w="2254250">
                  <a:extLst>
                    <a:ext uri="{9D8B030D-6E8A-4147-A177-3AD203B41FA5}">
                      <a16:colId xmlns:a16="http://schemas.microsoft.com/office/drawing/2014/main" val="20003"/>
                    </a:ext>
                  </a:extLst>
                </a:gridCol>
              </a:tblGrid>
              <a:tr h="1087438">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Income group</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Total income</a:t>
                      </a:r>
                      <a:endParaRPr kumimoji="0" lang="en-US" altLang="zh-CN" sz="1800" b="1" i="0" u="none" strike="noStrike" cap="none" normalizeH="0" baseline="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(Yuan/person, year)</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Share of agricultural Income (%)</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Share of crop income</a:t>
                      </a:r>
                      <a:endParaRPr kumimoji="0" lang="en-US" altLang="zh-CN" sz="1800" b="1" i="0" u="none" strike="noStrike" cap="none" normalizeH="0" baseline="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497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National Average</a:t>
                      </a:r>
                      <a:endParaRPr kumimoji="0" lang="en-US" altLang="zh-CN" sz="1800" b="1" i="0" u="none" strike="noStrike" cap="none" normalizeH="0" baseline="0">
                        <a:ln>
                          <a:noFill/>
                        </a:ln>
                        <a:solidFill>
                          <a:srgbClr val="FF0000"/>
                        </a:solidFill>
                        <a:effectLst/>
                        <a:latin typeface="Arial" charset="0"/>
                        <a:ea typeface="宋体" pitchFamily="2" charset="-122"/>
                        <a:cs typeface="Times New Roman" pitchFamily="18" charset="0"/>
                      </a:endParaRPr>
                    </a:p>
                  </a:txBody>
                  <a:tcPr marL="90000" marR="90000" marT="46800" marB="46800" anchor="ctr" horzOverflow="overflow">
                    <a:lnL cap="flat">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3522</a:t>
                      </a:r>
                      <a:endParaRPr kumimoji="0" lang="en-US" altLang="zh-CN" sz="1800" b="1" i="0" u="none" strike="noStrike" cap="none" normalizeH="0" baseline="0">
                        <a:ln>
                          <a:noFill/>
                        </a:ln>
                        <a:solidFill>
                          <a:srgbClr val="FF0000"/>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49.5</a:t>
                      </a:r>
                      <a:endParaRPr kumimoji="0" lang="en-US" altLang="zh-CN" sz="1800" b="1" i="0" u="none" strike="noStrike" cap="none" normalizeH="0" baseline="0">
                        <a:ln>
                          <a:noFill/>
                        </a:ln>
                        <a:solidFill>
                          <a:srgbClr val="FF0000"/>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39.1</a:t>
                      </a:r>
                      <a:endParaRPr kumimoji="0" lang="en-US" altLang="zh-CN" sz="1800" b="1" i="0" u="none" strike="noStrike" cap="none" normalizeH="0" baseline="0">
                        <a:ln>
                          <a:noFill/>
                        </a:ln>
                        <a:solidFill>
                          <a:srgbClr val="FF0000"/>
                        </a:solidFill>
                        <a:effectLst/>
                        <a:latin typeface="Arial" charset="0"/>
                        <a:ea typeface="宋体" pitchFamily="2" charset="-122"/>
                        <a:cs typeface="Times New Roman" pitchFamily="18" charset="0"/>
                      </a:endParaRPr>
                    </a:p>
                  </a:txBody>
                  <a:tcPr marL="90000" marR="90000" marT="46800" marB="46800" anchor="ctr"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758825">
                <a:tc>
                  <a:txBody>
                    <a:bodyPr/>
                    <a:lstStyle/>
                    <a:p>
                      <a:pPr marL="0" marR="0" lvl="0" indent="66675"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Income group 1</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p>
                      <a:pPr marL="0" marR="0" lvl="0" indent="66675"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(Under poverty*)</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757</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59</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57</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33388">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Income group 2</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1659</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57</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47</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5720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Income group 3</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2477</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53</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42</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3497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Income group 4</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3421</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50</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39</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43180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Income group 5</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5048</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44</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32</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762000">
                <a:tc>
                  <a:txBody>
                    <a:bodyPr/>
                    <a:lstStyle/>
                    <a:p>
                      <a:pPr marL="0" marR="0" lvl="0" indent="66675"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Income group 6</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p>
                      <a:pPr marL="0" marR="0" lvl="0" indent="66675"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(Highest income )</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horzOverflow="overflow">
                    <a:lnL cap="flat">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9253</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28</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53287" name="Rectangle 41"/>
          <p:cNvSpPr>
            <a:spLocks noChangeArrowheads="1"/>
          </p:cNvSpPr>
          <p:nvPr/>
        </p:nvSpPr>
        <p:spPr bwMode="auto">
          <a:xfrm>
            <a:off x="0" y="6276975"/>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zh-CN">
                <a:solidFill>
                  <a:srgbClr val="000000"/>
                </a:solidFill>
                <a:latin typeface="Times New Roman" panose="02020603050405020304" pitchFamily="18" charset="0"/>
                <a:ea typeface="宋体" panose="02010600030101010101" pitchFamily="2" charset="-122"/>
              </a:rPr>
              <a:t>Source: Estimated based on rural income and expenditure survey conducted by National Bureau of Statistics of China in 2005</a:t>
            </a:r>
            <a:endParaRPr lang="en-US" altLang="zh-CN">
              <a:solidFill>
                <a:srgbClr val="000000"/>
              </a:solidFill>
              <a:ea typeface="宋体" panose="02010600030101010101" pitchFamily="2" charset="-122"/>
            </a:endParaRPr>
          </a:p>
        </p:txBody>
      </p:sp>
    </p:spTree>
    <p:extLst>
      <p:ext uri="{BB962C8B-B14F-4D97-AF65-F5344CB8AC3E}">
        <p14:creationId xmlns:p14="http://schemas.microsoft.com/office/powerpoint/2010/main" val="386650260"/>
      </p:ext>
    </p:extLst>
  </p:cSld>
  <p:clrMapOvr>
    <a:masterClrMapping/>
  </p:clrMapOvr>
  <p:transition spd="slow">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0" y="152400"/>
            <a:ext cx="9144000" cy="1143000"/>
          </a:xfrm>
        </p:spPr>
        <p:txBody>
          <a:bodyPr/>
          <a:lstStyle/>
          <a:p>
            <a:pPr>
              <a:lnSpc>
                <a:spcPct val="80000"/>
              </a:lnSpc>
            </a:pPr>
            <a:r>
              <a:rPr lang="en-US" altLang="zh-CN" sz="3600" b="1">
                <a:ea typeface="宋体" panose="02010600030101010101" pitchFamily="2" charset="-122"/>
              </a:rPr>
              <a:t>Farmer’s income from agriculture by different income groups in 2005</a:t>
            </a:r>
            <a:r>
              <a:rPr lang="en-US" altLang="zh-CN">
                <a:ea typeface="宋体" panose="02010600030101010101" pitchFamily="2" charset="-122"/>
              </a:rPr>
              <a:t> </a:t>
            </a:r>
            <a:endParaRPr lang="zh-CN" altLang="en-US">
              <a:ea typeface="宋体" panose="02010600030101010101" pitchFamily="2" charset="-122"/>
            </a:endParaRPr>
          </a:p>
        </p:txBody>
      </p:sp>
      <p:graphicFrame>
        <p:nvGraphicFramePr>
          <p:cNvPr id="196611" name="Group 3"/>
          <p:cNvGraphicFramePr>
            <a:graphicFrameLocks noGrp="1"/>
          </p:cNvGraphicFramePr>
          <p:nvPr/>
        </p:nvGraphicFramePr>
        <p:xfrm>
          <a:off x="228600" y="1371600"/>
          <a:ext cx="8763000" cy="4800601"/>
        </p:xfrm>
        <a:graphic>
          <a:graphicData uri="http://schemas.openxmlformats.org/drawingml/2006/table">
            <a:tbl>
              <a:tblPr/>
              <a:tblGrid>
                <a:gridCol w="2189163">
                  <a:extLst>
                    <a:ext uri="{9D8B030D-6E8A-4147-A177-3AD203B41FA5}">
                      <a16:colId xmlns:a16="http://schemas.microsoft.com/office/drawing/2014/main" val="20000"/>
                    </a:ext>
                  </a:extLst>
                </a:gridCol>
                <a:gridCol w="2066925">
                  <a:extLst>
                    <a:ext uri="{9D8B030D-6E8A-4147-A177-3AD203B41FA5}">
                      <a16:colId xmlns:a16="http://schemas.microsoft.com/office/drawing/2014/main" val="20001"/>
                    </a:ext>
                  </a:extLst>
                </a:gridCol>
                <a:gridCol w="2252662">
                  <a:extLst>
                    <a:ext uri="{9D8B030D-6E8A-4147-A177-3AD203B41FA5}">
                      <a16:colId xmlns:a16="http://schemas.microsoft.com/office/drawing/2014/main" val="20002"/>
                    </a:ext>
                  </a:extLst>
                </a:gridCol>
                <a:gridCol w="2254250">
                  <a:extLst>
                    <a:ext uri="{9D8B030D-6E8A-4147-A177-3AD203B41FA5}">
                      <a16:colId xmlns:a16="http://schemas.microsoft.com/office/drawing/2014/main" val="20003"/>
                    </a:ext>
                  </a:extLst>
                </a:gridCol>
              </a:tblGrid>
              <a:tr h="1087438">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Income group</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Total income</a:t>
                      </a:r>
                      <a:endParaRPr kumimoji="0" lang="en-US" altLang="zh-CN" sz="1800" b="1" i="0" u="none" strike="noStrike" cap="none" normalizeH="0" baseline="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(Yuan/person, year)</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Agricultural Income (Yuan/person)</a:t>
                      </a: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Crop income</a:t>
                      </a:r>
                      <a:endParaRPr kumimoji="0" lang="en-US" altLang="zh-CN" sz="1800" b="1" i="0" u="none" strike="noStrike" cap="none" normalizeH="0" baseline="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(Yuan/person)</a:t>
                      </a:r>
                    </a:p>
                  </a:txBody>
                  <a:tcPr marL="90000" marR="90000" marT="46800" marB="46800"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497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National Average</a:t>
                      </a:r>
                      <a:endParaRPr kumimoji="0" lang="en-US" altLang="zh-CN" sz="1800" b="1" i="0" u="none" strike="noStrike" cap="none" normalizeH="0" baseline="0">
                        <a:ln>
                          <a:noFill/>
                        </a:ln>
                        <a:solidFill>
                          <a:srgbClr val="FF0000"/>
                        </a:solidFill>
                        <a:effectLst/>
                        <a:latin typeface="Arial" charset="0"/>
                        <a:ea typeface="宋体" pitchFamily="2" charset="-122"/>
                        <a:cs typeface="Times New Roman" pitchFamily="18" charset="0"/>
                      </a:endParaRPr>
                    </a:p>
                  </a:txBody>
                  <a:tcPr marL="90000" marR="90000" marT="46800" marB="46800" anchor="ctr" horzOverflow="overflow">
                    <a:lnL cap="flat">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3522</a:t>
                      </a:r>
                      <a:endParaRPr kumimoji="0" lang="en-US" altLang="zh-CN" sz="1800" b="1" i="0" u="none" strike="noStrike" cap="none" normalizeH="0" baseline="0">
                        <a:ln>
                          <a:noFill/>
                        </a:ln>
                        <a:solidFill>
                          <a:srgbClr val="FF0000"/>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rPr>
                        <a:t>1743 </a:t>
                      </a:r>
                      <a:endParaRPr kumimoji="0" lang="zh-CN" altLang="en-US" sz="2000" b="1" i="0" u="none" strike="noStrike" cap="none" normalizeH="0" baseline="0">
                        <a:ln>
                          <a:noFill/>
                        </a:ln>
                        <a:solidFill>
                          <a:srgbClr val="FF0000"/>
                        </a:solidFill>
                        <a:effectLst/>
                        <a:latin typeface="Times New Roman" pitchFamily="18" charset="0"/>
                        <a:ea typeface="宋体" pitchFamily="2" charset="-122"/>
                      </a:endParaRPr>
                    </a:p>
                  </a:txBody>
                  <a:tcPr marL="90000" marR="90000" marT="46800" marB="4680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rPr>
                        <a:t>1377 </a:t>
                      </a:r>
                      <a:endParaRPr kumimoji="0" lang="zh-CN" altLang="en-US" sz="2000" b="1" i="0" u="none" strike="noStrike" cap="none" normalizeH="0" baseline="0">
                        <a:ln>
                          <a:noFill/>
                        </a:ln>
                        <a:solidFill>
                          <a:srgbClr val="FF0000"/>
                        </a:solidFill>
                        <a:effectLst/>
                        <a:latin typeface="Times New Roman" pitchFamily="18" charset="0"/>
                        <a:ea typeface="宋体" pitchFamily="2" charset="-122"/>
                      </a:endParaRPr>
                    </a:p>
                  </a:txBody>
                  <a:tcPr marL="90000" marR="90000" marT="46800" marB="46800" anchor="ctr"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758825">
                <a:tc>
                  <a:txBody>
                    <a:bodyPr/>
                    <a:lstStyle/>
                    <a:p>
                      <a:pPr marL="0" marR="0" lvl="0" indent="66675"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Income group 1</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p>
                      <a:pPr marL="0" marR="0" lvl="0" indent="66675"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(Under poverty*)</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757</a:t>
                      </a:r>
                      <a:endParaRPr kumimoji="0" lang="en-US" altLang="zh-CN" sz="1800" b="1" i="0" u="none" strike="noStrike" cap="none" normalizeH="0" baseline="0">
                        <a:ln>
                          <a:noFill/>
                        </a:ln>
                        <a:solidFill>
                          <a:srgbClr val="FF0000"/>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rPr>
                        <a:t>447 </a:t>
                      </a:r>
                      <a:endParaRPr kumimoji="0" lang="zh-CN" altLang="en-US" sz="2000" b="1" i="0" u="none" strike="noStrike" cap="none" normalizeH="0" baseline="0">
                        <a:ln>
                          <a:noFill/>
                        </a:ln>
                        <a:solidFill>
                          <a:srgbClr val="FF0000"/>
                        </a:solidFill>
                        <a:effectLst/>
                        <a:latin typeface="Times New Roman" pitchFamily="18" charset="0"/>
                        <a:ea typeface="宋体" pitchFamily="2" charset="-122"/>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rPr>
                        <a:t>431 </a:t>
                      </a:r>
                      <a:endParaRPr kumimoji="0" lang="zh-CN" altLang="en-US" sz="2000" b="1" i="0" u="none" strike="noStrike" cap="none" normalizeH="0" baseline="0">
                        <a:ln>
                          <a:noFill/>
                        </a:ln>
                        <a:solidFill>
                          <a:srgbClr val="FF0000"/>
                        </a:solidFill>
                        <a:effectLst/>
                        <a:latin typeface="Times New Roman" pitchFamily="18" charset="0"/>
                        <a:ea typeface="宋体" pitchFamily="2" charset="-122"/>
                      </a:endParaRPr>
                    </a:p>
                  </a:txBody>
                  <a:tcPr marL="90000" marR="90000" marT="46800" marB="468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33388">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Income group 2</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1659</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946 </a:t>
                      </a:r>
                      <a:endParaRPr kumimoji="0" lang="zh-CN" altLang="en-US" sz="2000" b="0" i="0" u="none" strike="noStrike" cap="none" normalizeH="0" baseline="0">
                        <a:ln>
                          <a:noFill/>
                        </a:ln>
                        <a:solidFill>
                          <a:schemeClr val="tx1"/>
                        </a:solidFill>
                        <a:effectLst/>
                        <a:latin typeface="Times New Roman" pitchFamily="18" charset="0"/>
                        <a:ea typeface="宋体" pitchFamily="2" charset="-122"/>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780 </a:t>
                      </a:r>
                      <a:endParaRPr kumimoji="0" lang="zh-CN" altLang="en-US" sz="2000" b="0" i="0" u="none" strike="noStrike" cap="none" normalizeH="0" baseline="0">
                        <a:ln>
                          <a:noFill/>
                        </a:ln>
                        <a:solidFill>
                          <a:schemeClr val="tx1"/>
                        </a:solidFill>
                        <a:effectLst/>
                        <a:latin typeface="Times New Roman" pitchFamily="18" charset="0"/>
                        <a:ea typeface="宋体" pitchFamily="2" charset="-122"/>
                      </a:endParaRPr>
                    </a:p>
                  </a:txBody>
                  <a:tcPr marL="90000" marR="90000" marT="46800" marB="468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5720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Income group 3</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2477</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1313 </a:t>
                      </a:r>
                      <a:endParaRPr kumimoji="0" lang="zh-CN" altLang="en-US" sz="2000" b="0" i="0" u="none" strike="noStrike" cap="none" normalizeH="0" baseline="0">
                        <a:ln>
                          <a:noFill/>
                        </a:ln>
                        <a:solidFill>
                          <a:schemeClr val="tx1"/>
                        </a:solidFill>
                        <a:effectLst/>
                        <a:latin typeface="Times New Roman" pitchFamily="18" charset="0"/>
                        <a:ea typeface="宋体" pitchFamily="2" charset="-122"/>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1040 </a:t>
                      </a:r>
                      <a:endParaRPr kumimoji="0" lang="zh-CN" altLang="en-US" sz="2000" b="0" i="0" u="none" strike="noStrike" cap="none" normalizeH="0" baseline="0">
                        <a:ln>
                          <a:noFill/>
                        </a:ln>
                        <a:solidFill>
                          <a:schemeClr val="tx1"/>
                        </a:solidFill>
                        <a:effectLst/>
                        <a:latin typeface="Times New Roman" pitchFamily="18" charset="0"/>
                        <a:ea typeface="宋体" pitchFamily="2" charset="-122"/>
                      </a:endParaRPr>
                    </a:p>
                  </a:txBody>
                  <a:tcPr marL="90000" marR="90000" marT="46800" marB="468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3497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Income group 4</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3421</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1711 </a:t>
                      </a:r>
                      <a:endParaRPr kumimoji="0" lang="zh-CN" altLang="en-US" sz="2000" b="0" i="0" u="none" strike="noStrike" cap="none" normalizeH="0" baseline="0">
                        <a:ln>
                          <a:noFill/>
                        </a:ln>
                        <a:solidFill>
                          <a:schemeClr val="tx1"/>
                        </a:solidFill>
                        <a:effectLst/>
                        <a:latin typeface="Times New Roman" pitchFamily="18" charset="0"/>
                        <a:ea typeface="宋体" pitchFamily="2" charset="-122"/>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1334 </a:t>
                      </a:r>
                      <a:endParaRPr kumimoji="0" lang="zh-CN" altLang="en-US" sz="2000" b="0" i="0" u="none" strike="noStrike" cap="none" normalizeH="0" baseline="0">
                        <a:ln>
                          <a:noFill/>
                        </a:ln>
                        <a:solidFill>
                          <a:schemeClr val="tx1"/>
                        </a:solidFill>
                        <a:effectLst/>
                        <a:latin typeface="Times New Roman" pitchFamily="18" charset="0"/>
                        <a:ea typeface="宋体" pitchFamily="2" charset="-122"/>
                      </a:endParaRPr>
                    </a:p>
                  </a:txBody>
                  <a:tcPr marL="90000" marR="90000" marT="46800" marB="468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43180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Income group 5</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5048</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2221 </a:t>
                      </a:r>
                      <a:endParaRPr kumimoji="0" lang="zh-CN" altLang="en-US" sz="2000" b="0" i="0" u="none" strike="noStrike" cap="none" normalizeH="0" baseline="0">
                        <a:ln>
                          <a:noFill/>
                        </a:ln>
                        <a:solidFill>
                          <a:schemeClr val="tx1"/>
                        </a:solidFill>
                        <a:effectLst/>
                        <a:latin typeface="Times New Roman" pitchFamily="18" charset="0"/>
                        <a:ea typeface="宋体" pitchFamily="2" charset="-122"/>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1615 </a:t>
                      </a:r>
                      <a:endParaRPr kumimoji="0" lang="zh-CN" altLang="en-US" sz="2000" b="0" i="0" u="none" strike="noStrike" cap="none" normalizeH="0" baseline="0">
                        <a:ln>
                          <a:noFill/>
                        </a:ln>
                        <a:solidFill>
                          <a:schemeClr val="tx1"/>
                        </a:solidFill>
                        <a:effectLst/>
                        <a:latin typeface="Times New Roman" pitchFamily="18" charset="0"/>
                        <a:ea typeface="宋体" pitchFamily="2" charset="-122"/>
                      </a:endParaRPr>
                    </a:p>
                  </a:txBody>
                  <a:tcPr marL="90000" marR="90000" marT="46800" marB="468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762000">
                <a:tc>
                  <a:txBody>
                    <a:bodyPr/>
                    <a:lstStyle/>
                    <a:p>
                      <a:pPr marL="0" marR="0" lvl="0" indent="66675"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Income group 6</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p>
                      <a:pPr marL="0" marR="0" lvl="0" indent="66675"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(Highest income )</a:t>
                      </a:r>
                      <a:endParaRPr kumimoji="0" lang="en-US" altLang="zh-CN" sz="1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horzOverflow="overflow">
                    <a:lnL cap="flat">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9253</a:t>
                      </a:r>
                      <a:endParaRPr kumimoji="0" lang="en-US" altLang="zh-CN" sz="1800" b="1" i="0" u="none" strike="noStrike" cap="none" normalizeH="0" baseline="0">
                        <a:ln>
                          <a:noFill/>
                        </a:ln>
                        <a:solidFill>
                          <a:srgbClr val="FF0000"/>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rPr>
                        <a:t>2591 </a:t>
                      </a:r>
                      <a:endParaRPr kumimoji="0" lang="zh-CN" altLang="en-US" sz="2000" b="1" i="0" u="none" strike="noStrike" cap="none" normalizeH="0" baseline="0">
                        <a:ln>
                          <a:noFill/>
                        </a:ln>
                        <a:solidFill>
                          <a:srgbClr val="FF0000"/>
                        </a:solidFill>
                        <a:effectLst/>
                        <a:latin typeface="Times New Roman" pitchFamily="18" charset="0"/>
                        <a:ea typeface="宋体" pitchFamily="2" charset="-122"/>
                      </a:endParaRPr>
                    </a:p>
                  </a:txBody>
                  <a:tcPr marL="90000" marR="90000" marT="46800" marB="4680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rPr>
                        <a:t>1480 </a:t>
                      </a:r>
                      <a:endParaRPr kumimoji="0" lang="zh-CN" altLang="en-US" sz="2000" b="1" i="0" u="none" strike="noStrike" cap="none" normalizeH="0" baseline="0">
                        <a:ln>
                          <a:noFill/>
                        </a:ln>
                        <a:solidFill>
                          <a:srgbClr val="FF0000"/>
                        </a:solidFill>
                        <a:effectLst/>
                        <a:latin typeface="Times New Roman" pitchFamily="18" charset="0"/>
                        <a:ea typeface="宋体" pitchFamily="2" charset="-122"/>
                      </a:endParaRPr>
                    </a:p>
                  </a:txBody>
                  <a:tcPr marL="90000" marR="90000" marT="46800" marB="46800" anchor="ctr" horzOverflow="overflow">
                    <a:lnL>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54311" name="Rectangle 41"/>
          <p:cNvSpPr>
            <a:spLocks noChangeArrowheads="1"/>
          </p:cNvSpPr>
          <p:nvPr/>
        </p:nvSpPr>
        <p:spPr bwMode="auto">
          <a:xfrm>
            <a:off x="0" y="6276975"/>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zh-CN">
                <a:solidFill>
                  <a:srgbClr val="000000"/>
                </a:solidFill>
                <a:latin typeface="Times New Roman" panose="02020603050405020304" pitchFamily="18" charset="0"/>
                <a:ea typeface="宋体" panose="02010600030101010101" pitchFamily="2" charset="-122"/>
              </a:rPr>
              <a:t>Source: Estimated based on rural income and expenditure survey conducted by National Bureau of Statistics of China in 2005</a:t>
            </a:r>
            <a:endParaRPr lang="en-US" altLang="zh-CN">
              <a:solidFill>
                <a:srgbClr val="000000"/>
              </a:solidFill>
              <a:ea typeface="宋体" panose="02010600030101010101" pitchFamily="2" charset="-122"/>
            </a:endParaRPr>
          </a:p>
        </p:txBody>
      </p:sp>
      <p:sp>
        <p:nvSpPr>
          <p:cNvPr id="196650" name="Line 42"/>
          <p:cNvSpPr>
            <a:spLocks noChangeShapeType="1"/>
          </p:cNvSpPr>
          <p:nvPr/>
        </p:nvSpPr>
        <p:spPr bwMode="auto">
          <a:xfrm>
            <a:off x="6477000" y="2133600"/>
            <a:ext cx="1143000" cy="9906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pPr algn="ctr" fontAlgn="base">
              <a:spcBef>
                <a:spcPct val="0"/>
              </a:spcBef>
              <a:spcAft>
                <a:spcPct val="0"/>
              </a:spcAft>
            </a:pPr>
            <a:endParaRPr lang="zh-CN" altLang="en-US">
              <a:solidFill>
                <a:srgbClr val="000000"/>
              </a:solidFill>
            </a:endParaRPr>
          </a:p>
        </p:txBody>
      </p:sp>
      <p:sp>
        <p:nvSpPr>
          <p:cNvPr id="196651" name="Text Box 43"/>
          <p:cNvSpPr txBox="1">
            <a:spLocks noChangeArrowheads="1"/>
          </p:cNvSpPr>
          <p:nvPr/>
        </p:nvSpPr>
        <p:spPr bwMode="auto">
          <a:xfrm>
            <a:off x="609600" y="1524000"/>
            <a:ext cx="6400800" cy="711200"/>
          </a:xfrm>
          <a:prstGeom prst="rect">
            <a:avLst/>
          </a:prstGeom>
          <a:solidFill>
            <a:srgbClr val="FFFFFF"/>
          </a:solidFill>
          <a:ln w="9525" algn="ctr">
            <a:solidFill>
              <a:schemeClr val="tx1"/>
            </a:solidFill>
            <a:miter lim="800000"/>
            <a:headEnd/>
            <a:tailEnd/>
          </a:ln>
        </p:spPr>
        <p:txBody>
          <a:bodyPr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zh-CN" sz="2000" b="1">
                <a:solidFill>
                  <a:srgbClr val="333399"/>
                </a:solidFill>
                <a:ea typeface="宋体" panose="02010600030101010101" pitchFamily="2" charset="-122"/>
              </a:rPr>
              <a:t>many reasons: Lower technology, less education, sterile soil, poor natural condition etc.</a:t>
            </a:r>
          </a:p>
        </p:txBody>
      </p:sp>
    </p:spTree>
    <p:extLst>
      <p:ext uri="{BB962C8B-B14F-4D97-AF65-F5344CB8AC3E}">
        <p14:creationId xmlns:p14="http://schemas.microsoft.com/office/powerpoint/2010/main" val="29863387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6651"/>
                                        </p:tgtEl>
                                        <p:attrNameLst>
                                          <p:attrName>style.visibility</p:attrName>
                                        </p:attrNameLst>
                                      </p:cBhvr>
                                      <p:to>
                                        <p:strVal val="visible"/>
                                      </p:to>
                                    </p:set>
                                    <p:animEffect transition="in" filter="blinds(horizontal)">
                                      <p:cBhvr>
                                        <p:cTn id="7" dur="500"/>
                                        <p:tgtEl>
                                          <p:spTgt spid="19665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96650"/>
                                        </p:tgtEl>
                                        <p:attrNameLst>
                                          <p:attrName>style.visibility</p:attrName>
                                        </p:attrNameLst>
                                      </p:cBhvr>
                                      <p:to>
                                        <p:strVal val="visible"/>
                                      </p:to>
                                    </p:set>
                                    <p:animEffect transition="in" filter="blinds(horizontal)">
                                      <p:cBhvr>
                                        <p:cTn id="10" dur="500"/>
                                        <p:tgtEl>
                                          <p:spTgt spid="196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50" grpId="0" animBg="1"/>
      <p:bldP spid="196651"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685800" y="304800"/>
            <a:ext cx="7772400" cy="914400"/>
          </a:xfrm>
        </p:spPr>
        <p:txBody>
          <a:bodyPr/>
          <a:lstStyle/>
          <a:p>
            <a:pPr>
              <a:lnSpc>
                <a:spcPct val="75000"/>
              </a:lnSpc>
            </a:pPr>
            <a:r>
              <a:rPr lang="en-US" altLang="zh-CN" sz="4000" b="1">
                <a:solidFill>
                  <a:schemeClr val="accent2"/>
                </a:solidFill>
                <a:ea typeface="宋体" panose="02010600030101010101" pitchFamily="2" charset="-122"/>
              </a:rPr>
              <a:t>Methodologies</a:t>
            </a:r>
            <a:endParaRPr lang="en-US" altLang="zh-CN" sz="5400">
              <a:solidFill>
                <a:schemeClr val="accent2"/>
              </a:solidFill>
              <a:ea typeface="宋体" panose="02010600030101010101" pitchFamily="2" charset="-122"/>
            </a:endParaRPr>
          </a:p>
        </p:txBody>
      </p:sp>
      <p:sp>
        <p:nvSpPr>
          <p:cNvPr id="55299" name="Rectangle 3"/>
          <p:cNvSpPr>
            <a:spLocks noGrp="1" noChangeArrowheads="1"/>
          </p:cNvSpPr>
          <p:nvPr>
            <p:ph type="body" idx="1"/>
          </p:nvPr>
        </p:nvSpPr>
        <p:spPr>
          <a:xfrm>
            <a:off x="762000" y="1676400"/>
            <a:ext cx="8077200" cy="4953000"/>
          </a:xfrm>
        </p:spPr>
        <p:txBody>
          <a:bodyPr/>
          <a:lstStyle/>
          <a:p>
            <a:pPr>
              <a:lnSpc>
                <a:spcPct val="80000"/>
              </a:lnSpc>
              <a:spcBef>
                <a:spcPct val="70000"/>
              </a:spcBef>
            </a:pPr>
            <a:r>
              <a:rPr lang="en-US" altLang="zh-CN" sz="2800" b="1">
                <a:solidFill>
                  <a:schemeClr val="accent2"/>
                </a:solidFill>
                <a:ea typeface="宋体" panose="02010600030101010101" pitchFamily="2" charset="-122"/>
              </a:rPr>
              <a:t>GTAP (Global Trade Analysis Program)</a:t>
            </a:r>
          </a:p>
          <a:p>
            <a:pPr lvl="1">
              <a:lnSpc>
                <a:spcPct val="80000"/>
              </a:lnSpc>
              <a:spcBef>
                <a:spcPct val="70000"/>
              </a:spcBef>
            </a:pPr>
            <a:r>
              <a:rPr lang="en-US" altLang="zh-CN" sz="2400" b="1">
                <a:ea typeface="宋体" panose="02010600030101010101" pitchFamily="2" charset="-122"/>
              </a:rPr>
              <a:t>Simulate the world price changes</a:t>
            </a:r>
          </a:p>
          <a:p>
            <a:pPr>
              <a:lnSpc>
                <a:spcPct val="90000"/>
              </a:lnSpc>
              <a:spcBef>
                <a:spcPct val="70000"/>
              </a:spcBef>
            </a:pPr>
            <a:r>
              <a:rPr lang="en-US" altLang="zh-CN" sz="2800" b="1">
                <a:solidFill>
                  <a:schemeClr val="accent2"/>
                </a:solidFill>
                <a:ea typeface="宋体" panose="02010600030101010101" pitchFamily="2" charset="-122"/>
              </a:rPr>
              <a:t>China’s Agricultural Policy Simulation and Projection Model (CAPSiM)</a:t>
            </a:r>
            <a:endParaRPr lang="en-US" altLang="zh-CN" sz="4400" b="1">
              <a:solidFill>
                <a:schemeClr val="accent2"/>
              </a:solidFill>
              <a:ea typeface="宋体" panose="02010600030101010101" pitchFamily="2" charset="-122"/>
            </a:endParaRPr>
          </a:p>
          <a:p>
            <a:pPr lvl="1">
              <a:lnSpc>
                <a:spcPct val="80000"/>
              </a:lnSpc>
            </a:pPr>
            <a:r>
              <a:rPr lang="en-US" altLang="zh-CN" b="1">
                <a:ea typeface="宋体" panose="02010600030101010101" pitchFamily="2" charset="-122"/>
              </a:rPr>
              <a:t>Partial equilibrium model</a:t>
            </a:r>
          </a:p>
          <a:p>
            <a:pPr lvl="1">
              <a:lnSpc>
                <a:spcPct val="80000"/>
              </a:lnSpc>
            </a:pPr>
            <a:r>
              <a:rPr lang="en-US" altLang="zh-CN" b="1">
                <a:ea typeface="宋体" panose="02010600030101010101" pitchFamily="2" charset="-122"/>
              </a:rPr>
              <a:t>Commodities:</a:t>
            </a:r>
          </a:p>
          <a:p>
            <a:pPr lvl="1">
              <a:lnSpc>
                <a:spcPct val="80000"/>
              </a:lnSpc>
              <a:buFontTx/>
              <a:buNone/>
            </a:pPr>
            <a:r>
              <a:rPr lang="en-US" altLang="zh-CN" b="1">
                <a:ea typeface="宋体" panose="02010600030101010101" pitchFamily="2" charset="-122"/>
              </a:rPr>
              <a:t>		</a:t>
            </a:r>
            <a:r>
              <a:rPr lang="en-US" altLang="zh-CN" sz="2400" b="1">
                <a:ea typeface="宋体" panose="02010600030101010101" pitchFamily="2" charset="-122"/>
              </a:rPr>
              <a:t>12 crops or crop groups</a:t>
            </a:r>
          </a:p>
          <a:p>
            <a:pPr lvl="1">
              <a:lnSpc>
                <a:spcPct val="80000"/>
              </a:lnSpc>
              <a:buFontTx/>
              <a:buNone/>
            </a:pPr>
            <a:r>
              <a:rPr lang="en-US" altLang="zh-CN" sz="2400" b="1">
                <a:ea typeface="宋体" panose="02010600030101010101" pitchFamily="2" charset="-122"/>
              </a:rPr>
              <a:t>     	7 livestock and aquatic products</a:t>
            </a:r>
          </a:p>
          <a:p>
            <a:pPr lvl="1">
              <a:lnSpc>
                <a:spcPct val="80000"/>
              </a:lnSpc>
              <a:buFontTx/>
              <a:buNone/>
            </a:pPr>
            <a:r>
              <a:rPr lang="en-US" altLang="zh-CN" sz="2400" b="1">
                <a:ea typeface="宋体" panose="02010600030101010101" pitchFamily="2" charset="-122"/>
              </a:rPr>
              <a:t>       31 provinces</a:t>
            </a:r>
          </a:p>
          <a:p>
            <a:pPr lvl="1">
              <a:lnSpc>
                <a:spcPct val="80000"/>
              </a:lnSpc>
              <a:buFontTx/>
              <a:buNone/>
            </a:pPr>
            <a:r>
              <a:rPr lang="en-US" altLang="zh-CN" sz="2400" b="1">
                <a:ea typeface="宋体" panose="02010600030101010101" pitchFamily="2" charset="-122"/>
              </a:rPr>
              <a:t>       11 farmer groups per region (10 group+1 average)</a:t>
            </a:r>
          </a:p>
          <a:p>
            <a:pPr lvl="1">
              <a:lnSpc>
                <a:spcPct val="80000"/>
              </a:lnSpc>
              <a:buFontTx/>
              <a:buNone/>
            </a:pPr>
            <a:r>
              <a:rPr lang="en-US" altLang="zh-CN" sz="2400" b="1">
                <a:ea typeface="宋体" panose="02010600030101010101" pitchFamily="2" charset="-122"/>
              </a:rPr>
              <a:t>      </a:t>
            </a:r>
          </a:p>
        </p:txBody>
      </p:sp>
    </p:spTree>
    <p:extLst>
      <p:ext uri="{BB962C8B-B14F-4D97-AF65-F5344CB8AC3E}">
        <p14:creationId xmlns:p14="http://schemas.microsoft.com/office/powerpoint/2010/main" val="1789744424"/>
      </p:ext>
    </p:extLst>
  </p:cSld>
  <p:clrMapOvr>
    <a:masterClrMapping/>
  </p:clrMapOvr>
  <p:transition spd="slow">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838200" y="304800"/>
            <a:ext cx="7772400" cy="1143000"/>
          </a:xfrm>
        </p:spPr>
        <p:txBody>
          <a:bodyPr/>
          <a:lstStyle/>
          <a:p>
            <a:r>
              <a:rPr lang="zh-CN" altLang="en-US">
                <a:ea typeface="宋体" panose="02010600030101010101" pitchFamily="2" charset="-122"/>
              </a:rPr>
              <a:t> </a:t>
            </a:r>
          </a:p>
        </p:txBody>
      </p:sp>
      <p:sp>
        <p:nvSpPr>
          <p:cNvPr id="16388" name="Text Box 3"/>
          <p:cNvSpPr txBox="1">
            <a:spLocks noChangeArrowheads="1"/>
          </p:cNvSpPr>
          <p:nvPr/>
        </p:nvSpPr>
        <p:spPr bwMode="auto">
          <a:xfrm>
            <a:off x="2667000" y="152400"/>
            <a:ext cx="3657600" cy="121920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r>
              <a:rPr kumimoji="1" lang="en-US" altLang="zh-CN" sz="2400" b="1">
                <a:solidFill>
                  <a:srgbClr val="000000"/>
                </a:solidFill>
                <a:latin typeface="Times New Roman" panose="02020603050405020304" pitchFamily="18" charset="0"/>
                <a:ea typeface="宋体" panose="02010600030101010101" pitchFamily="2" charset="-122"/>
              </a:rPr>
              <a:t>Outputs from GTAP</a:t>
            </a:r>
            <a:endParaRPr kumimoji="1" lang="en-US" altLang="zh-CN" b="1">
              <a:solidFill>
                <a:srgbClr val="000000"/>
              </a:solidFill>
              <a:latin typeface="Times New Roman" panose="02020603050405020304" pitchFamily="18" charset="0"/>
              <a:ea typeface="宋体" panose="02010600030101010101" pitchFamily="2" charset="-122"/>
            </a:endParaRPr>
          </a:p>
          <a:p>
            <a:pPr algn="ctr" eaLnBrk="1" fontAlgn="base" hangingPunct="1">
              <a:spcBef>
                <a:spcPct val="0"/>
              </a:spcBef>
              <a:spcAft>
                <a:spcPct val="0"/>
              </a:spcAft>
            </a:pPr>
            <a:r>
              <a:rPr kumimoji="1" lang="en-US" altLang="zh-CN" b="1">
                <a:solidFill>
                  <a:srgbClr val="000000"/>
                </a:solidFill>
                <a:latin typeface="Times New Roman" panose="02020603050405020304" pitchFamily="18" charset="0"/>
                <a:ea typeface="宋体" panose="02010600030101010101" pitchFamily="2" charset="-122"/>
              </a:rPr>
              <a:t>Impacts of biofuel on international food prices</a:t>
            </a:r>
          </a:p>
        </p:txBody>
      </p:sp>
      <p:sp>
        <p:nvSpPr>
          <p:cNvPr id="16389" name="Text Box 4"/>
          <p:cNvSpPr txBox="1">
            <a:spLocks noChangeArrowheads="1"/>
          </p:cNvSpPr>
          <p:nvPr/>
        </p:nvSpPr>
        <p:spPr bwMode="auto">
          <a:xfrm>
            <a:off x="2895600" y="1828800"/>
            <a:ext cx="3124200" cy="68580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r>
              <a:rPr kumimoji="1" lang="en-US" altLang="zh-CN" sz="3200" b="1">
                <a:solidFill>
                  <a:srgbClr val="000000"/>
                </a:solidFill>
                <a:latin typeface="Times New Roman" panose="02020603050405020304" pitchFamily="18" charset="0"/>
                <a:ea typeface="宋体" panose="02010600030101010101" pitchFamily="2" charset="-122"/>
              </a:rPr>
              <a:t>CAPSiM</a:t>
            </a:r>
          </a:p>
        </p:txBody>
      </p:sp>
      <p:sp>
        <p:nvSpPr>
          <p:cNvPr id="16390" name="Text Box 5"/>
          <p:cNvSpPr txBox="1">
            <a:spLocks noChangeArrowheads="1"/>
          </p:cNvSpPr>
          <p:nvPr/>
        </p:nvSpPr>
        <p:spPr bwMode="auto">
          <a:xfrm>
            <a:off x="2743200" y="2895600"/>
            <a:ext cx="3429000" cy="99060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just" eaLnBrk="1" fontAlgn="base" hangingPunct="1">
              <a:lnSpc>
                <a:spcPct val="80000"/>
              </a:lnSpc>
              <a:spcBef>
                <a:spcPct val="0"/>
              </a:spcBef>
              <a:spcAft>
                <a:spcPct val="0"/>
              </a:spcAft>
            </a:pPr>
            <a:r>
              <a:rPr kumimoji="1" lang="en-US" altLang="zh-CN" sz="2800" b="1">
                <a:solidFill>
                  <a:srgbClr val="000000"/>
                </a:solidFill>
                <a:latin typeface="Times New Roman" panose="02020603050405020304" pitchFamily="18" charset="0"/>
                <a:ea typeface="宋体" panose="02010600030101010101" pitchFamily="2" charset="-122"/>
              </a:rPr>
              <a:t>Aggregate impacts:</a:t>
            </a:r>
          </a:p>
          <a:p>
            <a:pPr algn="just" eaLnBrk="1" fontAlgn="base" hangingPunct="1">
              <a:lnSpc>
                <a:spcPct val="80000"/>
              </a:lnSpc>
              <a:spcBef>
                <a:spcPct val="0"/>
              </a:spcBef>
              <a:spcAft>
                <a:spcPct val="0"/>
              </a:spcAft>
            </a:pPr>
            <a:r>
              <a:rPr kumimoji="1" lang="en-US" altLang="zh-CN" sz="2400" b="1" noProof="1">
                <a:solidFill>
                  <a:srgbClr val="000000"/>
                </a:solidFill>
                <a:latin typeface="Times New Roman" panose="02020603050405020304" pitchFamily="18" charset="0"/>
                <a:ea typeface="宋体" panose="02010600030101010101" pitchFamily="2" charset="-122"/>
              </a:rPr>
              <a:t>   </a:t>
            </a:r>
            <a:r>
              <a:rPr kumimoji="1" lang="en-US" altLang="zh-CN" b="1">
                <a:solidFill>
                  <a:srgbClr val="000000"/>
                </a:solidFill>
                <a:latin typeface="Times New Roman" panose="02020603050405020304" pitchFamily="18" charset="0"/>
                <a:ea typeface="宋体" panose="02010600030101010101" pitchFamily="2" charset="-122"/>
              </a:rPr>
              <a:t>by commodity</a:t>
            </a:r>
          </a:p>
          <a:p>
            <a:pPr algn="just" eaLnBrk="1" fontAlgn="base" hangingPunct="1">
              <a:lnSpc>
                <a:spcPct val="80000"/>
              </a:lnSpc>
              <a:spcBef>
                <a:spcPct val="0"/>
              </a:spcBef>
              <a:spcAft>
                <a:spcPct val="0"/>
              </a:spcAft>
            </a:pPr>
            <a:r>
              <a:rPr kumimoji="1" lang="en-US" altLang="zh-CN" b="1">
                <a:solidFill>
                  <a:srgbClr val="000000"/>
                </a:solidFill>
                <a:latin typeface="Times New Roman" panose="02020603050405020304" pitchFamily="18" charset="0"/>
                <a:ea typeface="宋体" panose="02010600030101010101" pitchFamily="2" charset="-122"/>
              </a:rPr>
              <a:t>   at national level</a:t>
            </a:r>
          </a:p>
        </p:txBody>
      </p:sp>
      <p:sp>
        <p:nvSpPr>
          <p:cNvPr id="16391" name="Text Box 6"/>
          <p:cNvSpPr txBox="1">
            <a:spLocks noChangeArrowheads="1"/>
          </p:cNvSpPr>
          <p:nvPr/>
        </p:nvSpPr>
        <p:spPr bwMode="auto">
          <a:xfrm>
            <a:off x="2819400" y="4114800"/>
            <a:ext cx="3124200" cy="60960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lnSpc>
                <a:spcPct val="80000"/>
              </a:lnSpc>
              <a:spcBef>
                <a:spcPct val="0"/>
              </a:spcBef>
              <a:spcAft>
                <a:spcPct val="0"/>
              </a:spcAft>
            </a:pPr>
            <a:r>
              <a:rPr kumimoji="1" lang="en-US" altLang="zh-CN" sz="2400" b="1">
                <a:solidFill>
                  <a:srgbClr val="000000"/>
                </a:solidFill>
                <a:latin typeface="Times New Roman" panose="02020603050405020304" pitchFamily="18" charset="0"/>
                <a:ea typeface="宋体" panose="02010600030101010101" pitchFamily="2" charset="-122"/>
              </a:rPr>
              <a:t>Price transmission models</a:t>
            </a:r>
          </a:p>
        </p:txBody>
      </p:sp>
      <p:sp>
        <p:nvSpPr>
          <p:cNvPr id="16392" name="Text Box 7"/>
          <p:cNvSpPr txBox="1">
            <a:spLocks noChangeArrowheads="1"/>
          </p:cNvSpPr>
          <p:nvPr/>
        </p:nvSpPr>
        <p:spPr bwMode="auto">
          <a:xfrm>
            <a:off x="838200" y="4953000"/>
            <a:ext cx="2209800" cy="1004888"/>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just" eaLnBrk="1" fontAlgn="base" hangingPunct="1">
              <a:spcBef>
                <a:spcPct val="0"/>
              </a:spcBef>
              <a:spcAft>
                <a:spcPct val="0"/>
              </a:spcAft>
            </a:pPr>
            <a:r>
              <a:rPr kumimoji="1" lang="en-US" altLang="zh-CN" sz="2000" b="1">
                <a:solidFill>
                  <a:srgbClr val="000000"/>
                </a:solidFill>
                <a:latin typeface="Times New Roman" panose="02020603050405020304" pitchFamily="18" charset="0"/>
                <a:ea typeface="宋体" panose="02010600030101010101" pitchFamily="2" charset="-122"/>
              </a:rPr>
              <a:t>Impacts by region:</a:t>
            </a:r>
          </a:p>
          <a:p>
            <a:pPr algn="just" eaLnBrk="1" fontAlgn="base" hangingPunct="1">
              <a:lnSpc>
                <a:spcPct val="90000"/>
              </a:lnSpc>
              <a:spcBef>
                <a:spcPct val="0"/>
              </a:spcBef>
              <a:spcAft>
                <a:spcPct val="0"/>
              </a:spcAft>
            </a:pPr>
            <a:r>
              <a:rPr kumimoji="1" lang="en-US" altLang="zh-CN" sz="1600" b="1">
                <a:solidFill>
                  <a:srgbClr val="000000"/>
                </a:solidFill>
                <a:latin typeface="Times New Roman" panose="02020603050405020304" pitchFamily="18" charset="0"/>
                <a:ea typeface="宋体" panose="02010600030101010101" pitchFamily="2" charset="-122"/>
              </a:rPr>
              <a:t>   Production</a:t>
            </a:r>
          </a:p>
          <a:p>
            <a:pPr algn="just" eaLnBrk="1" fontAlgn="base" hangingPunct="1">
              <a:lnSpc>
                <a:spcPct val="90000"/>
              </a:lnSpc>
              <a:spcBef>
                <a:spcPct val="0"/>
              </a:spcBef>
              <a:spcAft>
                <a:spcPct val="0"/>
              </a:spcAft>
            </a:pPr>
            <a:r>
              <a:rPr kumimoji="1" lang="en-US" altLang="zh-CN" sz="1600" b="1">
                <a:solidFill>
                  <a:srgbClr val="000000"/>
                </a:solidFill>
                <a:latin typeface="Times New Roman" panose="02020603050405020304" pitchFamily="18" charset="0"/>
                <a:ea typeface="宋体" panose="02010600030101010101" pitchFamily="2" charset="-122"/>
              </a:rPr>
              <a:t>   Consumption</a:t>
            </a:r>
          </a:p>
          <a:p>
            <a:pPr algn="just" eaLnBrk="1" fontAlgn="base" hangingPunct="1">
              <a:lnSpc>
                <a:spcPct val="90000"/>
              </a:lnSpc>
              <a:spcBef>
                <a:spcPct val="0"/>
              </a:spcBef>
              <a:spcAft>
                <a:spcPct val="0"/>
              </a:spcAft>
            </a:pPr>
            <a:r>
              <a:rPr kumimoji="1" lang="en-US" altLang="zh-CN" sz="1600" b="1">
                <a:solidFill>
                  <a:srgbClr val="000000"/>
                </a:solidFill>
                <a:latin typeface="Times New Roman" panose="02020603050405020304" pitchFamily="18" charset="0"/>
                <a:ea typeface="宋体" panose="02010600030101010101" pitchFamily="2" charset="-122"/>
              </a:rPr>
              <a:t>   Income ….  </a:t>
            </a:r>
          </a:p>
        </p:txBody>
      </p:sp>
      <p:sp>
        <p:nvSpPr>
          <p:cNvPr id="16393" name="Text Box 8"/>
          <p:cNvSpPr txBox="1">
            <a:spLocks noChangeArrowheads="1"/>
          </p:cNvSpPr>
          <p:nvPr/>
        </p:nvSpPr>
        <p:spPr bwMode="auto">
          <a:xfrm>
            <a:off x="5943600" y="4953000"/>
            <a:ext cx="2819400" cy="99060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just" eaLnBrk="1" fontAlgn="base" hangingPunct="1">
              <a:lnSpc>
                <a:spcPct val="90000"/>
              </a:lnSpc>
              <a:spcBef>
                <a:spcPct val="0"/>
              </a:spcBef>
              <a:spcAft>
                <a:spcPct val="0"/>
              </a:spcAft>
            </a:pPr>
            <a:r>
              <a:rPr kumimoji="1" lang="en-US" altLang="zh-CN" sz="2000" b="1">
                <a:solidFill>
                  <a:srgbClr val="000000"/>
                </a:solidFill>
                <a:latin typeface="Times New Roman" panose="02020603050405020304" pitchFamily="18" charset="0"/>
                <a:ea typeface="宋体" panose="02010600030101010101" pitchFamily="2" charset="-122"/>
              </a:rPr>
              <a:t>Impacts on poor/richer:</a:t>
            </a:r>
          </a:p>
          <a:p>
            <a:pPr algn="just" eaLnBrk="1" fontAlgn="base" hangingPunct="1">
              <a:lnSpc>
                <a:spcPct val="90000"/>
              </a:lnSpc>
              <a:spcBef>
                <a:spcPct val="0"/>
              </a:spcBef>
              <a:spcAft>
                <a:spcPct val="0"/>
              </a:spcAft>
            </a:pPr>
            <a:r>
              <a:rPr kumimoji="1" lang="en-US" altLang="zh-CN" sz="1600" b="1">
                <a:solidFill>
                  <a:srgbClr val="000000"/>
                </a:solidFill>
                <a:latin typeface="Times New Roman" panose="02020603050405020304" pitchFamily="18" charset="0"/>
                <a:ea typeface="宋体" panose="02010600030101010101" pitchFamily="2" charset="-122"/>
              </a:rPr>
              <a:t>   Production</a:t>
            </a:r>
          </a:p>
          <a:p>
            <a:pPr algn="just" eaLnBrk="1" fontAlgn="base" hangingPunct="1">
              <a:lnSpc>
                <a:spcPct val="90000"/>
              </a:lnSpc>
              <a:spcBef>
                <a:spcPct val="0"/>
              </a:spcBef>
              <a:spcAft>
                <a:spcPct val="0"/>
              </a:spcAft>
            </a:pPr>
            <a:r>
              <a:rPr kumimoji="1" lang="en-US" altLang="zh-CN" sz="1600" b="1">
                <a:solidFill>
                  <a:srgbClr val="000000"/>
                </a:solidFill>
                <a:latin typeface="Times New Roman" panose="02020603050405020304" pitchFamily="18" charset="0"/>
                <a:ea typeface="宋体" panose="02010600030101010101" pitchFamily="2" charset="-122"/>
              </a:rPr>
              <a:t>   Consumption</a:t>
            </a:r>
          </a:p>
          <a:p>
            <a:pPr algn="just" eaLnBrk="1" fontAlgn="base" hangingPunct="1">
              <a:lnSpc>
                <a:spcPct val="90000"/>
              </a:lnSpc>
              <a:spcBef>
                <a:spcPct val="0"/>
              </a:spcBef>
              <a:spcAft>
                <a:spcPct val="0"/>
              </a:spcAft>
            </a:pPr>
            <a:r>
              <a:rPr kumimoji="1" lang="en-US" altLang="zh-CN" sz="1600" b="1">
                <a:solidFill>
                  <a:srgbClr val="000000"/>
                </a:solidFill>
                <a:latin typeface="Times New Roman" panose="02020603050405020304" pitchFamily="18" charset="0"/>
                <a:ea typeface="宋体" panose="02010600030101010101" pitchFamily="2" charset="-122"/>
              </a:rPr>
              <a:t>   Income  ....  </a:t>
            </a:r>
          </a:p>
        </p:txBody>
      </p:sp>
      <p:graphicFrame>
        <p:nvGraphicFramePr>
          <p:cNvPr id="16386" name="Object 9"/>
          <p:cNvGraphicFramePr>
            <a:graphicFrameLocks noChangeAspect="1"/>
          </p:cNvGraphicFramePr>
          <p:nvPr/>
        </p:nvGraphicFramePr>
        <p:xfrm>
          <a:off x="533400" y="6291263"/>
          <a:ext cx="7951788" cy="490537"/>
        </p:xfrm>
        <a:graphic>
          <a:graphicData uri="http://schemas.openxmlformats.org/presentationml/2006/ole">
            <mc:AlternateContent xmlns:mc="http://schemas.openxmlformats.org/markup-compatibility/2006">
              <mc:Choice xmlns:v="urn:schemas-microsoft-com:vml" Requires="v">
                <p:oleObj name="Document" r:id="rId2" imgW="7957820" imgH="495300" progId="Word.Document.8">
                  <p:embed/>
                </p:oleObj>
              </mc:Choice>
              <mc:Fallback>
                <p:oleObj name="Document" r:id="rId2" imgW="7957820" imgH="495300" progId="Word.Document.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6291263"/>
                        <a:ext cx="7951788"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94" name="Line 10"/>
          <p:cNvSpPr>
            <a:spLocks noChangeShapeType="1"/>
          </p:cNvSpPr>
          <p:nvPr/>
        </p:nvSpPr>
        <p:spPr bwMode="auto">
          <a:xfrm>
            <a:off x="4419600" y="2514600"/>
            <a:ext cx="0" cy="381000"/>
          </a:xfrm>
          <a:prstGeom prst="line">
            <a:avLst/>
          </a:prstGeom>
          <a:noFill/>
          <a:ln w="5715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lang="zh-CN" altLang="en-US">
              <a:solidFill>
                <a:srgbClr val="000000"/>
              </a:solidFill>
            </a:endParaRPr>
          </a:p>
        </p:txBody>
      </p:sp>
      <p:sp>
        <p:nvSpPr>
          <p:cNvPr id="16395" name="Line 11"/>
          <p:cNvSpPr>
            <a:spLocks noChangeShapeType="1"/>
          </p:cNvSpPr>
          <p:nvPr/>
        </p:nvSpPr>
        <p:spPr bwMode="auto">
          <a:xfrm>
            <a:off x="4419600" y="3810000"/>
            <a:ext cx="0" cy="381000"/>
          </a:xfrm>
          <a:prstGeom prst="line">
            <a:avLst/>
          </a:prstGeom>
          <a:noFill/>
          <a:ln w="5715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lang="zh-CN" altLang="en-US">
              <a:solidFill>
                <a:srgbClr val="000000"/>
              </a:solidFill>
            </a:endParaRPr>
          </a:p>
        </p:txBody>
      </p:sp>
      <p:sp>
        <p:nvSpPr>
          <p:cNvPr id="16396" name="Line 12"/>
          <p:cNvSpPr>
            <a:spLocks noChangeShapeType="1"/>
          </p:cNvSpPr>
          <p:nvPr/>
        </p:nvSpPr>
        <p:spPr bwMode="auto">
          <a:xfrm flipH="1">
            <a:off x="3048000" y="4724400"/>
            <a:ext cx="1295400" cy="685800"/>
          </a:xfrm>
          <a:prstGeom prst="line">
            <a:avLst/>
          </a:prstGeom>
          <a:noFill/>
          <a:ln w="38100" cap="sq">
            <a:solidFill>
              <a:schemeClr val="tx1"/>
            </a:solidFill>
            <a:miter lim="800000"/>
            <a:headEnd type="none" w="sm" len="sm"/>
            <a:tailEnd type="triangle" w="lg" len="me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lang="zh-CN" altLang="en-US">
              <a:solidFill>
                <a:srgbClr val="000000"/>
              </a:solidFill>
            </a:endParaRPr>
          </a:p>
        </p:txBody>
      </p:sp>
      <p:sp>
        <p:nvSpPr>
          <p:cNvPr id="16397" name="Line 13"/>
          <p:cNvSpPr>
            <a:spLocks noChangeShapeType="1"/>
          </p:cNvSpPr>
          <p:nvPr/>
        </p:nvSpPr>
        <p:spPr bwMode="auto">
          <a:xfrm flipV="1">
            <a:off x="3124200" y="5562600"/>
            <a:ext cx="2819400" cy="76200"/>
          </a:xfrm>
          <a:prstGeom prst="line">
            <a:avLst/>
          </a:prstGeom>
          <a:noFill/>
          <a:ln w="38100" cap="sq">
            <a:solidFill>
              <a:schemeClr val="tx1"/>
            </a:solidFill>
            <a:miter lim="800000"/>
            <a:headEnd type="none" w="sm" len="sm"/>
            <a:tailEnd type="triangle" w="lg" len="med"/>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lang="zh-CN" altLang="en-US">
              <a:solidFill>
                <a:srgbClr val="000000"/>
              </a:solidFill>
            </a:endParaRPr>
          </a:p>
        </p:txBody>
      </p:sp>
      <p:sp>
        <p:nvSpPr>
          <p:cNvPr id="16398" name="Line 14"/>
          <p:cNvSpPr>
            <a:spLocks noChangeShapeType="1"/>
          </p:cNvSpPr>
          <p:nvPr/>
        </p:nvSpPr>
        <p:spPr bwMode="auto">
          <a:xfrm>
            <a:off x="4419600" y="1447800"/>
            <a:ext cx="0" cy="381000"/>
          </a:xfrm>
          <a:prstGeom prst="line">
            <a:avLst/>
          </a:prstGeom>
          <a:noFill/>
          <a:ln w="5715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nchor="ctr"/>
          <a:lstStyle/>
          <a:p>
            <a:pPr algn="ctr" fontAlgn="base">
              <a:spcBef>
                <a:spcPct val="0"/>
              </a:spcBef>
              <a:spcAft>
                <a:spcPct val="0"/>
              </a:spcAft>
            </a:pPr>
            <a:endParaRPr lang="zh-CN" altLang="en-US">
              <a:solidFill>
                <a:srgbClr val="000000"/>
              </a:solidFill>
            </a:endParaRPr>
          </a:p>
        </p:txBody>
      </p:sp>
    </p:spTree>
    <p:extLst>
      <p:ext uri="{BB962C8B-B14F-4D97-AF65-F5344CB8AC3E}">
        <p14:creationId xmlns:p14="http://schemas.microsoft.com/office/powerpoint/2010/main" val="625021136"/>
      </p:ext>
    </p:extLst>
  </p:cSld>
  <p:clrMapOvr>
    <a:masterClrMapping/>
  </p:clrMapOvr>
  <p:transition spd="slow">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a:lnSpc>
                <a:spcPct val="80000"/>
              </a:lnSpc>
            </a:pPr>
            <a:r>
              <a:rPr lang="en-US" altLang="zh-CN" sz="3600" b="1">
                <a:solidFill>
                  <a:srgbClr val="000099"/>
                </a:solidFill>
                <a:ea typeface="宋体" panose="02010600030101010101" pitchFamily="2" charset="-122"/>
              </a:rPr>
              <a:t>Targets of biofuel production of different countries/regions</a:t>
            </a:r>
            <a:endParaRPr lang="en-US" altLang="zh-CN" sz="4000" b="1">
              <a:solidFill>
                <a:srgbClr val="000099"/>
              </a:solidFill>
              <a:ea typeface="宋体" panose="02010600030101010101" pitchFamily="2" charset="-122"/>
            </a:endParaRPr>
          </a:p>
        </p:txBody>
      </p:sp>
      <p:graphicFrame>
        <p:nvGraphicFramePr>
          <p:cNvPr id="202755" name="Group 3"/>
          <p:cNvGraphicFramePr>
            <a:graphicFrameLocks noGrp="1"/>
          </p:cNvGraphicFramePr>
          <p:nvPr>
            <p:ph idx="1"/>
          </p:nvPr>
        </p:nvGraphicFramePr>
        <p:xfrm>
          <a:off x="457200" y="1809750"/>
          <a:ext cx="8305800" cy="3760892"/>
        </p:xfrm>
        <a:graphic>
          <a:graphicData uri="http://schemas.openxmlformats.org/drawingml/2006/table">
            <a:tbl>
              <a:tblPr/>
              <a:tblGrid>
                <a:gridCol w="3076575">
                  <a:extLst>
                    <a:ext uri="{9D8B030D-6E8A-4147-A177-3AD203B41FA5}">
                      <a16:colId xmlns:a16="http://schemas.microsoft.com/office/drawing/2014/main" val="20000"/>
                    </a:ext>
                  </a:extLst>
                </a:gridCol>
                <a:gridCol w="2690813">
                  <a:extLst>
                    <a:ext uri="{9D8B030D-6E8A-4147-A177-3AD203B41FA5}">
                      <a16:colId xmlns:a16="http://schemas.microsoft.com/office/drawing/2014/main" val="20001"/>
                    </a:ext>
                  </a:extLst>
                </a:gridCol>
                <a:gridCol w="2538412">
                  <a:extLst>
                    <a:ext uri="{9D8B030D-6E8A-4147-A177-3AD203B41FA5}">
                      <a16:colId xmlns:a16="http://schemas.microsoft.com/office/drawing/2014/main" val="20002"/>
                    </a:ext>
                  </a:extLst>
                </a:gridCol>
              </a:tblGrid>
              <a:tr h="377756">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zh-CN" altLang="en-US" sz="1700" b="1" i="0" u="none" strike="noStrike" cap="none" normalizeH="0" baseline="0">
                          <a:ln>
                            <a:noFill/>
                          </a:ln>
                          <a:solidFill>
                            <a:schemeClr val="tx1"/>
                          </a:solidFill>
                          <a:effectLst/>
                          <a:latin typeface="Arial" charset="0"/>
                          <a:ea typeface="宋体" pitchFamily="2" charset="-122"/>
                          <a:cs typeface="Times New Roman" pitchFamily="18" charset="0"/>
                        </a:rPr>
                        <a:t>　</a:t>
                      </a:r>
                      <a:endParaRPr kumimoji="0" lang="zh-CN" altLang="en-US" sz="2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1" marB="45711" anchor="ctr"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700" b="1" i="0" u="none" strike="noStrike" cap="none" normalizeH="0" baseline="0">
                          <a:ln>
                            <a:noFill/>
                          </a:ln>
                          <a:solidFill>
                            <a:schemeClr val="tx1"/>
                          </a:solidFill>
                          <a:effectLst/>
                          <a:latin typeface="Arial" charset="0"/>
                          <a:ea typeface="宋体" pitchFamily="2" charset="-122"/>
                          <a:cs typeface="Times New Roman" pitchFamily="18" charset="0"/>
                        </a:rPr>
                        <a:t>2006</a:t>
                      </a:r>
                      <a:endParaRPr kumimoji="0" lang="en-US" altLang="zh-CN" sz="2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1" marB="45711"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700" b="1" i="0" u="none" strike="noStrike" cap="none" normalizeH="0" baseline="0">
                          <a:ln>
                            <a:noFill/>
                          </a:ln>
                          <a:solidFill>
                            <a:schemeClr val="tx1"/>
                          </a:solidFill>
                          <a:effectLst/>
                          <a:latin typeface="Arial" charset="0"/>
                          <a:ea typeface="宋体" pitchFamily="2" charset="-122"/>
                          <a:cs typeface="Times New Roman" pitchFamily="18" charset="0"/>
                        </a:rPr>
                        <a:t>2020</a:t>
                      </a:r>
                      <a:endParaRPr kumimoji="0" lang="en-US" altLang="zh-CN" sz="28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1" marB="45711"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125">
                <a:tc>
                  <a:txBody>
                    <a:bodyPr/>
                    <a:lstStyle/>
                    <a:p>
                      <a:pPr marL="342900" marR="0" lvl="0" indent="-342900" algn="l" defTabSz="914400" rtl="0" eaLnBrk="0" fontAlgn="ctr"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99"/>
                          </a:solidFill>
                          <a:effectLst/>
                          <a:latin typeface="Arial" charset="0"/>
                          <a:ea typeface="宋体" pitchFamily="2" charset="-122"/>
                        </a:rPr>
                        <a:t>Ethanol Production</a:t>
                      </a:r>
                    </a:p>
                  </a:txBody>
                  <a:tcPr marT="45711" marB="45711" anchor="ctr" horzOverflow="overflow">
                    <a:lnL cap="flat">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endParaRPr kumimoji="0" lang="zh-CN" altLang="en-US" sz="2800" b="0" i="0" u="none" strike="noStrike" cap="none" normalizeH="0" baseline="0">
                        <a:ln>
                          <a:noFill/>
                        </a:ln>
                        <a:solidFill>
                          <a:schemeClr val="tx1"/>
                        </a:solidFill>
                        <a:effectLst/>
                        <a:latin typeface="Arial" charset="0"/>
                        <a:ea typeface="宋体" pitchFamily="2" charset="-122"/>
                      </a:endParaRPr>
                    </a:p>
                  </a:txBody>
                  <a:tcPr marT="45711" marB="45711"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endParaRPr kumimoji="0" lang="zh-CN" altLang="en-US" sz="2800" b="0" i="0" u="none" strike="noStrike" cap="none" normalizeH="0" baseline="0">
                        <a:ln>
                          <a:noFill/>
                        </a:ln>
                        <a:solidFill>
                          <a:schemeClr val="tx1"/>
                        </a:solidFill>
                        <a:effectLst/>
                        <a:latin typeface="Arial" charset="0"/>
                        <a:ea typeface="宋体" pitchFamily="2" charset="-122"/>
                      </a:endParaRPr>
                    </a:p>
                  </a:txBody>
                  <a:tcPr marT="45711" marB="45711" anchor="ctr" horzOverflow="overflow">
                    <a:lnL>
                      <a:noFill/>
                    </a:lnL>
                    <a:lnR cap="flat">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80971">
                <a:tc>
                  <a:txBody>
                    <a:bodyPr/>
                    <a:lstStyle/>
                    <a:p>
                      <a:pPr marL="342900" marR="0" lvl="0" indent="-342900" algn="l" defTabSz="914400" rtl="0" eaLnBrk="0" fontAlgn="ctr" latinLnBrk="0" hangingPunct="0">
                        <a:lnSpc>
                          <a:spcPct val="100000"/>
                        </a:lnSpc>
                        <a:spcBef>
                          <a:spcPct val="0"/>
                        </a:spcBef>
                        <a:spcAft>
                          <a:spcPct val="0"/>
                        </a:spcAft>
                        <a:buClrTx/>
                        <a:buSzTx/>
                        <a:buFontTx/>
                        <a:buNone/>
                        <a:tabLst/>
                      </a:pPr>
                      <a:r>
                        <a:rPr kumimoji="0" lang="zh-CN" altLang="en-US" sz="1700" b="1" i="0" u="none" strike="noStrike" cap="none" normalizeH="0" baseline="0">
                          <a:ln>
                            <a:noFill/>
                          </a:ln>
                          <a:solidFill>
                            <a:schemeClr val="tx1"/>
                          </a:solidFill>
                          <a:effectLst/>
                          <a:latin typeface="Arial" charset="0"/>
                          <a:ea typeface="宋体" pitchFamily="2" charset="-122"/>
                          <a:cs typeface="Times New Roman" pitchFamily="18" charset="0"/>
                        </a:rPr>
                        <a:t>    </a:t>
                      </a:r>
                      <a:r>
                        <a:rPr kumimoji="0" lang="en-US" altLang="zh-CN" sz="1700" b="1" i="0" u="none" strike="noStrike" cap="none" normalizeH="0" baseline="0">
                          <a:ln>
                            <a:noFill/>
                          </a:ln>
                          <a:solidFill>
                            <a:schemeClr val="tx1"/>
                          </a:solidFill>
                          <a:effectLst/>
                          <a:latin typeface="Arial" charset="0"/>
                          <a:ea typeface="宋体" pitchFamily="2" charset="-122"/>
                          <a:cs typeface="Times New Roman" pitchFamily="18" charset="0"/>
                        </a:rPr>
                        <a:t>USA (billion gallon)  </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1" marB="45711" anchor="ctr"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Arial" charset="0"/>
                          <a:ea typeface="宋体" pitchFamily="2" charset="-122"/>
                          <a:cs typeface="Times New Roman" pitchFamily="18" charset="0"/>
                        </a:rPr>
                        <a:t>4.86</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1" marB="45711"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Arial" charset="0"/>
                          <a:ea typeface="宋体" pitchFamily="2" charset="-122"/>
                          <a:cs typeface="Times New Roman" pitchFamily="18" charset="0"/>
                        </a:rPr>
                        <a:t>15.0</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1" marB="45711"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80971">
                <a:tc>
                  <a:txBody>
                    <a:bodyPr/>
                    <a:lstStyle/>
                    <a:p>
                      <a:pPr marL="342900" marR="0" lvl="0" indent="-342900" algn="l" defTabSz="914400" rtl="0" eaLnBrk="0" fontAlgn="ctr" latinLnBrk="0" hangingPunct="0">
                        <a:lnSpc>
                          <a:spcPct val="100000"/>
                        </a:lnSpc>
                        <a:spcBef>
                          <a:spcPct val="0"/>
                        </a:spcBef>
                        <a:spcAft>
                          <a:spcPct val="0"/>
                        </a:spcAft>
                        <a:buClrTx/>
                        <a:buSzTx/>
                        <a:buFontTx/>
                        <a:buNone/>
                        <a:tabLst/>
                      </a:pPr>
                      <a:r>
                        <a:rPr kumimoji="0" lang="zh-CN" altLang="en-US" sz="1700" b="1" i="0" u="none" strike="noStrike" cap="none" normalizeH="0" baseline="0">
                          <a:ln>
                            <a:noFill/>
                          </a:ln>
                          <a:solidFill>
                            <a:schemeClr val="tx1"/>
                          </a:solidFill>
                          <a:effectLst/>
                          <a:latin typeface="Arial" charset="0"/>
                          <a:ea typeface="宋体" pitchFamily="2" charset="-122"/>
                          <a:cs typeface="Times New Roman" pitchFamily="18" charset="0"/>
                        </a:rPr>
                        <a:t>    </a:t>
                      </a:r>
                      <a:r>
                        <a:rPr kumimoji="0" lang="en-US" altLang="zh-CN" sz="1700" b="1" i="0" u="none" strike="noStrike" cap="none" normalizeH="0" baseline="0">
                          <a:ln>
                            <a:noFill/>
                          </a:ln>
                          <a:solidFill>
                            <a:schemeClr val="tx1"/>
                          </a:solidFill>
                          <a:effectLst/>
                          <a:latin typeface="Arial" charset="0"/>
                          <a:ea typeface="宋体" pitchFamily="2" charset="-122"/>
                          <a:cs typeface="Times New Roman" pitchFamily="18" charset="0"/>
                        </a:rPr>
                        <a:t>EU27 (billion gallon)    </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1" marB="45711" anchor="ctr"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Arial" charset="0"/>
                          <a:ea typeface="宋体" pitchFamily="2" charset="-122"/>
                          <a:cs typeface="Times New Roman" pitchFamily="18" charset="0"/>
                        </a:rPr>
                        <a:t>0.79</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1" marB="45711"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Arial" charset="0"/>
                          <a:ea typeface="宋体" pitchFamily="2" charset="-122"/>
                          <a:cs typeface="Times New Roman" pitchFamily="18" charset="0"/>
                        </a:rPr>
                        <a:t>6.42 </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1" marB="45711"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380971">
                <a:tc>
                  <a:txBody>
                    <a:bodyPr/>
                    <a:lstStyle/>
                    <a:p>
                      <a:pPr marL="342900" marR="0" lvl="0" indent="-342900" algn="l" defTabSz="914400" rtl="0" eaLnBrk="0" fontAlgn="ctr" latinLnBrk="0" hangingPunct="0">
                        <a:lnSpc>
                          <a:spcPct val="100000"/>
                        </a:lnSpc>
                        <a:spcBef>
                          <a:spcPct val="0"/>
                        </a:spcBef>
                        <a:spcAft>
                          <a:spcPct val="0"/>
                        </a:spcAft>
                        <a:buClrTx/>
                        <a:buSzTx/>
                        <a:buFontTx/>
                        <a:buNone/>
                        <a:tabLst/>
                      </a:pPr>
                      <a:r>
                        <a:rPr kumimoji="0" lang="zh-CN" altLang="en-US" sz="1700" b="1" i="0" u="none" strike="noStrike" cap="none" normalizeH="0" baseline="0">
                          <a:ln>
                            <a:noFill/>
                          </a:ln>
                          <a:solidFill>
                            <a:schemeClr val="tx1"/>
                          </a:solidFill>
                          <a:effectLst/>
                          <a:latin typeface="Arial" charset="0"/>
                          <a:ea typeface="宋体" pitchFamily="2" charset="-122"/>
                          <a:cs typeface="Times New Roman" pitchFamily="18" charset="0"/>
                        </a:rPr>
                        <a:t>    </a:t>
                      </a:r>
                      <a:r>
                        <a:rPr kumimoji="0" lang="en-US" altLang="zh-CN" sz="1700" b="1" i="0" u="none" strike="noStrike" cap="none" normalizeH="0" baseline="0">
                          <a:ln>
                            <a:noFill/>
                          </a:ln>
                          <a:solidFill>
                            <a:schemeClr val="tx1"/>
                          </a:solidFill>
                          <a:effectLst/>
                          <a:latin typeface="Arial" charset="0"/>
                          <a:ea typeface="宋体" pitchFamily="2" charset="-122"/>
                          <a:cs typeface="Times New Roman" pitchFamily="18" charset="0"/>
                        </a:rPr>
                        <a:t>Brazil  (billion gallon)  </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1" marB="45711" anchor="ctr"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Arial" charset="0"/>
                          <a:ea typeface="宋体" pitchFamily="2" charset="-122"/>
                          <a:cs typeface="Times New Roman" pitchFamily="18" charset="0"/>
                        </a:rPr>
                        <a:t>4.50</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1" marB="45711"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Arial" charset="0"/>
                          <a:ea typeface="宋体" pitchFamily="2" charset="-122"/>
                          <a:cs typeface="Times New Roman" pitchFamily="18" charset="0"/>
                        </a:rPr>
                        <a:t>13.20</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1" marB="45711"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380971">
                <a:tc>
                  <a:txBody>
                    <a:bodyPr/>
                    <a:lstStyle/>
                    <a:p>
                      <a:pPr marL="342900" marR="0" lvl="0" indent="-342900" algn="l" defTabSz="914400" rtl="0" eaLnBrk="0" fontAlgn="ctr" latinLnBrk="0" hangingPunct="0">
                        <a:lnSpc>
                          <a:spcPct val="100000"/>
                        </a:lnSpc>
                        <a:spcBef>
                          <a:spcPct val="0"/>
                        </a:spcBef>
                        <a:spcAft>
                          <a:spcPct val="0"/>
                        </a:spcAft>
                        <a:buClrTx/>
                        <a:buSzTx/>
                        <a:buFontTx/>
                        <a:buNone/>
                        <a:tabLst/>
                      </a:pPr>
                      <a:r>
                        <a:rPr kumimoji="0" lang="zh-CN" altLang="en-US" sz="1700" b="1" i="0" u="none" strike="noStrike" cap="none" normalizeH="0" baseline="0">
                          <a:ln>
                            <a:noFill/>
                          </a:ln>
                          <a:solidFill>
                            <a:schemeClr val="tx1"/>
                          </a:solidFill>
                          <a:effectLst/>
                          <a:latin typeface="Arial" charset="0"/>
                          <a:ea typeface="宋体" pitchFamily="2" charset="-122"/>
                          <a:cs typeface="Times New Roman" pitchFamily="18" charset="0"/>
                        </a:rPr>
                        <a:t>    </a:t>
                      </a:r>
                      <a:r>
                        <a:rPr kumimoji="0" lang="en-US" altLang="zh-CN" sz="1700" b="1" i="0" u="none" strike="noStrike" cap="none" normalizeH="0" baseline="0">
                          <a:ln>
                            <a:noFill/>
                          </a:ln>
                          <a:solidFill>
                            <a:schemeClr val="tx1"/>
                          </a:solidFill>
                          <a:effectLst/>
                          <a:latin typeface="Arial" charset="0"/>
                          <a:ea typeface="宋体" pitchFamily="2" charset="-122"/>
                          <a:cs typeface="Times New Roman" pitchFamily="18" charset="0"/>
                        </a:rPr>
                        <a:t>China (billion gallon)</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1" marB="45711" anchor="ctr"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Arial" charset="0"/>
                          <a:ea typeface="宋体" pitchFamily="2" charset="-122"/>
                          <a:cs typeface="Times New Roman" pitchFamily="18" charset="0"/>
                        </a:rPr>
                        <a:t>0.39</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1" marB="45711"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Arial" charset="0"/>
                          <a:ea typeface="宋体" pitchFamily="2" charset="-122"/>
                          <a:cs typeface="Times New Roman" pitchFamily="18" charset="0"/>
                        </a:rPr>
                        <a:t>3.06</a:t>
                      </a:r>
                    </a:p>
                  </a:txBody>
                  <a:tcPr marT="45711" marB="45711"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79083">
                <a:tc>
                  <a:txBody>
                    <a:bodyPr/>
                    <a:lstStyle/>
                    <a:p>
                      <a:pPr marL="342900" marR="0" lvl="0" indent="-342900" algn="l" defTabSz="914400" rtl="0" eaLnBrk="0" fontAlgn="ctr"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99"/>
                          </a:solidFill>
                          <a:effectLst/>
                          <a:latin typeface="Arial" charset="0"/>
                          <a:ea typeface="宋体" pitchFamily="2" charset="-122"/>
                        </a:rPr>
                        <a:t>Diesel Production</a:t>
                      </a:r>
                    </a:p>
                  </a:txBody>
                  <a:tcPr marT="45711" marB="45711" anchor="ctr"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endParaRPr kumimoji="0" lang="zh-CN" altLang="en-US" sz="3200" b="0" i="0" u="none" strike="noStrike" cap="none" normalizeH="0" baseline="0">
                        <a:ln>
                          <a:noFill/>
                        </a:ln>
                        <a:solidFill>
                          <a:schemeClr val="tx1"/>
                        </a:solidFill>
                        <a:effectLst/>
                        <a:latin typeface="Arial" charset="0"/>
                        <a:ea typeface="宋体" pitchFamily="2" charset="-122"/>
                      </a:endParaRPr>
                    </a:p>
                  </a:txBody>
                  <a:tcPr marT="45711" marB="45711"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endParaRPr kumimoji="0" lang="zh-CN" altLang="en-US" sz="3200" b="0" i="0" u="none" strike="noStrike" cap="none" normalizeH="0" baseline="0">
                        <a:ln>
                          <a:noFill/>
                        </a:ln>
                        <a:solidFill>
                          <a:schemeClr val="tx1"/>
                        </a:solidFill>
                        <a:effectLst/>
                        <a:latin typeface="Arial" charset="0"/>
                        <a:ea typeface="宋体" pitchFamily="2" charset="-122"/>
                      </a:endParaRPr>
                    </a:p>
                  </a:txBody>
                  <a:tcPr marT="45711" marB="45711"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380971">
                <a:tc>
                  <a:txBody>
                    <a:bodyPr/>
                    <a:lstStyle/>
                    <a:p>
                      <a:pPr marL="342900" marR="0" lvl="0" indent="-342900" algn="l" defTabSz="914400" rtl="0" eaLnBrk="0" fontAlgn="ctr" latinLnBrk="0" hangingPunct="0">
                        <a:lnSpc>
                          <a:spcPct val="100000"/>
                        </a:lnSpc>
                        <a:spcBef>
                          <a:spcPct val="0"/>
                        </a:spcBef>
                        <a:spcAft>
                          <a:spcPct val="0"/>
                        </a:spcAft>
                        <a:buClrTx/>
                        <a:buSzTx/>
                        <a:buFontTx/>
                        <a:buNone/>
                        <a:tabLst/>
                      </a:pPr>
                      <a:r>
                        <a:rPr kumimoji="0" lang="zh-CN" altLang="en-US" sz="1700" b="1" i="0" u="none" strike="noStrike" cap="none" normalizeH="0" baseline="0">
                          <a:ln>
                            <a:noFill/>
                          </a:ln>
                          <a:solidFill>
                            <a:schemeClr val="tx1"/>
                          </a:solidFill>
                          <a:effectLst/>
                          <a:latin typeface="Arial" charset="0"/>
                          <a:ea typeface="宋体" pitchFamily="2" charset="-122"/>
                          <a:cs typeface="Times New Roman" pitchFamily="18" charset="0"/>
                        </a:rPr>
                        <a:t>     </a:t>
                      </a:r>
                      <a:r>
                        <a:rPr kumimoji="0" lang="en-US" altLang="zh-CN" sz="1700" b="1" i="0" u="none" strike="noStrike" cap="none" normalizeH="0" baseline="0">
                          <a:ln>
                            <a:noFill/>
                          </a:ln>
                          <a:solidFill>
                            <a:schemeClr val="tx1"/>
                          </a:solidFill>
                          <a:effectLst/>
                          <a:latin typeface="Arial" charset="0"/>
                          <a:ea typeface="宋体" pitchFamily="2" charset="-122"/>
                          <a:cs typeface="Times New Roman" pitchFamily="18" charset="0"/>
                        </a:rPr>
                        <a:t>USA (billion gallon)  </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1" marB="45711" anchor="ctr"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Arial" charset="0"/>
                          <a:ea typeface="宋体" pitchFamily="2" charset="-122"/>
                          <a:cs typeface="Times New Roman" pitchFamily="18" charset="0"/>
                        </a:rPr>
                        <a:t>0.25</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1" marB="45711"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Arial" charset="0"/>
                          <a:ea typeface="宋体" pitchFamily="2" charset="-122"/>
                          <a:cs typeface="Times New Roman" pitchFamily="18" charset="0"/>
                        </a:rPr>
                        <a:t>2.1</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1" marB="45711"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380971">
                <a:tc>
                  <a:txBody>
                    <a:bodyPr/>
                    <a:lstStyle/>
                    <a:p>
                      <a:pPr marL="342900" marR="0" lvl="0" indent="-342900" algn="l" defTabSz="914400" rtl="0" eaLnBrk="0" fontAlgn="ctr" latinLnBrk="0" hangingPunct="0">
                        <a:lnSpc>
                          <a:spcPct val="100000"/>
                        </a:lnSpc>
                        <a:spcBef>
                          <a:spcPct val="0"/>
                        </a:spcBef>
                        <a:spcAft>
                          <a:spcPct val="0"/>
                        </a:spcAft>
                        <a:buClrTx/>
                        <a:buSzTx/>
                        <a:buFontTx/>
                        <a:buNone/>
                        <a:tabLst/>
                      </a:pPr>
                      <a:r>
                        <a:rPr kumimoji="0" lang="zh-CN" altLang="en-US" sz="1700" b="1" i="0" u="none" strike="noStrike" cap="none" normalizeH="0" baseline="0">
                          <a:ln>
                            <a:noFill/>
                          </a:ln>
                          <a:solidFill>
                            <a:schemeClr val="tx1"/>
                          </a:solidFill>
                          <a:effectLst/>
                          <a:latin typeface="Arial" charset="0"/>
                          <a:ea typeface="宋体" pitchFamily="2" charset="-122"/>
                          <a:cs typeface="Times New Roman" pitchFamily="18" charset="0"/>
                        </a:rPr>
                        <a:t>     </a:t>
                      </a:r>
                      <a:r>
                        <a:rPr kumimoji="0" lang="en-US" altLang="zh-CN" sz="1700" b="1" i="0" u="none" strike="noStrike" cap="none" normalizeH="0" baseline="0">
                          <a:ln>
                            <a:noFill/>
                          </a:ln>
                          <a:solidFill>
                            <a:schemeClr val="tx1"/>
                          </a:solidFill>
                          <a:effectLst/>
                          <a:latin typeface="Arial" charset="0"/>
                          <a:ea typeface="宋体" pitchFamily="2" charset="-122"/>
                          <a:cs typeface="Times New Roman" pitchFamily="18" charset="0"/>
                        </a:rPr>
                        <a:t>EU27 (billion gallon)    </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1" marB="45711" anchor="ctr" horzOverflow="overflow">
                    <a:lnL cap="flat">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Arial" charset="0"/>
                          <a:ea typeface="宋体" pitchFamily="2" charset="-122"/>
                          <a:cs typeface="Times New Roman" pitchFamily="18" charset="0"/>
                        </a:rPr>
                        <a:t>1.75</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1" marB="45711"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900" b="1" i="0" u="none" strike="noStrike" cap="none" normalizeH="0" baseline="0">
                          <a:ln>
                            <a:noFill/>
                          </a:ln>
                          <a:solidFill>
                            <a:schemeClr val="tx1"/>
                          </a:solidFill>
                          <a:effectLst/>
                          <a:latin typeface="Arial" charset="0"/>
                          <a:ea typeface="宋体" pitchFamily="2" charset="-122"/>
                          <a:cs typeface="Times New Roman" pitchFamily="18" charset="0"/>
                        </a:rPr>
                        <a:t>14.19 </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1" marB="45711" anchor="ctr" horzOverflow="overflow">
                    <a:lnL>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656793388"/>
      </p:ext>
    </p:extLst>
  </p:cSld>
  <p:clrMapOvr>
    <a:masterClrMapping/>
  </p:clrMapOvr>
  <p:transition spd="slow">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idx="4294967295"/>
          </p:nvPr>
        </p:nvSpPr>
        <p:spPr>
          <a:xfrm>
            <a:off x="323850" y="188913"/>
            <a:ext cx="8229600" cy="1143000"/>
          </a:xfrm>
        </p:spPr>
        <p:txBody>
          <a:bodyPr/>
          <a:lstStyle/>
          <a:p>
            <a:pPr eaLnBrk="1" hangingPunct="1"/>
            <a:r>
              <a:rPr lang="en-US" altLang="zh-CN" b="1">
                <a:ea typeface="宋体" panose="02010600030101010101" pitchFamily="2" charset="-122"/>
              </a:rPr>
              <a:t>Scenarios</a:t>
            </a:r>
          </a:p>
        </p:txBody>
      </p:sp>
      <p:sp>
        <p:nvSpPr>
          <p:cNvPr id="59395" name="Rectangle 3"/>
          <p:cNvSpPr>
            <a:spLocks noGrp="1" noChangeArrowheads="1"/>
          </p:cNvSpPr>
          <p:nvPr>
            <p:ph type="body" idx="4294967295"/>
          </p:nvPr>
        </p:nvSpPr>
        <p:spPr/>
        <p:txBody>
          <a:bodyPr/>
          <a:lstStyle/>
          <a:p>
            <a:pPr eaLnBrk="1" hangingPunct="1">
              <a:lnSpc>
                <a:spcPct val="120000"/>
              </a:lnSpc>
            </a:pPr>
            <a:r>
              <a:rPr lang="en-US" altLang="zh-CN" b="1">
                <a:solidFill>
                  <a:srgbClr val="FF0000"/>
                </a:solidFill>
                <a:latin typeface="Times New Roman" panose="02020603050405020304" pitchFamily="18" charset="0"/>
                <a:ea typeface="宋体" panose="02010600030101010101" pitchFamily="2" charset="-122"/>
              </a:rPr>
              <a:t>Baseline </a:t>
            </a:r>
            <a:r>
              <a:rPr lang="en-US" altLang="zh-CN" b="1">
                <a:solidFill>
                  <a:schemeClr val="accent2"/>
                </a:solidFill>
                <a:latin typeface="Times New Roman" panose="02020603050405020304" pitchFamily="18" charset="0"/>
                <a:ea typeface="宋体" panose="02010600030101010101" pitchFamily="2" charset="-122"/>
              </a:rPr>
              <a:t>(similar as before…)</a:t>
            </a:r>
          </a:p>
          <a:p>
            <a:pPr eaLnBrk="1" hangingPunct="1">
              <a:lnSpc>
                <a:spcPct val="120000"/>
              </a:lnSpc>
            </a:pPr>
            <a:r>
              <a:rPr lang="en-US" altLang="zh-CN" b="1">
                <a:solidFill>
                  <a:srgbClr val="FF0000"/>
                </a:solidFill>
                <a:latin typeface="Times New Roman" panose="02020603050405020304" pitchFamily="18" charset="0"/>
                <a:ea typeface="宋体" panose="02010600030101010101" pitchFamily="2" charset="-122"/>
              </a:rPr>
              <a:t>Mandate Scenario (I)</a:t>
            </a:r>
          </a:p>
          <a:p>
            <a:pPr lvl="1" eaLnBrk="1" hangingPunct="1">
              <a:lnSpc>
                <a:spcPct val="120000"/>
              </a:lnSpc>
            </a:pPr>
            <a:r>
              <a:rPr lang="en-US" altLang="zh-CN" b="1">
                <a:latin typeface="Times New Roman" panose="02020603050405020304" pitchFamily="18" charset="0"/>
                <a:ea typeface="宋体" panose="02010600030101010101" pitchFamily="2" charset="-122"/>
              </a:rPr>
              <a:t>Realized the government targets (Low energy and low substitutability)</a:t>
            </a:r>
          </a:p>
          <a:p>
            <a:pPr eaLnBrk="1" hangingPunct="1"/>
            <a:r>
              <a:rPr lang="en-US" altLang="zh-CN" b="1">
                <a:solidFill>
                  <a:srgbClr val="FF0000"/>
                </a:solidFill>
                <a:latin typeface="Times New Roman" panose="02020603050405020304" pitchFamily="18" charset="0"/>
                <a:ea typeface="宋体" panose="02010600030101010101" pitchFamily="2" charset="-122"/>
              </a:rPr>
              <a:t>Market Scenario (II)</a:t>
            </a:r>
            <a:r>
              <a:rPr lang="en-US" altLang="zh-CN">
                <a:latin typeface="Times New Roman" panose="02020603050405020304" pitchFamily="18" charset="0"/>
                <a:ea typeface="宋体" panose="02010600030101010101" pitchFamily="2" charset="-122"/>
              </a:rPr>
              <a:t> </a:t>
            </a:r>
          </a:p>
          <a:p>
            <a:pPr lvl="1" eaLnBrk="1" hangingPunct="1"/>
            <a:r>
              <a:rPr lang="en-US" altLang="zh-CN" b="1">
                <a:latin typeface="Times New Roman" panose="02020603050405020304" pitchFamily="18" charset="0"/>
                <a:ea typeface="宋体" panose="02010600030101010101" pitchFamily="2" charset="-122"/>
              </a:rPr>
              <a:t>H-H scenario (High energy and high substitutability)</a:t>
            </a:r>
          </a:p>
          <a:p>
            <a:pPr eaLnBrk="1" hangingPunct="1"/>
            <a:endParaRPr lang="en-US" altLang="zh-CN">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005453251"/>
      </p:ext>
    </p:extLst>
  </p:cSld>
  <p:clrMapOvr>
    <a:masterClrMapping/>
  </p:clrMapOvr>
  <p:transition spd="slow">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457200" y="1828800"/>
            <a:ext cx="8229600" cy="1143000"/>
          </a:xfrm>
        </p:spPr>
        <p:txBody>
          <a:bodyPr/>
          <a:lstStyle/>
          <a:p>
            <a:pPr marL="895350" indent="-895350" algn="l"/>
            <a:r>
              <a:rPr lang="en-US" altLang="zh-CN" sz="4000" b="1">
                <a:solidFill>
                  <a:srgbClr val="010175"/>
                </a:solidFill>
                <a:ea typeface="宋体" panose="02010600030101010101" pitchFamily="2" charset="-122"/>
              </a:rPr>
              <a:t>Impacts on production, trade and domestic market price</a:t>
            </a:r>
          </a:p>
        </p:txBody>
      </p:sp>
    </p:spTree>
    <p:extLst>
      <p:ext uri="{BB962C8B-B14F-4D97-AF65-F5344CB8AC3E}">
        <p14:creationId xmlns:p14="http://schemas.microsoft.com/office/powerpoint/2010/main" val="373794499"/>
      </p:ext>
    </p:extLst>
  </p:cSld>
  <p:clrMapOvr>
    <a:masterClrMapping/>
  </p:clrMapOvr>
  <p:transition spd="slow">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idx="4294967295"/>
          </p:nvPr>
        </p:nvSpPr>
        <p:spPr>
          <a:xfrm>
            <a:off x="34925" y="198438"/>
            <a:ext cx="9144000" cy="715962"/>
          </a:xfrm>
        </p:spPr>
        <p:txBody>
          <a:bodyPr/>
          <a:lstStyle/>
          <a:p>
            <a:pPr eaLnBrk="1" hangingPunct="1">
              <a:lnSpc>
                <a:spcPct val="90000"/>
              </a:lnSpc>
            </a:pPr>
            <a:r>
              <a:rPr lang="en-US" altLang="zh-CN" sz="3000" b="1">
                <a:latin typeface="Times New Roman" panose="02020603050405020304" pitchFamily="18" charset="0"/>
                <a:ea typeface="宋体" panose="02010600030101010101" pitchFamily="2" charset="-122"/>
              </a:rPr>
              <a:t>Impacts on output, export and domestic price by realizing biofuel targets (relative to baseline, 2020)</a:t>
            </a:r>
          </a:p>
        </p:txBody>
      </p:sp>
      <p:graphicFrame>
        <p:nvGraphicFramePr>
          <p:cNvPr id="205827" name="Group 3"/>
          <p:cNvGraphicFramePr>
            <a:graphicFrameLocks noGrp="1"/>
          </p:cNvGraphicFramePr>
          <p:nvPr/>
        </p:nvGraphicFramePr>
        <p:xfrm>
          <a:off x="0" y="1066800"/>
          <a:ext cx="9144000" cy="5629270"/>
        </p:xfrm>
        <a:graphic>
          <a:graphicData uri="http://schemas.openxmlformats.org/drawingml/2006/table">
            <a:tbl>
              <a:tblPr/>
              <a:tblGrid>
                <a:gridCol w="1501775">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527175">
                  <a:extLst>
                    <a:ext uri="{9D8B030D-6E8A-4147-A177-3AD203B41FA5}">
                      <a16:colId xmlns:a16="http://schemas.microsoft.com/office/drawing/2014/main" val="20002"/>
                    </a:ext>
                  </a:extLst>
                </a:gridCol>
                <a:gridCol w="1109663">
                  <a:extLst>
                    <a:ext uri="{9D8B030D-6E8A-4147-A177-3AD203B41FA5}">
                      <a16:colId xmlns:a16="http://schemas.microsoft.com/office/drawing/2014/main" val="20003"/>
                    </a:ext>
                  </a:extLst>
                </a:gridCol>
                <a:gridCol w="1109662">
                  <a:extLst>
                    <a:ext uri="{9D8B030D-6E8A-4147-A177-3AD203B41FA5}">
                      <a16:colId xmlns:a16="http://schemas.microsoft.com/office/drawing/2014/main" val="20004"/>
                    </a:ext>
                  </a:extLst>
                </a:gridCol>
                <a:gridCol w="917575">
                  <a:extLst>
                    <a:ext uri="{9D8B030D-6E8A-4147-A177-3AD203B41FA5}">
                      <a16:colId xmlns:a16="http://schemas.microsoft.com/office/drawing/2014/main" val="20005"/>
                    </a:ext>
                  </a:extLst>
                </a:gridCol>
                <a:gridCol w="917575">
                  <a:extLst>
                    <a:ext uri="{9D8B030D-6E8A-4147-A177-3AD203B41FA5}">
                      <a16:colId xmlns:a16="http://schemas.microsoft.com/office/drawing/2014/main" val="20006"/>
                    </a:ext>
                  </a:extLst>
                </a:gridCol>
                <a:gridCol w="917575">
                  <a:extLst>
                    <a:ext uri="{9D8B030D-6E8A-4147-A177-3AD203B41FA5}">
                      <a16:colId xmlns:a16="http://schemas.microsoft.com/office/drawing/2014/main" val="20007"/>
                    </a:ext>
                  </a:extLst>
                </a:gridCol>
              </a:tblGrid>
              <a:tr h="367956">
                <a:tc row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Market price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Absolute change (1,000tons)</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3">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Percentage change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67956">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Output</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Export</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Import</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Output</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Export</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Import</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Rice</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1.2</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60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138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-12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2.8</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-4.1</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Wheat</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2.0</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-30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60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-291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5.7</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-6.2</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3"/>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Maize</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5.1</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4124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230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-5525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2.1</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10.9</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-32.0</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4"/>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Other grain</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-132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-21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-0.7</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9.4</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-9.1</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5"/>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Soybean</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6.8</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579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50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-2609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3.2</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5.7</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-4.0</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6"/>
                  </a:ext>
                </a:extLst>
              </a:tr>
              <a:tr h="47788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Other oilseed</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7.5</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294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48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-696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3.3</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21.6</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-27.2</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7"/>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Cotton</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3.8</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101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-101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1.2</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-1.4</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8"/>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Sugar</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2.5</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-7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-96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-3.0</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-1.7</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9"/>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Vegetable</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0.9</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-604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658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-11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7.7</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-6.0</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10"/>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Fruit</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-73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134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-120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14.8</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-11.6</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11"/>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Pork</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1.7</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-525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-0.9</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-0.4</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0.4</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12"/>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Beef</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1.3</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-48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-0.6</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-0.3</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13"/>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Poultry</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1.9</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-225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-1.1</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-0.7</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0.8</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
        <p:nvSpPr>
          <p:cNvPr id="61566" name="Rectangle 128"/>
          <p:cNvSpPr>
            <a:spLocks noChangeArrowheads="1"/>
          </p:cNvSpPr>
          <p:nvPr/>
        </p:nvSpPr>
        <p:spPr bwMode="auto">
          <a:xfrm>
            <a:off x="6248400" y="1219200"/>
            <a:ext cx="228600" cy="381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1567" name="Rectangle 129"/>
          <p:cNvSpPr>
            <a:spLocks noChangeArrowheads="1"/>
          </p:cNvSpPr>
          <p:nvPr/>
        </p:nvSpPr>
        <p:spPr bwMode="auto">
          <a:xfrm>
            <a:off x="0" y="2552700"/>
            <a:ext cx="9144000" cy="304800"/>
          </a:xfrm>
          <a:prstGeom prst="rect">
            <a:avLst/>
          </a:prstGeom>
          <a:solidFill>
            <a:srgbClr val="FF0000">
              <a:alpha val="25882"/>
            </a:srgbClr>
          </a:solidFill>
          <a:ln w="9525" algn="ctr">
            <a:solidFill>
              <a:srgbClr val="FF0000"/>
            </a:solidFill>
            <a:miter lim="800000"/>
            <a:headEnd/>
            <a:tailEnd/>
          </a:ln>
        </p:spPr>
        <p:txBody>
          <a:bodyPr wrap="none" lIns="90000" tIns="46800" rIns="90000" bIns="4680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1568" name="Rectangle 130"/>
          <p:cNvSpPr>
            <a:spLocks noChangeArrowheads="1"/>
          </p:cNvSpPr>
          <p:nvPr/>
        </p:nvSpPr>
        <p:spPr bwMode="auto">
          <a:xfrm>
            <a:off x="0" y="3695700"/>
            <a:ext cx="9144000" cy="304800"/>
          </a:xfrm>
          <a:prstGeom prst="rect">
            <a:avLst/>
          </a:prstGeom>
          <a:solidFill>
            <a:srgbClr val="FF0000">
              <a:alpha val="25882"/>
            </a:srgbClr>
          </a:solidFill>
          <a:ln w="9525" algn="ctr">
            <a:solidFill>
              <a:srgbClr val="FF0000"/>
            </a:solidFill>
            <a:miter lim="800000"/>
            <a:headEnd/>
            <a:tailEnd/>
          </a:ln>
        </p:spPr>
        <p:txBody>
          <a:bodyPr wrap="none" lIns="90000" tIns="46800" rIns="90000" bIns="4680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Tree>
    <p:extLst>
      <p:ext uri="{BB962C8B-B14F-4D97-AF65-F5344CB8AC3E}">
        <p14:creationId xmlns:p14="http://schemas.microsoft.com/office/powerpoint/2010/main" val="492493680"/>
      </p:ext>
    </p:extLst>
  </p:cSld>
  <p:clrMapOvr>
    <a:masterClrMapping/>
  </p:clrMapOvr>
  <p:transition spd="slow">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descr="南海"/>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5" y="1422400"/>
            <a:ext cx="38100"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7" name="Picture 3" descr="南海"/>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375" y="1422400"/>
            <a:ext cx="228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8" name="Picture 4" descr="南海"/>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5" y="1422400"/>
            <a:ext cx="38100"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9" name="Picture 5" descr="南海"/>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375" y="1422400"/>
            <a:ext cx="228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0" name="Picture 6" descr="南海"/>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5" y="1422400"/>
            <a:ext cx="38100"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1" name="Picture 7" descr="南海"/>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375" y="1422400"/>
            <a:ext cx="228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2" name="Picture 8" descr="南海"/>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5" y="1422400"/>
            <a:ext cx="38100"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3" name="Picture 9" descr="南海"/>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375" y="1422400"/>
            <a:ext cx="228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4" name="Picture 10" descr="maize_g10_Mandat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085850"/>
            <a:ext cx="4267200" cy="319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5" name="Picture 11" descr="南海"/>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5" y="1422400"/>
            <a:ext cx="38100"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6" name="Picture 12" descr="南海"/>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0375" y="1422400"/>
            <a:ext cx="1905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7" name="Picture 13" descr="soybean_g10_mandat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600" y="1219200"/>
            <a:ext cx="4038600" cy="303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8" name="Picture 14" descr="pork_g10_mandat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4002088"/>
            <a:ext cx="4114800" cy="307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9" name="Picture 15" descr="poultry_g10_mandat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57800" y="4217988"/>
            <a:ext cx="3409950" cy="279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80" name="Rectangle 16"/>
          <p:cNvSpPr>
            <a:spLocks noChangeArrowheads="1"/>
          </p:cNvSpPr>
          <p:nvPr/>
        </p:nvSpPr>
        <p:spPr bwMode="auto">
          <a:xfrm>
            <a:off x="9036050" y="2908300"/>
            <a:ext cx="569913"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grpSp>
        <p:nvGrpSpPr>
          <p:cNvPr id="62481" name="Group 17"/>
          <p:cNvGrpSpPr>
            <a:grpSpLocks/>
          </p:cNvGrpSpPr>
          <p:nvPr/>
        </p:nvGrpSpPr>
        <p:grpSpPr bwMode="auto">
          <a:xfrm>
            <a:off x="2895600" y="3048000"/>
            <a:ext cx="3313113" cy="2476500"/>
            <a:chOff x="4816" y="4404"/>
            <a:chExt cx="5217" cy="3900"/>
          </a:xfrm>
        </p:grpSpPr>
        <p:sp>
          <p:nvSpPr>
            <p:cNvPr id="62493" name="Rectangle 18"/>
            <p:cNvSpPr>
              <a:spLocks noChangeArrowheads="1"/>
            </p:cNvSpPr>
            <p:nvPr/>
          </p:nvSpPr>
          <p:spPr bwMode="auto">
            <a:xfrm>
              <a:off x="4816" y="4404"/>
              <a:ext cx="897" cy="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2494" name="Rectangle 19"/>
            <p:cNvSpPr>
              <a:spLocks noChangeArrowheads="1"/>
            </p:cNvSpPr>
            <p:nvPr/>
          </p:nvSpPr>
          <p:spPr bwMode="auto">
            <a:xfrm>
              <a:off x="9136" y="4404"/>
              <a:ext cx="897" cy="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2495" name="Rectangle 20"/>
            <p:cNvSpPr>
              <a:spLocks noChangeArrowheads="1"/>
            </p:cNvSpPr>
            <p:nvPr/>
          </p:nvSpPr>
          <p:spPr bwMode="auto">
            <a:xfrm>
              <a:off x="4816" y="7524"/>
              <a:ext cx="897" cy="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2496" name="Rectangle 21"/>
            <p:cNvSpPr>
              <a:spLocks noChangeArrowheads="1"/>
            </p:cNvSpPr>
            <p:nvPr/>
          </p:nvSpPr>
          <p:spPr bwMode="auto">
            <a:xfrm>
              <a:off x="9136" y="7524"/>
              <a:ext cx="897" cy="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grpSp>
      <p:sp>
        <p:nvSpPr>
          <p:cNvPr id="62482" name="Rectangle 22"/>
          <p:cNvSpPr>
            <a:spLocks noChangeArrowheads="1"/>
          </p:cNvSpPr>
          <p:nvPr/>
        </p:nvSpPr>
        <p:spPr bwMode="auto">
          <a:xfrm>
            <a:off x="-460375" y="1422400"/>
            <a:ext cx="244157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2483" name="Rectangle 23"/>
          <p:cNvSpPr>
            <a:spLocks noChangeArrowheads="1"/>
          </p:cNvSpPr>
          <p:nvPr/>
        </p:nvSpPr>
        <p:spPr bwMode="auto">
          <a:xfrm>
            <a:off x="-460375" y="1422400"/>
            <a:ext cx="0" cy="0"/>
          </a:xfrm>
          <a:prstGeom prst="rect">
            <a:avLst/>
          </a:prstGeom>
          <a:solidFill>
            <a:srgbClr val="FFFFFF"/>
          </a:solidFill>
          <a:ln w="9525" algn="ctr">
            <a:solidFill>
              <a:srgbClr val="000000"/>
            </a:solidFill>
            <a:miter lim="800000"/>
            <a:headEnd/>
            <a:tailEnd/>
          </a:ln>
        </p:spPr>
        <p:txBody>
          <a:bodyPr lIns="90000" tIns="46800" rIns="90000" bIns="4680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2484" name="Rectangle 24"/>
          <p:cNvSpPr>
            <a:spLocks noChangeArrowheads="1"/>
          </p:cNvSpPr>
          <p:nvPr/>
        </p:nvSpPr>
        <p:spPr bwMode="auto">
          <a:xfrm>
            <a:off x="-460375" y="14224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2485" name="Rectangle 25"/>
          <p:cNvSpPr>
            <a:spLocks noChangeArrowheads="1"/>
          </p:cNvSpPr>
          <p:nvPr/>
        </p:nvSpPr>
        <p:spPr bwMode="auto">
          <a:xfrm>
            <a:off x="-460375" y="14224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2486" name="Rectangle 26"/>
          <p:cNvSpPr>
            <a:spLocks noChangeArrowheads="1"/>
          </p:cNvSpPr>
          <p:nvPr/>
        </p:nvSpPr>
        <p:spPr bwMode="auto">
          <a:xfrm>
            <a:off x="-460375" y="14224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2487" name="Rectangle 27"/>
          <p:cNvSpPr>
            <a:spLocks noChangeArrowheads="1"/>
          </p:cNvSpPr>
          <p:nvPr/>
        </p:nvSpPr>
        <p:spPr bwMode="auto">
          <a:xfrm>
            <a:off x="-460375" y="1422400"/>
            <a:ext cx="244157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fontAlgn="base">
              <a:spcBef>
                <a:spcPct val="0"/>
              </a:spcBef>
              <a:spcAft>
                <a:spcPct val="0"/>
              </a:spcAft>
            </a:pPr>
            <a:br>
              <a:rPr lang="zh-CN" altLang="en-US" sz="1000">
                <a:solidFill>
                  <a:srgbClr val="000000"/>
                </a:solidFill>
                <a:latin typeface="Times New Roman" panose="02020603050405020304" pitchFamily="18" charset="0"/>
                <a:ea typeface="宋体" panose="02010600030101010101" pitchFamily="2" charset="-122"/>
              </a:rPr>
            </a:br>
            <a:endParaRPr lang="zh-CN" altLang="en-US">
              <a:solidFill>
                <a:srgbClr val="000000"/>
              </a:solidFill>
              <a:ea typeface="宋体" panose="02010600030101010101" pitchFamily="2" charset="-122"/>
            </a:endParaRPr>
          </a:p>
        </p:txBody>
      </p:sp>
      <p:sp>
        <p:nvSpPr>
          <p:cNvPr id="62488" name="Rectangle 28"/>
          <p:cNvSpPr>
            <a:spLocks noChangeArrowheads="1"/>
          </p:cNvSpPr>
          <p:nvPr/>
        </p:nvSpPr>
        <p:spPr bwMode="auto">
          <a:xfrm>
            <a:off x="-460375" y="1422400"/>
            <a:ext cx="2713038"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2489" name="Rectangle 29"/>
          <p:cNvSpPr>
            <a:spLocks noChangeArrowheads="1"/>
          </p:cNvSpPr>
          <p:nvPr/>
        </p:nvSpPr>
        <p:spPr bwMode="auto">
          <a:xfrm>
            <a:off x="-460375" y="1422400"/>
            <a:ext cx="2713038"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2490" name="Rectangle 30"/>
          <p:cNvSpPr>
            <a:spLocks noChangeArrowheads="1"/>
          </p:cNvSpPr>
          <p:nvPr/>
        </p:nvSpPr>
        <p:spPr bwMode="auto">
          <a:xfrm>
            <a:off x="-460375" y="1422400"/>
            <a:ext cx="244157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2491" name="Rectangle 31"/>
          <p:cNvSpPr>
            <a:spLocks noChangeArrowheads="1"/>
          </p:cNvSpPr>
          <p:nvPr/>
        </p:nvSpPr>
        <p:spPr bwMode="auto">
          <a:xfrm>
            <a:off x="-460375" y="1422400"/>
            <a:ext cx="2713038"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2492" name="Rectangle 32"/>
          <p:cNvSpPr>
            <a:spLocks noGrp="1" noChangeArrowheads="1"/>
          </p:cNvSpPr>
          <p:nvPr>
            <p:ph type="title"/>
          </p:nvPr>
        </p:nvSpPr>
        <p:spPr>
          <a:xfrm>
            <a:off x="0" y="0"/>
            <a:ext cx="8686800" cy="990600"/>
          </a:xfrm>
        </p:spPr>
        <p:txBody>
          <a:bodyPr/>
          <a:lstStyle/>
          <a:p>
            <a:pPr>
              <a:lnSpc>
                <a:spcPct val="90000"/>
              </a:lnSpc>
            </a:pPr>
            <a:r>
              <a:rPr lang="en-US" altLang="zh-CN" sz="2400" b="1">
                <a:ea typeface="宋体" panose="02010600030101010101" pitchFamily="2" charset="-122"/>
              </a:rPr>
              <a:t>Impacts on production of diff. commodities in diff. provinces under mandate scenario (kg/ household, 2020)</a:t>
            </a:r>
            <a:endParaRPr lang="zh-CN" altLang="en-US" sz="2400" b="1">
              <a:ea typeface="宋体" panose="02010600030101010101" pitchFamily="2" charset="-122"/>
            </a:endParaRPr>
          </a:p>
        </p:txBody>
      </p:sp>
    </p:spTree>
    <p:extLst>
      <p:ext uri="{BB962C8B-B14F-4D97-AF65-F5344CB8AC3E}">
        <p14:creationId xmlns:p14="http://schemas.microsoft.com/office/powerpoint/2010/main" val="1354367980"/>
      </p:ext>
    </p:extLst>
  </p:cSld>
  <p:clrMapOvr>
    <a:masterClrMapping/>
  </p:clrMapOvr>
  <p:transition spd="slow">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idx="4294967295"/>
          </p:nvPr>
        </p:nvSpPr>
        <p:spPr>
          <a:xfrm>
            <a:off x="34925" y="260350"/>
            <a:ext cx="9144000" cy="577850"/>
          </a:xfrm>
        </p:spPr>
        <p:txBody>
          <a:bodyPr/>
          <a:lstStyle/>
          <a:p>
            <a:pPr eaLnBrk="1" hangingPunct="1">
              <a:lnSpc>
                <a:spcPct val="90000"/>
              </a:lnSpc>
            </a:pPr>
            <a:r>
              <a:rPr lang="en-US" altLang="zh-CN" sz="3000" b="1">
                <a:latin typeface="Times New Roman" panose="02020603050405020304" pitchFamily="18" charset="0"/>
                <a:ea typeface="宋体" panose="02010600030101010101" pitchFamily="2" charset="-122"/>
              </a:rPr>
              <a:t>Impacts on output, export and domestic price under H-H (relative to baseline, 2020)</a:t>
            </a:r>
          </a:p>
        </p:txBody>
      </p:sp>
      <p:graphicFrame>
        <p:nvGraphicFramePr>
          <p:cNvPr id="207875" name="Group 3"/>
          <p:cNvGraphicFramePr>
            <a:graphicFrameLocks noGrp="1"/>
          </p:cNvGraphicFramePr>
          <p:nvPr/>
        </p:nvGraphicFramePr>
        <p:xfrm>
          <a:off x="0" y="1143000"/>
          <a:ext cx="9144000" cy="5638795"/>
        </p:xfrm>
        <a:graphic>
          <a:graphicData uri="http://schemas.openxmlformats.org/drawingml/2006/table">
            <a:tbl>
              <a:tblPr/>
              <a:tblGrid>
                <a:gridCol w="1501775">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93825">
                  <a:extLst>
                    <a:ext uri="{9D8B030D-6E8A-4147-A177-3AD203B41FA5}">
                      <a16:colId xmlns:a16="http://schemas.microsoft.com/office/drawing/2014/main" val="20002"/>
                    </a:ext>
                  </a:extLst>
                </a:gridCol>
                <a:gridCol w="1243013">
                  <a:extLst>
                    <a:ext uri="{9D8B030D-6E8A-4147-A177-3AD203B41FA5}">
                      <a16:colId xmlns:a16="http://schemas.microsoft.com/office/drawing/2014/main" val="20003"/>
                    </a:ext>
                  </a:extLst>
                </a:gridCol>
                <a:gridCol w="890587">
                  <a:extLst>
                    <a:ext uri="{9D8B030D-6E8A-4147-A177-3AD203B41FA5}">
                      <a16:colId xmlns:a16="http://schemas.microsoft.com/office/drawing/2014/main" val="20004"/>
                    </a:ext>
                  </a:extLst>
                </a:gridCol>
                <a:gridCol w="219075">
                  <a:extLst>
                    <a:ext uri="{9D8B030D-6E8A-4147-A177-3AD203B41FA5}">
                      <a16:colId xmlns:a16="http://schemas.microsoft.com/office/drawing/2014/main" val="20005"/>
                    </a:ext>
                  </a:extLst>
                </a:gridCol>
                <a:gridCol w="917575">
                  <a:extLst>
                    <a:ext uri="{9D8B030D-6E8A-4147-A177-3AD203B41FA5}">
                      <a16:colId xmlns:a16="http://schemas.microsoft.com/office/drawing/2014/main" val="20006"/>
                    </a:ext>
                  </a:extLst>
                </a:gridCol>
                <a:gridCol w="917575">
                  <a:extLst>
                    <a:ext uri="{9D8B030D-6E8A-4147-A177-3AD203B41FA5}">
                      <a16:colId xmlns:a16="http://schemas.microsoft.com/office/drawing/2014/main" val="20007"/>
                    </a:ext>
                  </a:extLst>
                </a:gridCol>
                <a:gridCol w="917575">
                  <a:extLst>
                    <a:ext uri="{9D8B030D-6E8A-4147-A177-3AD203B41FA5}">
                      <a16:colId xmlns:a16="http://schemas.microsoft.com/office/drawing/2014/main" val="20008"/>
                    </a:ext>
                  </a:extLst>
                </a:gridCol>
              </a:tblGrid>
              <a:tr h="367956">
                <a:tc row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zh-CN" altLang="en-US"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Market price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Absolute change (1,000tons)</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Percentage change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67956">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Output</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Export</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Import</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Output</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Export</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Import</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Rice</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2.0</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136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319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-24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h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8.2</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-7.5</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Wheat</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3.4</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-128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113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-465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h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10.7</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-10.8</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3"/>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Maize</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11.0</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9676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1169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-11922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4.8</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h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58</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-70.5</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4"/>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Other grain</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2.7</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-274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29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-38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-1.5</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h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17.4</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-17.8</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5"/>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Soybean</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12.1</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999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122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-4874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5.4</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h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15.9</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-7.8</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6"/>
                  </a:ext>
                </a:extLst>
              </a:tr>
              <a:tr h="487411">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Other oilseed</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9.2</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325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55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-792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3.7</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h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28.3</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-31.1</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7"/>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Cotton</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239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-240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2.9</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h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-1.8</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-3.3</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8"/>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Sugar</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3.8</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121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13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-327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1.2</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h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5.2</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9"/>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Vegetable</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1.4</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-958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1063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-0.3</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h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16.7</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-9.3</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10"/>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Fruit</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-130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211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-176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h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31.6</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-17.2</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11"/>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Pork</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3.5</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-1086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-7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-1.9</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h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-1.4</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12"/>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Beef</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2.7</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-96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-1.2</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h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0.6</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13"/>
                  </a:ext>
                </a:extLst>
              </a:tr>
              <a:tr h="367956">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Poultry</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w="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3.7</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-471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15 </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-2.2</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2.5</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5" marB="46805" anchor="ctr" horzOverflow="overflow">
                    <a:lnL>
                      <a:noFill/>
                    </a:lnL>
                    <a:lnR w="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
        <p:nvSpPr>
          <p:cNvPr id="63614" name="Rectangle 128"/>
          <p:cNvSpPr>
            <a:spLocks noChangeArrowheads="1"/>
          </p:cNvSpPr>
          <p:nvPr/>
        </p:nvSpPr>
        <p:spPr bwMode="auto">
          <a:xfrm>
            <a:off x="6096000" y="1295400"/>
            <a:ext cx="304800" cy="381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3615" name="Rectangle 129"/>
          <p:cNvSpPr>
            <a:spLocks noChangeArrowheads="1"/>
          </p:cNvSpPr>
          <p:nvPr/>
        </p:nvSpPr>
        <p:spPr bwMode="auto">
          <a:xfrm>
            <a:off x="0" y="2590800"/>
            <a:ext cx="9144000" cy="304800"/>
          </a:xfrm>
          <a:prstGeom prst="rect">
            <a:avLst/>
          </a:prstGeom>
          <a:solidFill>
            <a:srgbClr val="FF0000">
              <a:alpha val="25882"/>
            </a:srgbClr>
          </a:solidFill>
          <a:ln w="9525" algn="ctr">
            <a:solidFill>
              <a:srgbClr val="FF0000"/>
            </a:solidFill>
            <a:miter lim="800000"/>
            <a:headEnd/>
            <a:tailEnd/>
          </a:ln>
        </p:spPr>
        <p:txBody>
          <a:bodyPr wrap="none" lIns="90000" tIns="46800" rIns="90000" bIns="4680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3616" name="Rectangle 130"/>
          <p:cNvSpPr>
            <a:spLocks noChangeArrowheads="1"/>
          </p:cNvSpPr>
          <p:nvPr/>
        </p:nvSpPr>
        <p:spPr bwMode="auto">
          <a:xfrm>
            <a:off x="0" y="3810000"/>
            <a:ext cx="9144000" cy="304800"/>
          </a:xfrm>
          <a:prstGeom prst="rect">
            <a:avLst/>
          </a:prstGeom>
          <a:solidFill>
            <a:srgbClr val="FF0000">
              <a:alpha val="25882"/>
            </a:srgbClr>
          </a:solidFill>
          <a:ln w="9525" algn="ctr">
            <a:solidFill>
              <a:srgbClr val="FF0000"/>
            </a:solidFill>
            <a:miter lim="800000"/>
            <a:headEnd/>
            <a:tailEnd/>
          </a:ln>
        </p:spPr>
        <p:txBody>
          <a:bodyPr wrap="none" lIns="90000" tIns="46800" rIns="90000" bIns="4680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Tree>
    <p:extLst>
      <p:ext uri="{BB962C8B-B14F-4D97-AF65-F5344CB8AC3E}">
        <p14:creationId xmlns:p14="http://schemas.microsoft.com/office/powerpoint/2010/main" val="2265432283"/>
      </p:ext>
    </p:extLst>
  </p:cSld>
  <p:clrMapOvr>
    <a:masterClrMapping/>
  </p:clrMapOvr>
  <p:transition spd="slow">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2" descr="maize_g10_h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857250"/>
            <a:ext cx="3962400" cy="313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5" name="Picture 3" descr="soybean_g10_H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966788"/>
            <a:ext cx="3984625" cy="299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6" name="Picture 4" descr="pork_g10_h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225" y="4003675"/>
            <a:ext cx="4016375" cy="285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7" name="Picture 5" descr="poultry_g10_HH"/>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6675" y="3894138"/>
            <a:ext cx="3997325" cy="300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8" name="Rectangle 6"/>
          <p:cNvSpPr>
            <a:spLocks noGrp="1" noChangeArrowheads="1"/>
          </p:cNvSpPr>
          <p:nvPr>
            <p:ph type="title"/>
          </p:nvPr>
        </p:nvSpPr>
        <p:spPr>
          <a:xfrm>
            <a:off x="457200" y="0"/>
            <a:ext cx="8229600" cy="1143000"/>
          </a:xfrm>
        </p:spPr>
        <p:txBody>
          <a:bodyPr/>
          <a:lstStyle/>
          <a:p>
            <a:r>
              <a:rPr lang="en-US" altLang="zh-CN" sz="2400" b="1">
                <a:ea typeface="宋体" panose="02010600030101010101" pitchFamily="2" charset="-122"/>
              </a:rPr>
              <a:t>Impacts on production of diff. commodities in diff. provinces under H-H scenario (kg/ household, 2020)</a:t>
            </a:r>
            <a:endParaRPr lang="zh-CN" altLang="en-US" sz="2400" b="1">
              <a:ea typeface="宋体" panose="02010600030101010101" pitchFamily="2" charset="-122"/>
            </a:endParaRPr>
          </a:p>
        </p:txBody>
      </p:sp>
      <p:pic>
        <p:nvPicPr>
          <p:cNvPr id="64519" name="Picture 7" descr="南海"/>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163" y="1779588"/>
            <a:ext cx="38101"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0" name="Picture 8" descr="南海"/>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38600" y="6248400"/>
            <a:ext cx="228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1" name="Picture 9" descr="南海"/>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163" y="1779588"/>
            <a:ext cx="38101"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2" name="Picture 10" descr="南海"/>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29600" y="3505200"/>
            <a:ext cx="228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3" name="Picture 11" descr="南海"/>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163" y="1779588"/>
            <a:ext cx="38101"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4" name="Picture 12" descr="南海"/>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62400" y="3581400"/>
            <a:ext cx="228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5" name="Picture 13" descr="南海"/>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163" y="1779588"/>
            <a:ext cx="38101"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6" name="Picture 14" descr="南海"/>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163" y="1779588"/>
            <a:ext cx="38101"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27" name="Rectangle 15"/>
          <p:cNvSpPr>
            <a:spLocks noChangeArrowheads="1"/>
          </p:cNvSpPr>
          <p:nvPr/>
        </p:nvSpPr>
        <p:spPr bwMode="auto">
          <a:xfrm>
            <a:off x="-30163" y="1779588"/>
            <a:ext cx="2540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4528" name="Rectangle 16"/>
          <p:cNvSpPr>
            <a:spLocks noChangeArrowheads="1"/>
          </p:cNvSpPr>
          <p:nvPr/>
        </p:nvSpPr>
        <p:spPr bwMode="auto">
          <a:xfrm>
            <a:off x="-30163" y="1779588"/>
            <a:ext cx="0" cy="0"/>
          </a:xfrm>
          <a:prstGeom prst="rect">
            <a:avLst/>
          </a:prstGeom>
          <a:solidFill>
            <a:srgbClr val="FFFFFF"/>
          </a:solidFill>
          <a:ln w="9525" algn="ctr">
            <a:solidFill>
              <a:srgbClr val="000000"/>
            </a:solidFill>
            <a:miter lim="800000"/>
            <a:headEnd/>
            <a:tailEnd/>
          </a:ln>
        </p:spPr>
        <p:txBody>
          <a:bodyPr lIns="90000" tIns="46800" rIns="90000" bIns="4680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4529" name="Rectangle 17"/>
          <p:cNvSpPr>
            <a:spLocks noChangeArrowheads="1"/>
          </p:cNvSpPr>
          <p:nvPr/>
        </p:nvSpPr>
        <p:spPr bwMode="auto">
          <a:xfrm>
            <a:off x="-30163" y="177958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4530" name="Rectangle 18"/>
          <p:cNvSpPr>
            <a:spLocks noChangeArrowheads="1"/>
          </p:cNvSpPr>
          <p:nvPr/>
        </p:nvSpPr>
        <p:spPr bwMode="auto">
          <a:xfrm>
            <a:off x="-30163" y="177958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4531" name="Rectangle 19"/>
          <p:cNvSpPr>
            <a:spLocks noChangeArrowheads="1"/>
          </p:cNvSpPr>
          <p:nvPr/>
        </p:nvSpPr>
        <p:spPr bwMode="auto">
          <a:xfrm>
            <a:off x="-30163" y="177958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4532" name="Rectangle 20"/>
          <p:cNvSpPr>
            <a:spLocks noChangeArrowheads="1"/>
          </p:cNvSpPr>
          <p:nvPr/>
        </p:nvSpPr>
        <p:spPr bwMode="auto">
          <a:xfrm>
            <a:off x="1149350" y="1733550"/>
            <a:ext cx="180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fontAlgn="base">
              <a:spcBef>
                <a:spcPct val="0"/>
              </a:spcBef>
              <a:spcAft>
                <a:spcPct val="0"/>
              </a:spcAft>
            </a:pPr>
            <a:br>
              <a:rPr lang="zh-CN" altLang="en-US" sz="1000">
                <a:solidFill>
                  <a:srgbClr val="000000"/>
                </a:solidFill>
                <a:latin typeface="Times New Roman" panose="02020603050405020304" pitchFamily="18" charset="0"/>
                <a:ea typeface="宋体" panose="02010600030101010101" pitchFamily="2" charset="-122"/>
              </a:rPr>
            </a:br>
            <a:endParaRPr lang="zh-CN" altLang="en-US">
              <a:solidFill>
                <a:srgbClr val="000000"/>
              </a:solidFill>
              <a:ea typeface="宋体" panose="02010600030101010101" pitchFamily="2" charset="-122"/>
            </a:endParaRPr>
          </a:p>
        </p:txBody>
      </p:sp>
      <p:sp>
        <p:nvSpPr>
          <p:cNvPr id="64533" name="Rectangle 21"/>
          <p:cNvSpPr>
            <a:spLocks noChangeArrowheads="1"/>
          </p:cNvSpPr>
          <p:nvPr/>
        </p:nvSpPr>
        <p:spPr bwMode="auto">
          <a:xfrm>
            <a:off x="-30163" y="1779588"/>
            <a:ext cx="261461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4534" name="Rectangle 22"/>
          <p:cNvSpPr>
            <a:spLocks noChangeArrowheads="1"/>
          </p:cNvSpPr>
          <p:nvPr/>
        </p:nvSpPr>
        <p:spPr bwMode="auto">
          <a:xfrm>
            <a:off x="-30163" y="1779588"/>
            <a:ext cx="261461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pic>
        <p:nvPicPr>
          <p:cNvPr id="64535" name="Picture 23" descr="南海"/>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10600" y="6324600"/>
            <a:ext cx="228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81689897"/>
      </p:ext>
    </p:extLst>
  </p:cSld>
  <p:clrMapOvr>
    <a:masterClrMapping/>
  </p:clrMapOvr>
  <p:transition spd="slow">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457200" y="152400"/>
            <a:ext cx="8229600" cy="1143000"/>
          </a:xfrm>
        </p:spPr>
        <p:txBody>
          <a:bodyPr/>
          <a:lstStyle/>
          <a:p>
            <a:r>
              <a:rPr lang="en-US" altLang="zh-CN" sz="2800" b="1">
                <a:ea typeface="宋体" panose="02010600030101010101" pitchFamily="2" charset="-122"/>
              </a:rPr>
              <a:t>Impacts of biofuel development on farmers’ agricultural income by income groups under different scenario in 2020</a:t>
            </a:r>
            <a:endParaRPr lang="zh-CN" altLang="en-US" sz="2800" b="1">
              <a:ea typeface="宋体" panose="02010600030101010101" pitchFamily="2" charset="-122"/>
            </a:endParaRPr>
          </a:p>
        </p:txBody>
      </p:sp>
      <p:graphicFrame>
        <p:nvGraphicFramePr>
          <p:cNvPr id="210947" name="Group 3"/>
          <p:cNvGraphicFramePr>
            <a:graphicFrameLocks noGrp="1"/>
          </p:cNvGraphicFramePr>
          <p:nvPr>
            <p:ph idx="1"/>
          </p:nvPr>
        </p:nvGraphicFramePr>
        <p:xfrm>
          <a:off x="0" y="1524000"/>
          <a:ext cx="9144000" cy="5162551"/>
        </p:xfrm>
        <a:graphic>
          <a:graphicData uri="http://schemas.openxmlformats.org/drawingml/2006/table">
            <a:tbl>
              <a:tblPr/>
              <a:tblGrid>
                <a:gridCol w="2806700">
                  <a:extLst>
                    <a:ext uri="{9D8B030D-6E8A-4147-A177-3AD203B41FA5}">
                      <a16:colId xmlns:a16="http://schemas.microsoft.com/office/drawing/2014/main" val="20000"/>
                    </a:ext>
                  </a:extLst>
                </a:gridCol>
                <a:gridCol w="1765300">
                  <a:extLst>
                    <a:ext uri="{9D8B030D-6E8A-4147-A177-3AD203B41FA5}">
                      <a16:colId xmlns:a16="http://schemas.microsoft.com/office/drawing/2014/main" val="20001"/>
                    </a:ext>
                  </a:extLst>
                </a:gridCol>
                <a:gridCol w="1765300">
                  <a:extLst>
                    <a:ext uri="{9D8B030D-6E8A-4147-A177-3AD203B41FA5}">
                      <a16:colId xmlns:a16="http://schemas.microsoft.com/office/drawing/2014/main" val="20002"/>
                    </a:ext>
                  </a:extLst>
                </a:gridCol>
                <a:gridCol w="1403350">
                  <a:extLst>
                    <a:ext uri="{9D8B030D-6E8A-4147-A177-3AD203B41FA5}">
                      <a16:colId xmlns:a16="http://schemas.microsoft.com/office/drawing/2014/main" val="20003"/>
                    </a:ext>
                  </a:extLst>
                </a:gridCol>
                <a:gridCol w="1403350">
                  <a:extLst>
                    <a:ext uri="{9D8B030D-6E8A-4147-A177-3AD203B41FA5}">
                      <a16:colId xmlns:a16="http://schemas.microsoft.com/office/drawing/2014/main" val="20004"/>
                    </a:ext>
                  </a:extLst>
                </a:gridCol>
              </a:tblGrid>
              <a:tr h="476250">
                <a:tc rowSpan="2">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Income group</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Mandate Scenario</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HH Scenario</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477838">
                <a:tc vMerge="1">
                  <a:txBody>
                    <a:bodyPr/>
                    <a:lstStyle/>
                    <a:p>
                      <a:endParaRPr lang="zh-CN" altLang="en-US"/>
                    </a:p>
                  </a:txBody>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(Yuan)</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(Yuan)</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8475">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National Average</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cap="flat">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62.3</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2.6</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115.6</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4.88</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cap="flat">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857250">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Income group 1 </a:t>
                      </a:r>
                    </a:p>
                    <a:p>
                      <a:pPr marL="0" marR="0" lvl="0" indent="0" algn="l"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(Under poverty)</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25.4</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3.3</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47.5</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6.23</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98475">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Income group 2</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43.8</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2.8</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81.8</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5.28</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98475">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Income group 3</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56.9</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2.7</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106.3</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5.24</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00063">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Income group 4</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71.2</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2.6</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131.6</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4.91</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498475">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Income group 5</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89.0</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2.4</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163.9</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4.51</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857250">
                <a:tc>
                  <a:txBody>
                    <a:bodyPr/>
                    <a:lstStyle/>
                    <a:p>
                      <a:pPr marL="0" marR="0" lvl="0" indent="0" algn="l"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Income group 6</a:t>
                      </a:r>
                    </a:p>
                    <a:p>
                      <a:pPr marL="0" marR="0" lvl="0" indent="0" algn="l"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(Highest income )</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cap="flat">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85.3</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2.4</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157.4</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4.42</a:t>
                      </a:r>
                      <a:endParaRPr kumimoji="0" lang="en-US" altLang="zh-CN" sz="36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0000" marR="90000" marT="46800" marB="46800" anchor="ctr" horzOverflow="overflow">
                    <a:lnL>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66610" name="Rectangle 52"/>
          <p:cNvSpPr>
            <a:spLocks noChangeArrowheads="1"/>
          </p:cNvSpPr>
          <p:nvPr/>
        </p:nvSpPr>
        <p:spPr bwMode="auto">
          <a:xfrm>
            <a:off x="5943600" y="1828800"/>
            <a:ext cx="457200" cy="381000"/>
          </a:xfrm>
          <a:prstGeom prst="rect">
            <a:avLst/>
          </a:prstGeom>
          <a:solidFill>
            <a:srgbClr val="FFFFFF"/>
          </a:solidFill>
          <a:ln w="9525" algn="ctr">
            <a:solidFill>
              <a:schemeClr val="bg1"/>
            </a:solidFill>
            <a:miter lim="800000"/>
            <a:headEnd/>
            <a:tailEnd/>
          </a:ln>
        </p:spPr>
        <p:txBody>
          <a:bodyPr wrap="none" lIns="90000" tIns="46800" rIns="90000" bIns="4680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Tree>
    <p:extLst>
      <p:ext uri="{BB962C8B-B14F-4D97-AF65-F5344CB8AC3E}">
        <p14:creationId xmlns:p14="http://schemas.microsoft.com/office/powerpoint/2010/main" val="2386103021"/>
      </p:ext>
    </p:extLst>
  </p:cSld>
  <p:clrMapOvr>
    <a:masterClrMapping/>
  </p:clrMapOvr>
  <p:transition spd="slow">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a:xfrm>
            <a:off x="228600" y="76200"/>
            <a:ext cx="8686800" cy="990600"/>
          </a:xfrm>
        </p:spPr>
        <p:txBody>
          <a:bodyPr/>
          <a:lstStyle/>
          <a:p>
            <a:r>
              <a:rPr lang="en-US" altLang="zh-CN" sz="2800" b="1">
                <a:ea typeface="宋体" panose="02010600030101010101" pitchFamily="2" charset="-122"/>
              </a:rPr>
              <a:t>Impacts of biofuel development on farmers’ agricultural income under dif. scenarios in 2020</a:t>
            </a:r>
            <a:endParaRPr lang="zh-CN" altLang="en-US" sz="2800" b="1">
              <a:ea typeface="宋体" panose="02010600030101010101" pitchFamily="2" charset="-122"/>
            </a:endParaRPr>
          </a:p>
        </p:txBody>
      </p:sp>
      <p:graphicFrame>
        <p:nvGraphicFramePr>
          <p:cNvPr id="17410" name="Object 3"/>
          <p:cNvGraphicFramePr>
            <a:graphicFrameLocks noGrp="1" noChangeAspect="1"/>
          </p:cNvGraphicFramePr>
          <p:nvPr>
            <p:ph idx="1"/>
          </p:nvPr>
        </p:nvGraphicFramePr>
        <p:xfrm>
          <a:off x="-228600" y="762000"/>
          <a:ext cx="8839200" cy="3429000"/>
        </p:xfrm>
        <a:graphic>
          <a:graphicData uri="http://schemas.openxmlformats.org/presentationml/2006/ole">
            <mc:AlternateContent xmlns:mc="http://schemas.openxmlformats.org/markup-compatibility/2006">
              <mc:Choice xmlns:v="urn:schemas-microsoft-com:vml" Requires="v">
                <p:oleObj name="图表" r:id="rId2" imgW="6644758" imgH="4076709" progId="MSGraph.Chart.8">
                  <p:embed followColorScheme="full"/>
                </p:oleObj>
              </mc:Choice>
              <mc:Fallback>
                <p:oleObj name="图表" r:id="rId2" imgW="6644758" imgH="4076709" progId="MSGraph.Chart.8">
                  <p:embed followColorScheme="full"/>
                  <p:pic>
                    <p:nvPicPr>
                      <p:cNvPr id="0" name=""/>
                      <p:cNvPicPr>
                        <a:picLocks noChangeAspect="1" noChangeArrowheads="1"/>
                      </p:cNvPicPr>
                      <p:nvPr/>
                    </p:nvPicPr>
                    <p:blipFill>
                      <a:blip r:embed="rId3"/>
                      <a:srcRect/>
                      <a:stretch>
                        <a:fillRect/>
                      </a:stretch>
                    </p:blipFill>
                    <p:spPr bwMode="auto">
                      <a:xfrm>
                        <a:off x="-228600" y="762000"/>
                        <a:ext cx="8839200" cy="342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1" name="Object 4"/>
          <p:cNvGraphicFramePr>
            <a:graphicFrameLocks noChangeAspect="1"/>
          </p:cNvGraphicFramePr>
          <p:nvPr/>
        </p:nvGraphicFramePr>
        <p:xfrm>
          <a:off x="-228600" y="3657600"/>
          <a:ext cx="8839200" cy="3429000"/>
        </p:xfrm>
        <a:graphic>
          <a:graphicData uri="http://schemas.openxmlformats.org/presentationml/2006/ole">
            <mc:AlternateContent xmlns:mc="http://schemas.openxmlformats.org/markup-compatibility/2006">
              <mc:Choice xmlns:v="urn:schemas-microsoft-com:vml" Requires="v">
                <p:oleObj name="图表" r:id="rId4" imgW="6644758" imgH="4076709" progId="MSGraph.Chart.8">
                  <p:embed followColorScheme="full"/>
                </p:oleObj>
              </mc:Choice>
              <mc:Fallback>
                <p:oleObj name="图表" r:id="rId4" imgW="6644758" imgH="4076709" progId="MSGraph.Chart.8">
                  <p:embed followColorScheme="full"/>
                  <p:pic>
                    <p:nvPicPr>
                      <p:cNvPr id="0" name=""/>
                      <p:cNvPicPr>
                        <a:picLocks noChangeAspect="1" noChangeArrowheads="1"/>
                      </p:cNvPicPr>
                      <p:nvPr/>
                    </p:nvPicPr>
                    <p:blipFill>
                      <a:blip r:embed="rId5"/>
                      <a:srcRect/>
                      <a:stretch>
                        <a:fillRect/>
                      </a:stretch>
                    </p:blipFill>
                    <p:spPr bwMode="auto">
                      <a:xfrm>
                        <a:off x="-228600" y="3657600"/>
                        <a:ext cx="8839200" cy="342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59706534"/>
      </p:ext>
    </p:extLst>
  </p:cSld>
  <p:clrMapOvr>
    <a:masterClrMapping/>
  </p:clrMapOvr>
  <p:transition spd="slow">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228600" y="152400"/>
            <a:ext cx="8763000" cy="1143000"/>
          </a:xfrm>
        </p:spPr>
        <p:txBody>
          <a:bodyPr/>
          <a:lstStyle/>
          <a:p>
            <a:r>
              <a:rPr lang="en-US" altLang="zh-CN" sz="2800">
                <a:ea typeface="宋体" panose="02010600030101010101" pitchFamily="2" charset="-122"/>
              </a:rPr>
              <a:t>Impacts of biofuel development on Chinese farmers’ agr. income by dif. provinces under mandate scenario (relative to baseline, 2020)</a:t>
            </a:r>
            <a:endParaRPr lang="zh-CN" altLang="en-US" sz="2800">
              <a:ea typeface="宋体" panose="02010600030101010101" pitchFamily="2" charset="-122"/>
            </a:endParaRPr>
          </a:p>
        </p:txBody>
      </p:sp>
      <p:pic>
        <p:nvPicPr>
          <p:cNvPr id="68611" name="Picture 3" descr="南海"/>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588" y="2333625"/>
            <a:ext cx="38100"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2" name="Picture 4" descr="南海"/>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588" y="2333625"/>
            <a:ext cx="228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3" name="Picture 6" descr="南海"/>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588" y="2333625"/>
            <a:ext cx="38100"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4" name="Picture 7" descr="南海"/>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588" y="2333625"/>
            <a:ext cx="228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5" name="Picture 8" descr="南海"/>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588" y="2333625"/>
            <a:ext cx="38100"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6" name="Picture 9" descr="南海"/>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9588" y="2333625"/>
            <a:ext cx="1905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7" name="Picture 10" descr="income_Mandate_perchang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1371600"/>
            <a:ext cx="6778625" cy="543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8" name="Rectangle 11"/>
          <p:cNvSpPr>
            <a:spLocks noChangeArrowheads="1"/>
          </p:cNvSpPr>
          <p:nvPr/>
        </p:nvSpPr>
        <p:spPr bwMode="auto">
          <a:xfrm>
            <a:off x="9083675" y="3819525"/>
            <a:ext cx="569913"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8619" name="Rectangle 12"/>
          <p:cNvSpPr>
            <a:spLocks noChangeArrowheads="1"/>
          </p:cNvSpPr>
          <p:nvPr/>
        </p:nvSpPr>
        <p:spPr bwMode="auto">
          <a:xfrm>
            <a:off x="3394075" y="4065588"/>
            <a:ext cx="569913"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8620" name="Rectangle 13"/>
          <p:cNvSpPr>
            <a:spLocks noChangeArrowheads="1"/>
          </p:cNvSpPr>
          <p:nvPr/>
        </p:nvSpPr>
        <p:spPr bwMode="auto">
          <a:xfrm>
            <a:off x="6089650" y="4076700"/>
            <a:ext cx="569913"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8621" name="Rectangle 14"/>
          <p:cNvSpPr>
            <a:spLocks noChangeArrowheads="1"/>
          </p:cNvSpPr>
          <p:nvPr/>
        </p:nvSpPr>
        <p:spPr bwMode="auto">
          <a:xfrm>
            <a:off x="-509588" y="2333625"/>
            <a:ext cx="26162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8622" name="Rectangle 15"/>
          <p:cNvSpPr>
            <a:spLocks noChangeArrowheads="1"/>
          </p:cNvSpPr>
          <p:nvPr/>
        </p:nvSpPr>
        <p:spPr bwMode="auto">
          <a:xfrm>
            <a:off x="-509588" y="2333625"/>
            <a:ext cx="26162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br>
              <a:rPr lang="zh-CN" altLang="en-US" sz="1000">
                <a:solidFill>
                  <a:srgbClr val="000000"/>
                </a:solidFill>
                <a:latin typeface="Times New Roman" panose="02020603050405020304" pitchFamily="18" charset="0"/>
                <a:ea typeface="宋体" panose="02010600030101010101" pitchFamily="2" charset="-122"/>
              </a:rPr>
            </a:br>
            <a:endParaRPr lang="zh-CN" altLang="en-US">
              <a:solidFill>
                <a:srgbClr val="000000"/>
              </a:solidFill>
              <a:ea typeface="宋体" panose="02010600030101010101" pitchFamily="2" charset="-122"/>
            </a:endParaRPr>
          </a:p>
        </p:txBody>
      </p:sp>
      <p:sp>
        <p:nvSpPr>
          <p:cNvPr id="68623" name="Rectangle 16"/>
          <p:cNvSpPr>
            <a:spLocks noChangeArrowheads="1"/>
          </p:cNvSpPr>
          <p:nvPr/>
        </p:nvSpPr>
        <p:spPr bwMode="auto">
          <a:xfrm>
            <a:off x="-509588" y="2333625"/>
            <a:ext cx="2695576"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68624" name="Rectangle 17"/>
          <p:cNvSpPr>
            <a:spLocks noChangeArrowheads="1"/>
          </p:cNvSpPr>
          <p:nvPr/>
        </p:nvSpPr>
        <p:spPr bwMode="auto">
          <a:xfrm>
            <a:off x="-509588" y="2333625"/>
            <a:ext cx="2695576"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Tree>
    <p:extLst>
      <p:ext uri="{BB962C8B-B14F-4D97-AF65-F5344CB8AC3E}">
        <p14:creationId xmlns:p14="http://schemas.microsoft.com/office/powerpoint/2010/main" val="3308650012"/>
      </p:ext>
    </p:extLst>
  </p:cSld>
  <p:clrMapOvr>
    <a:masterClrMapping/>
  </p:clrMapOvr>
  <p:transition spd="slow">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304800" y="274638"/>
            <a:ext cx="8686800" cy="1143000"/>
          </a:xfrm>
        </p:spPr>
        <p:txBody>
          <a:bodyPr/>
          <a:lstStyle/>
          <a:p>
            <a:pPr>
              <a:lnSpc>
                <a:spcPct val="90000"/>
              </a:lnSpc>
            </a:pPr>
            <a:r>
              <a:rPr lang="en-US" altLang="zh-CN" sz="3200" b="1">
                <a:ea typeface="宋体" panose="02010600030101010101" pitchFamily="2" charset="-122"/>
              </a:rPr>
              <a:t>Impacts of biofuel development on Chinese farmers’ agricultural income by different provinces in 2020 under H-H scenario</a:t>
            </a:r>
            <a:endParaRPr lang="zh-CN" altLang="en-US" sz="3200" b="1">
              <a:ea typeface="宋体" panose="02010600030101010101" pitchFamily="2" charset="-122"/>
            </a:endParaRPr>
          </a:p>
        </p:txBody>
      </p:sp>
      <p:pic>
        <p:nvPicPr>
          <p:cNvPr id="70659" name="Picture 3" descr="南海"/>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588" y="2333625"/>
            <a:ext cx="38100"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0" name="Picture 4" descr="南海"/>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588" y="2333625"/>
            <a:ext cx="228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1" name="Picture 6" descr="南海"/>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588" y="2333625"/>
            <a:ext cx="38100"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2" name="Picture 7" descr="南海"/>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588" y="2333625"/>
            <a:ext cx="228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3" name="Picture 8" descr="南海"/>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588" y="2333625"/>
            <a:ext cx="38100"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4" name="Picture 9" descr="南海"/>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9588" y="2333625"/>
            <a:ext cx="1905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5" name="Picture 10" descr="income_HH_Perchang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3775" y="1676400"/>
            <a:ext cx="6245225" cy="498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6" name="Rectangle 11"/>
          <p:cNvSpPr>
            <a:spLocks noChangeArrowheads="1"/>
          </p:cNvSpPr>
          <p:nvPr/>
        </p:nvSpPr>
        <p:spPr bwMode="auto">
          <a:xfrm>
            <a:off x="9083675" y="3819525"/>
            <a:ext cx="569913"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70667" name="Rectangle 12"/>
          <p:cNvSpPr>
            <a:spLocks noChangeArrowheads="1"/>
          </p:cNvSpPr>
          <p:nvPr/>
        </p:nvSpPr>
        <p:spPr bwMode="auto">
          <a:xfrm>
            <a:off x="3394075" y="4065588"/>
            <a:ext cx="569913"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70668" name="Rectangle 13"/>
          <p:cNvSpPr>
            <a:spLocks noChangeArrowheads="1"/>
          </p:cNvSpPr>
          <p:nvPr/>
        </p:nvSpPr>
        <p:spPr bwMode="auto">
          <a:xfrm>
            <a:off x="6089650" y="4076700"/>
            <a:ext cx="569913"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70669" name="Rectangle 14"/>
          <p:cNvSpPr>
            <a:spLocks noChangeArrowheads="1"/>
          </p:cNvSpPr>
          <p:nvPr/>
        </p:nvSpPr>
        <p:spPr bwMode="auto">
          <a:xfrm>
            <a:off x="-509588" y="2333625"/>
            <a:ext cx="26162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
        <p:nvSpPr>
          <p:cNvPr id="70670" name="Rectangle 15"/>
          <p:cNvSpPr>
            <a:spLocks noChangeArrowheads="1"/>
          </p:cNvSpPr>
          <p:nvPr/>
        </p:nvSpPr>
        <p:spPr bwMode="auto">
          <a:xfrm>
            <a:off x="-509588" y="2333625"/>
            <a:ext cx="26162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br>
              <a:rPr lang="zh-CN" altLang="en-US" sz="1000">
                <a:solidFill>
                  <a:srgbClr val="000000"/>
                </a:solidFill>
                <a:latin typeface="Times New Roman" panose="02020603050405020304" pitchFamily="18" charset="0"/>
                <a:ea typeface="宋体" panose="02010600030101010101" pitchFamily="2" charset="-122"/>
              </a:rPr>
            </a:br>
            <a:endParaRPr lang="zh-CN" altLang="en-US">
              <a:solidFill>
                <a:srgbClr val="000000"/>
              </a:solidFill>
              <a:ea typeface="宋体" panose="02010600030101010101" pitchFamily="2" charset="-122"/>
            </a:endParaRPr>
          </a:p>
        </p:txBody>
      </p:sp>
      <p:sp>
        <p:nvSpPr>
          <p:cNvPr id="70671" name="Rectangle 16"/>
          <p:cNvSpPr>
            <a:spLocks noChangeArrowheads="1"/>
          </p:cNvSpPr>
          <p:nvPr/>
        </p:nvSpPr>
        <p:spPr bwMode="auto">
          <a:xfrm>
            <a:off x="-509588" y="2333625"/>
            <a:ext cx="2695576"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pPr>
            <a:endParaRPr lang="zh-CN" altLang="en-US">
              <a:solidFill>
                <a:srgbClr val="000000"/>
              </a:solidFill>
              <a:ea typeface="宋体" panose="02010600030101010101" pitchFamily="2" charset="-122"/>
            </a:endParaRPr>
          </a:p>
        </p:txBody>
      </p:sp>
    </p:spTree>
    <p:extLst>
      <p:ext uri="{BB962C8B-B14F-4D97-AF65-F5344CB8AC3E}">
        <p14:creationId xmlns:p14="http://schemas.microsoft.com/office/powerpoint/2010/main" val="3210672225"/>
      </p:ext>
    </p:extLst>
  </p:cSld>
  <p:clrMapOvr>
    <a:masterClrMapping/>
  </p:clrMapOvr>
  <p:transition spd="slow">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492896"/>
            <a:ext cx="8229600" cy="1143000"/>
          </a:xfrm>
        </p:spPr>
        <p:txBody>
          <a:bodyPr/>
          <a:lstStyle/>
          <a:p>
            <a:r>
              <a:rPr lang="zh-CN" altLang="en-US" sz="4000" b="1" dirty="0">
                <a:solidFill>
                  <a:srgbClr val="FF0000"/>
                </a:solidFill>
                <a:latin typeface="黑体" panose="02010609060101010101" pitchFamily="49" charset="-122"/>
                <a:ea typeface="黑体" panose="02010609060101010101" pitchFamily="49" charset="-122"/>
              </a:rPr>
              <a:t>模型发展情况及规划</a:t>
            </a:r>
          </a:p>
        </p:txBody>
      </p:sp>
    </p:spTree>
    <p:extLst>
      <p:ext uri="{BB962C8B-B14F-4D97-AF65-F5344CB8AC3E}">
        <p14:creationId xmlns:p14="http://schemas.microsoft.com/office/powerpoint/2010/main" val="2133770026"/>
      </p:ext>
    </p:extLst>
  </p:cSld>
  <p:clrMapOvr>
    <a:masterClrMapping/>
  </p:clrMapOvr>
  <p:transition spd="slow">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4"/>
            <a:ext cx="8229600" cy="714380"/>
          </a:xfrm>
        </p:spPr>
        <p:txBody>
          <a:bodyPr>
            <a:normAutofit/>
          </a:bodyPr>
          <a:lstStyle/>
          <a:p>
            <a:r>
              <a:rPr lang="zh-CN" altLang="en-US" sz="3200" b="1" dirty="0">
                <a:solidFill>
                  <a:srgbClr val="FF0000"/>
                </a:solidFill>
                <a:latin typeface="time new roman"/>
                <a:ea typeface="黑体" pitchFamily="49" charset="-122"/>
              </a:rPr>
              <a:t>政策决策模型构建计划</a:t>
            </a:r>
            <a:r>
              <a:rPr lang="en-US" altLang="zh-CN" sz="3200" b="1" dirty="0">
                <a:solidFill>
                  <a:srgbClr val="FF0000"/>
                </a:solidFill>
                <a:latin typeface="time new roman"/>
                <a:ea typeface="黑体" pitchFamily="49" charset="-122"/>
              </a:rPr>
              <a:t>(2015-2017)</a:t>
            </a:r>
            <a:endParaRPr lang="zh-CN" altLang="en-US" sz="3200" b="1" dirty="0">
              <a:solidFill>
                <a:srgbClr val="FF0000"/>
              </a:solidFill>
              <a:latin typeface="time new roman"/>
              <a:ea typeface="黑体" pitchFamily="49" charset="-122"/>
            </a:endParaRPr>
          </a:p>
        </p:txBody>
      </p:sp>
      <p:graphicFrame>
        <p:nvGraphicFramePr>
          <p:cNvPr id="5123" name="Object 3"/>
          <p:cNvGraphicFramePr>
            <a:graphicFrameLocks noChangeAspect="1"/>
          </p:cNvGraphicFramePr>
          <p:nvPr/>
        </p:nvGraphicFramePr>
        <p:xfrm>
          <a:off x="285720" y="928670"/>
          <a:ext cx="8572560" cy="3679500"/>
        </p:xfrm>
        <a:graphic>
          <a:graphicData uri="http://schemas.openxmlformats.org/presentationml/2006/ole">
            <mc:AlternateContent xmlns:mc="http://schemas.openxmlformats.org/markup-compatibility/2006">
              <mc:Choice xmlns:v="urn:schemas-microsoft-com:vml" Requires="v">
                <p:oleObj name="Visio" r:id="rId2" imgW="9214775" imgH="4032504" progId="Visio.Drawing.11">
                  <p:embed/>
                </p:oleObj>
              </mc:Choice>
              <mc:Fallback>
                <p:oleObj name="Visio" r:id="rId2" imgW="9214775" imgH="4032504"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20" y="928670"/>
                        <a:ext cx="8572560" cy="36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125" name="Picture 5"/>
          <p:cNvPicPr>
            <a:picLocks noChangeAspect="1" noChangeArrowheads="1"/>
          </p:cNvPicPr>
          <p:nvPr/>
        </p:nvPicPr>
        <p:blipFill>
          <a:blip r:embed="rId4"/>
          <a:srcRect/>
          <a:stretch>
            <a:fillRect/>
          </a:stretch>
        </p:blipFill>
        <p:spPr bwMode="auto">
          <a:xfrm>
            <a:off x="5130786" y="4785175"/>
            <a:ext cx="3776677" cy="2072849"/>
          </a:xfrm>
          <a:prstGeom prst="rect">
            <a:avLst/>
          </a:prstGeom>
          <a:noFill/>
          <a:ln w="9525">
            <a:noFill/>
            <a:miter lim="800000"/>
            <a:headEnd/>
            <a:tailEnd/>
          </a:ln>
          <a:effectLst/>
        </p:spPr>
      </p:pic>
      <p:sp>
        <p:nvSpPr>
          <p:cNvPr id="40" name="TextBox 39"/>
          <p:cNvSpPr txBox="1"/>
          <p:nvPr/>
        </p:nvSpPr>
        <p:spPr>
          <a:xfrm>
            <a:off x="214282" y="5144341"/>
            <a:ext cx="4714908" cy="1569660"/>
          </a:xfrm>
          <a:prstGeom prst="rect">
            <a:avLst/>
          </a:prstGeom>
          <a:noFill/>
        </p:spPr>
        <p:txBody>
          <a:bodyPr wrap="square" rtlCol="0">
            <a:spAutoFit/>
          </a:bodyPr>
          <a:lstStyle/>
          <a:p>
            <a:r>
              <a:rPr lang="zh-CN" altLang="en-US" sz="2400" dirty="0">
                <a:solidFill>
                  <a:srgbClr val="FF0000"/>
                </a:solidFill>
                <a:latin typeface="黑体" pitchFamily="49" charset="-122"/>
                <a:ea typeface="黑体" pitchFamily="49" charset="-122"/>
              </a:rPr>
              <a:t>在构建多尺度决策模型的基础上，探讨</a:t>
            </a:r>
            <a:r>
              <a:rPr lang="zh-CN" altLang="en-US" sz="2400" b="1" dirty="0">
                <a:solidFill>
                  <a:srgbClr val="2919F9"/>
                </a:solidFill>
                <a:latin typeface="黑体" pitchFamily="49" charset="-122"/>
                <a:ea typeface="黑体" pitchFamily="49" charset="-122"/>
              </a:rPr>
              <a:t>模型动态联接方法</a:t>
            </a:r>
            <a:r>
              <a:rPr lang="zh-CN" altLang="en-US" sz="2400" dirty="0">
                <a:solidFill>
                  <a:srgbClr val="FF0000"/>
                </a:solidFill>
                <a:latin typeface="黑体" pitchFamily="49" charset="-122"/>
                <a:ea typeface="黑体" pitchFamily="49" charset="-122"/>
              </a:rPr>
              <a:t>，实现全球</a:t>
            </a:r>
            <a:r>
              <a:rPr lang="en-US" altLang="zh-CN" sz="2400" dirty="0">
                <a:solidFill>
                  <a:srgbClr val="FF0000"/>
                </a:solidFill>
                <a:latin typeface="黑体" pitchFamily="49" charset="-122"/>
                <a:ea typeface="黑体" pitchFamily="49" charset="-122"/>
              </a:rPr>
              <a:t>+</a:t>
            </a:r>
            <a:r>
              <a:rPr lang="zh-CN" altLang="en-US" sz="2400" dirty="0">
                <a:solidFill>
                  <a:srgbClr val="FF0000"/>
                </a:solidFill>
                <a:latin typeface="黑体" pitchFamily="49" charset="-122"/>
                <a:ea typeface="黑体" pitchFamily="49" charset="-122"/>
              </a:rPr>
              <a:t>国家</a:t>
            </a:r>
            <a:r>
              <a:rPr lang="en-US" altLang="zh-CN" sz="2400" dirty="0">
                <a:solidFill>
                  <a:srgbClr val="FF0000"/>
                </a:solidFill>
                <a:latin typeface="黑体" pitchFamily="49" charset="-122"/>
                <a:ea typeface="黑体" pitchFamily="49" charset="-122"/>
              </a:rPr>
              <a:t>+</a:t>
            </a:r>
            <a:r>
              <a:rPr lang="zh-CN" altLang="en-US" sz="2400" dirty="0">
                <a:solidFill>
                  <a:srgbClr val="FF0000"/>
                </a:solidFill>
                <a:latin typeface="黑体" pitchFamily="49" charset="-122"/>
                <a:ea typeface="黑体" pitchFamily="49" charset="-122"/>
              </a:rPr>
              <a:t>区域三个层次上的全面经济评估</a:t>
            </a:r>
          </a:p>
        </p:txBody>
      </p:sp>
    </p:spTree>
    <p:extLst>
      <p:ext uri="{BB962C8B-B14F-4D97-AF65-F5344CB8AC3E}">
        <p14:creationId xmlns:p14="http://schemas.microsoft.com/office/powerpoint/2010/main" val="3990098708"/>
      </p:ext>
    </p:extLst>
  </p:cSld>
  <p:clrMapOvr>
    <a:masterClrMapping/>
  </p:clrMapOvr>
  <p:transition spd="slow">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11687" y="2410032"/>
            <a:ext cx="3213393" cy="4058004"/>
          </a:xfrm>
          <a:prstGeom prst="rect">
            <a:avLst/>
          </a:prstGeom>
        </p:spPr>
      </p:pic>
      <p:sp>
        <p:nvSpPr>
          <p:cNvPr id="2" name="标题 1"/>
          <p:cNvSpPr>
            <a:spLocks noGrp="1"/>
          </p:cNvSpPr>
          <p:nvPr>
            <p:ph type="title"/>
          </p:nvPr>
        </p:nvSpPr>
        <p:spPr/>
        <p:txBody>
          <a:bodyPr/>
          <a:lstStyle/>
          <a:p>
            <a:r>
              <a:rPr lang="zh-CN" altLang="en-US" sz="3200" b="1" dirty="0">
                <a:solidFill>
                  <a:srgbClr val="000099"/>
                </a:solidFill>
                <a:latin typeface="Calibri" panose="020F0502020204030204" pitchFamily="34" charset="0"/>
                <a:ea typeface="黑体" panose="02010609060101010101" pitchFamily="49" charset="-122"/>
              </a:rPr>
              <a:t>与澳大利亚政策研究中心（</a:t>
            </a:r>
            <a:r>
              <a:rPr lang="en-US" altLang="zh-CN" sz="3200" b="1" dirty="0" err="1">
                <a:solidFill>
                  <a:srgbClr val="000099"/>
                </a:solidFill>
                <a:latin typeface="Calibri" panose="020F0502020204030204" pitchFamily="34" charset="0"/>
                <a:ea typeface="黑体" panose="02010609060101010101" pitchFamily="49" charset="-122"/>
              </a:rPr>
              <a:t>CoPS</a:t>
            </a:r>
            <a:r>
              <a:rPr lang="zh-CN" altLang="en-US" sz="3200" b="1" dirty="0">
                <a:solidFill>
                  <a:srgbClr val="000099"/>
                </a:solidFill>
                <a:latin typeface="Calibri" panose="020F0502020204030204" pitchFamily="34" charset="0"/>
                <a:ea typeface="黑体" panose="02010609060101010101" pitchFamily="49" charset="-122"/>
              </a:rPr>
              <a:t>）构建联合中心</a:t>
            </a:r>
            <a:r>
              <a:rPr lang="en-US" altLang="zh-CN" sz="3200" b="1" dirty="0">
                <a:solidFill>
                  <a:srgbClr val="FF0000"/>
                </a:solidFill>
                <a:latin typeface="Calibri" panose="020F0502020204030204" pitchFamily="34" charset="0"/>
                <a:ea typeface="黑体" panose="02010609060101010101" pitchFamily="49" charset="-122"/>
              </a:rPr>
              <a:t>——</a:t>
            </a:r>
            <a:r>
              <a:rPr lang="zh-CN" altLang="en-US" sz="3200" b="1" dirty="0">
                <a:solidFill>
                  <a:srgbClr val="FF0000"/>
                </a:solidFill>
                <a:latin typeface="Calibri" panose="020F0502020204030204" pitchFamily="34" charset="0"/>
                <a:ea typeface="黑体" panose="02010609060101010101" pitchFamily="49" charset="-122"/>
              </a:rPr>
              <a:t>经济贸易政策研究中心</a:t>
            </a:r>
          </a:p>
        </p:txBody>
      </p:sp>
      <p:pic>
        <p:nvPicPr>
          <p:cNvPr id="4" name="内容占位符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911687" y="1523010"/>
            <a:ext cx="3134034" cy="2350525"/>
          </a:xfrm>
        </p:spPr>
      </p:pic>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81362" y="3933056"/>
            <a:ext cx="3277753" cy="2534980"/>
          </a:xfrm>
          <a:prstGeom prst="rect">
            <a:avLst/>
          </a:prstGeom>
        </p:spPr>
      </p:pic>
      <p:pic>
        <p:nvPicPr>
          <p:cNvPr id="7" name="图片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45720" y="1523010"/>
            <a:ext cx="3213395" cy="2410046"/>
          </a:xfrm>
          <a:prstGeom prst="rect">
            <a:avLst/>
          </a:prstGeom>
        </p:spPr>
      </p:pic>
      <p:sp>
        <p:nvSpPr>
          <p:cNvPr id="8" name="矩形 7"/>
          <p:cNvSpPr/>
          <p:nvPr/>
        </p:nvSpPr>
        <p:spPr>
          <a:xfrm>
            <a:off x="179512" y="1842995"/>
            <a:ext cx="2652816" cy="3970318"/>
          </a:xfrm>
          <a:prstGeom prst="rect">
            <a:avLst/>
          </a:prstGeom>
        </p:spPr>
        <p:txBody>
          <a:bodyPr wrap="square">
            <a:spAutoFit/>
          </a:bodyPr>
          <a:lstStyle/>
          <a:p>
            <a:pPr>
              <a:lnSpc>
                <a:spcPct val="150000"/>
              </a:lnSpc>
            </a:pPr>
            <a:r>
              <a:rPr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中心宗旨</a:t>
            </a:r>
            <a:r>
              <a:rPr lang="zh-CN" altLang="en-US" sz="24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zh-CN" altLang="zh-CN" sz="2400" b="1" u="sng" dirty="0">
                <a:solidFill>
                  <a:srgbClr val="000099"/>
                </a:solidFill>
                <a:latin typeface="黑体" panose="02010609060101010101" pitchFamily="49" charset="-122"/>
                <a:ea typeface="黑体" panose="02010609060101010101" pitchFamily="49" charset="-122"/>
                <a:cs typeface="Times New Roman" panose="02020603050405020304" pitchFamily="18" charset="0"/>
              </a:rPr>
              <a:t>通过经济模型的应用和传播，成为经济问题研究和政策决策支持领域世界领先的研究中心，研究侧重于中国</a:t>
            </a:r>
            <a:r>
              <a:rPr lang="zh-CN" altLang="en-US" sz="2400" b="1" u="sng" dirty="0">
                <a:solidFill>
                  <a:srgbClr val="000099"/>
                </a:solidFill>
                <a:latin typeface="黑体" panose="02010609060101010101" pitchFamily="49" charset="-122"/>
                <a:ea typeface="黑体" panose="02010609060101010101" pitchFamily="49" charset="-122"/>
                <a:cs typeface="Times New Roman" panose="02020603050405020304" pitchFamily="18" charset="0"/>
              </a:rPr>
              <a:t>问题。</a:t>
            </a:r>
            <a:endParaRPr lang="zh-CN" altLang="en-US" sz="2400" b="1" u="sng" dirty="0">
              <a:solidFill>
                <a:srgbClr val="000099"/>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155999732"/>
      </p:ext>
    </p:extLst>
  </p:cSld>
  <p:clrMapOvr>
    <a:masterClrMapping/>
  </p:clrMapOvr>
  <p:transition spd="slow">
    <p:fade/>
  </p:transition>
</p:sld>
</file>

<file path=ppt/theme/theme1.xml><?xml version="1.0" encoding="utf-8"?>
<a:theme xmlns:a="http://schemas.openxmlformats.org/drawingml/2006/main" name="default">
  <a:themeElements>
    <a:clrScheme name="">
      <a:dk1>
        <a:srgbClr val="0434B1"/>
      </a:dk1>
      <a:lt1>
        <a:srgbClr val="FFFFFF"/>
      </a:lt1>
      <a:dk2>
        <a:srgbClr val="000000"/>
      </a:dk2>
      <a:lt2>
        <a:srgbClr val="C8C8C8"/>
      </a:lt2>
      <a:accent1>
        <a:srgbClr val="E6E6E6"/>
      </a:accent1>
      <a:accent2>
        <a:srgbClr val="4E9200"/>
      </a:accent2>
      <a:accent3>
        <a:srgbClr val="FFFFFF"/>
      </a:accent3>
      <a:accent4>
        <a:srgbClr val="032B97"/>
      </a:accent4>
      <a:accent5>
        <a:srgbClr val="F0F0F0"/>
      </a:accent5>
      <a:accent6>
        <a:srgbClr val="468400"/>
      </a:accent6>
      <a:hlink>
        <a:srgbClr val="0434B1"/>
      </a:hlink>
      <a:folHlink>
        <a:srgbClr val="999999"/>
      </a:folHlink>
    </a:clrScheme>
    <a:fontScheme name="default">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alpha val="32001"/>
          </a:schemeClr>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alpha val="32001"/>
          </a:schemeClr>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1151</TotalTime>
  <Words>5648</Words>
  <Application>Microsoft Office PowerPoint</Application>
  <PresentationFormat>全屏显示(4:3)</PresentationFormat>
  <Paragraphs>1261</Paragraphs>
  <Slides>100</Slides>
  <Notes>17</Notes>
  <HiddenSlides>0</HiddenSlides>
  <MMClips>2</MMClips>
  <ScaleCrop>false</ScaleCrop>
  <HeadingPairs>
    <vt:vector size="8" baseType="variant">
      <vt:variant>
        <vt:lpstr>已用的字体</vt:lpstr>
      </vt:variant>
      <vt:variant>
        <vt:i4>13</vt:i4>
      </vt:variant>
      <vt:variant>
        <vt:lpstr>主题</vt:lpstr>
      </vt:variant>
      <vt:variant>
        <vt:i4>5</vt:i4>
      </vt:variant>
      <vt:variant>
        <vt:lpstr>嵌入 OLE 服务器</vt:lpstr>
      </vt:variant>
      <vt:variant>
        <vt:i4>5</vt:i4>
      </vt:variant>
      <vt:variant>
        <vt:lpstr>幻灯片标题</vt:lpstr>
      </vt:variant>
      <vt:variant>
        <vt:i4>100</vt:i4>
      </vt:variant>
    </vt:vector>
  </HeadingPairs>
  <TitlesOfParts>
    <vt:vector size="123" baseType="lpstr">
      <vt:lpstr>標楷體</vt:lpstr>
      <vt:lpstr>微軟正黑體</vt:lpstr>
      <vt:lpstr>time new roman</vt:lpstr>
      <vt:lpstr>黑体</vt:lpstr>
      <vt:lpstr>隶书</vt:lpstr>
      <vt:lpstr>Arial</vt:lpstr>
      <vt:lpstr>Arial Narrow</vt:lpstr>
      <vt:lpstr>Calibri</vt:lpstr>
      <vt:lpstr>Calibri Light</vt:lpstr>
      <vt:lpstr>Calisto MT</vt:lpstr>
      <vt:lpstr>Tahoma</vt:lpstr>
      <vt:lpstr>Times New Roman</vt:lpstr>
      <vt:lpstr>Wingdings</vt:lpstr>
      <vt:lpstr>default</vt:lpstr>
      <vt:lpstr>Office 主题</vt:lpstr>
      <vt:lpstr>默认设计模板</vt:lpstr>
      <vt:lpstr>1_Office 主题</vt:lpstr>
      <vt:lpstr>Default Design</vt:lpstr>
      <vt:lpstr>Equation</vt:lpstr>
      <vt:lpstr>Document</vt:lpstr>
      <vt:lpstr>Visio</vt:lpstr>
      <vt:lpstr>图表</vt:lpstr>
      <vt:lpstr>Microsoft Visio Drawing</vt:lpstr>
      <vt:lpstr>一般均衡模型理论及其结构</vt:lpstr>
      <vt:lpstr>报告主要内容</vt:lpstr>
      <vt:lpstr>均衡（equilibrium）的意义</vt:lpstr>
      <vt:lpstr>一般均衡(general equilibrium)</vt:lpstr>
      <vt:lpstr>CGE模型发展过程简要回顾</vt:lpstr>
      <vt:lpstr>CGE模型发展过程简要回顾</vt:lpstr>
      <vt:lpstr>两大促进因素</vt:lpstr>
      <vt:lpstr>一般均衡(General Equilibrium)</vt:lpstr>
      <vt:lpstr>CGE模型数据库-社会核算矩阵（SAM）</vt:lpstr>
      <vt:lpstr>CGE模型数据库-社会核算矩阵（SAM）</vt:lpstr>
      <vt:lpstr>所有价格的链接关系</vt:lpstr>
      <vt:lpstr>Value Linkages</vt:lpstr>
      <vt:lpstr>Distribution of Sales: Quantity Form</vt:lpstr>
      <vt:lpstr>全球模型GTAP理论框架</vt:lpstr>
      <vt:lpstr>中国农业政策分析与预测模型 （CAPSiM）</vt:lpstr>
      <vt:lpstr>中国农业政策分析与预测模型 （CAPSiM）</vt:lpstr>
      <vt:lpstr> 部门均衡模型使用的前提条件</vt:lpstr>
      <vt:lpstr>报告主要内容</vt:lpstr>
      <vt:lpstr>生产模块</vt:lpstr>
      <vt:lpstr>GTAP能源模型: GTAP-E</vt:lpstr>
      <vt:lpstr>多投入-多产出模型 Muti outputs and muti inputs model</vt:lpstr>
      <vt:lpstr>PowerPoint 演示文稿</vt:lpstr>
      <vt:lpstr>PowerPoint 演示文稿</vt:lpstr>
      <vt:lpstr>从上面模型结构，在资源和技术不变的情况下，经济运行有有以下两个特点：</vt:lpstr>
      <vt:lpstr>上面所讲述的静态情况下的经济变化，即不考虑技术、资本和劳动力变化情况下，资源分配和经济系统的调整变化。显然，这是不够的，这就是动态经济模型所要考察的内容。</vt:lpstr>
      <vt:lpstr>资本的动态调整</vt:lpstr>
      <vt:lpstr>资本收益率（RORC）变化 投资变化 改变资本 对生产系统产生影响</vt:lpstr>
      <vt:lpstr> 投资方程</vt:lpstr>
      <vt:lpstr>定义预期收益率 （2代表投资部门，1代表生产部门）</vt:lpstr>
      <vt:lpstr>PowerPoint 演示文稿</vt:lpstr>
      <vt:lpstr>劳动力供给变化</vt:lpstr>
      <vt:lpstr>工资和就业在模型分析中的设置</vt:lpstr>
      <vt:lpstr>也就是说就业在长期将回到其基期情况</vt:lpstr>
      <vt:lpstr>工资和就业相对于基准方案的偏离</vt:lpstr>
      <vt:lpstr>PowerPoint 演示文稿</vt:lpstr>
      <vt:lpstr>动态分析与静态分析的差异</vt:lpstr>
      <vt:lpstr>报告主要内容</vt:lpstr>
      <vt:lpstr>报告主要内容</vt:lpstr>
      <vt:lpstr>中国进口关税和出口面临关税的比较(%)</vt:lpstr>
      <vt:lpstr>美国、欧盟和G20集团 多哈贸易自由化提案</vt:lpstr>
      <vt:lpstr>Macro impacts on China by different proposals in 2015 不同自由化方案的宏观影响 </vt:lpstr>
      <vt:lpstr>Impacts on China’s import of major agricultural commodities under Doha proposals in 2015 (%)  多哈贸易自由化提案对中国主要农产品进口的影响(%)</vt:lpstr>
      <vt:lpstr>Impacts on China’s export of major agricultural commodities under Doha proposals in 2015 (%)  多哈贸易自由化提案对中国主要农产品出口的影响(%)</vt:lpstr>
      <vt:lpstr>Impacts on China’s net export of major agricultural commodities under Doha proposals in 2015  多哈贸易自由化提案对中国主要农产品净出口的影响 (thousand ton, 1000吨）</vt:lpstr>
      <vt:lpstr>Impacts on China’s production of major agricultural commodities under Doha proposals in 2015 (%)  多哈贸易自由化提案对中国主要农产品生产的影响(%)  </vt:lpstr>
      <vt:lpstr>Impacts on China’s production of major agricultural commodities under Doha proposals in 2015  多哈贸易自由化提案对中国主要农产品生产的影响   (thousand ton, 1000吨）  </vt:lpstr>
      <vt:lpstr>PowerPoint 演示文稿</vt:lpstr>
      <vt:lpstr>美国贸易提案下，对我国不同收入组农户产值的影响（元，2015）</vt:lpstr>
      <vt:lpstr>Impacts on per capita agricultural income in rural area under Doha proposals in 2015 (yuan/person) 多哈不同贸易提案对农民人均收入的影响（元/人，2015）</vt:lpstr>
      <vt:lpstr>Shares of output values of benefited and non-benefited agricultural products under baseline in 2015 (%)</vt:lpstr>
      <vt:lpstr>Shares of output values of benefited and non-benefited agricultural products under baseline in 2015 (%)</vt:lpstr>
      <vt:lpstr>美国贸易自由化提案(降低关税+国内减让） 对不同区域农户农业产值的影响（元/人,2015）</vt:lpstr>
      <vt:lpstr>Impacts on per capita agri. income for the farmers under poverty by province under USA proposals in 2015 (yuan/person) </vt:lpstr>
      <vt:lpstr>PowerPoint 演示文稿</vt:lpstr>
      <vt:lpstr>采用中国农业政策分析与预测模型 （CAPSiM）</vt:lpstr>
      <vt:lpstr>预测分析基本假设</vt:lpstr>
      <vt:lpstr>主要农作物未来进出口变化（万吨）</vt:lpstr>
      <vt:lpstr>主要畜产品未来进出口变化（千吨）</vt:lpstr>
      <vt:lpstr>农产品自给率（%）未来变化</vt:lpstr>
      <vt:lpstr>PowerPoint 演示文稿</vt:lpstr>
      <vt:lpstr>Output of ethanol productions and distributions of DDGs usage in USA </vt:lpstr>
      <vt:lpstr>Historical Ethanol and DDGs production in US</vt:lpstr>
      <vt:lpstr>Usage of DDGs in USA </vt:lpstr>
      <vt:lpstr>Model Structure for Biofuel By-products</vt:lpstr>
      <vt:lpstr>Improvements on modeling  Biofuel by-products</vt:lpstr>
      <vt:lpstr>Strategy for identifying global impact pathways:  Reference scenario</vt:lpstr>
      <vt:lpstr>Two Key Alternative Scenarios</vt:lpstr>
      <vt:lpstr> </vt:lpstr>
      <vt:lpstr>Sensitive analysis on crude oil prices (US dollars per barrel) in 2006-2020</vt:lpstr>
      <vt:lpstr>Sensitive analysis on elasticities of substitution between Gasoline and biofuel</vt:lpstr>
      <vt:lpstr>Analytical plan  (to help understand what really matters)</vt:lpstr>
      <vt:lpstr>Scenario Results</vt:lpstr>
      <vt:lpstr>Ethanol production (% change) in 2020 over 2006 under policy intervention scenario in USA</vt:lpstr>
      <vt:lpstr>Diesel production (%) in 2020 over 2006 under policy intervention scenario in EU27</vt:lpstr>
      <vt:lpstr>Maize prices, production and exports in US under assumptions of oil price and elas. of substitution (comparing to reference,2020)</vt:lpstr>
      <vt:lpstr>Soybean prices, production and exports in US under assumptions of oil price and elas. of substitution (comparing to reference,2020)</vt:lpstr>
      <vt:lpstr>Rapeseeds prices, production and exports in EU under various assumptions of oil price and elas. of substitution (comparing to reference,2020)</vt:lpstr>
      <vt:lpstr>Sugarcane prices, production and exports in Brazil under various assumptions of oil price and elas. of substitution (comparing to reference,2020)</vt:lpstr>
      <vt:lpstr>Government subsidy (billion US$) in 2020 under  policy intervention scenario </vt:lpstr>
      <vt:lpstr>Part II:  Impacts of Global biofuel development on China’s agriculture and poverty</vt:lpstr>
      <vt:lpstr>China is a big country, production differs largely among regions The share of maize in total crop areas by province (%)</vt:lpstr>
      <vt:lpstr>Income from agricultural sector in different income groups (per capita)</vt:lpstr>
      <vt:lpstr>Share of farmer’s income from agriculture by different income groups in 2005 </vt:lpstr>
      <vt:lpstr>Farmer’s income from agriculture by different income groups in 2005 </vt:lpstr>
      <vt:lpstr>Methodologies</vt:lpstr>
      <vt:lpstr> </vt:lpstr>
      <vt:lpstr>Targets of biofuel production of different countries/regions</vt:lpstr>
      <vt:lpstr>Scenarios</vt:lpstr>
      <vt:lpstr>Impacts on production, trade and domestic market price</vt:lpstr>
      <vt:lpstr>Impacts on output, export and domestic price by realizing biofuel targets (relative to baseline, 2020)</vt:lpstr>
      <vt:lpstr>Impacts on production of diff. commodities in diff. provinces under mandate scenario (kg/ household, 2020)</vt:lpstr>
      <vt:lpstr>Impacts on output, export and domestic price under H-H (relative to baseline, 2020)</vt:lpstr>
      <vt:lpstr>Impacts on production of diff. commodities in diff. provinces under H-H scenario (kg/ household, 2020)</vt:lpstr>
      <vt:lpstr>Impacts of biofuel development on farmers’ agricultural income by income groups under different scenario in 2020</vt:lpstr>
      <vt:lpstr>Impacts of biofuel development on farmers’ agricultural income under dif. scenarios in 2020</vt:lpstr>
      <vt:lpstr>Impacts of biofuel development on Chinese farmers’ agr. income by dif. provinces under mandate scenario (relative to baseline, 2020)</vt:lpstr>
      <vt:lpstr>Impacts of biofuel development on Chinese farmers’ agricultural income by different provinces in 2020 under H-H scenario</vt:lpstr>
      <vt:lpstr>模型发展情况及规划</vt:lpstr>
      <vt:lpstr>政策决策模型构建计划(2015-2017)</vt:lpstr>
      <vt:lpstr>与澳大利亚政策研究中心（CoPS）构建联合中心——经济贸易政策研究中心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Think</dc:creator>
  <cp:lastModifiedBy>yang jun</cp:lastModifiedBy>
  <cp:revision>107</cp:revision>
  <dcterms:created xsi:type="dcterms:W3CDTF">2015-05-23T00:16:38Z</dcterms:created>
  <dcterms:modified xsi:type="dcterms:W3CDTF">2021-05-27T06:50:54Z</dcterms:modified>
</cp:coreProperties>
</file>